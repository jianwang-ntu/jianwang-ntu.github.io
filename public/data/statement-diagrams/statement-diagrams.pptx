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f6ae83f1a94ee7" /><Relationship Type="http://schemas.openxmlformats.org/officeDocument/2006/relationships/extended-properties" Target="/docProps/app.xml" Id="Rf76d0fef65824b0f" /><Relationship Type="http://schemas.openxmlformats.org/officeDocument/2006/relationships/officeDocument" Target="/ppt/presentation.xml" Id="Rd73c00738ad940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2b9beadf84b27"/>
  </p:sldMasterIdLst>
  <p:notesMasterIdLst>
    <p:notesMasterId xmlns:r="http://schemas.openxmlformats.org/officeDocument/2006/relationships" r:id="R100055c3c7454f04"/>
  </p:notesMasterIdLst>
  <p:sldIdLst>
    <p:sldId xmlns:r="http://schemas.openxmlformats.org/officeDocument/2006/relationships" id="256" r:id="R1d4817399874443b"/>
    <p:sldId xmlns:r="http://schemas.openxmlformats.org/officeDocument/2006/relationships" id="257" r:id="R72fc32d638444e21"/>
    <p:sldId xmlns:r="http://schemas.openxmlformats.org/officeDocument/2006/relationships" id="258" r:id="R02eb172ac2d64fdc"/>
    <p:sldId xmlns:r="http://schemas.openxmlformats.org/officeDocument/2006/relationships" id="259" r:id="R11d16865722c486d"/>
  </p:sldIdLst>
  <p:sldSz cx="17916525" cy="10344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d7812a04c140a0" /><Relationship Type="http://schemas.openxmlformats.org/officeDocument/2006/relationships/slideMaster" Target="/ppt/slideMasters/slideMaster1.xml" Id="Rd4b2b9beadf84b27" /><Relationship Type="http://schemas.openxmlformats.org/officeDocument/2006/relationships/notesMaster" Target="/ppt/notesMasters/notesMaster1.xml" Id="R100055c3c7454f04" /><Relationship Type="http://schemas.openxmlformats.org/officeDocument/2006/relationships/presProps" Target="/ppt/presProps.xml" Id="R70d9ba8f71e84cc4" /><Relationship Type="http://schemas.openxmlformats.org/officeDocument/2006/relationships/tableStyles" Target="/ppt/tableStyles.xml" Id="R369f9385ef434b6e" /><Relationship Type="http://schemas.openxmlformats.org/officeDocument/2006/relationships/slide" Target="/ppt/slides/slide1.xml" Id="R1d4817399874443b" /><Relationship Type="http://schemas.openxmlformats.org/officeDocument/2006/relationships/slide" Target="/ppt/slides/slide2.xml" Id="R72fc32d638444e21" /><Relationship Type="http://schemas.openxmlformats.org/officeDocument/2006/relationships/slide" Target="/ppt/slides/slide3.xml" Id="R02eb172ac2d64fdc" /><Relationship Type="http://schemas.openxmlformats.org/officeDocument/2006/relationships/slide" Target="/ppt/slides/slide4.xml" Id="R11d16865722c48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0ffce64e994f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b0503a7aaf4a94" /><Relationship Type="http://schemas.openxmlformats.org/officeDocument/2006/relationships/notesMaster" Target="/ppt/notesMasters/notesMaster1.xml" Id="R3517c5dd0230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8487ec68f54556" /><Relationship Type="http://schemas.openxmlformats.org/officeDocument/2006/relationships/notesMaster" Target="/ppt/notesMasters/notesMaster1.xml" Id="R968ef3e10a4a4b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6e5d97df864b10" /><Relationship Type="http://schemas.openxmlformats.org/officeDocument/2006/relationships/notesMaster" Target="/ppt/notesMasters/notesMaster1.xml" Id="Rbdbea26ebd8044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8f660b08844293" /><Relationship Type="http://schemas.openxmlformats.org/officeDocument/2006/relationships/notesMaster" Target="/ppt/notesMasters/notesMaster1.xml" Id="Rd4671e34b6b24d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original author-provided diagram, retaining its wording and object coordinates. Original PNG and checksums: archive/statement-images/2026-10-07-before-editable-redraw/. The human and robot are separately cropped original artwork; all labels, formulas, boundaries and flow lines are native editable objects. The shared deck uses white margins to accommodate the different original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original author-provided diagram, retaining its wording and object coordinates. Original PNG and checksums: archive/statement-images/2026-10-07-before-editable-redraw/. The human and robot are separately cropped original artwork; all labels, formulas, boundaries and flow lines are native editable objects. The shared deck uses white margins to accommodate the different original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original author-provided diagram, retaining its wording and object coordinates. Original PNG and checksums: archive/statement-images/2026-10-07-before-editable-redraw/. The human and robot are separately cropped original artwork; all labels, formulas, boundaries and flow lines are native editable objects. The shared deck uses white margins to accommodate the different original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original author-provided diagram, retaining its wording and object coordinates. Original PNG and checksums: archive/statement-images/2026-10-07-before-editable-redraw/. The human and robot are separately cropped original artwork; all labels, formulas, boundaries and flow lines are native editable objects. The shared deck uses white margins to accommodate the different original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b73d35f69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88d70139ba4a32" /><Relationship Type="http://schemas.openxmlformats.org/officeDocument/2006/relationships/slideLayout" Target="/ppt/slideLayouts/slideLayout1.xml" Id="R933be37ade7843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be37ade7843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7980c37fc49f3" /><Relationship Type="http://schemas.openxmlformats.org/officeDocument/2006/relationships/image" Target="/ppt/media/image.png" Id="Rb8ea008a9b6149ab" /><Relationship Type="http://schemas.openxmlformats.org/officeDocument/2006/relationships/image" Target="/ppt/media/image2.png" Id="Rb745a1813fdf4151" /><Relationship Type="http://schemas.openxmlformats.org/officeDocument/2006/relationships/image" Target="/ppt/media/image3.png" Id="R0b3bd1e933e1432a" /><Relationship Type="http://schemas.openxmlformats.org/officeDocument/2006/relationships/image" Target="/ppt/media/image4.png" Id="R7470f3fbb51342ed" /><Relationship Type="http://schemas.openxmlformats.org/officeDocument/2006/relationships/notesSlide" Target="/ppt/notesSlides/notesSlide1.xml" Id="R50ef9f7d030d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059b862c54381" /><Relationship Type="http://schemas.openxmlformats.org/officeDocument/2006/relationships/notesSlide" Target="/ppt/notesSlides/notesSlide2.xml" Id="R044d9eb96c414c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260242fd64f4f" /><Relationship Type="http://schemas.openxmlformats.org/officeDocument/2006/relationships/notesSlide" Target="/ppt/notesSlides/notesSlide3.xml" Id="R7d5027fa360841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223fb85cc44dd" /><Relationship Type="http://schemas.openxmlformats.org/officeDocument/2006/relationships/notesSlide" Target="/ppt/notesSlides/notesSlide4.xml" Id="Rda3831d3a89e46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Reliable AI Agents Under Human Control">
            <a:extLst xmlns:a="http://schemas.openxmlformats.org/drawingml/2006/main">
              <a:ext uri="{FF2B5EF4-FFF2-40B4-BE49-F238E27FC236}">
                <a16:creationId xmlns:a16="http://schemas.microsoft.com/office/drawing/2014/main" id="{7C010C66-0389-4552-86F8-6E8EB31F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41434"/>
            <a:ext cx="10363200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Reliable AI Agents Under Human Control</a:t>
            </a:r>
          </a:p>
        </p:txBody>
      </p:sp>
      <p:sp>
        <p:nvSpPr>
          <p:cNvPr id="2" name="A proposed research agenda for actions, system updates, and dele">
            <a:extLst xmlns:a="http://schemas.openxmlformats.org/drawingml/2006/main">
              <a:ext uri="{FF2B5EF4-FFF2-40B4-BE49-F238E27FC236}">
                <a16:creationId xmlns:a16="http://schemas.microsoft.com/office/drawing/2014/main" id="{88977193-E159-452B-9C18-47F20C7E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591693"/>
            <a:ext cx="1169670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 proposed research agenda for actions, system updates, and delegation</a:t>
            </a:r>
          </a:p>
        </p:txBody>
      </p:sp>
      <p:sp>
        <p:nvSpPr>
          <p:cNvPr id="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ECBB875-4A6B-476C-B305-21AE4845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3" y="1038225"/>
            <a:ext cx="663892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4E40C57-0068-45BC-B889-0584A1AD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1038225"/>
            <a:ext cx="66294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5" name="Human–Agent Interaction">
            <a:extLst xmlns:a="http://schemas.openxmlformats.org/drawingml/2006/main">
              <a:ext uri="{FF2B5EF4-FFF2-40B4-BE49-F238E27FC236}">
                <a16:creationId xmlns:a16="http://schemas.microsoft.com/office/drawing/2014/main" id="{18A7153E-49F3-4CB2-BB8C-1DB7864E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538" y="1130522"/>
            <a:ext cx="635317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Human–Agent Interaction</a:t>
            </a:r>
          </a:p>
        </p:txBody>
      </p:sp>
      <p:sp>
        <p:nvSpPr>
          <p:cNvPr id="6" name="Agent–Agent Collaboration">
            <a:extLst xmlns:a="http://schemas.openxmlformats.org/drawingml/2006/main">
              <a:ext uri="{FF2B5EF4-FFF2-40B4-BE49-F238E27FC236}">
                <a16:creationId xmlns:a16="http://schemas.microsoft.com/office/drawing/2014/main" id="{90BE166A-F805-4066-8651-6F51122A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130522"/>
            <a:ext cx="634365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Agent–Agent Collaboration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a008a9b6149ab"/>
          <a:stretch xmlns:a="http://schemas.openxmlformats.org/drawingml/2006/main"/>
        </p:blipFill>
        <p:spPr>
          <a:xfrm xmlns:a="http://schemas.openxmlformats.org/drawingml/2006/main">
            <a:off x="2500313" y="1552575"/>
            <a:ext cx="2190750" cy="148590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5a1813fdf4151"/>
          <a:stretch xmlns:a="http://schemas.openxmlformats.org/drawingml/2006/main"/>
        </p:blipFill>
        <p:spPr>
          <a:xfrm xmlns:a="http://schemas.openxmlformats.org/drawingml/2006/main">
            <a:off x="7167563" y="1533525"/>
            <a:ext cx="1200150" cy="146685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bd1e933e1432a"/>
          <a:stretch xmlns:a="http://schemas.openxmlformats.org/drawingml/2006/main"/>
        </p:blipFill>
        <p:spPr>
          <a:xfrm xmlns:a="http://schemas.openxmlformats.org/drawingml/2006/main">
            <a:off x="9586913" y="1533525"/>
            <a:ext cx="1200150" cy="146685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0f3fbb51342ed"/>
          <a:stretch xmlns:a="http://schemas.openxmlformats.org/drawingml/2006/main"/>
        </p:blipFill>
        <p:spPr>
          <a:xfrm xmlns:a="http://schemas.openxmlformats.org/drawingml/2006/main">
            <a:off x="13930313" y="1533525"/>
            <a:ext cx="1200150" cy="1466850"/>
          </a:xfrm>
          <a:prstGeom xmlns:a="http://schemas.openxmlformats.org/drawingml/2006/main" prst="rect">
            <a:avLst/>
          </a:prstGeom>
        </p:spPr>
      </p:pic>
      <p:sp>
        <p:nvSpPr>
          <p:cNvPr id="11" name="Human">
            <a:extLst xmlns:a="http://schemas.openxmlformats.org/drawingml/2006/main">
              <a:ext uri="{FF2B5EF4-FFF2-40B4-BE49-F238E27FC236}">
                <a16:creationId xmlns:a16="http://schemas.microsoft.com/office/drawing/2014/main" id="{DE6A4282-E9AA-4AA2-9BE6-DF26A4C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88" y="3060573"/>
            <a:ext cx="2009775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</p:txBody>
      </p:sp>
      <p:sp>
        <p:nvSpPr>
          <p:cNvPr id="12" name="AI agent">
            <a:extLst xmlns:a="http://schemas.openxmlformats.org/drawingml/2006/main">
              <a:ext uri="{FF2B5EF4-FFF2-40B4-BE49-F238E27FC236}">
                <a16:creationId xmlns:a16="http://schemas.microsoft.com/office/drawing/2014/main" id="{973CC4AD-B973-4ACE-B7FD-97275B2F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3060573"/>
            <a:ext cx="1400175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AI agent</a:t>
            </a:r>
          </a:p>
        </p:txBody>
      </p:sp>
      <p:sp>
        <p:nvSpPr>
          <p:cNvPr id="13" name="Agent A">
            <a:extLst xmlns:a="http://schemas.openxmlformats.org/drawingml/2006/main">
              <a:ext uri="{FF2B5EF4-FFF2-40B4-BE49-F238E27FC236}">
                <a16:creationId xmlns:a16="http://schemas.microsoft.com/office/drawing/2014/main" id="{3A90201A-E50C-40DA-821D-BA3D61DE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3060573"/>
            <a:ext cx="139065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Agent A</a:t>
            </a:r>
          </a:p>
        </p:txBody>
      </p:sp>
      <p:sp>
        <p:nvSpPr>
          <p:cNvPr id="14" name="Agent B">
            <a:extLst xmlns:a="http://schemas.openxmlformats.org/drawingml/2006/main">
              <a:ext uri="{FF2B5EF4-FFF2-40B4-BE49-F238E27FC236}">
                <a16:creationId xmlns:a16="http://schemas.microsoft.com/office/drawing/2014/main" id="{2ED8D931-C5AE-487D-AF51-5C8F9C28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4588" y="3060573"/>
            <a:ext cx="1381125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Agent B</a:t>
            </a:r>
          </a:p>
        </p:txBody>
      </p:sp>
      <p:sp>
        <p:nvSpPr>
          <p:cNvPr id="15" name="Task + authorized scope">
            <a:extLst xmlns:a="http://schemas.openxmlformats.org/drawingml/2006/main">
              <a:ext uri="{FF2B5EF4-FFF2-40B4-BE49-F238E27FC236}">
                <a16:creationId xmlns:a16="http://schemas.microsoft.com/office/drawing/2014/main" id="{87A77615-578D-4145-BBCA-BF06490F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927765"/>
            <a:ext cx="2228850" cy="24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Task + authorized scope</a:t>
            </a:r>
          </a:p>
        </p:txBody>
      </p:sp>
      <p:sp>
        <p:nvSpPr>
          <p:cNvPr id="1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B5725E4-F2F0-407B-A2DB-4322846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228850"/>
            <a:ext cx="2228850" cy="9525"/>
          </a:xfrm>
          <a:custGeom xmlns:a="http://schemas.openxmlformats.org/drawingml/2006/main">
            <a:pathLst>
              <a:path w="2228850" h="9525">
                <a:moveTo>
                  <a:pt x="0" y="0"/>
                </a:moveTo>
                <a:lnTo>
                  <a:pt x="2228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1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B510973-5DC8-4E12-A24B-CBB627B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21621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1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8F464A7-8532-4F04-9B10-215939E4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571750"/>
            <a:ext cx="2228850" cy="9525"/>
          </a:xfrm>
          <a:custGeom xmlns:a="http://schemas.openxmlformats.org/drawingml/2006/main">
            <a:pathLst>
              <a:path w="2228850" h="9525">
                <a:moveTo>
                  <a:pt x="2228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1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9A78B6C-8126-4257-B71B-2502D679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5050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66675"/>
                </a:moveTo>
                <a:lnTo>
                  <a:pt x="152400" y="0"/>
                </a:lnTo>
                <a:lnTo>
                  <a:pt x="152400" y="13335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20" name="Action proposal + evidence">
            <a:extLst xmlns:a="http://schemas.openxmlformats.org/drawingml/2006/main">
              <a:ext uri="{FF2B5EF4-FFF2-40B4-BE49-F238E27FC236}">
                <a16:creationId xmlns:a16="http://schemas.microsoft.com/office/drawing/2014/main" id="{EAF05EEF-0B97-4592-94F5-4866F02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671382"/>
            <a:ext cx="2247900" cy="23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Action proposal + evidence</a:t>
            </a:r>
          </a:p>
        </p:txBody>
      </p:sp>
      <p:sp>
        <p:nvSpPr>
          <p:cNvPr id="21" name="Subtask + data + constraints">
            <a:extLst xmlns:a="http://schemas.openxmlformats.org/drawingml/2006/main">
              <a:ext uri="{FF2B5EF4-FFF2-40B4-BE49-F238E27FC236}">
                <a16:creationId xmlns:a16="http://schemas.microsoft.com/office/drawing/2014/main" id="{B9CDBF56-D582-44E0-ADC6-8ED92D01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38" y="1933194"/>
            <a:ext cx="2667000" cy="23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Subtask + data + constraints</a:t>
            </a:r>
          </a:p>
        </p:txBody>
      </p:sp>
      <p:sp>
        <p:nvSpPr>
          <p:cNvPr id="2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CCD55726-6EC5-43E2-B06E-0076A8A9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38" y="2228850"/>
            <a:ext cx="2667000" cy="9525"/>
          </a:xfrm>
          <a:custGeom xmlns:a="http://schemas.openxmlformats.org/drawingml/2006/main"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2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03700B64-3315-4DB3-9556-E8DE126A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938" y="21621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2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4F93547-D2A6-4242-B6DC-B42B4FD8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38" y="2571750"/>
            <a:ext cx="2667000" cy="9525"/>
          </a:xfrm>
          <a:custGeom xmlns:a="http://schemas.openxmlformats.org/drawingml/2006/main">
            <a:pathLst>
              <a:path w="2667000" h="9525">
                <a:moveTo>
                  <a:pt x="2667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2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BFCD736-E4BF-439A-B6F0-6D5F3E27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38" y="25050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66675"/>
                </a:moveTo>
                <a:lnTo>
                  <a:pt x="152400" y="0"/>
                </a:lnTo>
                <a:lnTo>
                  <a:pt x="152400" y="13335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26" name="Proposal + evidence + status">
            <a:extLst xmlns:a="http://schemas.openxmlformats.org/drawingml/2006/main">
              <a:ext uri="{FF2B5EF4-FFF2-40B4-BE49-F238E27FC236}">
                <a16:creationId xmlns:a16="http://schemas.microsoft.com/office/drawing/2014/main" id="{6A75542F-A56B-4FCD-BFE6-A18A944F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2671382"/>
            <a:ext cx="2676525" cy="23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Proposal + evidence + status</a:t>
            </a:r>
          </a:p>
        </p:txBody>
      </p:sp>
      <p:sp>
        <p:nvSpPr>
          <p:cNvPr id="2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A0DCF679-723E-4D91-BB16-AB51DDE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4290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2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18B46462-3920-4707-BABD-29DFF619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4766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027FECE3-72E4-4F71-B3B8-F9BDD0B5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5280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0" name="Check proposed actions against approved requirements">
            <a:extLst xmlns:a="http://schemas.openxmlformats.org/drawingml/2006/main">
              <a:ext uri="{FF2B5EF4-FFF2-40B4-BE49-F238E27FC236}">
                <a16:creationId xmlns:a16="http://schemas.microsoft.com/office/drawing/2014/main" id="{D0D54E28-F5A4-4E51-8ADF-7B0D8F89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35558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Check proposed actions against approved requirements</a:t>
            </a:r>
          </a:p>
        </p:txBody>
      </p:sp>
      <p:sp>
        <p:nvSpPr>
          <p:cNvPr id="3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CCA70040-507B-44AB-B9CE-1E33DF00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0386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3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0C5A85F-38F5-467A-BB4E-0368A7FB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40862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33" name="II">
            <a:extLst xmlns:a="http://schemas.openxmlformats.org/drawingml/2006/main">
              <a:ext uri="{FF2B5EF4-FFF2-40B4-BE49-F238E27FC236}">
                <a16:creationId xmlns:a16="http://schemas.microsoft.com/office/drawing/2014/main" id="{BA1EAFF8-2D34-4C13-A288-6AADF529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41376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34" name="Evaluate security and reliability after system updates">
            <a:extLst xmlns:a="http://schemas.openxmlformats.org/drawingml/2006/main">
              <a:ext uri="{FF2B5EF4-FFF2-40B4-BE49-F238E27FC236}">
                <a16:creationId xmlns:a16="http://schemas.microsoft.com/office/drawing/2014/main" id="{E1E9FF91-C9BF-4CE2-89FC-9043D32C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41654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Evaluate security and reliability after system updates</a:t>
            </a:r>
          </a:p>
        </p:txBody>
      </p:sp>
      <p:sp>
        <p:nvSpPr>
          <p:cNvPr id="3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633C748-023B-4643-934F-FF5F96F6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6482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3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113B4FB1-05AA-4BA6-B18D-23115561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46958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37" name="III">
            <a:extLst xmlns:a="http://schemas.openxmlformats.org/drawingml/2006/main">
              <a:ext uri="{FF2B5EF4-FFF2-40B4-BE49-F238E27FC236}">
                <a16:creationId xmlns:a16="http://schemas.microsoft.com/office/drawing/2014/main" id="{DC0677CF-EEA6-402B-8CE1-B63556D7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47472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38" name="Enforce current scope and permissions across task steps">
            <a:extLst xmlns:a="http://schemas.openxmlformats.org/drawingml/2006/main">
              <a:ext uri="{FF2B5EF4-FFF2-40B4-BE49-F238E27FC236}">
                <a16:creationId xmlns:a16="http://schemas.microsoft.com/office/drawing/2014/main" id="{1F404A05-069C-4F15-A18B-D9D51AEC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47750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Enforce current scope and permissions across task steps</a:t>
            </a:r>
          </a:p>
        </p:txBody>
      </p:sp>
      <p:sp>
        <p:nvSpPr>
          <p:cNvPr id="3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4EF50C6-1F5E-413F-8DFD-86633972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34290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4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1A5AA7F2-4BE1-4093-8207-8716818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34766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41" name="I">
            <a:extLst xmlns:a="http://schemas.openxmlformats.org/drawingml/2006/main">
              <a:ext uri="{FF2B5EF4-FFF2-40B4-BE49-F238E27FC236}">
                <a16:creationId xmlns:a16="http://schemas.microsoft.com/office/drawing/2014/main" id="{390393A3-B392-4951-BE84-125B4494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35280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2" name="Check proposed actions using independent evidence">
            <a:extLst xmlns:a="http://schemas.openxmlformats.org/drawingml/2006/main">
              <a:ext uri="{FF2B5EF4-FFF2-40B4-BE49-F238E27FC236}">
                <a16:creationId xmlns:a16="http://schemas.microsoft.com/office/drawing/2014/main" id="{1D1FBD57-27CD-4556-B448-26BCFE1E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35558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Check proposed actions using independent evidence</a:t>
            </a:r>
          </a:p>
        </p:txBody>
      </p:sp>
      <p:sp>
        <p:nvSpPr>
          <p:cNvPr id="4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CE37E91-8EE3-4F72-B53F-4527EF0D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0386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4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7C32FF9F-8498-4FA1-BDA7-C183BA1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40862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45" name="II">
            <a:extLst xmlns:a="http://schemas.openxmlformats.org/drawingml/2006/main">
              <a:ext uri="{FF2B5EF4-FFF2-40B4-BE49-F238E27FC236}">
                <a16:creationId xmlns:a16="http://schemas.microsoft.com/office/drawing/2014/main" id="{647C9E02-5311-43D1-A8F8-DEC310E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41376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46" name="Assess retention after either agent or harness updates">
            <a:extLst xmlns:a="http://schemas.openxmlformats.org/drawingml/2006/main">
              <a:ext uri="{FF2B5EF4-FFF2-40B4-BE49-F238E27FC236}">
                <a16:creationId xmlns:a16="http://schemas.microsoft.com/office/drawing/2014/main" id="{2A9494CF-2980-4504-99D2-86533E1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41654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Assess retention after either agent or harness updates</a:t>
            </a:r>
          </a:p>
        </p:txBody>
      </p:sp>
      <p:sp>
        <p:nvSpPr>
          <p:cNvPr id="4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D7A5B08-D47A-4C76-B066-AAAD316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648200"/>
            <a:ext cx="6410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4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A58E07A-CECE-4CFC-9A8A-3767D603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4695825"/>
            <a:ext cx="4667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49" name="III">
            <a:extLst xmlns:a="http://schemas.openxmlformats.org/drawingml/2006/main">
              <a:ext uri="{FF2B5EF4-FFF2-40B4-BE49-F238E27FC236}">
                <a16:creationId xmlns:a16="http://schemas.microsoft.com/office/drawing/2014/main" id="{477E184F-FE95-4F98-B4E3-3D30EA54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4747260"/>
            <a:ext cx="466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50" name="Enforce inherited data limits and valid delegation scope">
            <a:extLst xmlns:a="http://schemas.openxmlformats.org/drawingml/2006/main">
              <a:ext uri="{FF2B5EF4-FFF2-40B4-BE49-F238E27FC236}">
                <a16:creationId xmlns:a16="http://schemas.microsoft.com/office/drawing/2014/main" id="{74DC4679-F1CC-4366-89BE-2C5D1F93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4775073"/>
            <a:ext cx="54483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Enforce inherited data limits and valid delegation scope</a:t>
            </a:r>
          </a:p>
        </p:txBody>
      </p:sp>
      <p:sp>
        <p:nvSpPr>
          <p:cNvPr id="5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A769459-8854-4FA2-BB5D-02088101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3" y="5410200"/>
            <a:ext cx="13411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0606"/>
            </a:solidFill>
            <a:prstDash val="solid"/>
          </a:ln>
        </p:spPr>
      </p:sp>
      <p:sp>
        <p:nvSpPr>
          <p:cNvPr id="52" name="Shared human-approved requirements Φ">
            <a:extLst xmlns:a="http://schemas.openxmlformats.org/drawingml/2006/main">
              <a:ext uri="{FF2B5EF4-FFF2-40B4-BE49-F238E27FC236}">
                <a16:creationId xmlns:a16="http://schemas.microsoft.com/office/drawing/2014/main" id="{B54B1420-DABD-4FF6-8AB5-FB1F8A18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5475351"/>
            <a:ext cx="12839700" cy="41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Shared human-approved requirements Φ</a:t>
            </a:r>
          </a:p>
        </p:txBody>
      </p:sp>
      <p:sp>
        <p:nvSpPr>
          <p:cNvPr id="53" name="Task criteria · security properties · authorization scope">
            <a:extLst xmlns:a="http://schemas.openxmlformats.org/drawingml/2006/main">
              <a:ext uri="{FF2B5EF4-FFF2-40B4-BE49-F238E27FC236}">
                <a16:creationId xmlns:a16="http://schemas.microsoft.com/office/drawing/2014/main" id="{6E8D94F4-026B-4B3D-A19A-32D60FC3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5890260"/>
            <a:ext cx="128397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Task criteria · security properties · authorization scope</a:t>
            </a:r>
          </a:p>
        </p:txBody>
      </p:sp>
      <p:sp>
        <p:nvSpPr>
          <p:cNvPr id="5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4291DAE-6929-41C9-BCA4-D87EB21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6562725"/>
            <a:ext cx="9867900" cy="333375"/>
          </a:xfrm>
          <a:custGeom xmlns:a="http://schemas.openxmlformats.org/drawingml/2006/main">
            <a:pathLst>
              <a:path w="9867900" h="333375">
                <a:moveTo>
                  <a:pt x="0" y="333375"/>
                </a:moveTo>
                <a:lnTo>
                  <a:pt x="0" y="0"/>
                </a:lnTo>
                <a:lnTo>
                  <a:pt x="9867900" y="0"/>
                </a:lnTo>
                <a:lnTo>
                  <a:pt x="986790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60606"/>
            </a:solidFill>
            <a:prstDash val="solid"/>
          </a:ln>
        </p:spPr>
      </p:sp>
      <p:sp>
        <p:nvSpPr>
          <p:cNvPr id="5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01AE5EB-1A89-4268-B5A1-71124F4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013" y="67437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5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A42FD7BB-120C-405A-BF82-7F427920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6381750"/>
            <a:ext cx="18192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scoped approvals">
            <a:extLst xmlns:a="http://schemas.openxmlformats.org/drawingml/2006/main">
              <a:ext uri="{FF2B5EF4-FFF2-40B4-BE49-F238E27FC236}">
                <a16:creationId xmlns:a16="http://schemas.microsoft.com/office/drawing/2014/main" id="{36A55331-D431-48D2-A05C-B5986D90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6396419"/>
            <a:ext cx="18192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scoped approvals</a:t>
            </a:r>
          </a:p>
        </p:txBody>
      </p:sp>
      <p:sp>
        <p:nvSpPr>
          <p:cNvPr id="5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AE29A5E1-F49F-4359-B7B4-D7DA01E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3" y="6896100"/>
            <a:ext cx="35147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60606"/>
            </a:solidFill>
            <a:prstDash val="solid"/>
          </a:ln>
        </p:spPr>
      </p:sp>
      <p:sp>
        <p:nvSpPr>
          <p:cNvPr id="5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0FAC24F6-78B8-48AA-846B-95CCA404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7162800"/>
            <a:ext cx="60007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60" name="I">
            <a:extLst xmlns:a="http://schemas.openxmlformats.org/drawingml/2006/main">
              <a:ext uri="{FF2B5EF4-FFF2-40B4-BE49-F238E27FC236}">
                <a16:creationId xmlns:a16="http://schemas.microsoft.com/office/drawing/2014/main" id="{A56BAE31-4D7B-46D3-ADB7-E8501CEE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7233476"/>
            <a:ext cx="600075" cy="47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61" name="Action assurance">
            <a:extLst xmlns:a="http://schemas.openxmlformats.org/drawingml/2006/main">
              <a:ext uri="{FF2B5EF4-FFF2-40B4-BE49-F238E27FC236}">
                <a16:creationId xmlns:a16="http://schemas.microsoft.com/office/drawing/2014/main" id="{7813E88C-03E4-46F9-BFB2-5F7D1080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7319010"/>
            <a:ext cx="22574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Action assurance</a:t>
            </a:r>
          </a:p>
        </p:txBody>
      </p:sp>
      <p:sp>
        <p:nvSpPr>
          <p:cNvPr id="6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C6FBF31-3393-4AD0-85DB-F78BD2B2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6896100"/>
            <a:ext cx="36290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60606"/>
            </a:solidFill>
            <a:prstDash val="solid"/>
          </a:ln>
        </p:spPr>
      </p:sp>
      <p:sp>
        <p:nvSpPr>
          <p:cNvPr id="6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585FFCC3-0941-4758-BF75-256B40D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7162800"/>
            <a:ext cx="60007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64" name="II">
            <a:extLst xmlns:a="http://schemas.openxmlformats.org/drawingml/2006/main">
              <a:ext uri="{FF2B5EF4-FFF2-40B4-BE49-F238E27FC236}">
                <a16:creationId xmlns:a16="http://schemas.microsoft.com/office/drawing/2014/main" id="{F4A5DC7C-D9CC-4541-9A44-1CC277E4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7233476"/>
            <a:ext cx="600075" cy="47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65" name="Safety retention">
            <a:extLst xmlns:a="http://schemas.openxmlformats.org/drawingml/2006/main">
              <a:ext uri="{FF2B5EF4-FFF2-40B4-BE49-F238E27FC236}">
                <a16:creationId xmlns:a16="http://schemas.microsoft.com/office/drawing/2014/main" id="{D86A74F9-470E-4C50-9D95-6C45534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7319010"/>
            <a:ext cx="23717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Safety retention</a:t>
            </a:r>
          </a:p>
        </p:txBody>
      </p:sp>
      <p:sp>
        <p:nvSpPr>
          <p:cNvPr id="6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7499E6C6-BD49-48CB-8306-2C86A917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13" y="6896100"/>
            <a:ext cx="3524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60606"/>
            </a:solidFill>
            <a:prstDash val="solid"/>
          </a:ln>
        </p:spPr>
      </p:sp>
      <p:sp>
        <p:nvSpPr>
          <p:cNvPr id="6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C772E00-0E35-48A5-A6B2-F6428EAE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538" y="7162800"/>
            <a:ext cx="60007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60606"/>
            </a:solidFill>
            <a:prstDash val="solid"/>
          </a:ln>
        </p:spPr>
      </p:sp>
      <p:sp>
        <p:nvSpPr>
          <p:cNvPr id="68" name="III">
            <a:extLst xmlns:a="http://schemas.openxmlformats.org/drawingml/2006/main">
              <a:ext uri="{FF2B5EF4-FFF2-40B4-BE49-F238E27FC236}">
                <a16:creationId xmlns:a16="http://schemas.microsoft.com/office/drawing/2014/main" id="{ACF7F26C-A8ED-4E1B-A7A0-905474B2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538" y="7233476"/>
            <a:ext cx="600075" cy="47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69" name="Workflow control">
            <a:extLst xmlns:a="http://schemas.openxmlformats.org/drawingml/2006/main">
              <a:ext uri="{FF2B5EF4-FFF2-40B4-BE49-F238E27FC236}">
                <a16:creationId xmlns:a16="http://schemas.microsoft.com/office/drawing/2014/main" id="{B5D9FC71-C263-496E-936A-C34CF1E7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7319010"/>
            <a:ext cx="22669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Workflow control</a:t>
            </a:r>
          </a:p>
        </p:txBody>
      </p:sp>
      <p:sp>
        <p:nvSpPr>
          <p:cNvPr id="7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EF26952-A4A2-4C35-8220-90CC3323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388" y="7639050"/>
            <a:ext cx="1371600" cy="9525"/>
          </a:xfrm>
          <a:custGeom xmlns:a="http://schemas.openxmlformats.org/drawingml/2006/main">
            <a:pathLst>
              <a:path w="1371600" h="952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60606"/>
            </a:solidFill>
            <a:prstDash val="solid"/>
          </a:ln>
        </p:spPr>
      </p:sp>
      <p:sp>
        <p:nvSpPr>
          <p:cNvPr id="7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DF95B084-2103-4206-A04E-1AE416E2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75723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72" name="checked">
            <a:extLst xmlns:a="http://schemas.openxmlformats.org/drawingml/2006/main">
              <a:ext uri="{FF2B5EF4-FFF2-40B4-BE49-F238E27FC236}">
                <a16:creationId xmlns:a16="http://schemas.microsoft.com/office/drawing/2014/main" id="{28861FCD-B757-4B6E-BEC8-031CBEB7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7036308"/>
            <a:ext cx="119062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checked</a:t>
            </a:r>
          </a:p>
        </p:txBody>
      </p:sp>
      <p:sp>
        <p:nvSpPr>
          <p:cNvPr id="73" name="feedback">
            <a:extLst xmlns:a="http://schemas.openxmlformats.org/drawingml/2006/main">
              <a:ext uri="{FF2B5EF4-FFF2-40B4-BE49-F238E27FC236}">
                <a16:creationId xmlns:a16="http://schemas.microsoft.com/office/drawing/2014/main" id="{AC9368E0-6AB2-49F2-BD72-00061CB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7329488"/>
            <a:ext cx="119062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7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10E77AE-94F4-4909-B25E-CEA33DC1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013" y="7639050"/>
            <a:ext cx="1371600" cy="9525"/>
          </a:xfrm>
          <a:custGeom xmlns:a="http://schemas.openxmlformats.org/drawingml/2006/main">
            <a:pathLst>
              <a:path w="1371600" h="952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60606"/>
            </a:solidFill>
            <a:prstDash val="solid"/>
          </a:ln>
        </p:spPr>
      </p:sp>
      <p:sp>
        <p:nvSpPr>
          <p:cNvPr id="7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E1B9504-8752-4FBC-91E3-DEFEC493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213" y="75723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76" name="version +">
            <a:extLst xmlns:a="http://schemas.openxmlformats.org/drawingml/2006/main">
              <a:ext uri="{FF2B5EF4-FFF2-40B4-BE49-F238E27FC236}">
                <a16:creationId xmlns:a16="http://schemas.microsoft.com/office/drawing/2014/main" id="{8B61C7BB-E430-4424-867D-72DFE515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7036308"/>
            <a:ext cx="113347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version +</a:t>
            </a:r>
          </a:p>
        </p:txBody>
      </p:sp>
      <p:sp>
        <p:nvSpPr>
          <p:cNvPr id="77" name="evidence">
            <a:extLst xmlns:a="http://schemas.openxmlformats.org/drawingml/2006/main">
              <a:ext uri="{FF2B5EF4-FFF2-40B4-BE49-F238E27FC236}">
                <a16:creationId xmlns:a16="http://schemas.microsoft.com/office/drawing/2014/main" id="{FFE4E750-4C08-42C5-B2AD-9F46FC83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7329488"/>
            <a:ext cx="113347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7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58BED02-7F94-4749-A6F0-EECAB4E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8096250"/>
            <a:ext cx="9867900" cy="476250"/>
          </a:xfrm>
          <a:custGeom xmlns:a="http://schemas.openxmlformats.org/drawingml/2006/main">
            <a:pathLst>
              <a:path w="9867900" h="476250">
                <a:moveTo>
                  <a:pt x="9867900" y="0"/>
                </a:moveTo>
                <a:lnTo>
                  <a:pt x="986790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dash"/>
          </a:ln>
        </p:spPr>
      </p:sp>
      <p:sp>
        <p:nvSpPr>
          <p:cNvPr id="7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72F86EB-AA13-4875-85CC-3883AF75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13" y="80962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0"/>
                </a:moveTo>
                <a:lnTo>
                  <a:pt x="1333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8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16082E7-1AC6-4161-88E9-A21A8D93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809625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60606"/>
            </a:solidFill>
            <a:prstDash val="dash"/>
          </a:ln>
        </p:spPr>
      </p:sp>
      <p:sp>
        <p:nvSpPr>
          <p:cNvPr id="8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532FFFB2-D4EE-4DEA-A331-B10214E1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80962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0"/>
                </a:moveTo>
                <a:lnTo>
                  <a:pt x="1333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060606"/>
          </a:solidFill>
          <a:ln xmlns:a="http://schemas.openxmlformats.org/drawingml/2006/main" w="0">
            <a:noFill/>
          </a:ln>
        </p:spPr>
      </p:sp>
      <p:sp>
        <p:nvSpPr>
          <p:cNvPr id="82" name="workflow feedback">
            <a:extLst xmlns:a="http://schemas.openxmlformats.org/drawingml/2006/main">
              <a:ext uri="{FF2B5EF4-FFF2-40B4-BE49-F238E27FC236}">
                <a16:creationId xmlns:a16="http://schemas.microsoft.com/office/drawing/2014/main" id="{BD9DC60B-6FCC-458A-89F5-9AE49612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8634127"/>
            <a:ext cx="33147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workflow feedback</a:t>
            </a:r>
          </a:p>
        </p:txBody>
      </p:sp>
      <p:sp>
        <p:nvSpPr>
          <p:cNvPr id="83" name="Formal claims require faithful models, sound checking, and trust">
            <a:extLst xmlns:a="http://schemas.openxmlformats.org/drawingml/2006/main">
              <a:ext uri="{FF2B5EF4-FFF2-40B4-BE49-F238E27FC236}">
                <a16:creationId xmlns:a16="http://schemas.microsoft.com/office/drawing/2014/main" id="{0CEC5EE3-FAF1-425A-B4AD-C6EB49C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9267254"/>
            <a:ext cx="101727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Formal claims require faithful models, sound checking, and trusted enforcement;</a:t>
            </a:r>
          </a:p>
        </p:txBody>
      </p:sp>
      <p:sp>
        <p:nvSpPr>
          <p:cNvPr id="84" name="tests provide evidence for evaluated conditions.">
            <a:extLst xmlns:a="http://schemas.openxmlformats.org/drawingml/2006/main">
              <a:ext uri="{FF2B5EF4-FFF2-40B4-BE49-F238E27FC236}">
                <a16:creationId xmlns:a16="http://schemas.microsoft.com/office/drawing/2014/main" id="{2C583A15-1981-4267-9E04-D50EE5F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9582150"/>
            <a:ext cx="101727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60606"/>
                </a:solidFill>
                <a:latin typeface="Times New Roman"/>
                <a:ea typeface="Times New Roman"/>
                <a:cs typeface="Times New Roman"/>
              </a:rPr>
              <a:t>tests provide evidence for evaluated conditions.</a:t>
            </a:r>
          </a:p>
        </p:txBody>
      </p:sp>
    </p:spTree>
    <p:extLst>
      <p:ext uri="{BB962C8B-B14F-4D97-AF65-F5344CB8AC3E}">
        <p14:creationId xmlns:p14="http://schemas.microsoft.com/office/powerpoint/2010/main" val="2144155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Formal Oversight Before Action">
            <a:extLst xmlns:a="http://schemas.openxmlformats.org/drawingml/2006/main">
              <a:ext uri="{FF2B5EF4-FFF2-40B4-BE49-F238E27FC236}">
                <a16:creationId xmlns:a16="http://schemas.microsoft.com/office/drawing/2014/main" id="{A4D3BE39-4E56-4AD8-9865-783F4DA4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207008"/>
            <a:ext cx="12573000" cy="586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50509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50509"/>
                </a:solidFill>
                <a:latin typeface="Arial"/>
                <a:ea typeface="Arial"/>
                <a:cs typeface="Arial"/>
              </a:rPr>
              <a:t>Formal Oversight Before Action</a:t>
            </a:r>
          </a:p>
        </p:txBody>
      </p:sp>
      <p:sp>
        <p:nvSpPr>
          <p:cNvPr id="2" name="Proposed framework: specify properties, prove obligations, enfor">
            <a:extLst xmlns:a="http://schemas.openxmlformats.org/drawingml/2006/main">
              <a:ext uri="{FF2B5EF4-FFF2-40B4-BE49-F238E27FC236}">
                <a16:creationId xmlns:a16="http://schemas.microsoft.com/office/drawing/2014/main" id="{BACDA96E-5A74-47B6-AFF8-8BA0D09F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8" y="1908239"/>
            <a:ext cx="13049250" cy="41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Proposed framework: specify properties, prove obligations, enforce execution</a:t>
            </a:r>
          </a:p>
        </p:txBody>
      </p:sp>
      <p:sp>
        <p:nvSpPr>
          <p:cNvPr id="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F031845-B9B2-489E-95CE-1F24F10D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3" y="2652713"/>
            <a:ext cx="5286375" cy="588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7767313-DD0C-47F0-8725-570DAA40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263" y="2652713"/>
            <a:ext cx="5534025" cy="588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4C26C9C-B4F4-4747-9A98-F8D38D8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763" y="2652713"/>
            <a:ext cx="5048250" cy="588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6" name="1   Formal specification">
            <a:extLst xmlns:a="http://schemas.openxmlformats.org/drawingml/2006/main">
              <a:ext uri="{FF2B5EF4-FFF2-40B4-BE49-F238E27FC236}">
                <a16:creationId xmlns:a16="http://schemas.microsoft.com/office/drawing/2014/main" id="{4CA467B1-7E8C-4676-A1FF-44A74391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830259"/>
            <a:ext cx="4781550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1   Formal specification</a:t>
            </a:r>
          </a:p>
        </p:txBody>
      </p:sp>
      <p:sp>
        <p:nvSpPr>
          <p:cNvPr id="7" name="2   Formal proof checking">
            <a:extLst xmlns:a="http://schemas.openxmlformats.org/drawingml/2006/main">
              <a:ext uri="{FF2B5EF4-FFF2-40B4-BE49-F238E27FC236}">
                <a16:creationId xmlns:a16="http://schemas.microsoft.com/office/drawing/2014/main" id="{89A30DE5-E611-47B1-AB91-0E3AABD2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8" y="2830259"/>
            <a:ext cx="5143500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2   Formal proof checking</a:t>
            </a:r>
          </a:p>
        </p:txBody>
      </p:sp>
      <p:sp>
        <p:nvSpPr>
          <p:cNvPr id="8" name="3   Execution gate">
            <a:extLst xmlns:a="http://schemas.openxmlformats.org/drawingml/2006/main">
              <a:ext uri="{FF2B5EF4-FFF2-40B4-BE49-F238E27FC236}">
                <a16:creationId xmlns:a16="http://schemas.microsoft.com/office/drawing/2014/main" id="{CDA20FFD-8A30-42A3-8EB2-23F3AFF5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788" y="2830259"/>
            <a:ext cx="4648200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3   Execution gate</a:t>
            </a:r>
          </a:p>
        </p:txBody>
      </p:sp>
      <p:sp>
        <p:nvSpPr>
          <p:cNvPr id="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593ED238-FBA0-4BDF-9E4D-85DAF4CF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3" y="3576638"/>
            <a:ext cx="486727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10" name="Approved specification Φ">
            <a:extLst xmlns:a="http://schemas.openxmlformats.org/drawingml/2006/main">
              <a:ext uri="{FF2B5EF4-FFF2-40B4-BE49-F238E27FC236}">
                <a16:creationId xmlns:a16="http://schemas.microsoft.com/office/drawing/2014/main" id="{03366E80-6D49-4730-9CD1-5A948156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3916680"/>
            <a:ext cx="43910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Approved specification Φ</a:t>
            </a:r>
          </a:p>
        </p:txBody>
      </p:sp>
      <p:sp>
        <p:nvSpPr>
          <p:cNvPr id="11" name="Task correctness + security">
            <a:extLst xmlns:a="http://schemas.openxmlformats.org/drawingml/2006/main">
              <a:ext uri="{FF2B5EF4-FFF2-40B4-BE49-F238E27FC236}">
                <a16:creationId xmlns:a16="http://schemas.microsoft.com/office/drawing/2014/main" id="{2A6FD7DE-E862-487C-81CB-7C96C6B9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4488085"/>
            <a:ext cx="439102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Task correctness + security</a:t>
            </a:r>
          </a:p>
        </p:txBody>
      </p:sp>
      <p:sp>
        <p:nvSpPr>
          <p:cNvPr id="1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83421C8-04B4-44E1-985A-81F2F108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3" y="5662613"/>
            <a:ext cx="4867275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12383">
            <a:solidFill>
              <a:srgbClr val="CFD9E2"/>
            </a:solidFill>
            <a:prstDash val="solid"/>
          </a:ln>
        </p:spPr>
      </p:sp>
      <p:sp>
        <p:nvSpPr>
          <p:cNvPr id="13" name="Example security property">
            <a:extLst xmlns:a="http://schemas.openxmlformats.org/drawingml/2006/main">
              <a:ext uri="{FF2B5EF4-FFF2-40B4-BE49-F238E27FC236}">
                <a16:creationId xmlns:a16="http://schemas.microsoft.com/office/drawing/2014/main" id="{BFFC746F-8A67-4D90-AA43-21486EFC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5846064"/>
            <a:ext cx="43338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Example security property</a:t>
            </a:r>
          </a:p>
        </p:txBody>
      </p:sp>
      <p:sp>
        <p:nvSpPr>
          <p:cNvPr id="14" name="always:  Send(d, r) ⇒ Authorized(d, r)">
            <a:extLst xmlns:a="http://schemas.openxmlformats.org/drawingml/2006/main">
              <a:ext uri="{FF2B5EF4-FFF2-40B4-BE49-F238E27FC236}">
                <a16:creationId xmlns:a16="http://schemas.microsoft.com/office/drawing/2014/main" id="{4457EFB5-AE9B-48BD-9DC3-B3F81C8A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6381464"/>
            <a:ext cx="451485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rPr>
              <a:t>always:  Send(d, r) ⇒ Authorized(d, r)</a:t>
            </a:r>
          </a:p>
        </p:txBody>
      </p:sp>
      <p:sp>
        <p:nvSpPr>
          <p:cNvPr id="15" name="Every send must be authorized.">
            <a:extLst xmlns:a="http://schemas.openxmlformats.org/drawingml/2006/main">
              <a:ext uri="{FF2B5EF4-FFF2-40B4-BE49-F238E27FC236}">
                <a16:creationId xmlns:a16="http://schemas.microsoft.com/office/drawing/2014/main" id="{2AF5F230-AD7F-4623-BCC1-DEEA079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6933248"/>
            <a:ext cx="433387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Every send must be authorized.</a:t>
            </a:r>
          </a:p>
        </p:txBody>
      </p:sp>
      <p:sp>
        <p:nvSpPr>
          <p:cNvPr id="16" name="Review intent. Protect the specification.">
            <a:extLst xmlns:a="http://schemas.openxmlformats.org/drawingml/2006/main">
              <a:ext uri="{FF2B5EF4-FFF2-40B4-BE49-F238E27FC236}">
                <a16:creationId xmlns:a16="http://schemas.microsoft.com/office/drawing/2014/main" id="{34A9A926-0F49-48FC-8F61-BA8E1865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7985760"/>
            <a:ext cx="48101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Review intent. Protect the specification.</a:t>
            </a:r>
          </a:p>
        </p:txBody>
      </p:sp>
      <p:sp>
        <p:nvSpPr>
          <p:cNvPr id="17" name="Φ">
            <a:extLst xmlns:a="http://schemas.openxmlformats.org/drawingml/2006/main">
              <a:ext uri="{FF2B5EF4-FFF2-40B4-BE49-F238E27FC236}">
                <a16:creationId xmlns:a16="http://schemas.microsoft.com/office/drawing/2014/main" id="{479CE99C-9D5B-48E8-A675-40F8B1BB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238" y="5054918"/>
            <a:ext cx="4667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 i="1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1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rPr>
              <a:t>Φ</a:t>
            </a:r>
          </a:p>
        </p:txBody>
      </p:sp>
      <p:sp>
        <p:nvSpPr>
          <p:cNvPr id="1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70AF08D-B6F6-49D2-AB85-221CE18C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5576888"/>
            <a:ext cx="676275" cy="9525"/>
          </a:xfrm>
          <a:custGeom xmlns:a="http://schemas.openxmlformats.org/drawingml/2006/main">
            <a:pathLst>
              <a:path w="676275" h="9525">
                <a:moveTo>
                  <a:pt x="0" y="0"/>
                </a:moveTo>
                <a:lnTo>
                  <a:pt x="676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1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BF0C7BC-088D-4EA0-ABD6-CA8C11BD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863" y="5510213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2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C7A5D84-4EED-454C-BE58-75754B36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3576638"/>
            <a:ext cx="4533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21" name="Generate logical obligations">
            <a:extLst xmlns:a="http://schemas.openxmlformats.org/drawingml/2006/main">
              <a:ext uri="{FF2B5EF4-FFF2-40B4-BE49-F238E27FC236}">
                <a16:creationId xmlns:a16="http://schemas.microsoft.com/office/drawing/2014/main" id="{274152F9-C00F-475C-AC22-A3DDC8DF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728085"/>
            <a:ext cx="41529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Generate logical obligations</a:t>
            </a:r>
          </a:p>
        </p:txBody>
      </p:sp>
      <p:sp>
        <p:nvSpPr>
          <p:cNvPr id="2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225319C-2A71-4254-BDDE-8CE02F80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224338"/>
            <a:ext cx="41624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4DDE6"/>
            </a:solidFill>
            <a:prstDash val="solid"/>
          </a:ln>
        </p:spPr>
      </p:sp>
      <p:sp>
        <p:nvSpPr>
          <p:cNvPr id="23" name="O := Obligations(M(x), Φ)">
            <a:extLst xmlns:a="http://schemas.openxmlformats.org/drawingml/2006/main">
              <a:ext uri="{FF2B5EF4-FFF2-40B4-BE49-F238E27FC236}">
                <a16:creationId xmlns:a16="http://schemas.microsoft.com/office/drawing/2014/main" id="{8464168E-EC46-449D-9C0C-0CDD63AE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4321397"/>
            <a:ext cx="399097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 i="0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rPr>
              <a:t>O := Obligations(M(x), Φ)</a:t>
            </a:r>
          </a:p>
        </p:txBody>
      </p:sp>
      <p:sp>
        <p:nvSpPr>
          <p:cNvPr id="24" name="Model the candidate and tool effects.">
            <a:extLst xmlns:a="http://schemas.openxmlformats.org/drawingml/2006/main">
              <a:ext uri="{FF2B5EF4-FFF2-40B4-BE49-F238E27FC236}">
                <a16:creationId xmlns:a16="http://schemas.microsoft.com/office/drawing/2014/main" id="{B913F4DA-CB78-467D-A0E2-C3934140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881944"/>
            <a:ext cx="416242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Model the candidate and tool effects.</a:t>
            </a:r>
          </a:p>
        </p:txBody>
      </p:sp>
      <p:sp>
        <p:nvSpPr>
          <p:cNvPr id="2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4EC689F-45D1-4E9C-B319-BB69198D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5367338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2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D0EBB79-C16A-44C3-8C2A-63E17AC1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663" y="5643563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2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CB57D97E-F972-465F-AB8D-D41AC9B9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5795963"/>
            <a:ext cx="45339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28" name="Prove and check every obligation">
            <a:extLst xmlns:a="http://schemas.openxmlformats.org/drawingml/2006/main">
              <a:ext uri="{FF2B5EF4-FFF2-40B4-BE49-F238E27FC236}">
                <a16:creationId xmlns:a16="http://schemas.microsoft.com/office/drawing/2014/main" id="{579E815D-F8EE-491D-BB15-2554AF2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5931789"/>
            <a:ext cx="41433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Prove and check every obligation</a:t>
            </a:r>
          </a:p>
        </p:txBody>
      </p:sp>
      <p:sp>
        <p:nvSpPr>
          <p:cNvPr id="2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8DE0E02-92FB-43D6-A641-1413C9A3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6443663"/>
            <a:ext cx="41624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4DDE6"/>
            </a:solidFill>
            <a:prstDash val="solid"/>
          </a:ln>
        </p:spPr>
      </p:sp>
      <p:sp>
        <p:nvSpPr>
          <p:cNvPr id="30" name="SMT solver / proof assistant">
            <a:extLst xmlns:a="http://schemas.openxmlformats.org/drawingml/2006/main">
              <a:ext uri="{FF2B5EF4-FFF2-40B4-BE49-F238E27FC236}">
                <a16:creationId xmlns:a16="http://schemas.microsoft.com/office/drawing/2014/main" id="{1E73AF37-C0D0-4AB4-BB12-CBE6A1CB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6533864"/>
            <a:ext cx="38957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SMT solver / proof assistant</a:t>
            </a:r>
          </a:p>
        </p:txBody>
      </p:sp>
      <p:sp>
        <p:nvSpPr>
          <p:cNvPr id="3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ABD05B6-BD7B-454A-B2AA-932221EE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6929438"/>
            <a:ext cx="4162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4DDE6"/>
            </a:solidFill>
            <a:prstDash val="solid"/>
          </a:ln>
        </p:spPr>
      </p:sp>
      <p:sp>
        <p:nvSpPr>
          <p:cNvPr id="32" name="Check(proof, O) = valid">
            <a:extLst xmlns:a="http://schemas.openxmlformats.org/drawingml/2006/main">
              <a:ext uri="{FF2B5EF4-FFF2-40B4-BE49-F238E27FC236}">
                <a16:creationId xmlns:a16="http://schemas.microsoft.com/office/drawing/2014/main" id="{C8B5BF93-6D67-4B7E-914B-141F7AFA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7019639"/>
            <a:ext cx="38957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51D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 i="0">
                <a:solidFill>
                  <a:srgbClr val="11151D"/>
                </a:solidFill>
                <a:latin typeface="Courier New"/>
                <a:ea typeface="Courier New"/>
                <a:cs typeface="Courier New"/>
              </a:rPr>
              <a:t>Check(proof, O) = valid</a:t>
            </a:r>
          </a:p>
        </p:txBody>
      </p:sp>
      <p:sp>
        <p:nvSpPr>
          <p:cNvPr id="3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2AF1E6A-07A0-479F-9A9B-D99A1880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38613"/>
            <a:ext cx="523875" cy="2686050"/>
          </a:xfrm>
          <a:custGeom xmlns:a="http://schemas.openxmlformats.org/drawingml/2006/main">
            <a:pathLst>
              <a:path w="523875" h="2686050">
                <a:moveTo>
                  <a:pt x="0" y="2686050"/>
                </a:moveTo>
                <a:lnTo>
                  <a:pt x="523875" y="2686050"/>
                </a:lnTo>
                <a:lnTo>
                  <a:pt x="5238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dash"/>
          </a:ln>
        </p:spPr>
      </p:sp>
      <p:sp>
        <p:nvSpPr>
          <p:cNvPr id="34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CE98F0EB-1F1E-491D-A8CB-97283BC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071938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66675"/>
                </a:moveTo>
                <a:lnTo>
                  <a:pt x="152400" y="0"/>
                </a:lnTo>
                <a:lnTo>
                  <a:pt x="152400" y="13335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3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9C325D8-3BA2-4CA8-9885-EE01823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9963" y="4976813"/>
            <a:ext cx="7143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Repair">
            <a:extLst xmlns:a="http://schemas.openxmlformats.org/drawingml/2006/main">
              <a:ext uri="{FF2B5EF4-FFF2-40B4-BE49-F238E27FC236}">
                <a16:creationId xmlns:a16="http://schemas.microsoft.com/office/drawing/2014/main" id="{C6671A6E-D97E-4D7A-AEC3-7BB5FAD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5007769"/>
            <a:ext cx="685800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Repair</a:t>
            </a:r>
          </a:p>
        </p:txBody>
      </p:sp>
      <p:sp>
        <p:nvSpPr>
          <p:cNvPr id="37" name="candidate">
            <a:extLst xmlns:a="http://schemas.openxmlformats.org/drawingml/2006/main">
              <a:ext uri="{FF2B5EF4-FFF2-40B4-BE49-F238E27FC236}">
                <a16:creationId xmlns:a16="http://schemas.microsoft.com/office/drawing/2014/main" id="{3765EE0B-695E-4FC8-B203-B5F4B01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5279231"/>
            <a:ext cx="685800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candidate</a:t>
            </a:r>
          </a:p>
        </p:txBody>
      </p:sp>
      <p:sp>
        <p:nvSpPr>
          <p:cNvPr id="38" name="or proof">
            <a:extLst xmlns:a="http://schemas.openxmlformats.org/drawingml/2006/main">
              <a:ext uri="{FF2B5EF4-FFF2-40B4-BE49-F238E27FC236}">
                <a16:creationId xmlns:a16="http://schemas.microsoft.com/office/drawing/2014/main" id="{2377F9FB-FBCC-4572-BE32-6EC340B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5550694"/>
            <a:ext cx="685800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or proof</a:t>
            </a:r>
          </a:p>
        </p:txBody>
      </p:sp>
      <p:sp>
        <p:nvSpPr>
          <p:cNvPr id="39" name="Verification target:">
            <a:extLst xmlns:a="http://schemas.openxmlformats.org/drawingml/2006/main">
              <a:ext uri="{FF2B5EF4-FFF2-40B4-BE49-F238E27FC236}">
                <a16:creationId xmlns:a16="http://schemas.microsoft.com/office/drawing/2014/main" id="{F9CC4193-3DBF-4C72-9FA1-7F46DA4D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7940897"/>
            <a:ext cx="243840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Verification target:</a:t>
            </a:r>
          </a:p>
        </p:txBody>
      </p:sp>
      <p:sp>
        <p:nvSpPr>
          <p:cNvPr id="40" name="M(x) ⊨ Φ">
            <a:extLst xmlns:a="http://schemas.openxmlformats.org/drawingml/2006/main">
              <a:ext uri="{FF2B5EF4-FFF2-40B4-BE49-F238E27FC236}">
                <a16:creationId xmlns:a16="http://schemas.microsoft.com/office/drawing/2014/main" id="{51C5DF7D-660E-4181-B99E-1C670368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7924610"/>
            <a:ext cx="2447925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1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11151D"/>
                </a:solidFill>
                <a:latin typeface="Times New Roman"/>
                <a:ea typeface="Times New Roman"/>
                <a:cs typeface="Times New Roman"/>
              </a:rPr>
              <a:t>M(x) ⊨ Φ</a:t>
            </a:r>
          </a:p>
        </p:txBody>
      </p:sp>
      <p:sp>
        <p:nvSpPr>
          <p:cNvPr id="4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54F90DB-F208-4B67-AFE8-A0008A53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138" y="5576888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4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21E90BE9-636A-4885-922E-95EC6A05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363" y="5510213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4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529F72B-C45A-41E2-832E-FB65632B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363" y="3576638"/>
            <a:ext cx="4610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44" name="Allow only when ALL hold">
            <a:extLst xmlns:a="http://schemas.openxmlformats.org/drawingml/2006/main">
              <a:ext uri="{FF2B5EF4-FFF2-40B4-BE49-F238E27FC236}">
                <a16:creationId xmlns:a16="http://schemas.microsoft.com/office/drawing/2014/main" id="{75A8410A-7EEE-4872-B929-962F4999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388" y="3730181"/>
            <a:ext cx="421005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Allow only when ALL hold</a:t>
            </a:r>
          </a:p>
        </p:txBody>
      </p:sp>
      <p:sp>
        <p:nvSpPr>
          <p:cNvPr id="4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EFE47ED-799A-472B-8975-1E2595B9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863" y="4224338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4DDE6"/>
            </a:solidFill>
            <a:prstDash val="solid"/>
          </a:ln>
        </p:spPr>
      </p:sp>
      <p:sp>
        <p:nvSpPr>
          <p:cNvPr id="46" name="Proof accepted">
            <a:extLst xmlns:a="http://schemas.openxmlformats.org/drawingml/2006/main">
              <a:ext uri="{FF2B5EF4-FFF2-40B4-BE49-F238E27FC236}">
                <a16:creationId xmlns:a16="http://schemas.microsoft.com/office/drawing/2014/main" id="{C5078EED-8868-4232-8787-49EE71E1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4300252"/>
            <a:ext cx="3810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Proof accepted</a:t>
            </a:r>
          </a:p>
        </p:txBody>
      </p:sp>
      <p:sp>
        <p:nvSpPr>
          <p:cNvPr id="4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187A9547-2C39-4293-8ED2-40EC03D6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863" y="4748213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4DDE6"/>
            </a:solidFill>
            <a:prstDash val="solid"/>
          </a:ln>
        </p:spPr>
      </p:sp>
      <p:sp>
        <p:nvSpPr>
          <p:cNvPr id="48" name="Artifact, model, spec match proof">
            <a:extLst xmlns:a="http://schemas.openxmlformats.org/drawingml/2006/main">
              <a:ext uri="{FF2B5EF4-FFF2-40B4-BE49-F238E27FC236}">
                <a16:creationId xmlns:a16="http://schemas.microsoft.com/office/drawing/2014/main" id="{EE865201-5942-4027-9CD4-90639369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4824127"/>
            <a:ext cx="3810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Artifact, model, spec match proof</a:t>
            </a:r>
          </a:p>
        </p:txBody>
      </p:sp>
      <p:sp>
        <p:nvSpPr>
          <p:cNvPr id="4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A4ADF8A-8142-4638-B9C0-C68703FB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863" y="5272088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4DDE6"/>
            </a:solidFill>
            <a:prstDash val="solid"/>
          </a:ln>
        </p:spPr>
      </p:sp>
      <p:sp>
        <p:nvSpPr>
          <p:cNvPr id="50" name="Permission valid at execution">
            <a:extLst xmlns:a="http://schemas.openxmlformats.org/drawingml/2006/main">
              <a:ext uri="{FF2B5EF4-FFF2-40B4-BE49-F238E27FC236}">
                <a16:creationId xmlns:a16="http://schemas.microsoft.com/office/drawing/2014/main" id="{D30F372D-ECDC-4F6F-8D1D-8C7327D5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5348002"/>
            <a:ext cx="3810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Permission valid at execution</a:t>
            </a:r>
          </a:p>
        </p:txBody>
      </p:sp>
      <p:sp>
        <p:nvSpPr>
          <p:cNvPr id="5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4B439D2-8FB8-489F-94C9-DF9A5986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863" y="5795963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4DDE6"/>
            </a:solidFill>
            <a:prstDash val="solid"/>
          </a:ln>
        </p:spPr>
      </p:sp>
      <p:sp>
        <p:nvSpPr>
          <p:cNvPr id="52" name="Model assumptions still hold">
            <a:extLst xmlns:a="http://schemas.openxmlformats.org/drawingml/2006/main">
              <a:ext uri="{FF2B5EF4-FFF2-40B4-BE49-F238E27FC236}">
                <a16:creationId xmlns:a16="http://schemas.microsoft.com/office/drawing/2014/main" id="{3DCB7ABD-0589-4D61-B884-39517DD5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5871877"/>
            <a:ext cx="3810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Model assumptions still hold</a:t>
            </a:r>
          </a:p>
        </p:txBody>
      </p:sp>
      <p:sp>
        <p:nvSpPr>
          <p:cNvPr id="5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A5CBEDA-BD1A-49B5-96A0-6B00946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888" y="6434138"/>
            <a:ext cx="9525" cy="390525"/>
          </a:xfrm>
          <a:custGeom xmlns:a="http://schemas.openxmlformats.org/drawingml/2006/main">
            <a:pathLst>
              <a:path w="9525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5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4EF29DF-5931-4EFD-A84E-70CAE497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0338" y="6824663"/>
            <a:ext cx="971550" cy="466725"/>
          </a:xfrm>
          <a:custGeom xmlns:a="http://schemas.openxmlformats.org/drawingml/2006/main">
            <a:pathLst>
              <a:path w="971550" h="466725">
                <a:moveTo>
                  <a:pt x="971550" y="0"/>
                </a:moveTo>
                <a:lnTo>
                  <a:pt x="0" y="0"/>
                </a:ln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5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252C54B-C83A-45D8-923F-9E227643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3" y="713898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5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B593EAA-D26A-4C4E-9143-583A94C4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888" y="6824663"/>
            <a:ext cx="809625" cy="466725"/>
          </a:xfrm>
          <a:custGeom xmlns:a="http://schemas.openxmlformats.org/drawingml/2006/main">
            <a:pathLst>
              <a:path w="809625" h="466725">
                <a:moveTo>
                  <a:pt x="0" y="0"/>
                </a:moveTo>
                <a:lnTo>
                  <a:pt x="809625" y="0"/>
                </a:lnTo>
                <a:lnTo>
                  <a:pt x="809625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51D"/>
            </a:solidFill>
            <a:prstDash val="solid"/>
          </a:ln>
        </p:spPr>
      </p:sp>
      <p:sp>
        <p:nvSpPr>
          <p:cNvPr id="5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5C3F34D-BFE7-4E05-A6DE-4CF5A28B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4838" y="713898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11151D"/>
          </a:solidFill>
          <a:ln xmlns:a="http://schemas.openxmlformats.org/drawingml/2006/main" w="0">
            <a:noFill/>
          </a:ln>
        </p:spPr>
      </p:sp>
      <p:sp>
        <p:nvSpPr>
          <p:cNvPr id="58" name="all true">
            <a:extLst xmlns:a="http://schemas.openxmlformats.org/drawingml/2006/main">
              <a:ext uri="{FF2B5EF4-FFF2-40B4-BE49-F238E27FC236}">
                <a16:creationId xmlns:a16="http://schemas.microsoft.com/office/drawing/2014/main" id="{BC3C399C-DA80-4DDF-91A8-6BAE5839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63" y="6760369"/>
            <a:ext cx="923925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all true</a:t>
            </a:r>
          </a:p>
        </p:txBody>
      </p:sp>
      <p:sp>
        <p:nvSpPr>
          <p:cNvPr id="59" name="false or unknown">
            <a:extLst xmlns:a="http://schemas.openxmlformats.org/drawingml/2006/main">
              <a:ext uri="{FF2B5EF4-FFF2-40B4-BE49-F238E27FC236}">
                <a16:creationId xmlns:a16="http://schemas.microsoft.com/office/drawing/2014/main" id="{0F7DC4DC-508E-4BC1-8441-E5F7866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238" y="6765798"/>
            <a:ext cx="1438275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false or unknown</a:t>
            </a:r>
          </a:p>
        </p:txBody>
      </p:sp>
      <p:sp>
        <p:nvSpPr>
          <p:cNvPr id="6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37C5C9B-1843-4B01-AF11-97425778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363" y="7291388"/>
            <a:ext cx="2209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6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7044D630-02F4-4FFA-9C41-E79BA99C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238" y="7291388"/>
            <a:ext cx="21812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11151D"/>
            </a:solidFill>
            <a:prstDash val="solid"/>
          </a:ln>
        </p:spPr>
      </p:sp>
      <p:sp>
        <p:nvSpPr>
          <p:cNvPr id="62" name="Execute">
            <a:extLst xmlns:a="http://schemas.openxmlformats.org/drawingml/2006/main">
              <a:ext uri="{FF2B5EF4-FFF2-40B4-BE49-F238E27FC236}">
                <a16:creationId xmlns:a16="http://schemas.microsoft.com/office/drawing/2014/main" id="{6ACE10DD-A875-4E9D-A3F0-DBBC89B5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1138" y="7412260"/>
            <a:ext cx="200025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Execute</a:t>
            </a:r>
          </a:p>
        </p:txBody>
      </p:sp>
      <p:sp>
        <p:nvSpPr>
          <p:cNvPr id="63" name="Defer / review">
            <a:extLst xmlns:a="http://schemas.openxmlformats.org/drawingml/2006/main">
              <a:ext uri="{FF2B5EF4-FFF2-40B4-BE49-F238E27FC236}">
                <a16:creationId xmlns:a16="http://schemas.microsoft.com/office/drawing/2014/main" id="{8EB9C09F-F5FC-4292-A9F0-E21F3358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2388" y="7412260"/>
            <a:ext cx="205740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Defer / review</a:t>
            </a:r>
          </a:p>
        </p:txBody>
      </p:sp>
      <p:sp>
        <p:nvSpPr>
          <p:cNvPr id="64" name="Enforce through trusted controls.">
            <a:extLst xmlns:a="http://schemas.openxmlformats.org/drawingml/2006/main">
              <a:ext uri="{FF2B5EF4-FFF2-40B4-BE49-F238E27FC236}">
                <a16:creationId xmlns:a16="http://schemas.microsoft.com/office/drawing/2014/main" id="{C1CE297F-5207-4721-8517-365A4724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463" y="8042910"/>
            <a:ext cx="452437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Enforce through trusted controls.</a:t>
            </a:r>
          </a:p>
        </p:txBody>
      </p:sp>
      <p:sp>
        <p:nvSpPr>
          <p:cNvPr id="65" name="Assurance requires faithful models, sound proof checking, and tr">
            <a:extLst xmlns:a="http://schemas.openxmlformats.org/drawingml/2006/main">
              <a:ext uri="{FF2B5EF4-FFF2-40B4-BE49-F238E27FC236}">
                <a16:creationId xmlns:a16="http://schemas.microsoft.com/office/drawing/2014/main" id="{B5BD9118-BD2A-497E-B3B2-E99D6869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8733473"/>
            <a:ext cx="113347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 i="0">
                <a:solidFill>
                  <a:srgbClr val="11151D"/>
                </a:solidFill>
                <a:latin typeface="Arial Narrow"/>
                <a:ea typeface="Arial Narrow"/>
                <a:cs typeface="Arial Narrow"/>
              </a:rPr>
              <a:t>Assurance requires faithful models, sound proof checking, and trusted enforcement.</a:t>
            </a:r>
          </a:p>
        </p:txBody>
      </p:sp>
    </p:spTree>
    <p:extLst>
      <p:ext uri="{BB962C8B-B14F-4D97-AF65-F5344CB8AC3E}">
        <p14:creationId xmlns:p14="http://schemas.microsoft.com/office/powerpoint/2010/main" val="12481385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reserving Safety Through Continual Updates">
            <a:extLst xmlns:a="http://schemas.openxmlformats.org/drawingml/2006/main">
              <a:ext uri="{FF2B5EF4-FFF2-40B4-BE49-F238E27FC236}">
                <a16:creationId xmlns:a16="http://schemas.microsoft.com/office/drawing/2014/main" id="{325AA68D-92A9-4F15-B767-3BCA2C5D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1227963"/>
            <a:ext cx="13144500" cy="47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8090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8090B"/>
                </a:solidFill>
                <a:latin typeface="Arial"/>
                <a:ea typeface="Arial"/>
                <a:cs typeface="Arial"/>
              </a:rPr>
              <a:t>Preserving Safety Through Continual Updates</a:t>
            </a:r>
          </a:p>
        </p:txBody>
      </p:sp>
      <p:sp>
        <p:nvSpPr>
          <p:cNvPr id="2" name="LLM or harness changes can invalidate existing guardrails">
            <a:extLst xmlns:a="http://schemas.openxmlformats.org/drawingml/2006/main">
              <a:ext uri="{FF2B5EF4-FFF2-40B4-BE49-F238E27FC236}">
                <a16:creationId xmlns:a16="http://schemas.microsoft.com/office/drawing/2014/main" id="{03A587A0-DE3E-413D-A166-CAA3E901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88" y="1773555"/>
            <a:ext cx="120967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LLM or harness changes can invalidate existing guardrails</a:t>
            </a:r>
          </a:p>
        </p:txBody>
      </p:sp>
      <p:sp>
        <p:nvSpPr>
          <p:cNvPr id="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9EA934F-DF64-4F7B-95A4-0A6BE7A2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2481263"/>
            <a:ext cx="5057775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AC361568-7DC5-4C4F-8411-6BA29E9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8" y="2481263"/>
            <a:ext cx="4943475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C435080-D30C-4E7A-A26D-929976A1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288" y="2481263"/>
            <a:ext cx="5038725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CF4EF305-4FFF-484F-8D15-5EDB0DC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566988"/>
            <a:ext cx="60007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7" name="1">
            <a:extLst xmlns:a="http://schemas.openxmlformats.org/drawingml/2006/main">
              <a:ext uri="{FF2B5EF4-FFF2-40B4-BE49-F238E27FC236}">
                <a16:creationId xmlns:a16="http://schemas.microsoft.com/office/drawing/2014/main" id="{721511CD-0744-4D1C-8D91-4E64BDB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640330"/>
            <a:ext cx="6000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8" name="Propose Δ">
            <a:extLst xmlns:a="http://schemas.openxmlformats.org/drawingml/2006/main">
              <a:ext uri="{FF2B5EF4-FFF2-40B4-BE49-F238E27FC236}">
                <a16:creationId xmlns:a16="http://schemas.microsoft.com/office/drawing/2014/main" id="{E2B0B7F3-A23E-4698-8B89-1311FF3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3" y="2629472"/>
            <a:ext cx="3152775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Propose Δ</a:t>
            </a:r>
          </a:p>
        </p:txBody>
      </p:sp>
      <p:sp>
        <p:nvSpPr>
          <p:cNvPr id="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1B32309-A9E1-4E19-89A6-5E326431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566988"/>
            <a:ext cx="60007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5A7F782C-F7FD-4A83-807C-65796D77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640330"/>
            <a:ext cx="6000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1" name="Revalidate protection">
            <a:extLst xmlns:a="http://schemas.openxmlformats.org/drawingml/2006/main">
              <a:ext uri="{FF2B5EF4-FFF2-40B4-BE49-F238E27FC236}">
                <a16:creationId xmlns:a16="http://schemas.microsoft.com/office/drawing/2014/main" id="{83DBA3C9-73D3-4905-A8ED-1FC7049C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629472"/>
            <a:ext cx="3209925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Revalidate protection</a:t>
            </a:r>
          </a:p>
        </p:txBody>
      </p:sp>
      <p:sp>
        <p:nvSpPr>
          <p:cNvPr id="1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D068292-826C-48CF-8B63-53159B73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38" y="2566988"/>
            <a:ext cx="60007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13" name="3">
            <a:extLst xmlns:a="http://schemas.openxmlformats.org/drawingml/2006/main">
              <a:ext uri="{FF2B5EF4-FFF2-40B4-BE49-F238E27FC236}">
                <a16:creationId xmlns:a16="http://schemas.microsoft.com/office/drawing/2014/main" id="{17ED77CB-FD35-4CC4-ADD3-633D037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38" y="2640330"/>
            <a:ext cx="60007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14" name="Apply validated Δ">
            <a:extLst xmlns:a="http://schemas.openxmlformats.org/drawingml/2006/main">
              <a:ext uri="{FF2B5EF4-FFF2-40B4-BE49-F238E27FC236}">
                <a16:creationId xmlns:a16="http://schemas.microsoft.com/office/drawing/2014/main" id="{0183D046-B847-4E4B-973B-28F16336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2629472"/>
            <a:ext cx="335280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31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Apply validated Δ</a:t>
            </a:r>
          </a:p>
        </p:txBody>
      </p:sp>
      <p:sp>
        <p:nvSpPr>
          <p:cNvPr id="1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0A13B81-AF86-4878-804A-D62DA05F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8" y="3262313"/>
            <a:ext cx="441960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16" name="Current system">
            <a:extLst xmlns:a="http://schemas.openxmlformats.org/drawingml/2006/main">
              <a:ext uri="{FF2B5EF4-FFF2-40B4-BE49-F238E27FC236}">
                <a16:creationId xmlns:a16="http://schemas.microsoft.com/office/drawing/2014/main" id="{40959F5F-7BAD-4715-915D-FBF149B2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3430143"/>
            <a:ext cx="400050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Current system</a:t>
            </a:r>
          </a:p>
        </p:txBody>
      </p:sp>
      <p:sp>
        <p:nvSpPr>
          <p:cNvPr id="17" name="Sₜ = (Lₜ, Hₜ)">
            <a:extLst xmlns:a="http://schemas.openxmlformats.org/drawingml/2006/main">
              <a:ext uri="{FF2B5EF4-FFF2-40B4-BE49-F238E27FC236}">
                <a16:creationId xmlns:a16="http://schemas.microsoft.com/office/drawing/2014/main" id="{F06D3537-3B7A-417C-9E82-9E50F228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3867722"/>
            <a:ext cx="350520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rPr>
              <a:t>Sₜ = (Lₜ, Hₜ)</a:t>
            </a:r>
          </a:p>
        </p:txBody>
      </p:sp>
      <p:sp>
        <p:nvSpPr>
          <p:cNvPr id="18" name="LLM + harness, including guardrails">
            <a:extLst xmlns:a="http://schemas.openxmlformats.org/drawingml/2006/main">
              <a:ext uri="{FF2B5EF4-FFF2-40B4-BE49-F238E27FC236}">
                <a16:creationId xmlns:a16="http://schemas.microsoft.com/office/drawing/2014/main" id="{68BC2EE0-39A2-489A-921F-9300EE76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4410456"/>
            <a:ext cx="405765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LLM + harness, including guardrails</a:t>
            </a:r>
          </a:p>
        </p:txBody>
      </p:sp>
      <p:sp>
        <p:nvSpPr>
          <p:cNvPr id="1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E86F532-4469-45BF-AF0A-EC599987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5053013"/>
            <a:ext cx="4257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20" name="LLM learning">
            <a:extLst xmlns:a="http://schemas.openxmlformats.org/drawingml/2006/main">
              <a:ext uri="{FF2B5EF4-FFF2-40B4-BE49-F238E27FC236}">
                <a16:creationId xmlns:a16="http://schemas.microsoft.com/office/drawing/2014/main" id="{B30F6176-5DC3-4CD6-A2B6-82AA5336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5165027"/>
            <a:ext cx="385762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LLM learning</a:t>
            </a:r>
          </a:p>
        </p:txBody>
      </p:sp>
      <p:sp>
        <p:nvSpPr>
          <p:cNvPr id="21" name="Paired authorized tasks">
            <a:extLst xmlns:a="http://schemas.openxmlformats.org/drawingml/2006/main">
              <a:ext uri="{FF2B5EF4-FFF2-40B4-BE49-F238E27FC236}">
                <a16:creationId xmlns:a16="http://schemas.microsoft.com/office/drawing/2014/main" id="{7BF953FE-0409-4E65-9C02-2774EF49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5582031"/>
            <a:ext cx="385762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Paired authorized tasks</a:t>
            </a:r>
          </a:p>
        </p:txBody>
      </p:sp>
      <p:sp>
        <p:nvSpPr>
          <p:cNvPr id="2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3C6864F-A53B-40A1-8BCD-8ADF5FF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6157913"/>
            <a:ext cx="42576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23" name="Harness upgrades">
            <a:extLst xmlns:a="http://schemas.openxmlformats.org/drawingml/2006/main">
              <a:ext uri="{FF2B5EF4-FFF2-40B4-BE49-F238E27FC236}">
                <a16:creationId xmlns:a16="http://schemas.microsoft.com/office/drawing/2014/main" id="{EC2755A9-D291-4AF8-8144-F3331A6D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6269927"/>
            <a:ext cx="385762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Harness upgrades</a:t>
            </a:r>
          </a:p>
        </p:txBody>
      </p:sp>
      <p:sp>
        <p:nvSpPr>
          <p:cNvPr id="24" name="Tools · monitors · training feedback">
            <a:extLst xmlns:a="http://schemas.openxmlformats.org/drawingml/2006/main">
              <a:ext uri="{FF2B5EF4-FFF2-40B4-BE49-F238E27FC236}">
                <a16:creationId xmlns:a16="http://schemas.microsoft.com/office/drawing/2014/main" id="{BAC00E8E-ECFB-40F4-8468-E4355E0B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6686931"/>
            <a:ext cx="389572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Tools · monitors · training feedback</a:t>
            </a:r>
          </a:p>
        </p:txBody>
      </p:sp>
      <p:sp>
        <p:nvSpPr>
          <p:cNvPr id="25" name="Test a candidate before release.">
            <a:extLst xmlns:a="http://schemas.openxmlformats.org/drawingml/2006/main">
              <a:ext uri="{FF2B5EF4-FFF2-40B4-BE49-F238E27FC236}">
                <a16:creationId xmlns:a16="http://schemas.microsoft.com/office/drawing/2014/main" id="{DF80171A-26F2-4698-978D-E4CA6DD6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8" y="7524464"/>
            <a:ext cx="405765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Test a candidate before release.</a:t>
            </a:r>
          </a:p>
        </p:txBody>
      </p:sp>
      <p:sp>
        <p:nvSpPr>
          <p:cNvPr id="26" name="updated">
            <a:extLst xmlns:a="http://schemas.openxmlformats.org/drawingml/2006/main">
              <a:ext uri="{FF2B5EF4-FFF2-40B4-BE49-F238E27FC236}">
                <a16:creationId xmlns:a16="http://schemas.microsoft.com/office/drawing/2014/main" id="{B8DBD068-64AA-4A09-A1FC-DBD43E6A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4575429"/>
            <a:ext cx="10382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updated</a:t>
            </a:r>
          </a:p>
        </p:txBody>
      </p:sp>
      <p:sp>
        <p:nvSpPr>
          <p:cNvPr id="27" name="candidate">
            <a:extLst xmlns:a="http://schemas.openxmlformats.org/drawingml/2006/main">
              <a:ext uri="{FF2B5EF4-FFF2-40B4-BE49-F238E27FC236}">
                <a16:creationId xmlns:a16="http://schemas.microsoft.com/office/drawing/2014/main" id="{BB58DA46-ABEA-4970-B880-B420EEC9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4857750"/>
            <a:ext cx="10382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candidate</a:t>
            </a:r>
          </a:p>
        </p:txBody>
      </p:sp>
      <p:sp>
        <p:nvSpPr>
          <p:cNvPr id="2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3F90A71A-E41D-4B3C-A013-D4E4B9DC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5214938"/>
            <a:ext cx="1133475" cy="9525"/>
          </a:xfrm>
          <a:custGeom xmlns:a="http://schemas.openxmlformats.org/drawingml/2006/main">
            <a:pathLst>
              <a:path w="1133475" h="9525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2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70915DC-87F6-43F8-8E89-66CCED5F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5148263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3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94E12760-10BE-494E-AF2C-1A627A6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252788"/>
            <a:ext cx="44862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31" name="Protected requirements">
            <a:extLst xmlns:a="http://schemas.openxmlformats.org/drawingml/2006/main">
              <a:ext uri="{FF2B5EF4-FFF2-40B4-BE49-F238E27FC236}">
                <a16:creationId xmlns:a16="http://schemas.microsoft.com/office/drawing/2014/main" id="{E8926162-121C-48F4-BDA2-E74BE42A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364135"/>
            <a:ext cx="408622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Protected requirements</a:t>
            </a:r>
          </a:p>
        </p:txBody>
      </p:sp>
      <p:sp>
        <p:nvSpPr>
          <p:cNvPr id="32" name="Security · reliability · task completion">
            <a:extLst xmlns:a="http://schemas.openxmlformats.org/drawingml/2006/main">
              <a:ext uri="{FF2B5EF4-FFF2-40B4-BE49-F238E27FC236}">
                <a16:creationId xmlns:a16="http://schemas.microsoft.com/office/drawing/2014/main" id="{67C7F65C-D82E-4C50-8681-DC54F22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3758660"/>
            <a:ext cx="421005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Security · reliability · task completion</a:t>
            </a:r>
          </a:p>
        </p:txBody>
      </p:sp>
      <p:sp>
        <p:nvSpPr>
          <p:cNvPr id="3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A6DAA3AB-85E7-4773-94CB-2447A1F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319588"/>
            <a:ext cx="44862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34" name="Recheck existing guardrails">
            <a:extLst xmlns:a="http://schemas.openxmlformats.org/drawingml/2006/main">
              <a:ext uri="{FF2B5EF4-FFF2-40B4-BE49-F238E27FC236}">
                <a16:creationId xmlns:a16="http://schemas.microsoft.com/office/drawing/2014/main" id="{708DA1D1-9490-4E7E-B100-B4232B74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4388072"/>
            <a:ext cx="408622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Recheck existing guardrails</a:t>
            </a:r>
          </a:p>
        </p:txBody>
      </p:sp>
      <p:sp>
        <p:nvSpPr>
          <p:cNvPr id="3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CDF3DDE6-0AC8-4EB4-87FD-EB66FDFF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4824413"/>
            <a:ext cx="40100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478">
            <a:solidFill>
              <a:srgbClr val="9DA6AF"/>
            </a:solidFill>
            <a:prstDash val="solid"/>
          </a:ln>
        </p:spPr>
      </p:sp>
      <p:sp>
        <p:nvSpPr>
          <p:cNvPr id="36" name="PolicyOK">
            <a:extLst xmlns:a="http://schemas.openxmlformats.org/drawingml/2006/main">
              <a:ext uri="{FF2B5EF4-FFF2-40B4-BE49-F238E27FC236}">
                <a16:creationId xmlns:a16="http://schemas.microsoft.com/office/drawing/2014/main" id="{AD35889B-8F87-4E7E-B92E-0294B732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88" y="4876514"/>
            <a:ext cx="37433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PolicyOK</a:t>
            </a:r>
          </a:p>
        </p:txBody>
      </p:sp>
      <p:sp>
        <p:nvSpPr>
          <p:cNvPr id="37" name="Permissions · data boundaries">
            <a:extLst xmlns:a="http://schemas.openxmlformats.org/drawingml/2006/main">
              <a:ext uri="{FF2B5EF4-FFF2-40B4-BE49-F238E27FC236}">
                <a16:creationId xmlns:a16="http://schemas.microsoft.com/office/drawing/2014/main" id="{8E39DE99-9880-4F7D-B7CB-5DCAFCD2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88" y="5207794"/>
            <a:ext cx="3743325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Permissions · data boundaries</a:t>
            </a:r>
          </a:p>
        </p:txBody>
      </p:sp>
      <p:sp>
        <p:nvSpPr>
          <p:cNvPr id="3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9079702-073A-43CA-B47F-E73C3D1D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5643563"/>
            <a:ext cx="40100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478">
            <a:solidFill>
              <a:srgbClr val="9DA6AF"/>
            </a:solidFill>
            <a:prstDash val="solid"/>
          </a:ln>
        </p:spPr>
      </p:sp>
      <p:sp>
        <p:nvSpPr>
          <p:cNvPr id="39" name="RetentionOK">
            <a:extLst xmlns:a="http://schemas.openxmlformats.org/drawingml/2006/main">
              <a:ext uri="{FF2B5EF4-FFF2-40B4-BE49-F238E27FC236}">
                <a16:creationId xmlns:a16="http://schemas.microsoft.com/office/drawing/2014/main" id="{4C5C5BC0-2684-40E2-BC65-17201DDB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88" y="5695664"/>
            <a:ext cx="37433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RetentionOK</a:t>
            </a:r>
          </a:p>
        </p:txBody>
      </p:sp>
      <p:sp>
        <p:nvSpPr>
          <p:cNvPr id="40" name="Independent regression and adversarial tests">
            <a:extLst xmlns:a="http://schemas.openxmlformats.org/drawingml/2006/main">
              <a:ext uri="{FF2B5EF4-FFF2-40B4-BE49-F238E27FC236}">
                <a16:creationId xmlns:a16="http://schemas.microsoft.com/office/drawing/2014/main" id="{30B9F9DF-DDFB-45BE-9B1F-DCB67FA9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6022181"/>
            <a:ext cx="3800475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Independent regression and adversarial tests</a:t>
            </a:r>
          </a:p>
        </p:txBody>
      </p:sp>
      <p:sp>
        <p:nvSpPr>
          <p:cNvPr id="4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4C8C147-01A3-4CD9-A509-A8B3C56A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6453188"/>
            <a:ext cx="9525" cy="581025"/>
          </a:xfrm>
          <a:custGeom xmlns:a="http://schemas.openxmlformats.org/drawingml/2006/main">
            <a:pathLst>
              <a:path w="9525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4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EA5FF0B-81DA-47CF-AA1C-7D396FF5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063" y="6881813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43" name="fail / unknown">
            <a:extLst xmlns:a="http://schemas.openxmlformats.org/drawingml/2006/main">
              <a:ext uri="{FF2B5EF4-FFF2-40B4-BE49-F238E27FC236}">
                <a16:creationId xmlns:a16="http://schemas.microsoft.com/office/drawing/2014/main" id="{CA3FAB48-E37A-4CA7-A97A-899EF83A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6593014"/>
            <a:ext cx="1524000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fail / unknown</a:t>
            </a:r>
          </a:p>
        </p:txBody>
      </p:sp>
      <p:sp>
        <p:nvSpPr>
          <p:cNvPr id="4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EAC2030-D91F-4051-AA3C-9FC8121D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6453188"/>
            <a:ext cx="9525" cy="581025"/>
          </a:xfrm>
          <a:custGeom xmlns:a="http://schemas.openxmlformats.org/drawingml/2006/main">
            <a:pathLst>
              <a:path w="9525" h="581025">
                <a:moveTo>
                  <a:pt x="0" y="581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dash"/>
          </a:ln>
        </p:spPr>
      </p:sp>
      <p:sp>
        <p:nvSpPr>
          <p:cNvPr id="4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FC9CA01-A74C-4DC8-B7E5-9746A0F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645318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0"/>
                </a:moveTo>
                <a:lnTo>
                  <a:pt x="1333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46" name="retest">
            <a:extLst xmlns:a="http://schemas.openxmlformats.org/drawingml/2006/main">
              <a:ext uri="{FF2B5EF4-FFF2-40B4-BE49-F238E27FC236}">
                <a16:creationId xmlns:a16="http://schemas.microsoft.com/office/drawing/2014/main" id="{474936C5-A333-4C5D-BB8E-E9BBB94A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38" y="6593014"/>
            <a:ext cx="8858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retest</a:t>
            </a:r>
          </a:p>
        </p:txBody>
      </p:sp>
      <p:sp>
        <p:nvSpPr>
          <p:cNvPr id="4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4B5E1F9-1ED7-479F-84DA-4BF6574D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8" y="7034213"/>
            <a:ext cx="44958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48" name="Repair update or guardrails">
            <a:extLst xmlns:a="http://schemas.openxmlformats.org/drawingml/2006/main">
              <a:ext uri="{FF2B5EF4-FFF2-40B4-BE49-F238E27FC236}">
                <a16:creationId xmlns:a16="http://schemas.microsoft.com/office/drawing/2014/main" id="{95548F1D-6107-4481-89A9-DD3B4DB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88" y="7116985"/>
            <a:ext cx="4114800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Repair update or guardrails</a:t>
            </a:r>
          </a:p>
        </p:txBody>
      </p:sp>
      <p:sp>
        <p:nvSpPr>
          <p:cNvPr id="49" name="Keep requirements unchanged">
            <a:extLst xmlns:a="http://schemas.openxmlformats.org/drawingml/2006/main">
              <a:ext uri="{FF2B5EF4-FFF2-40B4-BE49-F238E27FC236}">
                <a16:creationId xmlns:a16="http://schemas.microsoft.com/office/drawing/2014/main" id="{979EF774-E1ED-4BBB-A40A-68D9D0AC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88" y="7506748"/>
            <a:ext cx="411480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Keep requirements unchanged</a:t>
            </a:r>
          </a:p>
        </p:txBody>
      </p:sp>
      <p:sp>
        <p:nvSpPr>
          <p:cNvPr id="50" name="checked">
            <a:extLst xmlns:a="http://schemas.openxmlformats.org/drawingml/2006/main">
              <a:ext uri="{FF2B5EF4-FFF2-40B4-BE49-F238E27FC236}">
                <a16:creationId xmlns:a16="http://schemas.microsoft.com/office/drawing/2014/main" id="{43AE3F2B-86BD-4314-BF0D-41375CA8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388" y="4575429"/>
            <a:ext cx="10382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checked</a:t>
            </a:r>
          </a:p>
        </p:txBody>
      </p:sp>
      <p:sp>
        <p:nvSpPr>
          <p:cNvPr id="51" name="evidence">
            <a:extLst xmlns:a="http://schemas.openxmlformats.org/drawingml/2006/main">
              <a:ext uri="{FF2B5EF4-FFF2-40B4-BE49-F238E27FC236}">
                <a16:creationId xmlns:a16="http://schemas.microsoft.com/office/drawing/2014/main" id="{7D044282-8183-45F7-9F3D-E77ACAA5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388" y="4857750"/>
            <a:ext cx="103822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evidence</a:t>
            </a:r>
          </a:p>
        </p:txBody>
      </p:sp>
      <p:sp>
        <p:nvSpPr>
          <p:cNvPr id="5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CC2EE4AB-F8DF-426E-955D-F557463F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763" y="5214938"/>
            <a:ext cx="1152525" cy="9525"/>
          </a:xfrm>
          <a:custGeom xmlns:a="http://schemas.openxmlformats.org/drawingml/2006/main">
            <a:pathLst>
              <a:path w="1152525" h="9525">
                <a:moveTo>
                  <a:pt x="0" y="0"/>
                </a:moveTo>
                <a:lnTo>
                  <a:pt x="1152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5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2D5DEA4-1C23-4EB0-9320-D31AD030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4888" y="5148263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5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10F9C41-B37A-4B9B-9B98-C2AA6AF3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463" y="3252788"/>
            <a:ext cx="45243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55" name="Update gate">
            <a:extLst xmlns:a="http://schemas.openxmlformats.org/drawingml/2006/main">
              <a:ext uri="{FF2B5EF4-FFF2-40B4-BE49-F238E27FC236}">
                <a16:creationId xmlns:a16="http://schemas.microsoft.com/office/drawing/2014/main" id="{BD0CBB12-1BC6-4EC1-981C-7F4B140E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013" y="3368231"/>
            <a:ext cx="4105275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Update gate</a:t>
            </a:r>
          </a:p>
        </p:txBody>
      </p:sp>
      <p:sp>
        <p:nvSpPr>
          <p:cNvPr id="56" name="Accept(Δ*) :=">
            <a:extLst xmlns:a="http://schemas.openxmlformats.org/drawingml/2006/main">
              <a:ext uri="{FF2B5EF4-FFF2-40B4-BE49-F238E27FC236}">
                <a16:creationId xmlns:a16="http://schemas.microsoft.com/office/drawing/2014/main" id="{89EF14EF-131C-45EE-8874-2E98C0D8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388" y="3824097"/>
            <a:ext cx="342900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rPr>
              <a:t>Accept(Δ*) :=</a:t>
            </a:r>
          </a:p>
        </p:txBody>
      </p:sp>
      <p:sp>
        <p:nvSpPr>
          <p:cNvPr id="57" name="PolicyOK ∧ RetentionOK">
            <a:extLst xmlns:a="http://schemas.openxmlformats.org/drawingml/2006/main">
              <a:ext uri="{FF2B5EF4-FFF2-40B4-BE49-F238E27FC236}">
                <a16:creationId xmlns:a16="http://schemas.microsoft.com/office/drawing/2014/main" id="{2387D19A-9B83-4ABF-A649-6CB0E14E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388" y="4267010"/>
            <a:ext cx="419100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rPr>
              <a:t>PolicyOK ∧ RetentionOK</a:t>
            </a:r>
          </a:p>
        </p:txBody>
      </p:sp>
      <p:sp>
        <p:nvSpPr>
          <p:cNvPr id="58" name="Release the checked version only">
            <a:extLst xmlns:a="http://schemas.openxmlformats.org/drawingml/2006/main">
              <a:ext uri="{FF2B5EF4-FFF2-40B4-BE49-F238E27FC236}">
                <a16:creationId xmlns:a16="http://schemas.microsoft.com/office/drawing/2014/main" id="{46B3E663-E6FE-457C-BC29-DB5319A4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388" y="4771739"/>
            <a:ext cx="41910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Release the checked version only</a:t>
            </a:r>
          </a:p>
        </p:txBody>
      </p:sp>
      <p:sp>
        <p:nvSpPr>
          <p:cNvPr id="5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3451B0BD-C597-44E2-A422-13326F7D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413" y="5214938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6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CBC1869-645A-48FC-8ECC-E7301AC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063" y="5529263"/>
            <a:ext cx="895350" cy="409575"/>
          </a:xfrm>
          <a:custGeom xmlns:a="http://schemas.openxmlformats.org/drawingml/2006/main">
            <a:pathLst>
              <a:path w="895350" h="409575">
                <a:moveTo>
                  <a:pt x="895350" y="0"/>
                </a:moveTo>
                <a:lnTo>
                  <a:pt x="0" y="0"/>
                </a:ln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6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5F0A5A1-4326-4E83-B5FB-B223666C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9388" y="578643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6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112B0DD4-F768-4F1D-8062-8CE34F31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413" y="5529263"/>
            <a:ext cx="847725" cy="409575"/>
          </a:xfrm>
          <a:custGeom xmlns:a="http://schemas.openxmlformats.org/drawingml/2006/main">
            <a:pathLst>
              <a:path w="847725" h="409575">
                <a:moveTo>
                  <a:pt x="0" y="0"/>
                </a:moveTo>
                <a:lnTo>
                  <a:pt x="847725" y="0"/>
                </a:lnTo>
                <a:lnTo>
                  <a:pt x="847725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6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5A681F1D-1225-49C1-9B1E-50ACD32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2463" y="5786438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64" name="pass">
            <a:extLst xmlns:a="http://schemas.openxmlformats.org/drawingml/2006/main">
              <a:ext uri="{FF2B5EF4-FFF2-40B4-BE49-F238E27FC236}">
                <a16:creationId xmlns:a16="http://schemas.microsoft.com/office/drawing/2014/main" id="{56F0EDBB-A267-4475-9334-7C6A04F4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213" y="5392865"/>
            <a:ext cx="60007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pass</a:t>
            </a:r>
          </a:p>
        </p:txBody>
      </p:sp>
      <p:sp>
        <p:nvSpPr>
          <p:cNvPr id="65" name="fail / unknown">
            <a:extLst xmlns:a="http://schemas.openxmlformats.org/drawingml/2006/main">
              <a:ext uri="{FF2B5EF4-FFF2-40B4-BE49-F238E27FC236}">
                <a16:creationId xmlns:a16="http://schemas.microsoft.com/office/drawing/2014/main" id="{D56A0151-87EA-41AF-AE83-E3B980C3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4388" y="5392865"/>
            <a:ext cx="1428750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fail / unknown</a:t>
            </a:r>
          </a:p>
        </p:txBody>
      </p:sp>
      <p:sp>
        <p:nvSpPr>
          <p:cNvPr id="6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87D9F24-C3DD-4E97-B693-EB3482D6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263" y="5938838"/>
            <a:ext cx="2295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67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302A6C3-616C-41EC-A9D5-72DB9E6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238" y="5938838"/>
            <a:ext cx="223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68" name="Apply Δ*">
            <a:extLst xmlns:a="http://schemas.openxmlformats.org/drawingml/2006/main">
              <a:ext uri="{FF2B5EF4-FFF2-40B4-BE49-F238E27FC236}">
                <a16:creationId xmlns:a16="http://schemas.microsoft.com/office/drawing/2014/main" id="{ECC47E22-8479-48A5-B6BA-E77AB136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988" y="6050185"/>
            <a:ext cx="212407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Apply Δ*</a:t>
            </a:r>
          </a:p>
        </p:txBody>
      </p:sp>
      <p:sp>
        <p:nvSpPr>
          <p:cNvPr id="69" name="Retain Sₜ">
            <a:extLst xmlns:a="http://schemas.openxmlformats.org/drawingml/2006/main">
              <a:ext uri="{FF2B5EF4-FFF2-40B4-BE49-F238E27FC236}">
                <a16:creationId xmlns:a16="http://schemas.microsoft.com/office/drawing/2014/main" id="{8929A462-EE45-4E4E-8F1C-5384D7E6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013" y="6050185"/>
            <a:ext cx="2028825" cy="35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Retain Sₜ</a:t>
            </a:r>
          </a:p>
        </p:txBody>
      </p:sp>
      <p:sp>
        <p:nvSpPr>
          <p:cNvPr id="7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5B51800-C2DF-4309-B895-B0685FF5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688" y="6710363"/>
            <a:ext cx="4743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8090B"/>
            </a:solidFill>
            <a:prstDash val="solid"/>
          </a:ln>
        </p:spPr>
      </p:sp>
      <p:sp>
        <p:nvSpPr>
          <p:cNvPr id="71" name="On acceptance:">
            <a:extLst xmlns:a="http://schemas.openxmlformats.org/drawingml/2006/main">
              <a:ext uri="{FF2B5EF4-FFF2-40B4-BE49-F238E27FC236}">
                <a16:creationId xmlns:a16="http://schemas.microsoft.com/office/drawing/2014/main" id="{070720BA-7024-4041-9761-22A26BD1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1138" y="6782943"/>
            <a:ext cx="440055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On acceptance:</a:t>
            </a:r>
          </a:p>
        </p:txBody>
      </p:sp>
      <p:sp>
        <p:nvSpPr>
          <p:cNvPr id="72" name="Sₜ₊₁ = Update(Sₜ, Δ*)">
            <a:extLst xmlns:a="http://schemas.openxmlformats.org/drawingml/2006/main">
              <a:ext uri="{FF2B5EF4-FFF2-40B4-BE49-F238E27FC236}">
                <a16:creationId xmlns:a16="http://schemas.microsoft.com/office/drawing/2014/main" id="{76065F6F-61BF-4ACD-8685-D85EC109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288" y="7191851"/>
            <a:ext cx="42862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1">
                <a:solidFill>
                  <a:srgbClr val="08090B"/>
                </a:solidFill>
                <a:latin typeface="Times New Roman"/>
                <a:ea typeface="Times New Roman"/>
                <a:cs typeface="Times New Roman"/>
              </a:rPr>
              <a:t>Sₜ₊₁ = Update(Sₜ, Δ*)</a:t>
            </a:r>
          </a:p>
        </p:txBody>
      </p:sp>
      <p:sp>
        <p:nvSpPr>
          <p:cNvPr id="73" name="Δ*: checked change, including needed guardrail repairs">
            <a:extLst xmlns:a="http://schemas.openxmlformats.org/drawingml/2006/main">
              <a:ext uri="{FF2B5EF4-FFF2-40B4-BE49-F238E27FC236}">
                <a16:creationId xmlns:a16="http://schemas.microsoft.com/office/drawing/2014/main" id="{DAB5C180-915D-4502-853E-64866B3B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463" y="7613523"/>
            <a:ext cx="45339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Δ*: checked change, including needed guardrail repairs</a:t>
            </a:r>
          </a:p>
        </p:txBody>
      </p:sp>
      <p:sp>
        <p:nvSpPr>
          <p:cNvPr id="7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A15C399-B537-4BDB-9F26-0A991019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3" y="4043363"/>
            <a:ext cx="14649450" cy="4448175"/>
          </a:xfrm>
          <a:custGeom xmlns:a="http://schemas.openxmlformats.org/drawingml/2006/main">
            <a:pathLst>
              <a:path w="14649450" h="4448175">
                <a:moveTo>
                  <a:pt x="14649450" y="4038600"/>
                </a:moveTo>
                <a:lnTo>
                  <a:pt x="14649450" y="4448175"/>
                </a:lnTo>
                <a:lnTo>
                  <a:pt x="0" y="4448175"/>
                </a:lnTo>
                <a:lnTo>
                  <a:pt x="0" y="0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90B"/>
            </a:solidFill>
            <a:prstDash val="solid"/>
          </a:ln>
        </p:spPr>
      </p:sp>
      <p:sp>
        <p:nvSpPr>
          <p:cNvPr id="7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1774A751-928E-4A84-B620-C746AFE6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976688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</a:ln>
        </p:spPr>
      </p:sp>
      <p:sp>
        <p:nvSpPr>
          <p:cNvPr id="7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9C3E981-2DF1-4636-AB5E-ECC00255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8129588"/>
            <a:ext cx="3219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7" name="Revalidate at every update">
            <a:extLst xmlns:a="http://schemas.openxmlformats.org/drawingml/2006/main">
              <a:ext uri="{FF2B5EF4-FFF2-40B4-BE49-F238E27FC236}">
                <a16:creationId xmlns:a16="http://schemas.microsoft.com/office/drawing/2014/main" id="{E87FE3E2-45BE-4D70-B27D-B00A7482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8138827"/>
            <a:ext cx="321945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Revalidate at every update</a:t>
            </a:r>
          </a:p>
        </p:txBody>
      </p:sp>
      <p:sp>
        <p:nvSpPr>
          <p:cNvPr id="78" name="Protection requirements stay fixed; guardrail implementations ma">
            <a:extLst xmlns:a="http://schemas.openxmlformats.org/drawingml/2006/main">
              <a:ext uri="{FF2B5EF4-FFF2-40B4-BE49-F238E27FC236}">
                <a16:creationId xmlns:a16="http://schemas.microsoft.com/office/drawing/2014/main" id="{0FCC610E-5AAD-4CE0-978A-9236234D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8734806"/>
            <a:ext cx="1114425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 i="0">
                <a:solidFill>
                  <a:srgbClr val="08090B"/>
                </a:solidFill>
                <a:latin typeface="Arial Narrow"/>
                <a:ea typeface="Arial Narrow"/>
                <a:cs typeface="Arial Narrow"/>
              </a:rPr>
              <a:t>Protection requirements stay fixed; guardrail implementations may evolve.</a:t>
            </a:r>
          </a:p>
        </p:txBody>
      </p:sp>
    </p:spTree>
    <p:extLst>
      <p:ext uri="{BB962C8B-B14F-4D97-AF65-F5344CB8AC3E}">
        <p14:creationId xmlns:p14="http://schemas.microsoft.com/office/powerpoint/2010/main" val="91042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III. Authorization Across Delegated Workflows">
            <a:extLst xmlns:a="http://schemas.openxmlformats.org/drawingml/2006/main">
              <a:ext uri="{FF2B5EF4-FFF2-40B4-BE49-F238E27FC236}">
                <a16:creationId xmlns:a16="http://schemas.microsoft.com/office/drawing/2014/main" id="{0C4735B5-C95B-4782-A687-A7D0D7EA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19200"/>
            <a:ext cx="14011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III. Authorization Across Delegated Workflows</a:t>
            </a:r>
          </a:p>
        </p:txBody>
      </p:sp>
      <p:sp>
        <p:nvSpPr>
          <p:cNvPr id="2" name="A private report can leak through a delegated email draft.">
            <a:extLst xmlns:a="http://schemas.openxmlformats.org/drawingml/2006/main">
              <a:ext uri="{FF2B5EF4-FFF2-40B4-BE49-F238E27FC236}">
                <a16:creationId xmlns:a16="http://schemas.microsoft.com/office/drawing/2014/main" id="{FB58DF01-A2E2-4BE0-9C41-952D8CE8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89843"/>
            <a:ext cx="12963525" cy="40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 private report can leak through a delegated email draft.</a:t>
            </a:r>
          </a:p>
        </p:txBody>
      </p:sp>
      <p:sp>
        <p:nvSpPr>
          <p:cNvPr id="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B47C68C-7312-42FD-97CE-D3344330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276475"/>
            <a:ext cx="5048250" cy="6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82936CDD-FA30-462A-9927-AA4E2906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90800"/>
            <a:ext cx="4991100" cy="593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B589B509-A5CB-44F6-908A-A0F6D8F8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590800"/>
            <a:ext cx="5076825" cy="593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6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E3DB305-28FC-426F-ACEE-F97488E9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62200"/>
            <a:ext cx="6191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7" name="1">
            <a:extLst xmlns:a="http://schemas.openxmlformats.org/drawingml/2006/main">
              <a:ext uri="{FF2B5EF4-FFF2-40B4-BE49-F238E27FC236}">
                <a16:creationId xmlns:a16="http://schemas.microsoft.com/office/drawing/2014/main" id="{6B967FDD-AAB8-49C2-A956-15C00C52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35543"/>
            <a:ext cx="6191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A concrete handoff">
            <a:extLst xmlns:a="http://schemas.openxmlformats.org/drawingml/2006/main">
              <a:ext uri="{FF2B5EF4-FFF2-40B4-BE49-F238E27FC236}">
                <a16:creationId xmlns:a16="http://schemas.microsoft.com/office/drawing/2014/main" id="{0F477F9A-F090-4B21-B9DC-50053304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0588"/>
            <a:ext cx="3771900" cy="445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 concrete handoff</a:t>
            </a:r>
          </a:p>
        </p:txBody>
      </p:sp>
      <p:sp>
        <p:nvSpPr>
          <p:cNvPr id="9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F669CA2C-2214-4945-B8ED-D48AFE6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76525"/>
            <a:ext cx="6191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6CA00C42-6B77-4BCF-A936-6D3E6F07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49868"/>
            <a:ext cx="6191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Track workflow context">
            <a:extLst xmlns:a="http://schemas.openxmlformats.org/drawingml/2006/main">
              <a:ext uri="{FF2B5EF4-FFF2-40B4-BE49-F238E27FC236}">
                <a16:creationId xmlns:a16="http://schemas.microsoft.com/office/drawing/2014/main" id="{7C7CE151-6B61-46EE-A13C-064F996E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1393"/>
            <a:ext cx="3800475" cy="40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Track workflow context</a:t>
            </a:r>
          </a:p>
        </p:txBody>
      </p:sp>
      <p:sp>
        <p:nvSpPr>
          <p:cNvPr id="1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4265D084-8B53-4A7E-B00D-205AE9D0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676525"/>
            <a:ext cx="6191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13" name="3">
            <a:extLst xmlns:a="http://schemas.openxmlformats.org/drawingml/2006/main">
              <a:ext uri="{FF2B5EF4-FFF2-40B4-BE49-F238E27FC236}">
                <a16:creationId xmlns:a16="http://schemas.microsoft.com/office/drawing/2014/main" id="{557447D2-F483-4176-B710-AD038AA6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49868"/>
            <a:ext cx="61912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" name="Enforce and recover">
            <a:extLst xmlns:a="http://schemas.openxmlformats.org/drawingml/2006/main">
              <a:ext uri="{FF2B5EF4-FFF2-40B4-BE49-F238E27FC236}">
                <a16:creationId xmlns:a16="http://schemas.microsoft.com/office/drawing/2014/main" id="{AC847650-C135-4D0B-9122-22984526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55964"/>
            <a:ext cx="3857625" cy="41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Enforce and recover</a:t>
            </a:r>
          </a:p>
        </p:txBody>
      </p:sp>
      <p:sp>
        <p:nvSpPr>
          <p:cNvPr id="1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F66E149-0887-4D45-8C13-0EA20DF5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57525"/>
            <a:ext cx="4581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16" name="Approved task">
            <a:extLst xmlns:a="http://schemas.openxmlformats.org/drawingml/2006/main">
              <a:ext uri="{FF2B5EF4-FFF2-40B4-BE49-F238E27FC236}">
                <a16:creationId xmlns:a16="http://schemas.microsoft.com/office/drawing/2014/main" id="{9AF7A242-547D-47E3-916D-A92DD5C3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3814"/>
            <a:ext cx="42195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Approved task</a:t>
            </a:r>
          </a:p>
        </p:txBody>
      </p:sp>
      <p:sp>
        <p:nvSpPr>
          <p:cNvPr id="17" name="Send a sanitized vendor update">
            <a:extLst xmlns:a="http://schemas.openxmlformats.org/drawingml/2006/main">
              <a:ext uri="{FF2B5EF4-FFF2-40B4-BE49-F238E27FC236}">
                <a16:creationId xmlns:a16="http://schemas.microsoft.com/office/drawing/2014/main" id="{4B3380A1-C8F0-4F3D-AA84-F0E2348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5950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Send a sanitized vendor update</a:t>
            </a:r>
          </a:p>
        </p:txBody>
      </p:sp>
      <p:sp>
        <p:nvSpPr>
          <p:cNvPr id="18" name="Keep customer IDs internal">
            <a:extLst xmlns:a="http://schemas.openxmlformats.org/drawingml/2006/main">
              <a:ext uri="{FF2B5EF4-FFF2-40B4-BE49-F238E27FC236}">
                <a16:creationId xmlns:a16="http://schemas.microsoft.com/office/drawing/2014/main" id="{854FBC62-8B6E-4CAD-BE83-09F464F2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9988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Keep customer IDs internal</a:t>
            </a:r>
          </a:p>
        </p:txBody>
      </p:sp>
      <p:sp>
        <p:nvSpPr>
          <p:cNvPr id="1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67B18AC-7357-4170-B84A-F72EEE46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5765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2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941460B7-18E6-430D-A6B5-60EE06AD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434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21" name="delegated scope">
            <a:extLst xmlns:a="http://schemas.openxmlformats.org/drawingml/2006/main">
              <a:ext uri="{FF2B5EF4-FFF2-40B4-BE49-F238E27FC236}">
                <a16:creationId xmlns:a16="http://schemas.microsoft.com/office/drawing/2014/main" id="{3F651E23-7B7E-4B75-819E-227F2812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129469"/>
            <a:ext cx="19716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delegated scope</a:t>
            </a:r>
          </a:p>
        </p:txBody>
      </p:sp>
      <p:sp>
        <p:nvSpPr>
          <p:cNvPr id="22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E48EC6F-0E8E-4B22-B4DF-080B172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4581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23" name="Agent A: incident analyst">
            <a:extLst xmlns:a="http://schemas.openxmlformats.org/drawingml/2006/main">
              <a:ext uri="{FF2B5EF4-FFF2-40B4-BE49-F238E27FC236}">
                <a16:creationId xmlns:a16="http://schemas.microsoft.com/office/drawing/2014/main" id="{08911C7E-2C84-4DB5-86FC-BE5F0529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6852"/>
            <a:ext cx="42195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Agent A: incident analyst</a:t>
            </a:r>
          </a:p>
        </p:txBody>
      </p:sp>
      <p:sp>
        <p:nvSpPr>
          <p:cNvPr id="24" name="Reads private incident report">
            <a:extLst xmlns:a="http://schemas.openxmlformats.org/drawingml/2006/main">
              <a:ext uri="{FF2B5EF4-FFF2-40B4-BE49-F238E27FC236}">
                <a16:creationId xmlns:a16="http://schemas.microsoft.com/office/drawing/2014/main" id="{854975D1-DAC0-42BD-A216-79A4BBEC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3750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Reads private incident report</a:t>
            </a:r>
          </a:p>
        </p:txBody>
      </p:sp>
      <p:sp>
        <p:nvSpPr>
          <p:cNvPr id="25" name="Drafts the vendor update">
            <a:extLst xmlns:a="http://schemas.openxmlformats.org/drawingml/2006/main">
              <a:ext uri="{FF2B5EF4-FFF2-40B4-BE49-F238E27FC236}">
                <a16:creationId xmlns:a16="http://schemas.microsoft.com/office/drawing/2014/main" id="{1BC76936-634C-46C6-8640-126BCC2E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7788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Drafts the vendor update</a:t>
            </a:r>
          </a:p>
        </p:txBody>
      </p:sp>
      <p:sp>
        <p:nvSpPr>
          <p:cNvPr id="2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DEB3D6F-AE51-4003-AB0D-D1F3F1C4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86400"/>
            <a:ext cx="9525" cy="352425"/>
          </a:xfrm>
          <a:custGeom xmlns:a="http://schemas.openxmlformats.org/drawingml/2006/main"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2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56EBC73-C674-4F33-91C9-E5FBB6B3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864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2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550130CC-2CB7-4C4E-A375-44F6D5C0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38825"/>
            <a:ext cx="45815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dash"/>
          </a:ln>
        </p:spPr>
      </p:sp>
      <p:sp>
        <p:nvSpPr>
          <p:cNvPr id="29" name="Handoff package">
            <a:extLst xmlns:a="http://schemas.openxmlformats.org/drawingml/2006/main">
              <a:ext uri="{FF2B5EF4-FFF2-40B4-BE49-F238E27FC236}">
                <a16:creationId xmlns:a16="http://schemas.microsoft.com/office/drawing/2014/main" id="{641BC473-7ABF-4458-98E9-4FE0B69F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5114"/>
            <a:ext cx="42195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Handoff package</a:t>
            </a:r>
          </a:p>
        </p:txBody>
      </p:sp>
      <p:sp>
        <p:nvSpPr>
          <p:cNvPr id="30" name="Task: send the vendor update">
            <a:extLst xmlns:a="http://schemas.openxmlformats.org/drawingml/2006/main">
              <a:ext uri="{FF2B5EF4-FFF2-40B4-BE49-F238E27FC236}">
                <a16:creationId xmlns:a16="http://schemas.microsoft.com/office/drawing/2014/main" id="{E2A4E0D5-41A2-4BA2-8391-AEFA22C7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17158"/>
            <a:ext cx="431482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Task: send the vendor update</a:t>
            </a:r>
          </a:p>
        </p:txBody>
      </p:sp>
      <p:sp>
        <p:nvSpPr>
          <p:cNvPr id="31" name="Payload: draft containing customer IDs">
            <a:extLst xmlns:a="http://schemas.openxmlformats.org/drawingml/2006/main">
              <a:ext uri="{FF2B5EF4-FFF2-40B4-BE49-F238E27FC236}">
                <a16:creationId xmlns:a16="http://schemas.microsoft.com/office/drawing/2014/main" id="{6933BDD8-EAA4-488C-A735-4864C581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510338"/>
            <a:ext cx="431482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Payload: draft containing customer IDs</a:t>
            </a:r>
          </a:p>
        </p:txBody>
      </p:sp>
      <p:sp>
        <p:nvSpPr>
          <p:cNvPr id="3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1E449A9-7412-40E4-965A-9A1EE275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8770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3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727C483-A7C9-4536-954E-594301E9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1056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34" name="task + data">
            <a:extLst xmlns:a="http://schemas.openxmlformats.org/drawingml/2006/main">
              <a:ext uri="{FF2B5EF4-FFF2-40B4-BE49-F238E27FC236}">
                <a16:creationId xmlns:a16="http://schemas.microsoft.com/office/drawing/2014/main" id="{CECE1D9F-F76D-40A3-9264-77D5A93A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910769"/>
            <a:ext cx="19716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task + data</a:t>
            </a:r>
          </a:p>
        </p:txBody>
      </p:sp>
      <p:sp>
        <p:nvSpPr>
          <p:cNvPr id="3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3D60A484-FE6E-4D00-AC4D-8BA919DB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58050"/>
            <a:ext cx="45815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36" name="Agent B: vendor liaison">
            <a:extLst xmlns:a="http://schemas.openxmlformats.org/drawingml/2006/main">
              <a:ext uri="{FF2B5EF4-FFF2-40B4-BE49-F238E27FC236}">
                <a16:creationId xmlns:a16="http://schemas.microsoft.com/office/drawing/2014/main" id="{502A2E58-9984-4756-9356-21229906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79577"/>
            <a:ext cx="4219575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Agent B: vendor liaison</a:t>
            </a:r>
          </a:p>
        </p:txBody>
      </p:sp>
      <p:sp>
        <p:nvSpPr>
          <p:cNvPr id="37" name="Can email the external vendor">
            <a:extLst xmlns:a="http://schemas.openxmlformats.org/drawingml/2006/main">
              <a:ext uri="{FF2B5EF4-FFF2-40B4-BE49-F238E27FC236}">
                <a16:creationId xmlns:a16="http://schemas.microsoft.com/office/drawing/2014/main" id="{0FC9A0C9-7418-45C8-95BA-CB07C772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01712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Can email the external vendor</a:t>
            </a:r>
          </a:p>
        </p:txBody>
      </p:sp>
      <p:sp>
        <p:nvSpPr>
          <p:cNvPr id="38" name="Uses A’s draft as message content">
            <a:extLst xmlns:a="http://schemas.openxmlformats.org/drawingml/2006/main">
              <a:ext uri="{FF2B5EF4-FFF2-40B4-BE49-F238E27FC236}">
                <a16:creationId xmlns:a16="http://schemas.microsoft.com/office/drawing/2014/main" id="{C3184E34-15BA-4D2F-8402-43CA4615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0"/>
            <a:ext cx="42195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Uses A’s draft as message content</a:t>
            </a:r>
          </a:p>
        </p:txBody>
      </p:sp>
      <p:sp>
        <p:nvSpPr>
          <p:cNvPr id="39" name="Read access + email access">
            <a:extLst xmlns:a="http://schemas.openxmlformats.org/drawingml/2006/main">
              <a:ext uri="{FF2B5EF4-FFF2-40B4-BE49-F238E27FC236}">
                <a16:creationId xmlns:a16="http://schemas.microsoft.com/office/drawing/2014/main" id="{5E780CBB-83A9-4166-9380-2360E99B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54175"/>
            <a:ext cx="43338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Read access + email access</a:t>
            </a:r>
          </a:p>
        </p:txBody>
      </p:sp>
      <p:sp>
        <p:nvSpPr>
          <p:cNvPr id="40" name="do not authorize disclosure.">
            <a:extLst xmlns:a="http://schemas.openxmlformats.org/drawingml/2006/main">
              <a:ext uri="{FF2B5EF4-FFF2-40B4-BE49-F238E27FC236}">
                <a16:creationId xmlns:a16="http://schemas.microsoft.com/office/drawing/2014/main" id="{C26E1719-D539-471D-8E28-428DC91A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58213"/>
            <a:ext cx="4333875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do not authorize disclosure.</a:t>
            </a:r>
          </a:p>
        </p:txBody>
      </p:sp>
      <p:sp>
        <p:nvSpPr>
          <p:cNvPr id="41" name="authority +">
            <a:extLst xmlns:a="http://schemas.openxmlformats.org/drawingml/2006/main">
              <a:ext uri="{FF2B5EF4-FFF2-40B4-BE49-F238E27FC236}">
                <a16:creationId xmlns:a16="http://schemas.microsoft.com/office/drawing/2014/main" id="{3F7D3473-EC49-461D-988E-5052ADAA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78871"/>
            <a:ext cx="114300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authority +</a:t>
            </a:r>
          </a:p>
        </p:txBody>
      </p:sp>
      <p:sp>
        <p:nvSpPr>
          <p:cNvPr id="42" name="data lineage">
            <a:extLst xmlns:a="http://schemas.openxmlformats.org/drawingml/2006/main">
              <a:ext uri="{FF2B5EF4-FFF2-40B4-BE49-F238E27FC236}">
                <a16:creationId xmlns:a16="http://schemas.microsoft.com/office/drawing/2014/main" id="{2B3184E1-9F49-4EAE-B0E3-8056B719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972050"/>
            <a:ext cx="114300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data lineage</a:t>
            </a:r>
          </a:p>
        </p:txBody>
      </p:sp>
      <p:sp>
        <p:nvSpPr>
          <p:cNvPr id="4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B29A52C-6DC8-47CC-A5ED-7E38D884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72100"/>
            <a:ext cx="1143000" cy="9525"/>
          </a:xfrm>
          <a:custGeom xmlns:a="http://schemas.openxmlformats.org/drawingml/2006/main"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44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E81C290-D12F-45A1-A15A-51DE298B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0542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45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15A9897A-67B0-4062-A61A-5E632B3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4552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46" name="ScopeOK">
            <a:extLst xmlns:a="http://schemas.openxmlformats.org/drawingml/2006/main">
              <a:ext uri="{FF2B5EF4-FFF2-40B4-BE49-F238E27FC236}">
                <a16:creationId xmlns:a16="http://schemas.microsoft.com/office/drawing/2014/main" id="{BDBCF0E6-AD41-4C3C-BE96-8248D861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95497"/>
            <a:ext cx="421005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ScopeOK</a:t>
            </a:r>
          </a:p>
        </p:txBody>
      </p:sp>
      <p:sp>
        <p:nvSpPr>
          <p:cNvPr id="47" name="Within delegated authority">
            <a:extLst xmlns:a="http://schemas.openxmlformats.org/drawingml/2006/main">
              <a:ext uri="{FF2B5EF4-FFF2-40B4-BE49-F238E27FC236}">
                <a16:creationId xmlns:a16="http://schemas.microsoft.com/office/drawing/2014/main" id="{715AFD2A-1CDC-493E-B6F6-F187CDC0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0510"/>
            <a:ext cx="42100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Within delegated authority</a:t>
            </a:r>
          </a:p>
        </p:txBody>
      </p:sp>
      <p:sp>
        <p:nvSpPr>
          <p:cNvPr id="48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284C4C5E-DB33-43A6-9A90-86358E8A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38700"/>
            <a:ext cx="455295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49" name="FlowOK">
            <a:extLst xmlns:a="http://schemas.openxmlformats.org/drawingml/2006/main">
              <a:ext uri="{FF2B5EF4-FFF2-40B4-BE49-F238E27FC236}">
                <a16:creationId xmlns:a16="http://schemas.microsoft.com/office/drawing/2014/main" id="{41538C13-20DD-4066-92A7-A233BCC6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33772"/>
            <a:ext cx="421005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FlowOK</a:t>
            </a:r>
          </a:p>
        </p:txBody>
      </p:sp>
      <p:sp>
        <p:nvSpPr>
          <p:cNvPr id="50" name="Preserves inherited data restrictions">
            <a:extLst xmlns:a="http://schemas.openxmlformats.org/drawingml/2006/main">
              <a:ext uri="{FF2B5EF4-FFF2-40B4-BE49-F238E27FC236}">
                <a16:creationId xmlns:a16="http://schemas.microsoft.com/office/drawing/2014/main" id="{550EFB6B-C2AE-41A5-8F53-B21A32C7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47360"/>
            <a:ext cx="43243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Preserves inherited data restrictions</a:t>
            </a:r>
          </a:p>
        </p:txBody>
      </p:sp>
      <p:sp>
        <p:nvSpPr>
          <p:cNvPr id="51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E8C9D84E-54DE-4031-8B25-FD47D4D2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305550"/>
            <a:ext cx="4552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52" name="FreshOK">
            <a:extLst xmlns:a="http://schemas.openxmlformats.org/drawingml/2006/main">
              <a:ext uri="{FF2B5EF4-FFF2-40B4-BE49-F238E27FC236}">
                <a16:creationId xmlns:a16="http://schemas.microsoft.com/office/drawing/2014/main" id="{95BA7AD7-3116-4774-A399-2859E850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62522"/>
            <a:ext cx="4210050" cy="39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FreshOK</a:t>
            </a:r>
          </a:p>
        </p:txBody>
      </p:sp>
      <p:sp>
        <p:nvSpPr>
          <p:cNvPr id="53" name="Approval dependencies remain valid">
            <a:extLst xmlns:a="http://schemas.openxmlformats.org/drawingml/2006/main">
              <a:ext uri="{FF2B5EF4-FFF2-40B4-BE49-F238E27FC236}">
                <a16:creationId xmlns:a16="http://schemas.microsoft.com/office/drawing/2014/main" id="{AE7E4D8F-565B-4046-999D-F26B2BA4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980873"/>
            <a:ext cx="43243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Approval dependencies remain valid</a:t>
            </a:r>
          </a:p>
        </p:txBody>
      </p:sp>
      <p:sp>
        <p:nvSpPr>
          <p:cNvPr id="54" name="Revocation or changed context">
            <a:extLst xmlns:a="http://schemas.openxmlformats.org/drawingml/2006/main">
              <a:ext uri="{FF2B5EF4-FFF2-40B4-BE49-F238E27FC236}">
                <a16:creationId xmlns:a16="http://schemas.microsoft.com/office/drawing/2014/main" id="{6E4406FF-4C4A-4BDF-B1AF-C4BC711C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7699058"/>
            <a:ext cx="45434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Revocation or changed context</a:t>
            </a:r>
          </a:p>
        </p:txBody>
      </p:sp>
      <p:sp>
        <p:nvSpPr>
          <p:cNvPr id="55" name="triggers revalidation.">
            <a:extLst xmlns:a="http://schemas.openxmlformats.org/drawingml/2006/main">
              <a:ext uri="{FF2B5EF4-FFF2-40B4-BE49-F238E27FC236}">
                <a16:creationId xmlns:a16="http://schemas.microsoft.com/office/drawing/2014/main" id="{20A1341D-887F-4A44-8CD2-9F798325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8024813"/>
            <a:ext cx="45434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triggers revalidation.</a:t>
            </a:r>
          </a:p>
        </p:txBody>
      </p:sp>
      <p:sp>
        <p:nvSpPr>
          <p:cNvPr id="56" name="current">
            <a:extLst xmlns:a="http://schemas.openxmlformats.org/drawingml/2006/main">
              <a:ext uri="{FF2B5EF4-FFF2-40B4-BE49-F238E27FC236}">
                <a16:creationId xmlns:a16="http://schemas.microsoft.com/office/drawing/2014/main" id="{B0C137ED-A810-4093-9549-7304E97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688396"/>
            <a:ext cx="101917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current</a:t>
            </a:r>
          </a:p>
        </p:txBody>
      </p:sp>
      <p:sp>
        <p:nvSpPr>
          <p:cNvPr id="57" name="context c">
            <a:extLst xmlns:a="http://schemas.openxmlformats.org/drawingml/2006/main">
              <a:ext uri="{FF2B5EF4-FFF2-40B4-BE49-F238E27FC236}">
                <a16:creationId xmlns:a16="http://schemas.microsoft.com/office/drawing/2014/main" id="{830E0D75-AB4A-43CA-993A-6A26E49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981575"/>
            <a:ext cx="1019175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context c</a:t>
            </a:r>
          </a:p>
        </p:txBody>
      </p:sp>
      <p:sp>
        <p:nvSpPr>
          <p:cNvPr id="5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C09361EF-97C8-4B0A-B360-94534B61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372100"/>
            <a:ext cx="1133475" cy="9525"/>
          </a:xfrm>
          <a:custGeom xmlns:a="http://schemas.openxmlformats.org/drawingml/2006/main">
            <a:pathLst>
              <a:path w="1133475" h="9525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5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CD034A46-46E7-438F-AE4B-03355145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30542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60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DE5ECD0A-8C7F-4B53-B2FF-74DC290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429000"/>
            <a:ext cx="470535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61" name="Workflow authorization rule">
            <a:extLst xmlns:a="http://schemas.openxmlformats.org/drawingml/2006/main">
              <a:ext uri="{FF2B5EF4-FFF2-40B4-BE49-F238E27FC236}">
                <a16:creationId xmlns:a16="http://schemas.microsoft.com/office/drawing/2014/main" id="{48F97CB7-996A-4410-8449-E4F9A26C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567589"/>
            <a:ext cx="44577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Workflow authorization rule</a:t>
            </a:r>
          </a:p>
        </p:txBody>
      </p:sp>
      <p:sp>
        <p:nvSpPr>
          <p:cNvPr id="62" name="Allow(a, c) :=">
            <a:extLst xmlns:a="http://schemas.openxmlformats.org/drawingml/2006/main">
              <a:ext uri="{FF2B5EF4-FFF2-40B4-BE49-F238E27FC236}">
                <a16:creationId xmlns:a16="http://schemas.microsoft.com/office/drawing/2014/main" id="{E42C10FC-0277-4496-BAC3-B28F5F87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98989"/>
            <a:ext cx="3600450" cy="41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1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1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Allow(a, c) :=</a:t>
            </a:r>
          </a:p>
        </p:txBody>
      </p:sp>
      <p:sp>
        <p:nvSpPr>
          <p:cNvPr id="63" name="ScopeOK ∧ FlowOK ∧ FreshOK">
            <a:extLst xmlns:a="http://schemas.openxmlformats.org/drawingml/2006/main">
              <a:ext uri="{FF2B5EF4-FFF2-40B4-BE49-F238E27FC236}">
                <a16:creationId xmlns:a16="http://schemas.microsoft.com/office/drawing/2014/main" id="{26EEB8F3-09A8-4482-8EEB-47D8206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572476"/>
            <a:ext cx="45148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1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1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ScopeOK ∧ FlowOK ∧ FreshOK</a:t>
            </a:r>
          </a:p>
        </p:txBody>
      </p:sp>
      <p:sp>
        <p:nvSpPr>
          <p:cNvPr id="64" name="a: next delegated action">
            <a:extLst xmlns:a="http://schemas.openxmlformats.org/drawingml/2006/main">
              <a:ext uri="{FF2B5EF4-FFF2-40B4-BE49-F238E27FC236}">
                <a16:creationId xmlns:a16="http://schemas.microsoft.com/office/drawing/2014/main" id="{2722C27B-94A6-4804-BAFC-988470D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052441"/>
            <a:ext cx="42291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a: next delegated action</a:t>
            </a:r>
          </a:p>
        </p:txBody>
      </p:sp>
      <p:sp>
        <p:nvSpPr>
          <p:cNvPr id="65" name="c: current workflow context">
            <a:extLst xmlns:a="http://schemas.openxmlformats.org/drawingml/2006/main">
              <a:ext uri="{FF2B5EF4-FFF2-40B4-BE49-F238E27FC236}">
                <a16:creationId xmlns:a16="http://schemas.microsoft.com/office/drawing/2014/main" id="{9B0B9AAB-DD3B-4E50-96DB-00D22B1F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367338"/>
            <a:ext cx="4229100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c: current workflow context</a:t>
            </a:r>
          </a:p>
        </p:txBody>
      </p:sp>
      <p:sp>
        <p:nvSpPr>
          <p:cNvPr id="6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9C724D2-4A8A-4DFC-8920-84F7EABD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5934075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6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3590FB98-DBB4-448A-87F3-21E014D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353175"/>
            <a:ext cx="971550" cy="561975"/>
          </a:xfrm>
          <a:custGeom xmlns:a="http://schemas.openxmlformats.org/drawingml/2006/main">
            <a:pathLst>
              <a:path w="971550" h="561975">
                <a:moveTo>
                  <a:pt x="971550" y="0"/>
                </a:moveTo>
                <a:lnTo>
                  <a:pt x="0" y="0"/>
                </a:ln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68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F055FF8E-6AEC-4883-B3C5-A1B8427B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67627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6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325B8FC-9B98-4ABC-B586-392C4460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6353175"/>
            <a:ext cx="762000" cy="561975"/>
          </a:xfrm>
          <a:custGeom xmlns:a="http://schemas.openxmlformats.org/drawingml/2006/main">
            <a:pathLst>
              <a:path w="762000" h="561975">
                <a:moveTo>
                  <a:pt x="0" y="0"/>
                </a:moveTo>
                <a:lnTo>
                  <a:pt x="762000" y="0"/>
                </a:lnTo>
                <a:lnTo>
                  <a:pt x="76200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0808"/>
            </a:solidFill>
            <a:prstDash val="solid"/>
          </a:ln>
        </p:spPr>
      </p:sp>
      <p:sp>
        <p:nvSpPr>
          <p:cNvPr id="7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1E213D40-AA00-4198-B460-CBB1C9B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67627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66675" y="152400"/>
                </a:moveTo>
                <a:lnTo>
                  <a:pt x="0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</a:ln>
        </p:spPr>
      </p:sp>
      <p:sp>
        <p:nvSpPr>
          <p:cNvPr id="71" name="all pass">
            <a:extLst xmlns:a="http://schemas.openxmlformats.org/drawingml/2006/main">
              <a:ext uri="{FF2B5EF4-FFF2-40B4-BE49-F238E27FC236}">
                <a16:creationId xmlns:a16="http://schemas.microsoft.com/office/drawing/2014/main" id="{88401182-D586-4054-A682-A5EE7563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6225635"/>
            <a:ext cx="97155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all pass</a:t>
            </a:r>
          </a:p>
        </p:txBody>
      </p:sp>
      <p:sp>
        <p:nvSpPr>
          <p:cNvPr id="72" name="false / unknown">
            <a:extLst xmlns:a="http://schemas.openxmlformats.org/drawingml/2006/main">
              <a:ext uri="{FF2B5EF4-FFF2-40B4-BE49-F238E27FC236}">
                <a16:creationId xmlns:a16="http://schemas.microsoft.com/office/drawing/2014/main" id="{5C547C09-50B1-4FB2-B003-AFD95C12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225635"/>
            <a:ext cx="1543050" cy="29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false / unknown</a:t>
            </a:r>
          </a:p>
        </p:txBody>
      </p:sp>
      <p:sp>
        <p:nvSpPr>
          <p:cNvPr id="73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1FEB19D9-DF29-470D-9E25-AB4707FD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6915150"/>
            <a:ext cx="2305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74" name="Editable boundary">
            <a:extLst xmlns:a="http://schemas.openxmlformats.org/drawingml/2006/main">
              <a:ext uri="{FF2B5EF4-FFF2-40B4-BE49-F238E27FC236}">
                <a16:creationId xmlns:a16="http://schemas.microsoft.com/office/drawing/2014/main" id="{687244A6-2EEE-4859-8FA0-DB7BD73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915150"/>
            <a:ext cx="22574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75" name="Execute">
            <a:extLst xmlns:a="http://schemas.openxmlformats.org/drawingml/2006/main">
              <a:ext uri="{FF2B5EF4-FFF2-40B4-BE49-F238E27FC236}">
                <a16:creationId xmlns:a16="http://schemas.microsoft.com/office/drawing/2014/main" id="{117CBBCF-0961-43EF-9DFC-78FBF7CF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7092506"/>
            <a:ext cx="2076450" cy="36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Execute</a:t>
            </a:r>
          </a:p>
        </p:txBody>
      </p:sp>
      <p:sp>
        <p:nvSpPr>
          <p:cNvPr id="76" name="Suspend / replan">
            <a:extLst xmlns:a="http://schemas.openxmlformats.org/drawingml/2006/main">
              <a:ext uri="{FF2B5EF4-FFF2-40B4-BE49-F238E27FC236}">
                <a16:creationId xmlns:a16="http://schemas.microsoft.com/office/drawing/2014/main" id="{239BCCC4-2963-44A3-82BE-A5A5EA7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7119652"/>
            <a:ext cx="2066925" cy="3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Suspend / replan</a:t>
            </a:r>
          </a:p>
        </p:txBody>
      </p:sp>
      <p:sp>
        <p:nvSpPr>
          <p:cNvPr id="77" name="Revalidate affected work; preserve valid progress.">
            <a:extLst xmlns:a="http://schemas.openxmlformats.org/drawingml/2006/main">
              <a:ext uri="{FF2B5EF4-FFF2-40B4-BE49-F238E27FC236}">
                <a16:creationId xmlns:a16="http://schemas.microsoft.com/office/drawing/2014/main" id="{CF32905C-5CF7-4550-8BEE-8009AF3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8065294"/>
            <a:ext cx="4886325" cy="27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Revalidate affected work; preserve valid progress.</a:t>
            </a:r>
          </a:p>
        </p:txBody>
      </p:sp>
      <p:sp>
        <p:nvSpPr>
          <p:cNvPr id="78" name="Guarantees depend on captured effects and trusted enforcement.">
            <a:extLst xmlns:a="http://schemas.openxmlformats.org/drawingml/2006/main">
              <a:ext uri="{FF2B5EF4-FFF2-40B4-BE49-F238E27FC236}">
                <a16:creationId xmlns:a16="http://schemas.microsoft.com/office/drawing/2014/main" id="{FC0E3EFD-88E5-4641-8EC6-532B162E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769477"/>
            <a:ext cx="8296275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080808"/>
                </a:solidFill>
                <a:latin typeface="Times New Roman"/>
                <a:ea typeface="Times New Roman"/>
                <a:cs typeface="Times New Roman"/>
              </a:rPr>
              <a:t>Guarantees depend on captured effects and trusted enforcement.</a:t>
            </a:r>
          </a:p>
        </p:txBody>
      </p:sp>
    </p:spTree>
    <p:extLst>
      <p:ext uri="{BB962C8B-B14F-4D97-AF65-F5344CB8AC3E}">
        <p14:creationId xmlns:p14="http://schemas.microsoft.com/office/powerpoint/2010/main" val="1277759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2026-10-07T13:50:33.7820000Z</dcterms:created>
  <dcterms:modified xsi:type="dcterms:W3CDTF">2026-10-07T13:50:33.7820000Z</dcterms:modified>
</coreProperties>
</file>