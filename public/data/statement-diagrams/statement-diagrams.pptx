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16938b607a4004" /><Relationship Type="http://schemas.openxmlformats.org/officeDocument/2006/relationships/extended-properties" Target="/docProps/app.xml" Id="R33877e5a7bc64336" /><Relationship Type="http://schemas.openxmlformats.org/officeDocument/2006/relationships/officeDocument" Target="/ppt/presentation.xml" Id="R74bba37a90294f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26a9fc19b34c81"/>
  </p:sldMasterIdLst>
  <p:notesMasterIdLst>
    <p:notesMasterId xmlns:r="http://schemas.openxmlformats.org/officeDocument/2006/relationships" r:id="Rb69055aa07604d03"/>
  </p:notesMasterIdLst>
  <p:sldIdLst>
    <p:sldId xmlns:r="http://schemas.openxmlformats.org/officeDocument/2006/relationships" id="256" r:id="R8fb329e71a7b42c7"/>
    <p:sldId xmlns:r="http://schemas.openxmlformats.org/officeDocument/2006/relationships" id="257" r:id="Rd6d67218172a4bc8"/>
    <p:sldId xmlns:r="http://schemas.openxmlformats.org/officeDocument/2006/relationships" id="258" r:id="R3f954caa17224cc3"/>
    <p:sldId xmlns:r="http://schemas.openxmlformats.org/officeDocument/2006/relationships" id="259" r:id="R39d20bcb0b344019"/>
  </p:sldIdLst>
  <p:sldSz cx="13792200" cy="103441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347b36de864526" /><Relationship Type="http://schemas.openxmlformats.org/officeDocument/2006/relationships/slideMaster" Target="/ppt/slideMasters/slideMaster1.xml" Id="Rc526a9fc19b34c81" /><Relationship Type="http://schemas.openxmlformats.org/officeDocument/2006/relationships/notesMaster" Target="/ppt/notesMasters/notesMaster1.xml" Id="Rb69055aa07604d03" /><Relationship Type="http://schemas.openxmlformats.org/officeDocument/2006/relationships/presProps" Target="/ppt/presProps.xml" Id="R345bc6aa015444be" /><Relationship Type="http://schemas.openxmlformats.org/officeDocument/2006/relationships/tableStyles" Target="/ppt/tableStyles.xml" Id="Refc1e0685c21409c" /><Relationship Type="http://schemas.openxmlformats.org/officeDocument/2006/relationships/slide" Target="/ppt/slides/slide1.xml" Id="R8fb329e71a7b42c7" /><Relationship Type="http://schemas.openxmlformats.org/officeDocument/2006/relationships/slide" Target="/ppt/slides/slide2.xml" Id="Rd6d67218172a4bc8" /><Relationship Type="http://schemas.openxmlformats.org/officeDocument/2006/relationships/slide" Target="/ppt/slides/slide3.xml" Id="R3f954caa17224cc3" /><Relationship Type="http://schemas.openxmlformats.org/officeDocument/2006/relationships/slide" Target="/ppt/slides/slide4.xml" Id="R39d20bcb0b3440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b4ddff67bd47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89c811f6ee4188" /><Relationship Type="http://schemas.openxmlformats.org/officeDocument/2006/relationships/notesMaster" Target="/ppt/notesMasters/notesMaster1.xml" Id="Rbef37c793cf041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ee1b7f28d34ea3" /><Relationship Type="http://schemas.openxmlformats.org/officeDocument/2006/relationships/notesMaster" Target="/ppt/notesMasters/notesMaster1.xml" Id="R70b59c97b25c44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7924aa959b4318" /><Relationship Type="http://schemas.openxmlformats.org/officeDocument/2006/relationships/notesMaster" Target="/ppt/notesMasters/notesMaster1.xml" Id="Rfd8c9aeb86e546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1559d7c7654508" /><Relationship Type="http://schemas.openxmlformats.org/officeDocument/2006/relationships/notesMaster" Target="/ppt/notesMasters/notesMaster1.xml" Id="Rb6047f4553a64a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from the author-provided research statement diagram. The framework is proposed research. Original raster source is retained in archive/statement-images/2026-10-07-before-editable-redraw/. All diagram text, shapes and connections are native editable objects.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from the author-provided research statement diagram. The framework is proposed research. Original raster source is retained in archive/statement-images/2026-10-07-before-editable-redraw/. All diagram text, shapes and connections are native editable objects.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from the author-provided research statement diagram. The framework is proposed research. Original raster source is retained in archive/statement-images/2026-10-07-before-editable-redraw/. All diagram text, shapes and connections are native editable objects.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from the author-provided research statement diagram. The framework is proposed research. Original raster source is retained in archive/statement-images/2026-10-07-before-editable-redraw/. All diagram text, shapes and connections are native editable objects.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65117394849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78929bb5e14b9d" /><Relationship Type="http://schemas.openxmlformats.org/officeDocument/2006/relationships/slideLayout" Target="/ppt/slideLayouts/slideLayout1.xml" Id="R3dd9afa104a240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d9afa104a240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8ecb2bcd342a1" /><Relationship Type="http://schemas.openxmlformats.org/officeDocument/2006/relationships/notesSlide" Target="/ppt/notesSlides/notesSlide1.xml" Id="R086a368bceec44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7615744d04e9c" /><Relationship Type="http://schemas.openxmlformats.org/officeDocument/2006/relationships/notesSlide" Target="/ppt/notesSlides/notesSlide2.xml" Id="R5473268a5a3249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e2951c28c48a2" /><Relationship Type="http://schemas.openxmlformats.org/officeDocument/2006/relationships/notesSlide" Target="/ppt/notesSlides/notesSlide3.xml" Id="Re5101f7cfc3642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24be1293a4b69" /><Relationship Type="http://schemas.openxmlformats.org/officeDocument/2006/relationships/notesSlide" Target="/ppt/notesSlides/notesSlide4.xml" Id="Rea157753e9834a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Reliable AI Agents Under Human Control">
            <a:extLst xmlns:a="http://schemas.openxmlformats.org/drawingml/2006/main">
              <a:ext uri="{FF2B5EF4-FFF2-40B4-BE49-F238E27FC236}">
                <a16:creationId xmlns:a16="http://schemas.microsoft.com/office/drawing/2014/main" id="{C52E22B2-8DBE-4DF9-B10B-60F44F59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56020"/>
            <a:ext cx="13411200" cy="488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Reliable AI Agents Under Human Control</a:t>
            </a:r>
          </a:p>
        </p:txBody>
      </p:sp>
      <p:sp>
        <p:nvSpPr>
          <p:cNvPr id="2" name="A proposed research agenda for actions, system updates, and dele">
            <a:extLst xmlns:a="http://schemas.openxmlformats.org/drawingml/2006/main">
              <a:ext uri="{FF2B5EF4-FFF2-40B4-BE49-F238E27FC236}">
                <a16:creationId xmlns:a16="http://schemas.microsoft.com/office/drawing/2014/main" id="{24167CC7-B8F0-47A8-BE66-1747E9EC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753809"/>
            <a:ext cx="13411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 proposed research agenda for actions, system updates, and delegation</a:t>
            </a:r>
          </a:p>
        </p:txBody>
      </p:sp>
      <p:sp>
        <p:nvSpPr>
          <p:cNvPr id="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70902F2-3B84-4FA6-B1CF-84E679AF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181100"/>
            <a:ext cx="66294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" name="Human–Agent Interaction">
            <a:extLst xmlns:a="http://schemas.openxmlformats.org/drawingml/2006/main">
              <a:ext uri="{FF2B5EF4-FFF2-40B4-BE49-F238E27FC236}">
                <a16:creationId xmlns:a16="http://schemas.microsoft.com/office/drawing/2014/main" id="{39353E30-E367-45C5-9BAC-12316DDC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52360"/>
            <a:ext cx="6343650" cy="371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Human–Agent Interaction</a:t>
            </a:r>
          </a:p>
        </p:txBody>
      </p:sp>
      <p:sp>
        <p:nvSpPr>
          <p:cNvPr id="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55255397-AAA1-491F-AFAA-7A1A718F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13335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" name="Human">
            <a:extLst xmlns:a="http://schemas.openxmlformats.org/drawingml/2006/main">
              <a:ext uri="{FF2B5EF4-FFF2-40B4-BE49-F238E27FC236}">
                <a16:creationId xmlns:a16="http://schemas.microsoft.com/office/drawing/2014/main" id="{EA7EE232-3AC6-431E-86AD-FC14ACF9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72011"/>
            <a:ext cx="12001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Human</a:t>
            </a:r>
          </a:p>
        </p:txBody>
      </p:sp>
      <p:sp>
        <p:nvSpPr>
          <p:cNvPr id="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533AC4D7-9A4F-4907-AC9A-92B1E631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38350"/>
            <a:ext cx="13335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8" name="AI agent">
            <a:extLst xmlns:a="http://schemas.openxmlformats.org/drawingml/2006/main">
              <a:ext uri="{FF2B5EF4-FFF2-40B4-BE49-F238E27FC236}">
                <a16:creationId xmlns:a16="http://schemas.microsoft.com/office/drawing/2014/main" id="{6C173A3D-BA68-4E09-972A-B6487101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72011"/>
            <a:ext cx="12001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AI agent</a:t>
            </a:r>
          </a:p>
        </p:txBody>
      </p:sp>
      <p:sp>
        <p:nvSpPr>
          <p:cNvPr id="9" name="Task + authorized scope">
            <a:extLst xmlns:a="http://schemas.openxmlformats.org/drawingml/2006/main">
              <a:ext uri="{FF2B5EF4-FFF2-40B4-BE49-F238E27FC236}">
                <a16:creationId xmlns:a16="http://schemas.microsoft.com/office/drawing/2014/main" id="{B680947B-EB8D-4711-A9FB-69386AA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958150"/>
            <a:ext cx="32766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Task + authorized scope</a:t>
            </a:r>
          </a:p>
        </p:txBody>
      </p:sp>
      <p:sp>
        <p:nvSpPr>
          <p:cNvPr id="10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597A26FA-380B-4BB7-93EE-63495FBE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62200"/>
            <a:ext cx="3200400" cy="9525"/>
          </a:xfrm>
          <a:custGeom xmlns:a="http://schemas.openxmlformats.org/drawingml/2006/main">
            <a:pathLst>
              <a:path w="3200400" h="9525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11" name="Arrowhead">
            <a:extLst xmlns:a="http://schemas.openxmlformats.org/drawingml/2006/main">
              <a:ext uri="{FF2B5EF4-FFF2-40B4-BE49-F238E27FC236}">
                <a16:creationId xmlns:a16="http://schemas.microsoft.com/office/drawing/2014/main" id="{00D55AA4-7A3E-479A-A80B-2D94BB63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145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12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EEDF1B17-72A9-45A7-8081-DCBA6A41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86050"/>
            <a:ext cx="3200400" cy="9525"/>
          </a:xfrm>
          <a:custGeom xmlns:a="http://schemas.openxmlformats.org/drawingml/2006/main">
            <a:pathLst>
              <a:path w="3200400" h="9525">
                <a:moveTo>
                  <a:pt x="32004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13" name="Arrowhead">
            <a:extLst xmlns:a="http://schemas.openxmlformats.org/drawingml/2006/main">
              <a:ext uri="{FF2B5EF4-FFF2-40B4-BE49-F238E27FC236}">
                <a16:creationId xmlns:a16="http://schemas.microsoft.com/office/drawing/2014/main" id="{11E430E0-6BC9-448D-9F88-DCBED17E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38425"/>
            <a:ext cx="114300" cy="95250"/>
          </a:xfrm>
          <a:custGeom xmlns:a="http://schemas.openxmlformats.org/drawingml/2006/main">
            <a:pathLst>
              <a:path w="114300" h="95250">
                <a:moveTo>
                  <a:pt x="0" y="47625"/>
                </a:moveTo>
                <a:lnTo>
                  <a:pt x="114300" y="0"/>
                </a:lnTo>
                <a:lnTo>
                  <a:pt x="114300" y="9525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14" name="Action proposal + evidence">
            <a:extLst xmlns:a="http://schemas.openxmlformats.org/drawingml/2006/main">
              <a:ext uri="{FF2B5EF4-FFF2-40B4-BE49-F238E27FC236}">
                <a16:creationId xmlns:a16="http://schemas.microsoft.com/office/drawing/2014/main" id="{397EF6B6-62DA-4C17-97A2-70B421BE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863025"/>
            <a:ext cx="32766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Action proposal + evidence</a:t>
            </a:r>
          </a:p>
        </p:txBody>
      </p:sp>
      <p:sp>
        <p:nvSpPr>
          <p:cNvPr id="1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1C6FDF3-2ECA-4381-9436-16F654E1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34290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6" name="I">
            <a:extLst xmlns:a="http://schemas.openxmlformats.org/drawingml/2006/main">
              <a:ext uri="{FF2B5EF4-FFF2-40B4-BE49-F238E27FC236}">
                <a16:creationId xmlns:a16="http://schemas.microsoft.com/office/drawing/2014/main" id="{26168BFA-7278-4C3F-B54B-8B79FC41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5292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17" name="Check actions against approved requirements">
            <a:extLst xmlns:a="http://schemas.openxmlformats.org/drawingml/2006/main">
              <a:ext uri="{FF2B5EF4-FFF2-40B4-BE49-F238E27FC236}">
                <a16:creationId xmlns:a16="http://schemas.microsoft.com/office/drawing/2014/main" id="{DED6A45E-C0B4-4B0B-8FA5-1B2BCB63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5525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 actions against approved requirements</a:t>
            </a:r>
          </a:p>
        </p:txBody>
      </p:sp>
      <p:sp>
        <p:nvSpPr>
          <p:cNvPr id="18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48F12218-21E6-4DF0-9388-CBE6814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40386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9" name="II">
            <a:extLst xmlns:a="http://schemas.openxmlformats.org/drawingml/2006/main">
              <a:ext uri="{FF2B5EF4-FFF2-40B4-BE49-F238E27FC236}">
                <a16:creationId xmlns:a16="http://schemas.microsoft.com/office/drawing/2014/main" id="{A65C6754-30C8-48A6-8B99-D23C4A40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388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20" name="Evaluate protection after system updates">
            <a:extLst xmlns:a="http://schemas.openxmlformats.org/drawingml/2006/main">
              <a:ext uri="{FF2B5EF4-FFF2-40B4-BE49-F238E27FC236}">
                <a16:creationId xmlns:a16="http://schemas.microsoft.com/office/drawing/2014/main" id="{EDD6F0EB-EEF9-455E-8213-327B5E17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1621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Evaluate protection after system updates</a:t>
            </a:r>
          </a:p>
        </p:txBody>
      </p:sp>
      <p:sp>
        <p:nvSpPr>
          <p:cNvPr id="2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80A5562B-ED72-4A9F-94DB-2ACF11A6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46482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2" name="III">
            <a:extLst xmlns:a="http://schemas.openxmlformats.org/drawingml/2006/main">
              <a:ext uri="{FF2B5EF4-FFF2-40B4-BE49-F238E27FC236}">
                <a16:creationId xmlns:a16="http://schemas.microsoft.com/office/drawing/2014/main" id="{7B83AACD-5DC5-456B-AECA-34D49F1E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484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23" name="Enforce current scope and permissions across steps">
            <a:extLst xmlns:a="http://schemas.openxmlformats.org/drawingml/2006/main">
              <a:ext uri="{FF2B5EF4-FFF2-40B4-BE49-F238E27FC236}">
                <a16:creationId xmlns:a16="http://schemas.microsoft.com/office/drawing/2014/main" id="{44DE70EB-4522-455A-865B-B77FA5D6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7717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Enforce current scope and permissions across steps</a:t>
            </a:r>
          </a:p>
        </p:txBody>
      </p:sp>
      <p:sp>
        <p:nvSpPr>
          <p:cNvPr id="2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FC45E35E-8A00-4CE2-AA90-4CA78D05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181100"/>
            <a:ext cx="66294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5" name="Agent–Agent Collaboration">
            <a:extLst xmlns:a="http://schemas.openxmlformats.org/drawingml/2006/main">
              <a:ext uri="{FF2B5EF4-FFF2-40B4-BE49-F238E27FC236}">
                <a16:creationId xmlns:a16="http://schemas.microsoft.com/office/drawing/2014/main" id="{F909BEAE-8C0C-43B0-8C71-89485F93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352360"/>
            <a:ext cx="6343650" cy="371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Agent–Agent Collaboration</a:t>
            </a:r>
          </a:p>
        </p:txBody>
      </p:sp>
      <p:sp>
        <p:nvSpPr>
          <p:cNvPr id="2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1FC47040-6C1F-4DD8-96C8-9780D0FD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38350"/>
            <a:ext cx="13335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7" name="Agent A">
            <a:extLst xmlns:a="http://schemas.openxmlformats.org/drawingml/2006/main">
              <a:ext uri="{FF2B5EF4-FFF2-40B4-BE49-F238E27FC236}">
                <a16:creationId xmlns:a16="http://schemas.microsoft.com/office/drawing/2014/main" id="{6CF0A155-485A-4AA8-A393-2B2C5FA0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72011"/>
            <a:ext cx="12001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Agent A</a:t>
            </a:r>
          </a:p>
        </p:txBody>
      </p:sp>
      <p:sp>
        <p:nvSpPr>
          <p:cNvPr id="28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6C25605-1B58-445E-80DD-2762C3C0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038350"/>
            <a:ext cx="13335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9" name="Agent B">
            <a:extLst xmlns:a="http://schemas.openxmlformats.org/drawingml/2006/main">
              <a:ext uri="{FF2B5EF4-FFF2-40B4-BE49-F238E27FC236}">
                <a16:creationId xmlns:a16="http://schemas.microsoft.com/office/drawing/2014/main" id="{741B9A8E-DE04-4EF6-BC62-DBA347D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2372011"/>
            <a:ext cx="12001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Agent B</a:t>
            </a:r>
          </a:p>
        </p:txBody>
      </p:sp>
      <p:sp>
        <p:nvSpPr>
          <p:cNvPr id="30" name="Subtask + data + constraints">
            <a:extLst xmlns:a="http://schemas.openxmlformats.org/drawingml/2006/main">
              <a:ext uri="{FF2B5EF4-FFF2-40B4-BE49-F238E27FC236}">
                <a16:creationId xmlns:a16="http://schemas.microsoft.com/office/drawing/2014/main" id="{DF14729C-23F8-4C4A-A0B6-F8C54ACB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958150"/>
            <a:ext cx="32766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Subtask + data + constraints</a:t>
            </a:r>
          </a:p>
        </p:txBody>
      </p:sp>
      <p:sp>
        <p:nvSpPr>
          <p:cNvPr id="31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46995381-AD43-4A35-91A3-07D426EA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62200"/>
            <a:ext cx="3200400" cy="9525"/>
          </a:xfrm>
          <a:custGeom xmlns:a="http://schemas.openxmlformats.org/drawingml/2006/main">
            <a:pathLst>
              <a:path w="3200400" h="9525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32" name="Arrowhead">
            <a:extLst xmlns:a="http://schemas.openxmlformats.org/drawingml/2006/main">
              <a:ext uri="{FF2B5EF4-FFF2-40B4-BE49-F238E27FC236}">
                <a16:creationId xmlns:a16="http://schemas.microsoft.com/office/drawing/2014/main" id="{C170727D-6DF5-4BA9-B13C-8E841BAA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145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33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E5CE0AFD-B741-4972-9062-A27B5D56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86050"/>
            <a:ext cx="3200400" cy="9525"/>
          </a:xfrm>
          <a:custGeom xmlns:a="http://schemas.openxmlformats.org/drawingml/2006/main">
            <a:pathLst>
              <a:path w="3200400" h="9525">
                <a:moveTo>
                  <a:pt x="32004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34" name="Arrowhead">
            <a:extLst xmlns:a="http://schemas.openxmlformats.org/drawingml/2006/main">
              <a:ext uri="{FF2B5EF4-FFF2-40B4-BE49-F238E27FC236}">
                <a16:creationId xmlns:a16="http://schemas.microsoft.com/office/drawing/2014/main" id="{2B09754D-67BF-49B5-9D78-4D7D7B7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38425"/>
            <a:ext cx="114300" cy="95250"/>
          </a:xfrm>
          <a:custGeom xmlns:a="http://schemas.openxmlformats.org/drawingml/2006/main">
            <a:pathLst>
              <a:path w="114300" h="95250">
                <a:moveTo>
                  <a:pt x="0" y="47625"/>
                </a:moveTo>
                <a:lnTo>
                  <a:pt x="114300" y="0"/>
                </a:lnTo>
                <a:lnTo>
                  <a:pt x="114300" y="9525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35" name="Proposal + evidence + status">
            <a:extLst xmlns:a="http://schemas.openxmlformats.org/drawingml/2006/main">
              <a:ext uri="{FF2B5EF4-FFF2-40B4-BE49-F238E27FC236}">
                <a16:creationId xmlns:a16="http://schemas.microsoft.com/office/drawing/2014/main" id="{CABB7B75-FDAE-451C-ACAD-8695704E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863025"/>
            <a:ext cx="32766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Proposal + evidence + status</a:t>
            </a:r>
          </a:p>
        </p:txBody>
      </p:sp>
      <p:sp>
        <p:nvSpPr>
          <p:cNvPr id="3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1D54EFF-81D1-4229-8615-C65DBC03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4290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7" name="I">
            <a:extLst xmlns:a="http://schemas.openxmlformats.org/drawingml/2006/main">
              <a:ext uri="{FF2B5EF4-FFF2-40B4-BE49-F238E27FC236}">
                <a16:creationId xmlns:a16="http://schemas.microsoft.com/office/drawing/2014/main" id="{F193460B-8280-42BE-B2FD-3489E6AD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5292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38" name="Check actions using independent evidence">
            <a:extLst xmlns:a="http://schemas.openxmlformats.org/drawingml/2006/main">
              <a:ext uri="{FF2B5EF4-FFF2-40B4-BE49-F238E27FC236}">
                <a16:creationId xmlns:a16="http://schemas.microsoft.com/office/drawing/2014/main" id="{48FB41AC-CEA5-41F2-B1EB-E4A546CB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5525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 actions using independent evidence</a:t>
            </a:r>
          </a:p>
        </p:txBody>
      </p:sp>
      <p:sp>
        <p:nvSpPr>
          <p:cNvPr id="3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9BE63AA-F3A4-40F2-9B36-8D552A74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0386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0" name="II">
            <a:extLst xmlns:a="http://schemas.openxmlformats.org/drawingml/2006/main">
              <a:ext uri="{FF2B5EF4-FFF2-40B4-BE49-F238E27FC236}">
                <a16:creationId xmlns:a16="http://schemas.microsoft.com/office/drawing/2014/main" id="{C0BB547F-F3F9-4D37-AE8F-5B28B04C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1388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1" name="Assess retention after agent or harness updates">
            <a:extLst xmlns:a="http://schemas.openxmlformats.org/drawingml/2006/main">
              <a:ext uri="{FF2B5EF4-FFF2-40B4-BE49-F238E27FC236}">
                <a16:creationId xmlns:a16="http://schemas.microsoft.com/office/drawing/2014/main" id="{FFBDCE61-1E8F-4976-B098-DB749E1F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1621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Assess retention after agent or harness updates</a:t>
            </a:r>
          </a:p>
        </p:txBody>
      </p:sp>
      <p:sp>
        <p:nvSpPr>
          <p:cNvPr id="42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05EB5C96-4A4E-416C-B806-A33411A4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482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3" name="III">
            <a:extLst xmlns:a="http://schemas.openxmlformats.org/drawingml/2006/main">
              <a:ext uri="{FF2B5EF4-FFF2-40B4-BE49-F238E27FC236}">
                <a16:creationId xmlns:a16="http://schemas.microsoft.com/office/drawing/2014/main" id="{EF8BA976-9C56-43FC-9988-04863F13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748498"/>
            <a:ext cx="47625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44" name="Enforce inherited data limits and valid delegation">
            <a:extLst xmlns:a="http://schemas.openxmlformats.org/drawingml/2006/main">
              <a:ext uri="{FF2B5EF4-FFF2-40B4-BE49-F238E27FC236}">
                <a16:creationId xmlns:a16="http://schemas.microsoft.com/office/drawing/2014/main" id="{A5E4FBB7-788E-48B6-AEDA-C002B8D0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771739"/>
            <a:ext cx="5638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Enforce inherited data limits and valid delegation</a:t>
            </a:r>
          </a:p>
        </p:txBody>
      </p:sp>
      <p:sp>
        <p:nvSpPr>
          <p:cNvPr id="4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44E1FB4-D04F-4AFD-A068-D3E4565B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5410200"/>
            <a:ext cx="134112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6" name="Shared human-approved requirements Φ">
            <a:extLst xmlns:a="http://schemas.openxmlformats.org/drawingml/2006/main">
              <a:ext uri="{FF2B5EF4-FFF2-40B4-BE49-F238E27FC236}">
                <a16:creationId xmlns:a16="http://schemas.microsoft.com/office/drawing/2014/main" id="{65E1AB66-9058-4D1B-9FDB-1BD9BEA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490972"/>
            <a:ext cx="13125450" cy="371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Shared human-approved requirements Φ</a:t>
            </a:r>
          </a:p>
        </p:txBody>
      </p:sp>
      <p:sp>
        <p:nvSpPr>
          <p:cNvPr id="47" name="Task criteria · security properties · authorization scope">
            <a:extLst xmlns:a="http://schemas.openxmlformats.org/drawingml/2006/main">
              <a:ext uri="{FF2B5EF4-FFF2-40B4-BE49-F238E27FC236}">
                <a16:creationId xmlns:a16="http://schemas.microsoft.com/office/drawing/2014/main" id="{BFC3D061-C717-4BBC-A5C8-E833CD45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907881"/>
            <a:ext cx="1312545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Task criteria · security properties · authorization scope</a:t>
            </a:r>
          </a:p>
        </p:txBody>
      </p:sp>
      <p:sp>
        <p:nvSpPr>
          <p:cNvPr id="48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F4D7B12D-E203-4326-B250-A56AEE66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6896100"/>
            <a:ext cx="35147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46A1F476-1D55-4BE6-AEF6-8A96EDD4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896100"/>
            <a:ext cx="3619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0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E279C935-C442-4956-B0A0-BA91E055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6896100"/>
            <a:ext cx="3524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1" name="I   Action assurance">
            <a:extLst xmlns:a="http://schemas.openxmlformats.org/drawingml/2006/main">
              <a:ext uri="{FF2B5EF4-FFF2-40B4-BE49-F238E27FC236}">
                <a16:creationId xmlns:a16="http://schemas.microsoft.com/office/drawing/2014/main" id="{D4F14FE0-350E-4757-8394-370F6D9A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321868"/>
            <a:ext cx="3286125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   Action assurance</a:t>
            </a:r>
          </a:p>
        </p:txBody>
      </p:sp>
      <p:sp>
        <p:nvSpPr>
          <p:cNvPr id="52" name="II   Safety retention">
            <a:extLst xmlns:a="http://schemas.openxmlformats.org/drawingml/2006/main">
              <a:ext uri="{FF2B5EF4-FFF2-40B4-BE49-F238E27FC236}">
                <a16:creationId xmlns:a16="http://schemas.microsoft.com/office/drawing/2014/main" id="{9E24BCD1-6F7A-429F-B821-2E8337CF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7321868"/>
            <a:ext cx="3390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II   Safety retention</a:t>
            </a:r>
          </a:p>
        </p:txBody>
      </p:sp>
      <p:sp>
        <p:nvSpPr>
          <p:cNvPr id="53" name="III   Workflow control">
            <a:extLst xmlns:a="http://schemas.openxmlformats.org/drawingml/2006/main">
              <a:ext uri="{FF2B5EF4-FFF2-40B4-BE49-F238E27FC236}">
                <a16:creationId xmlns:a16="http://schemas.microsoft.com/office/drawing/2014/main" id="{D9FAC144-1891-4E86-9911-241F9A1B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7321868"/>
            <a:ext cx="329565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III   Workflow control</a:t>
            </a:r>
          </a:p>
        </p:txBody>
      </p:sp>
      <p:sp>
        <p:nvSpPr>
          <p:cNvPr id="54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62D52DDB-AE45-4669-8320-55CCD895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572250"/>
            <a:ext cx="9886950" cy="323850"/>
          </a:xfrm>
          <a:custGeom xmlns:a="http://schemas.openxmlformats.org/drawingml/2006/main">
            <a:pathLst>
              <a:path w="9886950" h="323850">
                <a:moveTo>
                  <a:pt x="0" y="323850"/>
                </a:moveTo>
                <a:lnTo>
                  <a:pt x="0" y="0"/>
                </a:lnTo>
                <a:lnTo>
                  <a:pt x="9886950" y="0"/>
                </a:lnTo>
                <a:lnTo>
                  <a:pt x="98869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5" name="Arrowhead">
            <a:extLst xmlns:a="http://schemas.openxmlformats.org/drawingml/2006/main">
              <a:ext uri="{FF2B5EF4-FFF2-40B4-BE49-F238E27FC236}">
                <a16:creationId xmlns:a16="http://schemas.microsoft.com/office/drawing/2014/main" id="{DB71ED44-6120-4E32-8A89-54F99C65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67818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5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D8864AC0-5696-45CE-89AF-FFDA7DA4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39127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7" name="scoped approvals">
            <a:extLst xmlns:a="http://schemas.openxmlformats.org/drawingml/2006/main">
              <a:ext uri="{FF2B5EF4-FFF2-40B4-BE49-F238E27FC236}">
                <a16:creationId xmlns:a16="http://schemas.microsoft.com/office/drawing/2014/main" id="{2622A5DB-A445-4908-8CD6-F1832446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429089"/>
            <a:ext cx="21336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scoped approvals</a:t>
            </a:r>
          </a:p>
        </p:txBody>
      </p:sp>
      <p:sp>
        <p:nvSpPr>
          <p:cNvPr id="58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7EAE5432-E319-49CF-818E-9BBA2B17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7639050"/>
            <a:ext cx="1381125" cy="9525"/>
          </a:xfrm>
          <a:custGeom xmlns:a="http://schemas.openxmlformats.org/drawingml/2006/main">
            <a:pathLst>
              <a:path w="1381125" h="9525">
                <a:moveTo>
                  <a:pt x="0" y="0"/>
                </a:moveTo>
                <a:lnTo>
                  <a:pt x="1381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9" name="Arrowhead">
            <a:extLst xmlns:a="http://schemas.openxmlformats.org/drawingml/2006/main">
              <a:ext uri="{FF2B5EF4-FFF2-40B4-BE49-F238E27FC236}">
                <a16:creationId xmlns:a16="http://schemas.microsoft.com/office/drawing/2014/main" id="{1B3CF5A5-9D6E-4644-BAB7-9BA303A4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75914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0" name="checked">
            <a:extLst xmlns:a="http://schemas.openxmlformats.org/drawingml/2006/main">
              <a:ext uri="{FF2B5EF4-FFF2-40B4-BE49-F238E27FC236}">
                <a16:creationId xmlns:a16="http://schemas.microsoft.com/office/drawing/2014/main" id="{6E6A36B1-0413-4887-A9C3-38A64971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7047929"/>
            <a:ext cx="12954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checked</a:t>
            </a:r>
          </a:p>
        </p:txBody>
      </p:sp>
      <p:sp>
        <p:nvSpPr>
          <p:cNvPr id="61" name="feedback">
            <a:extLst xmlns:a="http://schemas.openxmlformats.org/drawingml/2006/main">
              <a:ext uri="{FF2B5EF4-FFF2-40B4-BE49-F238E27FC236}">
                <a16:creationId xmlns:a16="http://schemas.microsoft.com/office/drawing/2014/main" id="{847867FD-F087-43E3-8BBE-638FED21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7315200"/>
            <a:ext cx="12954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feedback</a:t>
            </a:r>
          </a:p>
        </p:txBody>
      </p:sp>
      <p:sp>
        <p:nvSpPr>
          <p:cNvPr id="62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88082066-F50D-4D1E-A2EF-8FFE27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639050"/>
            <a:ext cx="1371600" cy="9525"/>
          </a:xfrm>
          <a:custGeom xmlns:a="http://schemas.openxmlformats.org/drawingml/2006/main">
            <a:pathLst>
              <a:path w="1371600" h="9525">
                <a:moveTo>
                  <a:pt x="0" y="0"/>
                </a:moveTo>
                <a:lnTo>
                  <a:pt x="1371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3" name="Arrowhead">
            <a:extLst xmlns:a="http://schemas.openxmlformats.org/drawingml/2006/main">
              <a:ext uri="{FF2B5EF4-FFF2-40B4-BE49-F238E27FC236}">
                <a16:creationId xmlns:a16="http://schemas.microsoft.com/office/drawing/2014/main" id="{DE6545FF-AE9A-4B14-95F7-339584A9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75914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4" name="version +">
            <a:extLst xmlns:a="http://schemas.openxmlformats.org/drawingml/2006/main">
              <a:ext uri="{FF2B5EF4-FFF2-40B4-BE49-F238E27FC236}">
                <a16:creationId xmlns:a16="http://schemas.microsoft.com/office/drawing/2014/main" id="{6ACFB41D-B71D-48ED-9974-06EB67DD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047929"/>
            <a:ext cx="12192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version +</a:t>
            </a:r>
          </a:p>
        </p:txBody>
      </p:sp>
      <p:sp>
        <p:nvSpPr>
          <p:cNvPr id="65" name="evidence">
            <a:extLst xmlns:a="http://schemas.openxmlformats.org/drawingml/2006/main">
              <a:ext uri="{FF2B5EF4-FFF2-40B4-BE49-F238E27FC236}">
                <a16:creationId xmlns:a16="http://schemas.microsoft.com/office/drawing/2014/main" id="{75EC3852-0F5E-4BC0-8D49-97D13F6E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315200"/>
            <a:ext cx="12192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66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5991D513-6785-4B1B-9609-77E8A76C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8096250"/>
            <a:ext cx="9886950" cy="485775"/>
          </a:xfrm>
          <a:custGeom xmlns:a="http://schemas.openxmlformats.org/drawingml/2006/main">
            <a:pathLst>
              <a:path w="9886950" h="485775">
                <a:moveTo>
                  <a:pt x="9886950" y="0"/>
                </a:moveTo>
                <a:lnTo>
                  <a:pt x="9886950" y="485775"/>
                </a:lnTo>
                <a:lnTo>
                  <a:pt x="0" y="4857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dash"/>
          </a:ln>
        </p:spPr>
      </p:sp>
      <p:sp>
        <p:nvSpPr>
          <p:cNvPr id="67" name="Arrowhead">
            <a:extLst xmlns:a="http://schemas.openxmlformats.org/drawingml/2006/main">
              <a:ext uri="{FF2B5EF4-FFF2-40B4-BE49-F238E27FC236}">
                <a16:creationId xmlns:a16="http://schemas.microsoft.com/office/drawing/2014/main" id="{D90ED4CD-60B9-4BB1-8EDD-B45ACD35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80962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8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120D4B66-EDA4-459D-B8FC-932E65B2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8096250"/>
            <a:ext cx="9525" cy="485775"/>
          </a:xfrm>
          <a:custGeom xmlns:a="http://schemas.openxmlformats.org/drawingml/2006/main">
            <a:pathLst>
              <a:path w="9525" h="485775">
                <a:moveTo>
                  <a:pt x="0" y="4857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dash"/>
          </a:ln>
        </p:spPr>
      </p:sp>
      <p:sp>
        <p:nvSpPr>
          <p:cNvPr id="69" name="Arrowhead">
            <a:extLst xmlns:a="http://schemas.openxmlformats.org/drawingml/2006/main">
              <a:ext uri="{FF2B5EF4-FFF2-40B4-BE49-F238E27FC236}">
                <a16:creationId xmlns:a16="http://schemas.microsoft.com/office/drawing/2014/main" id="{044B383D-CC6E-43B4-BD0A-523364D7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80962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70" name="workflow feedback">
            <a:extLst xmlns:a="http://schemas.openxmlformats.org/drawingml/2006/main">
              <a:ext uri="{FF2B5EF4-FFF2-40B4-BE49-F238E27FC236}">
                <a16:creationId xmlns:a16="http://schemas.microsoft.com/office/drawing/2014/main" id="{59DD0966-2BFE-4C61-A718-6278D7AF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7281"/>
            <a:ext cx="36195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workflow feedback</a:t>
            </a:r>
          </a:p>
        </p:txBody>
      </p:sp>
      <p:sp>
        <p:nvSpPr>
          <p:cNvPr id="71" name="Formal claims require faithful models, sound checking, and trust">
            <a:extLst xmlns:a="http://schemas.openxmlformats.org/drawingml/2006/main">
              <a:ext uri="{FF2B5EF4-FFF2-40B4-BE49-F238E27FC236}">
                <a16:creationId xmlns:a16="http://schemas.microsoft.com/office/drawing/2014/main" id="{EABB82B4-51C5-45D0-9A14-EBA0A16D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9331833"/>
            <a:ext cx="1141095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Formal claims require faithful models, sound checking, and trusted enforcement;</a:t>
            </a:r>
          </a:p>
        </p:txBody>
      </p:sp>
      <p:sp>
        <p:nvSpPr>
          <p:cNvPr id="72" name="tests provide evidence for evaluated conditions.">
            <a:extLst xmlns:a="http://schemas.openxmlformats.org/drawingml/2006/main">
              <a:ext uri="{FF2B5EF4-FFF2-40B4-BE49-F238E27FC236}">
                <a16:creationId xmlns:a16="http://schemas.microsoft.com/office/drawing/2014/main" id="{E4B79A6F-A857-4C00-A779-15C38FFF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9610725"/>
            <a:ext cx="1141095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tests provide evidence for evaluated conditions.</a:t>
            </a:r>
          </a:p>
        </p:txBody>
      </p:sp>
    </p:spTree>
    <p:extLst>
      <p:ext uri="{BB962C8B-B14F-4D97-AF65-F5344CB8AC3E}">
        <p14:creationId xmlns:p14="http://schemas.microsoft.com/office/powerpoint/2010/main" val="14854421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I. Formal Oversight Before Action">
            <a:extLst xmlns:a="http://schemas.openxmlformats.org/drawingml/2006/main">
              <a:ext uri="{FF2B5EF4-FFF2-40B4-BE49-F238E27FC236}">
                <a16:creationId xmlns:a16="http://schemas.microsoft.com/office/drawing/2014/main" id="{6BEC1D06-2670-4935-A21E-76C05640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56020"/>
            <a:ext cx="13411200" cy="488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I. Formal Oversight Before Action</a:t>
            </a:r>
          </a:p>
        </p:txBody>
      </p:sp>
      <p:sp>
        <p:nvSpPr>
          <p:cNvPr id="2" name="Proposed framework: specify properties, prove obligations, enfor">
            <a:extLst xmlns:a="http://schemas.openxmlformats.org/drawingml/2006/main">
              <a:ext uri="{FF2B5EF4-FFF2-40B4-BE49-F238E27FC236}">
                <a16:creationId xmlns:a16="http://schemas.microsoft.com/office/drawing/2014/main" id="{9DC7FF4C-DCE3-446D-A5CD-0C5F7084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753809"/>
            <a:ext cx="13411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Proposed framework: specify properties, prove obligations, enforce execution</a:t>
            </a:r>
          </a:p>
        </p:txBody>
      </p:sp>
      <p:sp>
        <p:nvSpPr>
          <p:cNvPr id="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0650D52-A2EA-4DFF-90E0-B7D84641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" name="1  Formal specification">
            <a:extLst xmlns:a="http://schemas.openxmlformats.org/drawingml/2006/main">
              <a:ext uri="{FF2B5EF4-FFF2-40B4-BE49-F238E27FC236}">
                <a16:creationId xmlns:a16="http://schemas.microsoft.com/office/drawing/2014/main" id="{35FE88D8-1AA2-449B-91B7-1114E678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1  Formal specification</a:t>
            </a:r>
          </a:p>
        </p:txBody>
      </p:sp>
      <p:sp>
        <p:nvSpPr>
          <p:cNvPr id="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E33CA661-6D53-49D4-8452-0D3F1EFA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" name="2  Proof checking">
            <a:extLst xmlns:a="http://schemas.openxmlformats.org/drawingml/2006/main">
              <a:ext uri="{FF2B5EF4-FFF2-40B4-BE49-F238E27FC236}">
                <a16:creationId xmlns:a16="http://schemas.microsoft.com/office/drawing/2014/main" id="{680B4674-EDE8-4C9E-82DB-1DE36310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2  Proof checking</a:t>
            </a:r>
          </a:p>
        </p:txBody>
      </p:sp>
      <p:sp>
        <p:nvSpPr>
          <p:cNvPr id="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7EEC64FA-8751-4756-9B25-8D669333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8" name="3  Execution gate">
            <a:extLst xmlns:a="http://schemas.openxmlformats.org/drawingml/2006/main">
              <a:ext uri="{FF2B5EF4-FFF2-40B4-BE49-F238E27FC236}">
                <a16:creationId xmlns:a16="http://schemas.microsoft.com/office/drawing/2014/main" id="{F85D1A3B-9204-44D8-8F57-AC000D1F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3  Execution gate</a:t>
            </a:r>
          </a:p>
        </p:txBody>
      </p:sp>
      <p:sp>
        <p:nvSpPr>
          <p:cNvPr id="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1CEE28F8-8195-4628-AFFF-E061F298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419350"/>
            <a:ext cx="3619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0" name="Approved specification Φ">
            <a:extLst xmlns:a="http://schemas.openxmlformats.org/drawingml/2006/main">
              <a:ext uri="{FF2B5EF4-FFF2-40B4-BE49-F238E27FC236}">
                <a16:creationId xmlns:a16="http://schemas.microsoft.com/office/drawing/2014/main" id="{C126BD3F-4516-403F-A431-F59EE2FC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Approved specification Φ</a:t>
            </a:r>
          </a:p>
        </p:txBody>
      </p:sp>
      <p:sp>
        <p:nvSpPr>
          <p:cNvPr id="11" name="Task correctness">
            <a:extLst xmlns:a="http://schemas.openxmlformats.org/drawingml/2006/main">
              <a:ext uri="{FF2B5EF4-FFF2-40B4-BE49-F238E27FC236}">
                <a16:creationId xmlns:a16="http://schemas.microsoft.com/office/drawing/2014/main" id="{30EF74BB-5582-4C0B-8C51-48CC2478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25343"/>
            <a:ext cx="3314700" cy="336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Task correctness</a:t>
            </a:r>
          </a:p>
        </p:txBody>
      </p:sp>
      <p:sp>
        <p:nvSpPr>
          <p:cNvPr id="12" name="+ security">
            <a:extLst xmlns:a="http://schemas.openxmlformats.org/drawingml/2006/main">
              <a:ext uri="{FF2B5EF4-FFF2-40B4-BE49-F238E27FC236}">
                <a16:creationId xmlns:a16="http://schemas.microsoft.com/office/drawing/2014/main" id="{FADFCC5A-1D92-4498-8E2E-A1125B3B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2338"/>
            <a:ext cx="3314700" cy="336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+ security</a:t>
            </a:r>
          </a:p>
        </p:txBody>
      </p:sp>
      <p:sp>
        <p:nvSpPr>
          <p:cNvPr id="1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8D1CB822-841D-4311-8BCD-F45BCA00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14850"/>
            <a:ext cx="3619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4" name="Example security property">
            <a:extLst xmlns:a="http://schemas.openxmlformats.org/drawingml/2006/main">
              <a:ext uri="{FF2B5EF4-FFF2-40B4-BE49-F238E27FC236}">
                <a16:creationId xmlns:a16="http://schemas.microsoft.com/office/drawing/2014/main" id="{04F6157F-58A0-4E8E-9BF1-2D175039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569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Example security property</a:t>
            </a:r>
          </a:p>
        </p:txBody>
      </p:sp>
      <p:sp>
        <p:nvSpPr>
          <p:cNvPr id="15" name="always:">
            <a:extLst xmlns:a="http://schemas.openxmlformats.org/drawingml/2006/main">
              <a:ext uri="{FF2B5EF4-FFF2-40B4-BE49-F238E27FC236}">
                <a16:creationId xmlns:a16="http://schemas.microsoft.com/office/drawing/2014/main" id="{F33B6BC6-D0E0-4F2E-B0B2-B529EA04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2857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always:</a:t>
            </a:r>
          </a:p>
        </p:txBody>
      </p:sp>
      <p:sp>
        <p:nvSpPr>
          <p:cNvPr id="16" name="Send(d, r) ⇒ Authorized(d, r)">
            <a:extLst xmlns:a="http://schemas.openxmlformats.org/drawingml/2006/main">
              <a:ext uri="{FF2B5EF4-FFF2-40B4-BE49-F238E27FC236}">
                <a16:creationId xmlns:a16="http://schemas.microsoft.com/office/drawing/2014/main" id="{C81C43EB-2823-4924-A763-21002DD5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128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Send(d, r) ⇒ Authorized(d, r)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5DD462-F207-422E-92CA-28352BF6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67400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Every send must be authorized.">
            <a:extLst xmlns:a="http://schemas.openxmlformats.org/drawingml/2006/main">
              <a:ext uri="{FF2B5EF4-FFF2-40B4-BE49-F238E27FC236}">
                <a16:creationId xmlns:a16="http://schemas.microsoft.com/office/drawing/2014/main" id="{47AE602B-663E-498F-8ABE-93897CB0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34671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Every send must be authorized.</a:t>
            </a:r>
          </a:p>
        </p:txBody>
      </p:sp>
      <p:sp>
        <p:nvSpPr>
          <p:cNvPr id="19" name="Review intent.">
            <a:extLst xmlns:a="http://schemas.openxmlformats.org/drawingml/2006/main">
              <a:ext uri="{FF2B5EF4-FFF2-40B4-BE49-F238E27FC236}">
                <a16:creationId xmlns:a16="http://schemas.microsoft.com/office/drawing/2014/main" id="{346C557A-839D-4F70-8EFD-55D55517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7675055"/>
            <a:ext cx="3505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Review intent.</a:t>
            </a:r>
          </a:p>
        </p:txBody>
      </p:sp>
      <p:sp>
        <p:nvSpPr>
          <p:cNvPr id="20" name="Protect the specification.">
            <a:extLst xmlns:a="http://schemas.openxmlformats.org/drawingml/2006/main">
              <a:ext uri="{FF2B5EF4-FFF2-40B4-BE49-F238E27FC236}">
                <a16:creationId xmlns:a16="http://schemas.microsoft.com/office/drawing/2014/main" id="{0F5FB13C-1061-4628-B7EB-33A3193D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7977188"/>
            <a:ext cx="3505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Protect the specification.</a:t>
            </a:r>
          </a:p>
        </p:txBody>
      </p:sp>
      <p:sp>
        <p:nvSpPr>
          <p:cNvPr id="21" name="Φ">
            <a:extLst xmlns:a="http://schemas.openxmlformats.org/drawingml/2006/main">
              <a:ext uri="{FF2B5EF4-FFF2-40B4-BE49-F238E27FC236}">
                <a16:creationId xmlns:a16="http://schemas.microsoft.com/office/drawing/2014/main" id="{280DA429-7578-4493-8EC0-F42D51A6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28947"/>
            <a:ext cx="523875" cy="371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Φ</a:t>
            </a:r>
          </a:p>
        </p:txBody>
      </p:sp>
      <p:sp>
        <p:nvSpPr>
          <p:cNvPr id="22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78BB1B71-D49A-4C72-AD61-D95EA54C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704850" cy="9525"/>
          </a:xfrm>
          <a:custGeom xmlns:a="http://schemas.openxmlformats.org/drawingml/2006/main">
            <a:pathLst>
              <a:path w="704850" h="9525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23" name="Arrowhead">
            <a:extLst xmlns:a="http://schemas.openxmlformats.org/drawingml/2006/main">
              <a:ext uri="{FF2B5EF4-FFF2-40B4-BE49-F238E27FC236}">
                <a16:creationId xmlns:a16="http://schemas.microsoft.com/office/drawing/2014/main" id="{02622784-9342-4082-AF96-E9AD2BB9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2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65BDC11-76E8-4204-A9FA-2BC0C890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3619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5" name="Generate obligations">
            <a:extLst xmlns:a="http://schemas.openxmlformats.org/drawingml/2006/main">
              <a:ext uri="{FF2B5EF4-FFF2-40B4-BE49-F238E27FC236}">
                <a16:creationId xmlns:a16="http://schemas.microsoft.com/office/drawing/2014/main" id="{C9C3A143-E17D-4AD1-81CB-B91F6C0D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Generate obligations</a:t>
            </a:r>
          </a:p>
        </p:txBody>
      </p:sp>
      <p:sp>
        <p:nvSpPr>
          <p:cNvPr id="26" name="O := Obligations(M(x), Φ)">
            <a:extLst xmlns:a="http://schemas.openxmlformats.org/drawingml/2006/main">
              <a:ext uri="{FF2B5EF4-FFF2-40B4-BE49-F238E27FC236}">
                <a16:creationId xmlns:a16="http://schemas.microsoft.com/office/drawing/2014/main" id="{07FDD357-B80A-4CC5-BB9F-CA4762B5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05912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O := Obligations(M(x), Φ)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D198C0-E442-4637-9EAD-FBB53B7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84804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Model candidate and tool effects.">
            <a:extLst xmlns:a="http://schemas.openxmlformats.org/drawingml/2006/main">
              <a:ext uri="{FF2B5EF4-FFF2-40B4-BE49-F238E27FC236}">
                <a16:creationId xmlns:a16="http://schemas.microsoft.com/office/drawing/2014/main" id="{A7296821-C035-4E1D-BF95-AE4723F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63696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Model candidate and tool effects.</a:t>
            </a:r>
          </a:p>
        </p:txBody>
      </p:sp>
      <p:sp>
        <p:nvSpPr>
          <p:cNvPr id="29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3C6193F2-0770-423E-8520-889C42FC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10050"/>
            <a:ext cx="9525" cy="514350"/>
          </a:xfrm>
          <a:custGeom xmlns:a="http://schemas.openxmlformats.org/drawingml/2006/main">
            <a:pathLst>
              <a:path w="952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30" name="Arrowhead">
            <a:extLst xmlns:a="http://schemas.openxmlformats.org/drawingml/2006/main">
              <a:ext uri="{FF2B5EF4-FFF2-40B4-BE49-F238E27FC236}">
                <a16:creationId xmlns:a16="http://schemas.microsoft.com/office/drawing/2014/main" id="{1A7EE656-0A66-43E8-A0D3-28AEAB6E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6101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3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A7690531-EA02-40E1-8F4F-739017E3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724400"/>
            <a:ext cx="3619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2" name="Prove and check every obligation">
            <a:extLst xmlns:a="http://schemas.openxmlformats.org/drawingml/2006/main">
              <a:ext uri="{FF2B5EF4-FFF2-40B4-BE49-F238E27FC236}">
                <a16:creationId xmlns:a16="http://schemas.microsoft.com/office/drawing/2014/main" id="{7CCD6293-5748-4077-92CC-6626CF23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95564"/>
            <a:ext cx="33909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Prove and check every obligation</a:t>
            </a:r>
          </a:p>
        </p:txBody>
      </p:sp>
      <p:sp>
        <p:nvSpPr>
          <p:cNvPr id="33" name="SMT solver / proof assistant">
            <a:extLst xmlns:a="http://schemas.openxmlformats.org/drawingml/2006/main">
              <a:ext uri="{FF2B5EF4-FFF2-40B4-BE49-F238E27FC236}">
                <a16:creationId xmlns:a16="http://schemas.microsoft.com/office/drawing/2014/main" id="{A73510B5-6121-44CA-8FB5-2E05C3D5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515737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SMT solver / proof assistant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5F1C4A-ECFD-4287-8BF3-2F4E9EBB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794629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Check(proof, O) = valid">
            <a:extLst xmlns:a="http://schemas.openxmlformats.org/drawingml/2006/main">
              <a:ext uri="{FF2B5EF4-FFF2-40B4-BE49-F238E27FC236}">
                <a16:creationId xmlns:a16="http://schemas.microsoft.com/office/drawing/2014/main" id="{C8EA354F-FA07-4019-9B89-EC9BFA59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6073521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Check(proof, O) = valid</a:t>
            </a:r>
          </a:p>
        </p:txBody>
      </p:sp>
      <p:sp>
        <p:nvSpPr>
          <p:cNvPr id="36" name="Verification target:">
            <a:extLst xmlns:a="http://schemas.openxmlformats.org/drawingml/2006/main">
              <a:ext uri="{FF2B5EF4-FFF2-40B4-BE49-F238E27FC236}">
                <a16:creationId xmlns:a16="http://schemas.microsoft.com/office/drawing/2014/main" id="{06E05F34-5E96-4702-84CF-10A5AE02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702106"/>
            <a:ext cx="3619500" cy="336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Verification target:</a:t>
            </a:r>
          </a:p>
        </p:txBody>
      </p:sp>
      <p:sp>
        <p:nvSpPr>
          <p:cNvPr id="37" name="M(x) ⊨ Φ">
            <a:extLst xmlns:a="http://schemas.openxmlformats.org/drawingml/2006/main">
              <a:ext uri="{FF2B5EF4-FFF2-40B4-BE49-F238E27FC236}">
                <a16:creationId xmlns:a16="http://schemas.microsoft.com/office/drawing/2014/main" id="{59EDFD34-C65B-44EB-AABB-214787BB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039100"/>
            <a:ext cx="3619500" cy="336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M(x) ⊨ Φ</a:t>
            </a:r>
          </a:p>
        </p:txBody>
      </p:sp>
      <p:sp>
        <p:nvSpPr>
          <p:cNvPr id="38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9CC9FBE8-BDEA-412F-A0C1-987F2499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95250" cy="3019425"/>
          </a:xfrm>
          <a:custGeom xmlns:a="http://schemas.openxmlformats.org/drawingml/2006/main">
            <a:pathLst>
              <a:path w="95250" h="3019425">
                <a:moveTo>
                  <a:pt x="0" y="3019425"/>
                </a:moveTo>
                <a:lnTo>
                  <a:pt x="95250" y="3019425"/>
                </a:lnTo>
                <a:lnTo>
                  <a:pt x="9525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dash"/>
          </a:ln>
        </p:spPr>
      </p:sp>
      <p:sp>
        <p:nvSpPr>
          <p:cNvPr id="39" name="Arrowhead">
            <a:extLst xmlns:a="http://schemas.openxmlformats.org/drawingml/2006/main">
              <a:ext uri="{FF2B5EF4-FFF2-40B4-BE49-F238E27FC236}">
                <a16:creationId xmlns:a16="http://schemas.microsoft.com/office/drawing/2014/main" id="{658F33CA-1F97-41DA-A63F-C2700DF7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67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0" y="47625"/>
                </a:moveTo>
                <a:lnTo>
                  <a:pt x="114300" y="0"/>
                </a:lnTo>
                <a:lnTo>
                  <a:pt x="114300" y="9525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40" name="Repair candidate or proof">
            <a:extLst xmlns:a="http://schemas.openxmlformats.org/drawingml/2006/main">
              <a:ext uri="{FF2B5EF4-FFF2-40B4-BE49-F238E27FC236}">
                <a16:creationId xmlns:a16="http://schemas.microsoft.com/office/drawing/2014/main" id="{70F43D07-ECD1-4DE4-BC7C-BB39A86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7067264"/>
            <a:ext cx="3495675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Repair candidate or proof</a:t>
            </a:r>
          </a:p>
        </p:txBody>
      </p:sp>
      <p:sp>
        <p:nvSpPr>
          <p:cNvPr id="41" name="checked">
            <a:extLst xmlns:a="http://schemas.openxmlformats.org/drawingml/2006/main">
              <a:ext uri="{FF2B5EF4-FFF2-40B4-BE49-F238E27FC236}">
                <a16:creationId xmlns:a16="http://schemas.microsoft.com/office/drawing/2014/main" id="{59F50492-8FE8-48A2-9C9C-58803B8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339019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checked</a:t>
            </a:r>
          </a:p>
        </p:txBody>
      </p:sp>
      <p:sp>
        <p:nvSpPr>
          <p:cNvPr id="42" name="evidence">
            <a:extLst xmlns:a="http://schemas.openxmlformats.org/drawingml/2006/main">
              <a:ext uri="{FF2B5EF4-FFF2-40B4-BE49-F238E27FC236}">
                <a16:creationId xmlns:a16="http://schemas.microsoft.com/office/drawing/2014/main" id="{7B6013F1-9DB0-4633-8AAD-390AF5DC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548188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43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6853376C-9DD4-4E0A-BBF0-E9C43A5A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048250"/>
            <a:ext cx="571500" cy="9525"/>
          </a:xfrm>
          <a:custGeom xmlns:a="http://schemas.openxmlformats.org/drawingml/2006/main"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44" name="Arrowhead">
            <a:extLst xmlns:a="http://schemas.openxmlformats.org/drawingml/2006/main">
              <a:ext uri="{FF2B5EF4-FFF2-40B4-BE49-F238E27FC236}">
                <a16:creationId xmlns:a16="http://schemas.microsoft.com/office/drawing/2014/main" id="{5CA62E8F-FD6B-47FF-B5F3-827E4C5B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4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7B42A29D-2778-4926-A2D8-DCB5EEBC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19350"/>
            <a:ext cx="36195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6" name="Allow only when ALL hold">
            <a:extLst xmlns:a="http://schemas.openxmlformats.org/drawingml/2006/main">
              <a:ext uri="{FF2B5EF4-FFF2-40B4-BE49-F238E27FC236}">
                <a16:creationId xmlns:a16="http://schemas.microsoft.com/office/drawing/2014/main" id="{BF02CD99-84DA-483F-A1C7-440F266C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3473"/>
            <a:ext cx="339090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Allow only when ALL hold</a:t>
            </a:r>
          </a:p>
        </p:txBody>
      </p:sp>
      <p:sp>
        <p:nvSpPr>
          <p:cNvPr id="4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1040F7CA-E94B-462D-8FB9-68B0CA36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152775"/>
            <a:ext cx="33147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8" name="Proof accepted">
            <a:extLst xmlns:a="http://schemas.openxmlformats.org/drawingml/2006/main">
              <a:ext uri="{FF2B5EF4-FFF2-40B4-BE49-F238E27FC236}">
                <a16:creationId xmlns:a16="http://schemas.microsoft.com/office/drawing/2014/main" id="{12F6E834-A702-4C99-B544-615C47A6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319177"/>
            <a:ext cx="31623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Proof accepted</a:t>
            </a:r>
          </a:p>
        </p:txBody>
      </p:sp>
      <p:sp>
        <p:nvSpPr>
          <p:cNvPr id="4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36A135E3-743B-465C-9C4C-721A05D7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38575"/>
            <a:ext cx="33147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0" name="Artifact, model and specification">
            <a:extLst xmlns:a="http://schemas.openxmlformats.org/drawingml/2006/main">
              <a:ext uri="{FF2B5EF4-FFF2-40B4-BE49-F238E27FC236}">
                <a16:creationId xmlns:a16="http://schemas.microsoft.com/office/drawing/2014/main" id="{36B6B1AF-21C2-4CFC-AC00-E39C0BBF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871341"/>
            <a:ext cx="31623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Artifact, model and specification</a:t>
            </a:r>
          </a:p>
        </p:txBody>
      </p:sp>
      <p:sp>
        <p:nvSpPr>
          <p:cNvPr id="51" name="match checked versions">
            <a:extLst xmlns:a="http://schemas.openxmlformats.org/drawingml/2006/main">
              <a:ext uri="{FF2B5EF4-FFF2-40B4-BE49-F238E27FC236}">
                <a16:creationId xmlns:a16="http://schemas.microsoft.com/office/drawing/2014/main" id="{AE2A6228-48E3-431F-9F8E-E0A87887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38613"/>
            <a:ext cx="31623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match checked versions</a:t>
            </a:r>
          </a:p>
        </p:txBody>
      </p:sp>
      <p:sp>
        <p:nvSpPr>
          <p:cNvPr id="52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ACEDDDF6-609C-420A-981A-16869C58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524375"/>
            <a:ext cx="33147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3" name="Permission valid at execution">
            <a:extLst xmlns:a="http://schemas.openxmlformats.org/drawingml/2006/main">
              <a:ext uri="{FF2B5EF4-FFF2-40B4-BE49-F238E27FC236}">
                <a16:creationId xmlns:a16="http://schemas.microsoft.com/office/drawing/2014/main" id="{C0768178-3456-4A01-B54B-90A4D2E6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90777"/>
            <a:ext cx="31623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Permission valid at execution</a:t>
            </a:r>
          </a:p>
        </p:txBody>
      </p:sp>
      <p:sp>
        <p:nvSpPr>
          <p:cNvPr id="5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32AF43E-6EEC-4B6C-8EC8-9B132B3E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210175"/>
            <a:ext cx="33147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5" name="Model assumptions still hold">
            <a:extLst xmlns:a="http://schemas.openxmlformats.org/drawingml/2006/main">
              <a:ext uri="{FF2B5EF4-FFF2-40B4-BE49-F238E27FC236}">
                <a16:creationId xmlns:a16="http://schemas.microsoft.com/office/drawing/2014/main" id="{24BEC01C-763E-46BD-A25D-5726F494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376577"/>
            <a:ext cx="31623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Model assumptions still hold</a:t>
            </a:r>
          </a:p>
        </p:txBody>
      </p:sp>
      <p:sp>
        <p:nvSpPr>
          <p:cNvPr id="56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B9F080C3-F112-4BCD-8CF1-7608F99B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086475"/>
            <a:ext cx="9525" cy="304800"/>
          </a:xfrm>
          <a:custGeom xmlns:a="http://schemas.openxmlformats.org/drawingml/2006/main">
            <a:pathLst>
              <a:path w="952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7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D04045F6-C3B2-449B-AB5C-52DC10C4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6391275"/>
            <a:ext cx="904875" cy="609600"/>
          </a:xfrm>
          <a:custGeom xmlns:a="http://schemas.openxmlformats.org/drawingml/2006/main">
            <a:pathLst>
              <a:path w="904875" h="609600">
                <a:moveTo>
                  <a:pt x="904875" y="0"/>
                </a:moveTo>
                <a:lnTo>
                  <a:pt x="0" y="0"/>
                </a:lnTo>
                <a:lnTo>
                  <a:pt x="0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8" name="Arrowhead">
            <a:extLst xmlns:a="http://schemas.openxmlformats.org/drawingml/2006/main">
              <a:ext uri="{FF2B5EF4-FFF2-40B4-BE49-F238E27FC236}">
                <a16:creationId xmlns:a16="http://schemas.microsoft.com/office/drawing/2014/main" id="{AA437E4C-8E8B-4B4E-A3CC-41CB4F49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886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59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B127FE11-172A-438C-B33A-CBD4B885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391275"/>
            <a:ext cx="904875" cy="609600"/>
          </a:xfrm>
          <a:custGeom xmlns:a="http://schemas.openxmlformats.org/drawingml/2006/main">
            <a:pathLst>
              <a:path w="904875" h="609600">
                <a:moveTo>
                  <a:pt x="0" y="0"/>
                </a:moveTo>
                <a:lnTo>
                  <a:pt x="904875" y="0"/>
                </a:lnTo>
                <a:lnTo>
                  <a:pt x="904875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0" name="Arrowhead">
            <a:extLst xmlns:a="http://schemas.openxmlformats.org/drawingml/2006/main">
              <a:ext uri="{FF2B5EF4-FFF2-40B4-BE49-F238E27FC236}">
                <a16:creationId xmlns:a16="http://schemas.microsoft.com/office/drawing/2014/main" id="{DA478781-CF9A-4CB0-B662-E76B90C0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886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1" name="all pass">
            <a:extLst xmlns:a="http://schemas.openxmlformats.org/drawingml/2006/main">
              <a:ext uri="{FF2B5EF4-FFF2-40B4-BE49-F238E27FC236}">
                <a16:creationId xmlns:a16="http://schemas.microsoft.com/office/drawing/2014/main" id="{E7A1CA0F-FD63-4404-B563-3D9627B0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6107335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all pass</a:t>
            </a:r>
          </a:p>
        </p:txBody>
      </p:sp>
      <p:sp>
        <p:nvSpPr>
          <p:cNvPr id="62" name="fail / unknown">
            <a:extLst xmlns:a="http://schemas.openxmlformats.org/drawingml/2006/main">
              <a:ext uri="{FF2B5EF4-FFF2-40B4-BE49-F238E27FC236}">
                <a16:creationId xmlns:a16="http://schemas.microsoft.com/office/drawing/2014/main" id="{5FBE3A1B-2BE5-41B4-8FA6-E55D43DB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107335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fail / unknown</a:t>
            </a:r>
          </a:p>
        </p:txBody>
      </p:sp>
      <p:sp>
        <p:nvSpPr>
          <p:cNvPr id="6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8D880649-4318-410C-92BE-BEE7EDE2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000875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8B1C77F9-E86D-4E11-BA54-4CD868D4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7000875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5" name="Execute">
            <a:extLst xmlns:a="http://schemas.openxmlformats.org/drawingml/2006/main">
              <a:ext uri="{FF2B5EF4-FFF2-40B4-BE49-F238E27FC236}">
                <a16:creationId xmlns:a16="http://schemas.microsoft.com/office/drawing/2014/main" id="{44516135-D95A-4231-847C-2A6BB35A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7160419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66" name="Defer / review">
            <a:extLst xmlns:a="http://schemas.openxmlformats.org/drawingml/2006/main">
              <a:ext uri="{FF2B5EF4-FFF2-40B4-BE49-F238E27FC236}">
                <a16:creationId xmlns:a16="http://schemas.microsoft.com/office/drawing/2014/main" id="{9FF417C7-FB3F-45B5-B0EF-A12BF36E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44325" y="7160419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Defer / review</a:t>
            </a:r>
          </a:p>
        </p:txBody>
      </p:sp>
      <p:sp>
        <p:nvSpPr>
          <p:cNvPr id="67" name="Enforce through trusted controls.">
            <a:extLst xmlns:a="http://schemas.openxmlformats.org/drawingml/2006/main">
              <a:ext uri="{FF2B5EF4-FFF2-40B4-BE49-F238E27FC236}">
                <a16:creationId xmlns:a16="http://schemas.microsoft.com/office/drawing/2014/main" id="{DC4C99F4-D900-4099-B54D-FFF935C7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8218742"/>
            <a:ext cx="34671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Enforce through trusted controls.</a:t>
            </a:r>
          </a:p>
        </p:txBody>
      </p:sp>
      <p:sp>
        <p:nvSpPr>
          <p:cNvPr id="68" name="Assurance requires adequate specifications, faithful models, sou">
            <a:extLst xmlns:a="http://schemas.openxmlformats.org/drawingml/2006/main">
              <a:ext uri="{FF2B5EF4-FFF2-40B4-BE49-F238E27FC236}">
                <a16:creationId xmlns:a16="http://schemas.microsoft.com/office/drawing/2014/main" id="{944333F8-AC1E-487D-8F9C-FC059FA3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47492"/>
            <a:ext cx="13220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Assurance requires adequate specifications, faithful models, sound proof checking, and trusted enforcement.</a:t>
            </a:r>
          </a:p>
        </p:txBody>
      </p:sp>
    </p:spTree>
    <p:extLst>
      <p:ext uri="{BB962C8B-B14F-4D97-AF65-F5344CB8AC3E}">
        <p14:creationId xmlns:p14="http://schemas.microsoft.com/office/powerpoint/2010/main" val="15976178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II. Preserving Safety Through Continual Updates">
            <a:extLst xmlns:a="http://schemas.openxmlformats.org/drawingml/2006/main">
              <a:ext uri="{FF2B5EF4-FFF2-40B4-BE49-F238E27FC236}">
                <a16:creationId xmlns:a16="http://schemas.microsoft.com/office/drawing/2014/main" id="{214759B0-5F81-4332-8C6E-E169F58C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56020"/>
            <a:ext cx="13411200" cy="488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II. Preserving Safety Through Continual Updates</a:t>
            </a:r>
          </a:p>
        </p:txBody>
      </p:sp>
      <p:sp>
        <p:nvSpPr>
          <p:cNvPr id="2" name="LLM or harness changes can invalidate existing guardrails">
            <a:extLst xmlns:a="http://schemas.openxmlformats.org/drawingml/2006/main">
              <a:ext uri="{FF2B5EF4-FFF2-40B4-BE49-F238E27FC236}">
                <a16:creationId xmlns:a16="http://schemas.microsoft.com/office/drawing/2014/main" id="{E135F6DB-23F4-466E-A6C9-2A766032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753809"/>
            <a:ext cx="13411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LLM or harness changes can invalidate existing guardrails</a:t>
            </a:r>
          </a:p>
        </p:txBody>
      </p:sp>
      <p:sp>
        <p:nvSpPr>
          <p:cNvPr id="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125D0832-6990-49E6-8B0E-FEDEF4B5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" name="1  Propose Δ">
            <a:extLst xmlns:a="http://schemas.openxmlformats.org/drawingml/2006/main">
              <a:ext uri="{FF2B5EF4-FFF2-40B4-BE49-F238E27FC236}">
                <a16:creationId xmlns:a16="http://schemas.microsoft.com/office/drawing/2014/main" id="{6F3967CC-C158-4504-B5D5-07A095DD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1  Propose Δ</a:t>
            </a:r>
          </a:p>
        </p:txBody>
      </p:sp>
      <p:sp>
        <p:nvSpPr>
          <p:cNvPr id="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2B3DBE45-0014-4F4A-84B8-00755053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" name="2  Revalidate protection">
            <a:extLst xmlns:a="http://schemas.openxmlformats.org/drawingml/2006/main">
              <a:ext uri="{FF2B5EF4-FFF2-40B4-BE49-F238E27FC236}">
                <a16:creationId xmlns:a16="http://schemas.microsoft.com/office/drawing/2014/main" id="{F967F44D-3A9D-4EDE-AB88-99CFBA7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2  Revalidate protection</a:t>
            </a:r>
          </a:p>
        </p:txBody>
      </p:sp>
      <p:sp>
        <p:nvSpPr>
          <p:cNvPr id="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FB7D6604-8DA0-4A51-A53F-FF2A464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8" name="3  Apply validated Δ">
            <a:extLst xmlns:a="http://schemas.openxmlformats.org/drawingml/2006/main">
              <a:ext uri="{FF2B5EF4-FFF2-40B4-BE49-F238E27FC236}">
                <a16:creationId xmlns:a16="http://schemas.microsoft.com/office/drawing/2014/main" id="{EA5510ED-C54D-4E88-88A9-14EB8397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3  Apply validated Δ</a:t>
            </a:r>
          </a:p>
        </p:txBody>
      </p:sp>
      <p:sp>
        <p:nvSpPr>
          <p:cNvPr id="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921FDC8F-FAC6-4BDE-B24D-459968A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419350"/>
            <a:ext cx="36195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0" name="Current system">
            <a:extLst xmlns:a="http://schemas.openxmlformats.org/drawingml/2006/main">
              <a:ext uri="{FF2B5EF4-FFF2-40B4-BE49-F238E27FC236}">
                <a16:creationId xmlns:a16="http://schemas.microsoft.com/office/drawing/2014/main" id="{BBC3A97D-E772-424B-B59A-BC44C56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Current system</a:t>
            </a:r>
          </a:p>
        </p:txBody>
      </p:sp>
      <p:sp>
        <p:nvSpPr>
          <p:cNvPr id="11" name="Sₜ = (Lₜ, Hₜ)">
            <a:extLst xmlns:a="http://schemas.openxmlformats.org/drawingml/2006/main">
              <a:ext uri="{FF2B5EF4-FFF2-40B4-BE49-F238E27FC236}">
                <a16:creationId xmlns:a16="http://schemas.microsoft.com/office/drawing/2014/main" id="{FB05ADA6-D750-4252-B11C-C793BFDE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5619"/>
            <a:ext cx="33147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Sₜ = (Lₜ, Hₜ)</a:t>
            </a:r>
          </a:p>
        </p:txBody>
      </p:sp>
      <p:sp>
        <p:nvSpPr>
          <p:cNvPr id="12" name="LLM + harness">
            <a:extLst xmlns:a="http://schemas.openxmlformats.org/drawingml/2006/main">
              <a:ext uri="{FF2B5EF4-FFF2-40B4-BE49-F238E27FC236}">
                <a16:creationId xmlns:a16="http://schemas.microsoft.com/office/drawing/2014/main" id="{4F08DA52-206D-4161-8D8E-F12D243C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6131"/>
            <a:ext cx="33147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LLM + harness</a:t>
            </a:r>
          </a:p>
        </p:txBody>
      </p:sp>
      <p:sp>
        <p:nvSpPr>
          <p:cNvPr id="13" name="including guardrails">
            <a:extLst xmlns:a="http://schemas.openxmlformats.org/drawingml/2006/main">
              <a:ext uri="{FF2B5EF4-FFF2-40B4-BE49-F238E27FC236}">
                <a16:creationId xmlns:a16="http://schemas.microsoft.com/office/drawing/2014/main" id="{4382AB96-1413-4D8E-A5C8-C9A0AD7C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26644"/>
            <a:ext cx="33147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including guardrails</a:t>
            </a:r>
          </a:p>
        </p:txBody>
      </p:sp>
      <p:sp>
        <p:nvSpPr>
          <p:cNvPr id="1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4452E5A4-BA30-4A65-AA6F-75971237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3619500" cy="1247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5" name="LLM learning">
            <a:extLst xmlns:a="http://schemas.openxmlformats.org/drawingml/2006/main">
              <a:ext uri="{FF2B5EF4-FFF2-40B4-BE49-F238E27FC236}">
                <a16:creationId xmlns:a16="http://schemas.microsoft.com/office/drawing/2014/main" id="{BE53AFDE-7E4F-4425-8F3F-F9BFC949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6171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LLM learning</a:t>
            </a:r>
          </a:p>
        </p:txBody>
      </p:sp>
      <p:sp>
        <p:nvSpPr>
          <p:cNvPr id="16" name="Paired authorized tasks">
            <a:extLst xmlns:a="http://schemas.openxmlformats.org/drawingml/2006/main">
              <a:ext uri="{FF2B5EF4-FFF2-40B4-BE49-F238E27FC236}">
                <a16:creationId xmlns:a16="http://schemas.microsoft.com/office/drawing/2014/main" id="{CFEC0515-4CBF-4282-912F-32BF27B0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01971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Paired authorized tasks</a:t>
            </a:r>
          </a:p>
        </p:txBody>
      </p:sp>
      <p:sp>
        <p:nvSpPr>
          <p:cNvPr id="1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CC7C0ADF-0D55-4994-AA7D-8C5E5447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962650"/>
            <a:ext cx="361950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8" name="Harness upgrades">
            <a:extLst xmlns:a="http://schemas.openxmlformats.org/drawingml/2006/main">
              <a:ext uri="{FF2B5EF4-FFF2-40B4-BE49-F238E27FC236}">
                <a16:creationId xmlns:a16="http://schemas.microsoft.com/office/drawing/2014/main" id="{E8548483-FBAA-44A9-AA6A-5536145F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047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Harness upgrades</a:t>
            </a:r>
          </a:p>
        </p:txBody>
      </p:sp>
      <p:sp>
        <p:nvSpPr>
          <p:cNvPr id="19" name="Tools · monitors">
            <a:extLst xmlns:a="http://schemas.openxmlformats.org/drawingml/2006/main">
              <a:ext uri="{FF2B5EF4-FFF2-40B4-BE49-F238E27FC236}">
                <a16:creationId xmlns:a16="http://schemas.microsoft.com/office/drawing/2014/main" id="{E7768B00-3F7A-48E3-B8CE-2C3FC7DE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6355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Tools · monitors</a:t>
            </a:r>
          </a:p>
        </p:txBody>
      </p:sp>
      <p:sp>
        <p:nvSpPr>
          <p:cNvPr id="20" name="training feedback">
            <a:extLst xmlns:a="http://schemas.openxmlformats.org/drawingml/2006/main">
              <a:ext uri="{FF2B5EF4-FFF2-40B4-BE49-F238E27FC236}">
                <a16:creationId xmlns:a16="http://schemas.microsoft.com/office/drawing/2014/main" id="{F03B4F27-DE57-404C-8978-4099B7E6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948488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training feedback</a:t>
            </a:r>
          </a:p>
        </p:txBody>
      </p:sp>
      <p:sp>
        <p:nvSpPr>
          <p:cNvPr id="21" name="Test a candidate before release.">
            <a:extLst xmlns:a="http://schemas.openxmlformats.org/drawingml/2006/main">
              <a:ext uri="{FF2B5EF4-FFF2-40B4-BE49-F238E27FC236}">
                <a16:creationId xmlns:a16="http://schemas.microsoft.com/office/drawing/2014/main" id="{EB475EBB-6C62-4B09-B6E3-D59D4469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8174831"/>
            <a:ext cx="35052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Test a candidate before release.</a:t>
            </a:r>
          </a:p>
        </p:txBody>
      </p:sp>
      <p:sp>
        <p:nvSpPr>
          <p:cNvPr id="22" name="updated">
            <a:extLst xmlns:a="http://schemas.openxmlformats.org/drawingml/2006/main">
              <a:ext uri="{FF2B5EF4-FFF2-40B4-BE49-F238E27FC236}">
                <a16:creationId xmlns:a16="http://schemas.microsoft.com/office/drawing/2014/main" id="{9F9452E5-E2DB-42DD-944B-9208E60C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339019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updated</a:t>
            </a:r>
          </a:p>
        </p:txBody>
      </p:sp>
      <p:sp>
        <p:nvSpPr>
          <p:cNvPr id="23" name="candidate">
            <a:extLst xmlns:a="http://schemas.openxmlformats.org/drawingml/2006/main">
              <a:ext uri="{FF2B5EF4-FFF2-40B4-BE49-F238E27FC236}">
                <a16:creationId xmlns:a16="http://schemas.microsoft.com/office/drawing/2014/main" id="{89B18B34-0980-4B4D-A270-259A6B22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548188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24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45BAF5BC-9348-4631-B30E-CC610459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48250"/>
            <a:ext cx="571500" cy="9525"/>
          </a:xfrm>
          <a:custGeom xmlns:a="http://schemas.openxmlformats.org/drawingml/2006/main"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25" name="Arrowhead">
            <a:extLst xmlns:a="http://schemas.openxmlformats.org/drawingml/2006/main">
              <a:ext uri="{FF2B5EF4-FFF2-40B4-BE49-F238E27FC236}">
                <a16:creationId xmlns:a16="http://schemas.microsoft.com/office/drawing/2014/main" id="{A8E6869F-787C-486B-B4AE-254804D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2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3387EB3B-97BC-411C-B27C-BA4B1B64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3619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27" name="Protected requirements">
            <a:extLst xmlns:a="http://schemas.openxmlformats.org/drawingml/2006/main">
              <a:ext uri="{FF2B5EF4-FFF2-40B4-BE49-F238E27FC236}">
                <a16:creationId xmlns:a16="http://schemas.microsoft.com/office/drawing/2014/main" id="{9E6994B5-DE34-478A-B858-707C25F1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Protected requirements</a:t>
            </a:r>
          </a:p>
        </p:txBody>
      </p:sp>
      <p:sp>
        <p:nvSpPr>
          <p:cNvPr id="28" name="Security · reliability · task completion">
            <a:extLst xmlns:a="http://schemas.openxmlformats.org/drawingml/2006/main">
              <a:ext uri="{FF2B5EF4-FFF2-40B4-BE49-F238E27FC236}">
                <a16:creationId xmlns:a16="http://schemas.microsoft.com/office/drawing/2014/main" id="{147F6B92-67FC-4E5D-A29B-7781A7F7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91625"/>
            <a:ext cx="33147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Security · reliability · task completion</a:t>
            </a:r>
          </a:p>
        </p:txBody>
      </p:sp>
      <p:sp>
        <p:nvSpPr>
          <p:cNvPr id="2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71111E57-7EB2-4479-B370-BF8F3A66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3619500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0" name="Recheck existing guardrails">
            <a:extLst xmlns:a="http://schemas.openxmlformats.org/drawingml/2006/main">
              <a:ext uri="{FF2B5EF4-FFF2-40B4-BE49-F238E27FC236}">
                <a16:creationId xmlns:a16="http://schemas.microsoft.com/office/drawing/2014/main" id="{8E456E1C-7230-4597-8317-049C2F34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62698"/>
            <a:ext cx="3352800" cy="313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Recheck existing guardrails</a:t>
            </a:r>
          </a:p>
        </p:txBody>
      </p:sp>
      <p:sp>
        <p:nvSpPr>
          <p:cNvPr id="3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37064389-83DD-4904-B5E9-1280EA6D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572000"/>
            <a:ext cx="3314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2" name="PolicyOK">
            <a:extLst xmlns:a="http://schemas.openxmlformats.org/drawingml/2006/main">
              <a:ext uri="{FF2B5EF4-FFF2-40B4-BE49-F238E27FC236}">
                <a16:creationId xmlns:a16="http://schemas.microsoft.com/office/drawing/2014/main" id="{FDFDF73D-D388-459F-9727-9E884C1D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14113"/>
            <a:ext cx="30861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PolicyOK</a:t>
            </a:r>
          </a:p>
        </p:txBody>
      </p:sp>
      <p:sp>
        <p:nvSpPr>
          <p:cNvPr id="33" name="Permissions · data boundaries">
            <a:extLst xmlns:a="http://schemas.openxmlformats.org/drawingml/2006/main">
              <a:ext uri="{FF2B5EF4-FFF2-40B4-BE49-F238E27FC236}">
                <a16:creationId xmlns:a16="http://schemas.microsoft.com/office/drawing/2014/main" id="{013A2641-CDCA-4E1F-BAA5-C7CD37F0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110925"/>
            <a:ext cx="30099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Permissions · data boundaries</a:t>
            </a:r>
          </a:p>
        </p:txBody>
      </p:sp>
      <p:sp>
        <p:nvSpPr>
          <p:cNvPr id="34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CA93BBDB-0CF5-4A2B-A689-BB42F33D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638800"/>
            <a:ext cx="3314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5" name="RetentionOK">
            <a:extLst xmlns:a="http://schemas.openxmlformats.org/drawingml/2006/main">
              <a:ext uri="{FF2B5EF4-FFF2-40B4-BE49-F238E27FC236}">
                <a16:creationId xmlns:a16="http://schemas.microsoft.com/office/drawing/2014/main" id="{A6AB55CF-9183-4D52-9B4D-14E1C9D6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80913"/>
            <a:ext cx="30861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RetentionOK</a:t>
            </a:r>
          </a:p>
        </p:txBody>
      </p:sp>
      <p:sp>
        <p:nvSpPr>
          <p:cNvPr id="36" name="Independent regression">
            <a:extLst xmlns:a="http://schemas.openxmlformats.org/drawingml/2006/main">
              <a:ext uri="{FF2B5EF4-FFF2-40B4-BE49-F238E27FC236}">
                <a16:creationId xmlns:a16="http://schemas.microsoft.com/office/drawing/2014/main" id="{CE753E6C-FF39-4FD1-9F98-B15E0B1C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078474"/>
            <a:ext cx="30099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Independent regression</a:t>
            </a:r>
          </a:p>
        </p:txBody>
      </p:sp>
      <p:sp>
        <p:nvSpPr>
          <p:cNvPr id="37" name="and adversarial tests">
            <a:extLst xmlns:a="http://schemas.openxmlformats.org/drawingml/2006/main">
              <a:ext uri="{FF2B5EF4-FFF2-40B4-BE49-F238E27FC236}">
                <a16:creationId xmlns:a16="http://schemas.microsoft.com/office/drawing/2014/main" id="{68C45656-B49B-47F8-B8B5-14105EA0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334125"/>
            <a:ext cx="300990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and adversarial tests</a:t>
            </a:r>
          </a:p>
        </p:txBody>
      </p:sp>
      <p:sp>
        <p:nvSpPr>
          <p:cNvPr id="38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7F28A734-C51D-481D-A175-DD056AC6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791325"/>
            <a:ext cx="9525" cy="742950"/>
          </a:xfrm>
          <a:custGeom xmlns:a="http://schemas.openxmlformats.org/drawingml/2006/main">
            <a:pathLst>
              <a:path w="952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39" name="Arrowhead">
            <a:extLst xmlns:a="http://schemas.openxmlformats.org/drawingml/2006/main">
              <a:ext uri="{FF2B5EF4-FFF2-40B4-BE49-F238E27FC236}">
                <a16:creationId xmlns:a16="http://schemas.microsoft.com/office/drawing/2014/main" id="{098DF16E-EC41-4A04-A6B9-3E7CE0B6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74199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40" name="fail / unknown">
            <a:extLst xmlns:a="http://schemas.openxmlformats.org/drawingml/2006/main">
              <a:ext uri="{FF2B5EF4-FFF2-40B4-BE49-F238E27FC236}">
                <a16:creationId xmlns:a16="http://schemas.microsoft.com/office/drawing/2014/main" id="{37230372-0820-42D4-B19A-72202078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7069360"/>
            <a:ext cx="1685925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fail / unknown</a:t>
            </a:r>
          </a:p>
        </p:txBody>
      </p:sp>
      <p:sp>
        <p:nvSpPr>
          <p:cNvPr id="4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FFC63918-302E-4CD6-B683-6CDEC332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534275"/>
            <a:ext cx="3619500" cy="1247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2" name="Repair update or guardrails">
            <a:extLst xmlns:a="http://schemas.openxmlformats.org/drawingml/2006/main">
              <a:ext uri="{FF2B5EF4-FFF2-40B4-BE49-F238E27FC236}">
                <a16:creationId xmlns:a16="http://schemas.microsoft.com/office/drawing/2014/main" id="{16A5F61F-3A12-4686-A2CF-9806F231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7676388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Repair update or guardrails</a:t>
            </a:r>
          </a:p>
        </p:txBody>
      </p:sp>
      <p:sp>
        <p:nvSpPr>
          <p:cNvPr id="43" name="Keep requirements unchanged">
            <a:extLst xmlns:a="http://schemas.openxmlformats.org/drawingml/2006/main">
              <a:ext uri="{FF2B5EF4-FFF2-40B4-BE49-F238E27FC236}">
                <a16:creationId xmlns:a16="http://schemas.microsoft.com/office/drawing/2014/main" id="{C1EFC0E5-AD5C-4772-808D-D3101281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8234077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Keep requirements unchanged</a:t>
            </a:r>
          </a:p>
        </p:txBody>
      </p:sp>
      <p:sp>
        <p:nvSpPr>
          <p:cNvPr id="44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2FBD3CC7-FA87-41C5-9256-6CF59B1F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791325"/>
            <a:ext cx="9525" cy="742950"/>
          </a:xfrm>
          <a:custGeom xmlns:a="http://schemas.openxmlformats.org/drawingml/2006/main">
            <a:pathLst>
              <a:path w="9525" h="742950">
                <a:moveTo>
                  <a:pt x="0" y="742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dash"/>
          </a:ln>
        </p:spPr>
      </p:sp>
      <p:sp>
        <p:nvSpPr>
          <p:cNvPr id="45" name="Arrowhead">
            <a:extLst xmlns:a="http://schemas.openxmlformats.org/drawingml/2006/main">
              <a:ext uri="{FF2B5EF4-FFF2-40B4-BE49-F238E27FC236}">
                <a16:creationId xmlns:a16="http://schemas.microsoft.com/office/drawing/2014/main" id="{3368617A-B98D-454C-A45E-E93926EB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67913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46" name="retest">
            <a:extLst xmlns:a="http://schemas.openxmlformats.org/drawingml/2006/main">
              <a:ext uri="{FF2B5EF4-FFF2-40B4-BE49-F238E27FC236}">
                <a16:creationId xmlns:a16="http://schemas.microsoft.com/office/drawing/2014/main" id="{96B0FDF3-3FCD-49B1-A9FE-6A2AC731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065645"/>
            <a:ext cx="571500" cy="232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retest</a:t>
            </a:r>
          </a:p>
        </p:txBody>
      </p:sp>
      <p:sp>
        <p:nvSpPr>
          <p:cNvPr id="47" name="checked">
            <a:extLst xmlns:a="http://schemas.openxmlformats.org/drawingml/2006/main">
              <a:ext uri="{FF2B5EF4-FFF2-40B4-BE49-F238E27FC236}">
                <a16:creationId xmlns:a16="http://schemas.microsoft.com/office/drawing/2014/main" id="{D76142F7-F090-43CF-95AD-A47F7CE6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339019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checked</a:t>
            </a:r>
          </a:p>
        </p:txBody>
      </p:sp>
      <p:sp>
        <p:nvSpPr>
          <p:cNvPr id="48" name="evidence">
            <a:extLst xmlns:a="http://schemas.openxmlformats.org/drawingml/2006/main">
              <a:ext uri="{FF2B5EF4-FFF2-40B4-BE49-F238E27FC236}">
                <a16:creationId xmlns:a16="http://schemas.microsoft.com/office/drawing/2014/main" id="{83A53DE7-12D5-4849-966E-F2FAEFDE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548188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49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22D5B79C-263A-4D1C-BB52-467B04A4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048250"/>
            <a:ext cx="571500" cy="9525"/>
          </a:xfrm>
          <a:custGeom xmlns:a="http://schemas.openxmlformats.org/drawingml/2006/main"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0" name="Arrowhead">
            <a:extLst xmlns:a="http://schemas.openxmlformats.org/drawingml/2006/main">
              <a:ext uri="{FF2B5EF4-FFF2-40B4-BE49-F238E27FC236}">
                <a16:creationId xmlns:a16="http://schemas.microsoft.com/office/drawing/2014/main" id="{831165E6-958E-456E-B629-7F672BCC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5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96E9F642-875F-4FCB-9616-F45AF6F4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19350"/>
            <a:ext cx="3619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2" name="Update gate">
            <a:extLst xmlns:a="http://schemas.openxmlformats.org/drawingml/2006/main">
              <a:ext uri="{FF2B5EF4-FFF2-40B4-BE49-F238E27FC236}">
                <a16:creationId xmlns:a16="http://schemas.microsoft.com/office/drawing/2014/main" id="{92E2661F-7CB2-4B97-96E7-15FDAC4F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Update gate</a:t>
            </a:r>
          </a:p>
        </p:txBody>
      </p:sp>
      <p:sp>
        <p:nvSpPr>
          <p:cNvPr id="53" name="Accept(Δ*) :=">
            <a:extLst xmlns:a="http://schemas.openxmlformats.org/drawingml/2006/main">
              <a:ext uri="{FF2B5EF4-FFF2-40B4-BE49-F238E27FC236}">
                <a16:creationId xmlns:a16="http://schemas.microsoft.com/office/drawing/2014/main" id="{73B9822E-A5C5-4402-B206-9CFD6F12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207068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Accept(Δ*) :=</a:t>
            </a:r>
          </a:p>
        </p:txBody>
      </p:sp>
      <p:sp>
        <p:nvSpPr>
          <p:cNvPr id="54" name="PolicyOK ∧ RetentionOK">
            <a:extLst xmlns:a="http://schemas.openxmlformats.org/drawingml/2006/main">
              <a:ext uri="{FF2B5EF4-FFF2-40B4-BE49-F238E27FC236}">
                <a16:creationId xmlns:a16="http://schemas.microsoft.com/office/drawing/2014/main" id="{27E14E99-3C8F-41FC-A8A0-9223F1D2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509200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PolicyOK ∧ RetentionOK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EB7A56-C39D-47A4-BFA1-E68B7966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1334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6" name="Release the checked">
            <a:extLst xmlns:a="http://schemas.openxmlformats.org/drawingml/2006/main">
              <a:ext uri="{FF2B5EF4-FFF2-40B4-BE49-F238E27FC236}">
                <a16:creationId xmlns:a16="http://schemas.microsoft.com/office/drawing/2014/main" id="{002933C3-4301-465D-95F6-0F2A5C30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113467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Release the checked</a:t>
            </a:r>
          </a:p>
        </p:txBody>
      </p:sp>
      <p:sp>
        <p:nvSpPr>
          <p:cNvPr id="57" name="version only">
            <a:extLst xmlns:a="http://schemas.openxmlformats.org/drawingml/2006/main">
              <a:ext uri="{FF2B5EF4-FFF2-40B4-BE49-F238E27FC236}">
                <a16:creationId xmlns:a16="http://schemas.microsoft.com/office/drawing/2014/main" id="{44848BA4-8AB2-4F6C-A06A-F9F9B647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415600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version only</a:t>
            </a:r>
          </a:p>
        </p:txBody>
      </p:sp>
      <p:sp>
        <p:nvSpPr>
          <p:cNvPr id="58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3405C6A9-17B3-49A7-A0E8-B61134E2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086350"/>
            <a:ext cx="9525" cy="304800"/>
          </a:xfrm>
          <a:custGeom xmlns:a="http://schemas.openxmlformats.org/drawingml/2006/main">
            <a:pathLst>
              <a:path w="952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9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F6DA4476-C3A2-443A-860D-55E05F6E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5391150"/>
            <a:ext cx="904875" cy="609600"/>
          </a:xfrm>
          <a:custGeom xmlns:a="http://schemas.openxmlformats.org/drawingml/2006/main">
            <a:pathLst>
              <a:path w="904875" h="609600">
                <a:moveTo>
                  <a:pt x="904875" y="0"/>
                </a:moveTo>
                <a:lnTo>
                  <a:pt x="0" y="0"/>
                </a:lnTo>
                <a:lnTo>
                  <a:pt x="0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0" name="Arrowhead">
            <a:extLst xmlns:a="http://schemas.openxmlformats.org/drawingml/2006/main">
              <a:ext uri="{FF2B5EF4-FFF2-40B4-BE49-F238E27FC236}">
                <a16:creationId xmlns:a16="http://schemas.microsoft.com/office/drawing/2014/main" id="{6DC57E7B-713A-415C-9F53-A28671A2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8864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1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9970F512-11D5-43B0-BF92-F89A849B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391150"/>
            <a:ext cx="904875" cy="609600"/>
          </a:xfrm>
          <a:custGeom xmlns:a="http://schemas.openxmlformats.org/drawingml/2006/main">
            <a:pathLst>
              <a:path w="904875" h="609600">
                <a:moveTo>
                  <a:pt x="0" y="0"/>
                </a:moveTo>
                <a:lnTo>
                  <a:pt x="904875" y="0"/>
                </a:lnTo>
                <a:lnTo>
                  <a:pt x="904875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2" name="Arrowhead">
            <a:extLst xmlns:a="http://schemas.openxmlformats.org/drawingml/2006/main">
              <a:ext uri="{FF2B5EF4-FFF2-40B4-BE49-F238E27FC236}">
                <a16:creationId xmlns:a16="http://schemas.microsoft.com/office/drawing/2014/main" id="{D0B384B3-269B-4324-BF63-14FA0921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8864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3" name="all pass">
            <a:extLst xmlns:a="http://schemas.openxmlformats.org/drawingml/2006/main">
              <a:ext uri="{FF2B5EF4-FFF2-40B4-BE49-F238E27FC236}">
                <a16:creationId xmlns:a16="http://schemas.microsoft.com/office/drawing/2014/main" id="{C5120FF3-EC82-43B8-BE28-88B02155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107210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all pass</a:t>
            </a:r>
          </a:p>
        </p:txBody>
      </p:sp>
      <p:sp>
        <p:nvSpPr>
          <p:cNvPr id="64" name="fail / unknown">
            <a:extLst xmlns:a="http://schemas.openxmlformats.org/drawingml/2006/main">
              <a:ext uri="{FF2B5EF4-FFF2-40B4-BE49-F238E27FC236}">
                <a16:creationId xmlns:a16="http://schemas.microsoft.com/office/drawing/2014/main" id="{861E1544-6FFC-4B69-8D3F-9A8F7A5E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107210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fail / unknown</a:t>
            </a:r>
          </a:p>
        </p:txBody>
      </p:sp>
      <p:sp>
        <p:nvSpPr>
          <p:cNvPr id="6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046A62D2-3B34-49D0-A51E-B81E4372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6000750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D70BA4EC-B00A-470E-BC0A-40257C56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6000750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7" name="Apply Δ*">
            <a:extLst xmlns:a="http://schemas.openxmlformats.org/drawingml/2006/main">
              <a:ext uri="{FF2B5EF4-FFF2-40B4-BE49-F238E27FC236}">
                <a16:creationId xmlns:a16="http://schemas.microsoft.com/office/drawing/2014/main" id="{A1554BA1-3EA0-4802-9182-2E33D19B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160294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Apply Δ*</a:t>
            </a:r>
          </a:p>
        </p:txBody>
      </p:sp>
      <p:sp>
        <p:nvSpPr>
          <p:cNvPr id="68" name="Retain Sₜ">
            <a:extLst xmlns:a="http://schemas.openxmlformats.org/drawingml/2006/main">
              <a:ext uri="{FF2B5EF4-FFF2-40B4-BE49-F238E27FC236}">
                <a16:creationId xmlns:a16="http://schemas.microsoft.com/office/drawing/2014/main" id="{7B45420C-0B03-4A1A-A808-FB3EF474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44325" y="6160294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Retain Sₜ</a:t>
            </a:r>
          </a:p>
        </p:txBody>
      </p:sp>
      <p:sp>
        <p:nvSpPr>
          <p:cNvPr id="6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E79054B1-CEF1-494C-8DBC-1294380B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115175"/>
            <a:ext cx="3619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70" name="On acceptance">
            <a:extLst xmlns:a="http://schemas.openxmlformats.org/drawingml/2006/main">
              <a:ext uri="{FF2B5EF4-FFF2-40B4-BE49-F238E27FC236}">
                <a16:creationId xmlns:a16="http://schemas.microsoft.com/office/drawing/2014/main" id="{178C9D8C-B172-4695-B293-94E388FA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57288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On acceptance</a:t>
            </a:r>
          </a:p>
        </p:txBody>
      </p:sp>
      <p:sp>
        <p:nvSpPr>
          <p:cNvPr id="71" name="Sₜ₊₁ = Update(Sₜ, Δ*)">
            <a:extLst xmlns:a="http://schemas.openxmlformats.org/drawingml/2006/main">
              <a:ext uri="{FF2B5EF4-FFF2-40B4-BE49-F238E27FC236}">
                <a16:creationId xmlns:a16="http://schemas.microsoft.com/office/drawing/2014/main" id="{38490F7E-A58E-4DF6-944C-D1C33F69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7623620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Sₜ₊₁ = Update(Sₜ, Δ*)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EB1622-5D9F-42FC-B2E8-EE563207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7890891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3" name="Δ*: checked change, including">
            <a:extLst xmlns:a="http://schemas.openxmlformats.org/drawingml/2006/main">
              <a:ext uri="{FF2B5EF4-FFF2-40B4-BE49-F238E27FC236}">
                <a16:creationId xmlns:a16="http://schemas.microsoft.com/office/drawing/2014/main" id="{A37E9D03-FCC1-4863-AA35-6C3A0034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8158163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Δ*: checked change, including</a:t>
            </a:r>
          </a:p>
        </p:txBody>
      </p:sp>
      <p:sp>
        <p:nvSpPr>
          <p:cNvPr id="74" name="needed guardrail repairs">
            <a:extLst xmlns:a="http://schemas.openxmlformats.org/drawingml/2006/main">
              <a:ext uri="{FF2B5EF4-FFF2-40B4-BE49-F238E27FC236}">
                <a16:creationId xmlns:a16="http://schemas.microsoft.com/office/drawing/2014/main" id="{F7442DAF-5296-46F7-B0B5-C437BA91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8425434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needed guardrail repairs</a:t>
            </a:r>
          </a:p>
        </p:txBody>
      </p:sp>
      <p:sp>
        <p:nvSpPr>
          <p:cNvPr id="75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94094A11-4A5E-4544-843F-E74A3E7C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3267075"/>
            <a:ext cx="11458575" cy="5924550"/>
          </a:xfrm>
          <a:custGeom xmlns:a="http://schemas.openxmlformats.org/drawingml/2006/main">
            <a:pathLst>
              <a:path w="11458575" h="5924550">
                <a:moveTo>
                  <a:pt x="11458575" y="5686425"/>
                </a:moveTo>
                <a:lnTo>
                  <a:pt x="11458575" y="5924550"/>
                </a:lnTo>
                <a:lnTo>
                  <a:pt x="0" y="5924550"/>
                </a:lnTo>
                <a:lnTo>
                  <a:pt x="0" y="0"/>
                </a:ln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76" name="Arrowhead">
            <a:extLst xmlns:a="http://schemas.openxmlformats.org/drawingml/2006/main">
              <a:ext uri="{FF2B5EF4-FFF2-40B4-BE49-F238E27FC236}">
                <a16:creationId xmlns:a16="http://schemas.microsoft.com/office/drawing/2014/main" id="{4386DB2B-8C8A-401B-BF3A-4C8F4743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219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7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BDA9D96C-CDAB-41C2-A979-53E06DF1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9010650"/>
            <a:ext cx="33813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78" name="Revalidate at every update">
            <a:extLst xmlns:a="http://schemas.openxmlformats.org/drawingml/2006/main">
              <a:ext uri="{FF2B5EF4-FFF2-40B4-BE49-F238E27FC236}">
                <a16:creationId xmlns:a16="http://schemas.microsoft.com/office/drawing/2014/main" id="{7F908276-FC3D-4813-B044-3BA7B871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9047417"/>
            <a:ext cx="3381375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Revalidate at every update</a:t>
            </a:r>
          </a:p>
        </p:txBody>
      </p:sp>
      <p:sp>
        <p:nvSpPr>
          <p:cNvPr id="79" name="Protection requirements stay fixed; guardrail implementations ma">
            <a:extLst xmlns:a="http://schemas.openxmlformats.org/drawingml/2006/main">
              <a:ext uri="{FF2B5EF4-FFF2-40B4-BE49-F238E27FC236}">
                <a16:creationId xmlns:a16="http://schemas.microsoft.com/office/drawing/2014/main" id="{5B5C9802-94AA-4D3C-A0E5-281A0E3F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47492"/>
            <a:ext cx="13220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Protection requirements stay fixed; guardrail implementations may evolve.</a:t>
            </a:r>
          </a:p>
        </p:txBody>
      </p:sp>
    </p:spTree>
    <p:extLst>
      <p:ext uri="{BB962C8B-B14F-4D97-AF65-F5344CB8AC3E}">
        <p14:creationId xmlns:p14="http://schemas.microsoft.com/office/powerpoint/2010/main" val="14655315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III. Authorization Across Delegated Workflows">
            <a:extLst xmlns:a="http://schemas.openxmlformats.org/drawingml/2006/main">
              <a:ext uri="{FF2B5EF4-FFF2-40B4-BE49-F238E27FC236}">
                <a16:creationId xmlns:a16="http://schemas.microsoft.com/office/drawing/2014/main" id="{9C347065-A4F1-4AF3-8F38-8C0A7098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56020"/>
            <a:ext cx="13411200" cy="488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III. Authorization Across Delegated Workflows</a:t>
            </a:r>
          </a:p>
        </p:txBody>
      </p:sp>
      <p:sp>
        <p:nvSpPr>
          <p:cNvPr id="2" name="A private report can leak through a delegated email draft">
            <a:extLst xmlns:a="http://schemas.openxmlformats.org/drawingml/2006/main">
              <a:ext uri="{FF2B5EF4-FFF2-40B4-BE49-F238E27FC236}">
                <a16:creationId xmlns:a16="http://schemas.microsoft.com/office/drawing/2014/main" id="{1248B855-FCF0-426C-8380-38A12191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753809"/>
            <a:ext cx="134112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 private report can leak through a delegated email draft</a:t>
            </a:r>
          </a:p>
        </p:txBody>
      </p:sp>
      <p:sp>
        <p:nvSpPr>
          <p:cNvPr id="3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9E8BF76-71F0-4C68-B5AB-ED9633F1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" name="1  A concrete handoff">
            <a:extLst xmlns:a="http://schemas.openxmlformats.org/drawingml/2006/main">
              <a:ext uri="{FF2B5EF4-FFF2-40B4-BE49-F238E27FC236}">
                <a16:creationId xmlns:a16="http://schemas.microsoft.com/office/drawing/2014/main" id="{49D7B058-3BEF-4621-83F8-8B5A0A55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1  A concrete handoff</a:t>
            </a:r>
          </a:p>
        </p:txBody>
      </p:sp>
      <p:sp>
        <p:nvSpPr>
          <p:cNvPr id="5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EC45855F-93CB-44E8-B696-3C531BA7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6" name="2  Track workflow context">
            <a:extLst xmlns:a="http://schemas.openxmlformats.org/drawingml/2006/main">
              <a:ext uri="{FF2B5EF4-FFF2-40B4-BE49-F238E27FC236}">
                <a16:creationId xmlns:a16="http://schemas.microsoft.com/office/drawing/2014/main" id="{A83884FB-69E7-4E1A-AC31-675EF3B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2  Track workflow context</a:t>
            </a:r>
          </a:p>
        </p:txBody>
      </p:sp>
      <p:sp>
        <p:nvSpPr>
          <p:cNvPr id="7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5C98432E-4C1B-4C05-B970-D48EDB7E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381125"/>
            <a:ext cx="4000500" cy="757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8" name="3  Enforce and recover">
            <a:extLst xmlns:a="http://schemas.openxmlformats.org/drawingml/2006/main">
              <a:ext uri="{FF2B5EF4-FFF2-40B4-BE49-F238E27FC236}">
                <a16:creationId xmlns:a16="http://schemas.microsoft.com/office/drawing/2014/main" id="{87199EF1-0CE9-498E-8D4D-AFBA8452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02118"/>
            <a:ext cx="377190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0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6077"/>
                </a:solidFill>
                <a:latin typeface="Arial"/>
                <a:ea typeface="Arial"/>
                <a:cs typeface="Arial"/>
              </a:rPr>
              <a:t>3  Enforce and recover</a:t>
            </a:r>
          </a:p>
        </p:txBody>
      </p:sp>
      <p:sp>
        <p:nvSpPr>
          <p:cNvPr id="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9D859F74-4BEA-417D-AFD6-D962CF45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52675"/>
            <a:ext cx="3619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0" name="Approved task">
            <a:extLst xmlns:a="http://schemas.openxmlformats.org/drawingml/2006/main">
              <a:ext uri="{FF2B5EF4-FFF2-40B4-BE49-F238E27FC236}">
                <a16:creationId xmlns:a16="http://schemas.microsoft.com/office/drawing/2014/main" id="{374ADCF1-37C5-4EED-8664-D9284EC2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94788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Approved task</a:t>
            </a:r>
          </a:p>
        </p:txBody>
      </p:sp>
      <p:sp>
        <p:nvSpPr>
          <p:cNvPr id="11" name="Send a sanitized vendor update">
            <a:extLst xmlns:a="http://schemas.openxmlformats.org/drawingml/2006/main">
              <a:ext uri="{FF2B5EF4-FFF2-40B4-BE49-F238E27FC236}">
                <a16:creationId xmlns:a16="http://schemas.microsoft.com/office/drawing/2014/main" id="{E1705B1F-9569-4523-A5BB-7B2A0391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11983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Send a sanitized vendor update</a:t>
            </a:r>
          </a:p>
        </p:txBody>
      </p:sp>
      <p:sp>
        <p:nvSpPr>
          <p:cNvPr id="12" name="Keep customer IDs internal">
            <a:extLst xmlns:a="http://schemas.openxmlformats.org/drawingml/2006/main">
              <a:ext uri="{FF2B5EF4-FFF2-40B4-BE49-F238E27FC236}">
                <a16:creationId xmlns:a16="http://schemas.microsoft.com/office/drawing/2014/main" id="{AF56FF81-B7BA-4C7D-9869-9446FCD6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90875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Keep customer IDs internal</a:t>
            </a:r>
          </a:p>
        </p:txBody>
      </p:sp>
      <p:sp>
        <p:nvSpPr>
          <p:cNvPr id="13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055C8329-A850-401E-8572-8B2818C2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09975"/>
            <a:ext cx="9525" cy="400050"/>
          </a:xfrm>
          <a:custGeom xmlns:a="http://schemas.openxmlformats.org/drawingml/2006/main">
            <a:pathLst>
              <a:path w="9525" h="400050">
                <a:moveTo>
                  <a:pt x="0" y="0"/>
                </a:moveTo>
                <a:lnTo>
                  <a:pt x="0" y="400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14" name="Arrowhead">
            <a:extLst xmlns:a="http://schemas.openxmlformats.org/drawingml/2006/main">
              <a:ext uri="{FF2B5EF4-FFF2-40B4-BE49-F238E27FC236}">
                <a16:creationId xmlns:a16="http://schemas.microsoft.com/office/drawing/2014/main" id="{83B124C1-B802-4EE2-A99E-D26DC71B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957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15" name="delegated scope">
            <a:extLst xmlns:a="http://schemas.openxmlformats.org/drawingml/2006/main">
              <a:ext uri="{FF2B5EF4-FFF2-40B4-BE49-F238E27FC236}">
                <a16:creationId xmlns:a16="http://schemas.microsoft.com/office/drawing/2014/main" id="{420D4D57-2C10-4B02-8182-E0F99DC9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683222"/>
            <a:ext cx="16573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delegated scope</a:t>
            </a:r>
          </a:p>
        </p:txBody>
      </p:sp>
      <p:sp>
        <p:nvSpPr>
          <p:cNvPr id="1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63031576-BBC3-41EE-868C-D2DB0AAF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10025"/>
            <a:ext cx="3619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17" name="Agent A: incident analyst">
            <a:extLst xmlns:a="http://schemas.openxmlformats.org/drawingml/2006/main">
              <a:ext uri="{FF2B5EF4-FFF2-40B4-BE49-F238E27FC236}">
                <a16:creationId xmlns:a16="http://schemas.microsoft.com/office/drawing/2014/main" id="{0F16C672-CC28-45A4-B0D7-ADFB657C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52138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Agent A: incident analyst</a:t>
            </a:r>
          </a:p>
        </p:txBody>
      </p:sp>
      <p:sp>
        <p:nvSpPr>
          <p:cNvPr id="18" name="Reads private incident report">
            <a:extLst xmlns:a="http://schemas.openxmlformats.org/drawingml/2006/main">
              <a:ext uri="{FF2B5EF4-FFF2-40B4-BE49-F238E27FC236}">
                <a16:creationId xmlns:a16="http://schemas.microsoft.com/office/drawing/2014/main" id="{EEA5AA87-1510-4312-A82B-367424AF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69333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Reads private incident report</a:t>
            </a:r>
          </a:p>
        </p:txBody>
      </p:sp>
      <p:sp>
        <p:nvSpPr>
          <p:cNvPr id="19" name="Drafts the vendor update">
            <a:extLst xmlns:a="http://schemas.openxmlformats.org/drawingml/2006/main">
              <a:ext uri="{FF2B5EF4-FFF2-40B4-BE49-F238E27FC236}">
                <a16:creationId xmlns:a16="http://schemas.microsoft.com/office/drawing/2014/main" id="{96F6D0CF-129E-4663-952A-AB8FF8B1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Drafts the vendor update</a:t>
            </a:r>
          </a:p>
        </p:txBody>
      </p:sp>
      <p:sp>
        <p:nvSpPr>
          <p:cNvPr id="20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2106373D-42FA-4217-BD3E-8BE9C239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67325"/>
            <a:ext cx="9525" cy="361950"/>
          </a:xfrm>
          <a:custGeom xmlns:a="http://schemas.openxmlformats.org/drawingml/2006/main">
            <a:pathLst>
              <a:path w="952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21" name="Arrowhead">
            <a:extLst xmlns:a="http://schemas.openxmlformats.org/drawingml/2006/main">
              <a:ext uri="{FF2B5EF4-FFF2-40B4-BE49-F238E27FC236}">
                <a16:creationId xmlns:a16="http://schemas.microsoft.com/office/drawing/2014/main" id="{CBFD6D7E-9FA8-4320-BBF7-0A5AA136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22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C65A27B0-6887-4FA5-AC16-5FF435F1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29275"/>
            <a:ext cx="3619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667985"/>
            </a:solidFill>
            <a:prstDash val="dash"/>
          </a:ln>
        </p:spPr>
      </p:sp>
      <p:sp>
        <p:nvSpPr>
          <p:cNvPr id="23" name="Handoff package">
            <a:extLst xmlns:a="http://schemas.openxmlformats.org/drawingml/2006/main">
              <a:ext uri="{FF2B5EF4-FFF2-40B4-BE49-F238E27FC236}">
                <a16:creationId xmlns:a16="http://schemas.microsoft.com/office/drawing/2014/main" id="{95ECDB08-D620-4972-9BCA-1BC0E5A4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9001"/>
            <a:ext cx="33528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Handoff package</a:t>
            </a:r>
          </a:p>
        </p:txBody>
      </p:sp>
      <p:sp>
        <p:nvSpPr>
          <p:cNvPr id="24" name="Task: send the vendor update">
            <a:extLst xmlns:a="http://schemas.openxmlformats.org/drawingml/2006/main">
              <a:ext uri="{FF2B5EF4-FFF2-40B4-BE49-F238E27FC236}">
                <a16:creationId xmlns:a16="http://schemas.microsoft.com/office/drawing/2014/main" id="{C5EF66FD-1950-45D4-B86F-B5659069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7341"/>
            <a:ext cx="3352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Task: send the vendor update</a:t>
            </a:r>
          </a:p>
        </p:txBody>
      </p:sp>
      <p:sp>
        <p:nvSpPr>
          <p:cNvPr id="25" name="Payload: draft with customer IDs">
            <a:extLst xmlns:a="http://schemas.openxmlformats.org/drawingml/2006/main">
              <a:ext uri="{FF2B5EF4-FFF2-40B4-BE49-F238E27FC236}">
                <a16:creationId xmlns:a16="http://schemas.microsoft.com/office/drawing/2014/main" id="{A423AC2B-A1FB-41AC-8063-B54B99DE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4613"/>
            <a:ext cx="33528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Payload: draft with customer IDs</a:t>
            </a:r>
          </a:p>
        </p:txBody>
      </p:sp>
      <p:sp>
        <p:nvSpPr>
          <p:cNvPr id="26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33B9CB14-E166-4423-873B-FEED9550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829425"/>
            <a:ext cx="9525" cy="371475"/>
          </a:xfrm>
          <a:custGeom xmlns:a="http://schemas.openxmlformats.org/drawingml/2006/main">
            <a:pathLst>
              <a:path w="9525" h="371475">
                <a:moveTo>
                  <a:pt x="0" y="0"/>
                </a:moveTo>
                <a:lnTo>
                  <a:pt x="0" y="3714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27" name="Arrowhead">
            <a:extLst xmlns:a="http://schemas.openxmlformats.org/drawingml/2006/main">
              <a:ext uri="{FF2B5EF4-FFF2-40B4-BE49-F238E27FC236}">
                <a16:creationId xmlns:a16="http://schemas.microsoft.com/office/drawing/2014/main" id="{2EB5F4D5-173D-458C-88A8-41FA13EF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70866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28" name="task + data">
            <a:extLst xmlns:a="http://schemas.openxmlformats.org/drawingml/2006/main">
              <a:ext uri="{FF2B5EF4-FFF2-40B4-BE49-F238E27FC236}">
                <a16:creationId xmlns:a16="http://schemas.microsoft.com/office/drawing/2014/main" id="{65CE9A5C-642C-4BA2-BADF-EFA2F6F2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888385"/>
            <a:ext cx="1647825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task + data</a:t>
            </a:r>
          </a:p>
        </p:txBody>
      </p:sp>
      <p:sp>
        <p:nvSpPr>
          <p:cNvPr id="2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32D1FFD4-9653-4C3F-9FFD-441F1B76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00900"/>
            <a:ext cx="3619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30" name="Agent B: vendor liaison">
            <a:extLst xmlns:a="http://schemas.openxmlformats.org/drawingml/2006/main">
              <a:ext uri="{FF2B5EF4-FFF2-40B4-BE49-F238E27FC236}">
                <a16:creationId xmlns:a16="http://schemas.microsoft.com/office/drawing/2014/main" id="{0A8710CA-9247-469E-8B21-19C37447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34301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Agent B: vendor liaison</a:t>
            </a:r>
          </a:p>
        </p:txBody>
      </p:sp>
      <p:sp>
        <p:nvSpPr>
          <p:cNvPr id="31" name="Can email the external vendor">
            <a:extLst xmlns:a="http://schemas.openxmlformats.org/drawingml/2006/main">
              <a:ext uri="{FF2B5EF4-FFF2-40B4-BE49-F238E27FC236}">
                <a16:creationId xmlns:a16="http://schemas.microsoft.com/office/drawing/2014/main" id="{05EA073F-F3D9-40D4-AE78-E7338FD8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14679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Can email the external vendor</a:t>
            </a:r>
          </a:p>
        </p:txBody>
      </p:sp>
      <p:sp>
        <p:nvSpPr>
          <p:cNvPr id="32" name="Uses A’s draft as message content">
            <a:extLst xmlns:a="http://schemas.openxmlformats.org/drawingml/2006/main">
              <a:ext uri="{FF2B5EF4-FFF2-40B4-BE49-F238E27FC236}">
                <a16:creationId xmlns:a16="http://schemas.microsoft.com/office/drawing/2014/main" id="{3895958D-2780-4EC0-A1A1-373FC0D2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81950"/>
            <a:ext cx="3314700" cy="267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Uses A’s draft as message content</a:t>
            </a:r>
          </a:p>
        </p:txBody>
      </p:sp>
      <p:sp>
        <p:nvSpPr>
          <p:cNvPr id="33" name="Read access + email access">
            <a:extLst xmlns:a="http://schemas.openxmlformats.org/drawingml/2006/main">
              <a:ext uri="{FF2B5EF4-FFF2-40B4-BE49-F238E27FC236}">
                <a16:creationId xmlns:a16="http://schemas.microsoft.com/office/drawing/2014/main" id="{24917D0F-C434-4279-9962-0F236F1D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8404670"/>
            <a:ext cx="35623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Read access + email access</a:t>
            </a:r>
          </a:p>
        </p:txBody>
      </p:sp>
      <p:sp>
        <p:nvSpPr>
          <p:cNvPr id="34" name="do not authorize disclosure.">
            <a:extLst xmlns:a="http://schemas.openxmlformats.org/drawingml/2006/main">
              <a:ext uri="{FF2B5EF4-FFF2-40B4-BE49-F238E27FC236}">
                <a16:creationId xmlns:a16="http://schemas.microsoft.com/office/drawing/2014/main" id="{2BEDF761-60EA-455B-B9D7-21A2E822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8648700"/>
            <a:ext cx="35623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do not authorize disclosure.</a:t>
            </a:r>
          </a:p>
        </p:txBody>
      </p:sp>
      <p:sp>
        <p:nvSpPr>
          <p:cNvPr id="35" name="authority +">
            <a:extLst xmlns:a="http://schemas.openxmlformats.org/drawingml/2006/main">
              <a:ext uri="{FF2B5EF4-FFF2-40B4-BE49-F238E27FC236}">
                <a16:creationId xmlns:a16="http://schemas.microsoft.com/office/drawing/2014/main" id="{EE72A1DD-6F4C-43A0-8A07-7338406D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339019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authority +</a:t>
            </a:r>
          </a:p>
        </p:txBody>
      </p:sp>
      <p:sp>
        <p:nvSpPr>
          <p:cNvPr id="36" name="data lineage">
            <a:extLst xmlns:a="http://schemas.openxmlformats.org/drawingml/2006/main">
              <a:ext uri="{FF2B5EF4-FFF2-40B4-BE49-F238E27FC236}">
                <a16:creationId xmlns:a16="http://schemas.microsoft.com/office/drawing/2014/main" id="{2B31FC09-EFA0-4251-9B5E-BBADD2E6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548188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data lineage</a:t>
            </a:r>
          </a:p>
        </p:txBody>
      </p:sp>
      <p:sp>
        <p:nvSpPr>
          <p:cNvPr id="37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CE055DA3-0F84-4AD3-86E8-9C481F1A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48250"/>
            <a:ext cx="571500" cy="9525"/>
          </a:xfrm>
          <a:custGeom xmlns:a="http://schemas.openxmlformats.org/drawingml/2006/main"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38" name="Arrowhead">
            <a:extLst xmlns:a="http://schemas.openxmlformats.org/drawingml/2006/main">
              <a:ext uri="{FF2B5EF4-FFF2-40B4-BE49-F238E27FC236}">
                <a16:creationId xmlns:a16="http://schemas.microsoft.com/office/drawing/2014/main" id="{000099E6-512A-462D-96BF-03D7319A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39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89F01128-EFEA-4D42-B6E8-50E946CE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36195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0" name="ScopeOK">
            <a:extLst xmlns:a="http://schemas.openxmlformats.org/drawingml/2006/main">
              <a:ext uri="{FF2B5EF4-FFF2-40B4-BE49-F238E27FC236}">
                <a16:creationId xmlns:a16="http://schemas.microsoft.com/office/drawing/2014/main" id="{EB3CE50B-EBAA-414F-8E08-7B327E6B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ScopeOK</a:t>
            </a:r>
          </a:p>
        </p:txBody>
      </p:sp>
      <p:sp>
        <p:nvSpPr>
          <p:cNvPr id="41" name="Within delegated authority">
            <a:extLst xmlns:a="http://schemas.openxmlformats.org/drawingml/2006/main">
              <a:ext uri="{FF2B5EF4-FFF2-40B4-BE49-F238E27FC236}">
                <a16:creationId xmlns:a16="http://schemas.microsoft.com/office/drawing/2014/main" id="{9662D7E2-4327-4AA9-A591-F275043A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06509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Within delegated authority</a:t>
            </a:r>
          </a:p>
        </p:txBody>
      </p:sp>
      <p:sp>
        <p:nvSpPr>
          <p:cNvPr id="42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7D0BD40C-63A2-4553-9104-64A7F3F5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52925"/>
            <a:ext cx="36195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3" name="FlowOK">
            <a:extLst xmlns:a="http://schemas.openxmlformats.org/drawingml/2006/main">
              <a:ext uri="{FF2B5EF4-FFF2-40B4-BE49-F238E27FC236}">
                <a16:creationId xmlns:a16="http://schemas.microsoft.com/office/drawing/2014/main" id="{415A01E6-1B95-4CF1-87E3-59285384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95038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FlowOK</a:t>
            </a:r>
          </a:p>
        </p:txBody>
      </p:sp>
      <p:sp>
        <p:nvSpPr>
          <p:cNvPr id="44" name="Preserves inherited">
            <a:extLst xmlns:a="http://schemas.openxmlformats.org/drawingml/2006/main">
              <a:ext uri="{FF2B5EF4-FFF2-40B4-BE49-F238E27FC236}">
                <a16:creationId xmlns:a16="http://schemas.microsoft.com/office/drawing/2014/main" id="{8C1E6CC3-2663-4E48-8D18-024267AC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089017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Preserves inherited</a:t>
            </a:r>
          </a:p>
        </p:txBody>
      </p:sp>
      <p:sp>
        <p:nvSpPr>
          <p:cNvPr id="45" name="data restrictions">
            <a:extLst xmlns:a="http://schemas.openxmlformats.org/drawingml/2006/main">
              <a:ext uri="{FF2B5EF4-FFF2-40B4-BE49-F238E27FC236}">
                <a16:creationId xmlns:a16="http://schemas.microsoft.com/office/drawing/2014/main" id="{32F4840A-004B-4211-8C8E-CA1757F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391150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data restrictions</a:t>
            </a:r>
          </a:p>
        </p:txBody>
      </p:sp>
      <p:sp>
        <p:nvSpPr>
          <p:cNvPr id="4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0B5E0DC0-B047-4797-AAD2-84DED442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286500"/>
            <a:ext cx="36195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47" name="FreshOK">
            <a:extLst xmlns:a="http://schemas.openxmlformats.org/drawingml/2006/main">
              <a:ext uri="{FF2B5EF4-FFF2-40B4-BE49-F238E27FC236}">
                <a16:creationId xmlns:a16="http://schemas.microsoft.com/office/drawing/2014/main" id="{AE5C871C-D8FA-4CDC-80F8-87235949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642861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FreshOK</a:t>
            </a:r>
          </a:p>
        </p:txBody>
      </p:sp>
      <p:sp>
        <p:nvSpPr>
          <p:cNvPr id="48" name="Approval dependencies">
            <a:extLst xmlns:a="http://schemas.openxmlformats.org/drawingml/2006/main">
              <a:ext uri="{FF2B5EF4-FFF2-40B4-BE49-F238E27FC236}">
                <a16:creationId xmlns:a16="http://schemas.microsoft.com/office/drawing/2014/main" id="{00E0568C-2DD8-42CD-870E-C3495363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7022592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Approval dependencies</a:t>
            </a:r>
          </a:p>
        </p:txBody>
      </p:sp>
      <p:sp>
        <p:nvSpPr>
          <p:cNvPr id="49" name="remain valid">
            <a:extLst xmlns:a="http://schemas.openxmlformats.org/drawingml/2006/main">
              <a:ext uri="{FF2B5EF4-FFF2-40B4-BE49-F238E27FC236}">
                <a16:creationId xmlns:a16="http://schemas.microsoft.com/office/drawing/2014/main" id="{34BCED55-7F80-4941-B1BA-0F14B448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7324725"/>
            <a:ext cx="3314700" cy="302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remain valid</a:t>
            </a:r>
          </a:p>
        </p:txBody>
      </p:sp>
      <p:sp>
        <p:nvSpPr>
          <p:cNvPr id="50" name="Revocation or changed context">
            <a:extLst xmlns:a="http://schemas.openxmlformats.org/drawingml/2006/main">
              <a:ext uri="{FF2B5EF4-FFF2-40B4-BE49-F238E27FC236}">
                <a16:creationId xmlns:a16="http://schemas.microsoft.com/office/drawing/2014/main" id="{731E6939-43B6-42E7-9168-4316D687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8148638"/>
            <a:ext cx="340995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Revocation or changed context</a:t>
            </a:r>
          </a:p>
        </p:txBody>
      </p:sp>
      <p:sp>
        <p:nvSpPr>
          <p:cNvPr id="51" name="triggers revalidation.">
            <a:extLst xmlns:a="http://schemas.openxmlformats.org/drawingml/2006/main">
              <a:ext uri="{FF2B5EF4-FFF2-40B4-BE49-F238E27FC236}">
                <a16:creationId xmlns:a16="http://schemas.microsoft.com/office/drawing/2014/main" id="{26517687-6AD3-4521-BE03-C0FA46C9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8439150"/>
            <a:ext cx="340995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triggers revalidation.</a:t>
            </a:r>
          </a:p>
        </p:txBody>
      </p:sp>
      <p:sp>
        <p:nvSpPr>
          <p:cNvPr id="52" name="current">
            <a:extLst xmlns:a="http://schemas.openxmlformats.org/drawingml/2006/main">
              <a:ext uri="{FF2B5EF4-FFF2-40B4-BE49-F238E27FC236}">
                <a16:creationId xmlns:a16="http://schemas.microsoft.com/office/drawing/2014/main" id="{A5BC6837-2273-4B9D-9522-FBD36B2F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339019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53" name="context c">
            <a:extLst xmlns:a="http://schemas.openxmlformats.org/drawingml/2006/main">
              <a:ext uri="{FF2B5EF4-FFF2-40B4-BE49-F238E27FC236}">
                <a16:creationId xmlns:a16="http://schemas.microsoft.com/office/drawing/2014/main" id="{BE954CEB-9B47-40EB-AC7B-26CDCA5E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548188"/>
            <a:ext cx="857250" cy="209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context c</a:t>
            </a:r>
          </a:p>
        </p:txBody>
      </p:sp>
      <p:sp>
        <p:nvSpPr>
          <p:cNvPr id="54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D3090CF3-3BA9-44DC-AAB7-6D2A9E77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048250"/>
            <a:ext cx="571500" cy="9525"/>
          </a:xfrm>
          <a:custGeom xmlns:a="http://schemas.openxmlformats.org/drawingml/2006/main"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55" name="Arrowhead">
            <a:extLst xmlns:a="http://schemas.openxmlformats.org/drawingml/2006/main">
              <a:ext uri="{FF2B5EF4-FFF2-40B4-BE49-F238E27FC236}">
                <a16:creationId xmlns:a16="http://schemas.microsoft.com/office/drawing/2014/main" id="{E7D064CB-15C8-43CC-89E3-59CAF8FA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00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56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014B65FE-7989-45F8-823B-2D904B15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19350"/>
            <a:ext cx="36195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57" name="Workflow authorization rule">
            <a:extLst xmlns:a="http://schemas.openxmlformats.org/drawingml/2006/main">
              <a:ext uri="{FF2B5EF4-FFF2-40B4-BE49-F238E27FC236}">
                <a16:creationId xmlns:a16="http://schemas.microsoft.com/office/drawing/2014/main" id="{11BF4345-479B-489E-98CC-B21FD767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61463"/>
            <a:ext cx="3390900" cy="3253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Workflow authorization rule</a:t>
            </a:r>
          </a:p>
        </p:txBody>
      </p:sp>
      <p:sp>
        <p:nvSpPr>
          <p:cNvPr id="58" name="Allow(a, c) :=">
            <a:extLst xmlns:a="http://schemas.openxmlformats.org/drawingml/2006/main">
              <a:ext uri="{FF2B5EF4-FFF2-40B4-BE49-F238E27FC236}">
                <a16:creationId xmlns:a16="http://schemas.microsoft.com/office/drawing/2014/main" id="{CEDD1FEE-522D-4CCF-AAB9-F4326D2D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460433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Allow(a, c) :=</a:t>
            </a:r>
          </a:p>
        </p:txBody>
      </p:sp>
      <p:sp>
        <p:nvSpPr>
          <p:cNvPr id="59" name="ScopeOK ∧ FlowOK ∧ FreshOK">
            <a:extLst xmlns:a="http://schemas.openxmlformats.org/drawingml/2006/main">
              <a:ext uri="{FF2B5EF4-FFF2-40B4-BE49-F238E27FC236}">
                <a16:creationId xmlns:a16="http://schemas.microsoft.com/office/drawing/2014/main" id="{A1CEE837-F175-41CA-B1EB-AB46D862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39325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ScopeOK ∧ FlowOK ∧ FreshOK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9E37B0-56AB-459D-A565-16C4EDE1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018217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1" name="a: next delegated action">
            <a:extLst xmlns:a="http://schemas.openxmlformats.org/drawingml/2006/main">
              <a:ext uri="{FF2B5EF4-FFF2-40B4-BE49-F238E27FC236}">
                <a16:creationId xmlns:a16="http://schemas.microsoft.com/office/drawing/2014/main" id="{D71FEC01-FB4A-48F7-ABE3-9DF999D3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297109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a: next delegated action</a:t>
            </a:r>
          </a:p>
        </p:txBody>
      </p:sp>
      <p:sp>
        <p:nvSpPr>
          <p:cNvPr id="62" name="c: current workflow context">
            <a:extLst xmlns:a="http://schemas.openxmlformats.org/drawingml/2006/main">
              <a:ext uri="{FF2B5EF4-FFF2-40B4-BE49-F238E27FC236}">
                <a16:creationId xmlns:a16="http://schemas.microsoft.com/office/drawing/2014/main" id="{E7A86103-7482-465F-9E84-C6DF10B0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576001"/>
            <a:ext cx="3314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c: current workflow context</a:t>
            </a:r>
          </a:p>
        </p:txBody>
      </p:sp>
      <p:sp>
        <p:nvSpPr>
          <p:cNvPr id="63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746801F3-BD28-458B-A187-C885AA36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476875"/>
            <a:ext cx="9525" cy="304800"/>
          </a:xfrm>
          <a:custGeom xmlns:a="http://schemas.openxmlformats.org/drawingml/2006/main">
            <a:pathLst>
              <a:path w="952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4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9A5D05C7-95BD-4B11-AF85-189615E0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5781675"/>
            <a:ext cx="904875" cy="609600"/>
          </a:xfrm>
          <a:custGeom xmlns:a="http://schemas.openxmlformats.org/drawingml/2006/main">
            <a:pathLst>
              <a:path w="904875" h="609600">
                <a:moveTo>
                  <a:pt x="904875" y="0"/>
                </a:moveTo>
                <a:lnTo>
                  <a:pt x="0" y="0"/>
                </a:lnTo>
                <a:lnTo>
                  <a:pt x="0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5" name="Arrowhead">
            <a:extLst xmlns:a="http://schemas.openxmlformats.org/drawingml/2006/main">
              <a:ext uri="{FF2B5EF4-FFF2-40B4-BE49-F238E27FC236}">
                <a16:creationId xmlns:a16="http://schemas.microsoft.com/office/drawing/2014/main" id="{D8498C69-B0C3-4929-B1AB-2A087DAE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769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6" name="Editable flow arrow">
            <a:extLst xmlns:a="http://schemas.openxmlformats.org/drawingml/2006/main">
              <a:ext uri="{FF2B5EF4-FFF2-40B4-BE49-F238E27FC236}">
                <a16:creationId xmlns:a16="http://schemas.microsoft.com/office/drawing/2014/main" id="{FCC64EDF-9C4F-4E72-8384-27469FF3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781675"/>
            <a:ext cx="904875" cy="609600"/>
          </a:xfrm>
          <a:custGeom xmlns:a="http://schemas.openxmlformats.org/drawingml/2006/main">
            <a:pathLst>
              <a:path w="904875" h="609600">
                <a:moveTo>
                  <a:pt x="0" y="0"/>
                </a:moveTo>
                <a:lnTo>
                  <a:pt x="904875" y="0"/>
                </a:lnTo>
                <a:lnTo>
                  <a:pt x="904875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03442"/>
            </a:solidFill>
            <a:prstDash val="solid"/>
          </a:ln>
        </p:spPr>
      </p:sp>
      <p:sp>
        <p:nvSpPr>
          <p:cNvPr id="67" name="Arrowhead">
            <a:extLst xmlns:a="http://schemas.openxmlformats.org/drawingml/2006/main">
              <a:ext uri="{FF2B5EF4-FFF2-40B4-BE49-F238E27FC236}">
                <a16:creationId xmlns:a16="http://schemas.microsoft.com/office/drawing/2014/main" id="{0C7C15AC-D8C8-499B-9425-EC1AFA11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2769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203442"/>
          </a:solidFill>
          <a:ln xmlns:a="http://schemas.openxmlformats.org/drawingml/2006/main" w="0">
            <a:noFill/>
          </a:ln>
        </p:spPr>
      </p:sp>
      <p:sp>
        <p:nvSpPr>
          <p:cNvPr id="68" name="all pass">
            <a:extLst xmlns:a="http://schemas.openxmlformats.org/drawingml/2006/main">
              <a:ext uri="{FF2B5EF4-FFF2-40B4-BE49-F238E27FC236}">
                <a16:creationId xmlns:a16="http://schemas.microsoft.com/office/drawing/2014/main" id="{D1DEC9E7-A4C6-4C4C-B25E-452FFC4C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97735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all pass</a:t>
            </a:r>
          </a:p>
        </p:txBody>
      </p:sp>
      <p:sp>
        <p:nvSpPr>
          <p:cNvPr id="69" name="fail / unknown">
            <a:extLst xmlns:a="http://schemas.openxmlformats.org/drawingml/2006/main">
              <a:ext uri="{FF2B5EF4-FFF2-40B4-BE49-F238E27FC236}">
                <a16:creationId xmlns:a16="http://schemas.microsoft.com/office/drawing/2014/main" id="{763B9B3E-5166-4902-9CCF-83D61EA8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497735"/>
            <a:ext cx="1809750" cy="244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fail / unknown</a:t>
            </a:r>
          </a:p>
        </p:txBody>
      </p:sp>
      <p:sp>
        <p:nvSpPr>
          <p:cNvPr id="70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95E6E5F5-6437-49C2-931A-692CF6CF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6391275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71" name="Diagram boundary">
            <a:extLst xmlns:a="http://schemas.openxmlformats.org/drawingml/2006/main">
              <a:ext uri="{FF2B5EF4-FFF2-40B4-BE49-F238E27FC236}">
                <a16:creationId xmlns:a16="http://schemas.microsoft.com/office/drawing/2014/main" id="{DA0E1D18-62E7-4FB2-8B21-766BD5EB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6391275"/>
            <a:ext cx="17240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5240">
            <a:solidFill>
              <a:srgbClr val="667985"/>
            </a:solidFill>
            <a:prstDash val="solid"/>
          </a:ln>
        </p:spPr>
      </p:sp>
      <p:sp>
        <p:nvSpPr>
          <p:cNvPr id="72" name="Execute">
            <a:extLst xmlns:a="http://schemas.openxmlformats.org/drawingml/2006/main">
              <a:ext uri="{FF2B5EF4-FFF2-40B4-BE49-F238E27FC236}">
                <a16:creationId xmlns:a16="http://schemas.microsoft.com/office/drawing/2014/main" id="{46B893B7-0386-4262-8FCE-D966C8B7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550819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73" name="Suspend /">
            <a:extLst xmlns:a="http://schemas.openxmlformats.org/drawingml/2006/main">
              <a:ext uri="{FF2B5EF4-FFF2-40B4-BE49-F238E27FC236}">
                <a16:creationId xmlns:a16="http://schemas.microsoft.com/office/drawing/2014/main" id="{6AAA66BD-6504-48B9-BE02-177AA3C3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44325" y="6405563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Suspend /</a:t>
            </a:r>
          </a:p>
        </p:txBody>
      </p:sp>
      <p:sp>
        <p:nvSpPr>
          <p:cNvPr id="74" name="replan">
            <a:extLst xmlns:a="http://schemas.openxmlformats.org/drawingml/2006/main">
              <a:ext uri="{FF2B5EF4-FFF2-40B4-BE49-F238E27FC236}">
                <a16:creationId xmlns:a16="http://schemas.microsoft.com/office/drawing/2014/main" id="{360184EA-238C-43B8-8D1F-ED21E593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44325" y="6696075"/>
            <a:ext cx="160972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442"/>
                </a:solidFill>
                <a:latin typeface="Arial"/>
                <a:ea typeface="Arial"/>
                <a:cs typeface="Arial"/>
              </a:rPr>
              <a:t>replan</a:t>
            </a:r>
          </a:p>
        </p:txBody>
      </p:sp>
      <p:sp>
        <p:nvSpPr>
          <p:cNvPr id="75" name="Revalidate affected work;">
            <a:extLst xmlns:a="http://schemas.openxmlformats.org/drawingml/2006/main">
              <a:ext uri="{FF2B5EF4-FFF2-40B4-BE49-F238E27FC236}">
                <a16:creationId xmlns:a16="http://schemas.microsoft.com/office/drawing/2014/main" id="{EE9C1A40-48C8-4A3E-BF7B-1FCB9490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548563"/>
            <a:ext cx="33909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Revalidate affected work;</a:t>
            </a:r>
          </a:p>
        </p:txBody>
      </p:sp>
      <p:sp>
        <p:nvSpPr>
          <p:cNvPr id="76" name="preserve valid progress.">
            <a:extLst xmlns:a="http://schemas.openxmlformats.org/drawingml/2006/main">
              <a:ext uri="{FF2B5EF4-FFF2-40B4-BE49-F238E27FC236}">
                <a16:creationId xmlns:a16="http://schemas.microsoft.com/office/drawing/2014/main" id="{09740F38-4E16-4E3B-94B4-C9367319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39075"/>
            <a:ext cx="3390900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preserve valid progress.</a:t>
            </a:r>
          </a:p>
        </p:txBody>
      </p:sp>
      <p:sp>
        <p:nvSpPr>
          <p:cNvPr id="77" name="Guarantees depend on captured effects and trusted enforcement. R">
            <a:extLst xmlns:a="http://schemas.openxmlformats.org/drawingml/2006/main">
              <a:ext uri="{FF2B5EF4-FFF2-40B4-BE49-F238E27FC236}">
                <a16:creationId xmlns:a16="http://schemas.microsoft.com/office/drawing/2014/main" id="{883025B8-1E04-4864-94D7-214493D2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47492"/>
            <a:ext cx="13220700" cy="278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034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3442"/>
                </a:solidFill>
                <a:latin typeface="Arial"/>
                <a:ea typeface="Arial"/>
                <a:cs typeface="Arial"/>
              </a:rPr>
              <a:t>Guarantees depend on captured effects and trusted enforcement. Recovery cannot undo completed disclosures.</a:t>
            </a:r>
          </a:p>
        </p:txBody>
      </p:sp>
    </p:spTree>
    <p:extLst>
      <p:ext uri="{BB962C8B-B14F-4D97-AF65-F5344CB8AC3E}">
        <p14:creationId xmlns:p14="http://schemas.microsoft.com/office/powerpoint/2010/main" val="961603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2026-10-07T11:31:59.9680000Z</dcterms:created>
  <dcterms:modified xsi:type="dcterms:W3CDTF">2026-10-07T11:31:59.9680000Z</dcterms:modified>
</coreProperties>
</file>