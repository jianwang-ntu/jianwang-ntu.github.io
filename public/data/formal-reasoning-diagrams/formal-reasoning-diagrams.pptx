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75fceb784a44be" /><Relationship Type="http://schemas.openxmlformats.org/officeDocument/2006/relationships/extended-properties" Target="/docProps/app.xml" Id="R43f14fd8638949dd" /><Relationship Type="http://schemas.openxmlformats.org/officeDocument/2006/relationships/officeDocument" Target="/ppt/presentation.xml" Id="R48f4d5342a9d42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181e1d01b34ae0"/>
  </p:sldMasterIdLst>
  <p:notesMasterIdLst>
    <p:notesMasterId xmlns:r="http://schemas.openxmlformats.org/officeDocument/2006/relationships" r:id="R6182d03635624d96"/>
  </p:notesMasterIdLst>
  <p:sldIdLst>
    <p:sldId xmlns:r="http://schemas.openxmlformats.org/officeDocument/2006/relationships" id="256" r:id="Re860e747ea824bd5"/>
    <p:sldId xmlns:r="http://schemas.openxmlformats.org/officeDocument/2006/relationships" id="257" r:id="Rb6260228954c4304"/>
    <p:sldId xmlns:r="http://schemas.openxmlformats.org/officeDocument/2006/relationships" id="258" r:id="R38322144c8b543fe"/>
    <p:sldId xmlns:r="http://schemas.openxmlformats.org/officeDocument/2006/relationships" id="259" r:id="R121f098924fa48a6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15d3b203b04047" /><Relationship Type="http://schemas.openxmlformats.org/officeDocument/2006/relationships/slideMaster" Target="/ppt/slideMasters/slideMaster1.xml" Id="Ra7181e1d01b34ae0" /><Relationship Type="http://schemas.openxmlformats.org/officeDocument/2006/relationships/notesMaster" Target="/ppt/notesMasters/notesMaster1.xml" Id="R6182d03635624d96" /><Relationship Type="http://schemas.openxmlformats.org/officeDocument/2006/relationships/presProps" Target="/ppt/presProps.xml" Id="R51c37f0a978f482d" /><Relationship Type="http://schemas.openxmlformats.org/officeDocument/2006/relationships/tableStyles" Target="/ppt/tableStyles.xml" Id="Ra66b7d49c06d4901" /><Relationship Type="http://schemas.openxmlformats.org/officeDocument/2006/relationships/slide" Target="/ppt/slides/slide1.xml" Id="Re860e747ea824bd5" /><Relationship Type="http://schemas.openxmlformats.org/officeDocument/2006/relationships/slide" Target="/ppt/slides/slide2.xml" Id="Rb6260228954c4304" /><Relationship Type="http://schemas.openxmlformats.org/officeDocument/2006/relationships/slide" Target="/ppt/slides/slide3.xml" Id="R38322144c8b543fe" /><Relationship Type="http://schemas.openxmlformats.org/officeDocument/2006/relationships/slide" Target="/ppt/slides/slide4.xml" Id="R121f098924fa48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b80add364644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75b0bbfac74260" /><Relationship Type="http://schemas.openxmlformats.org/officeDocument/2006/relationships/notesMaster" Target="/ppt/notesMasters/notesMaster1.xml" Id="Rfa51a542f7094d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8e0facd755406e" /><Relationship Type="http://schemas.openxmlformats.org/officeDocument/2006/relationships/notesMaster" Target="/ppt/notesMasters/notesMaster1.xml" Id="Rceac0f72206a40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21159226a44aad" /><Relationship Type="http://schemas.openxmlformats.org/officeDocument/2006/relationships/notesMaster" Target="/ppt/notesMasters/notesMaster1.xml" Id="Rc8d471c87e7342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7d22075bcd4caf" /><Relationship Type="http://schemas.openxmlformats.org/officeDocument/2006/relationships/notesMaster" Target="/ppt/notesMasters/notesMaster1.xml" Id="Ra4a07d47966e4c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f55a3e973045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c571e41a5421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291a2d1c44c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d6586a3d2342b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2144f7b68a4f8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0566a9453b47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7A73E2-31BD-409F-B5CC-B2554D64D4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92580" y="3386032"/>
            <a:ext cx="12740640" cy="1294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76D448B-C104-40FB-83A1-59F823BAA5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388870" y="4929664"/>
            <a:ext cx="11148060" cy="995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02F1D2E-F50D-42C1-AA84-C718020D62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92580" y="3734594"/>
            <a:ext cx="12740640" cy="1493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1FD1AC-B822-49CB-B9A3-4A483145A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95826" y="697124"/>
            <a:ext cx="14134147" cy="109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6955C1-B061-4584-8D34-DF7F9C5042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95826" y="2489729"/>
            <a:ext cx="14134147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E36F7BA-9283-49AC-9E33-69B1E16CCE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95826" y="697124"/>
            <a:ext cx="14134147" cy="109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CD97125-EC9C-4AC5-871E-A78B097C70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95826" y="2489729"/>
            <a:ext cx="6569392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C4385BD-BD76-4C26-B276-514515123F8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460581" y="2489729"/>
            <a:ext cx="6569392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F03743-298F-4579-A8CB-C9FD4EB1B1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95826" y="697124"/>
            <a:ext cx="14134147" cy="109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5ACD33-D09A-4B6C-ABC5-B9C1B23D79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95826" y="2489729"/>
            <a:ext cx="6569392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175d26917747b8" /><Relationship Type="http://schemas.openxmlformats.org/officeDocument/2006/relationships/slideLayout" Target="/ppt/slideLayouts/slideLayout1.xml" Id="Rc5ac84b2664440e7" /><Relationship Type="http://schemas.openxmlformats.org/officeDocument/2006/relationships/slideLayout" Target="/ppt/slideLayouts/slideLayout2.xml" Id="Rd5d50f2de53c4578" /><Relationship Type="http://schemas.openxmlformats.org/officeDocument/2006/relationships/slideLayout" Target="/ppt/slideLayouts/slideLayout3.xml" Id="R67d342a3511b462e" /><Relationship Type="http://schemas.openxmlformats.org/officeDocument/2006/relationships/slideLayout" Target="/ppt/slideLayouts/slideLayout4.xml" Id="R5e25bb0e630645ab" /><Relationship Type="http://schemas.openxmlformats.org/officeDocument/2006/relationships/slideLayout" Target="/ppt/slideLayouts/slideLayout5.xml" Id="Rb872e211e48140af" /><Relationship Type="http://schemas.openxmlformats.org/officeDocument/2006/relationships/slideLayout" Target="/ppt/slideLayouts/slideLayout6.xml" Id="Rb12000820c0144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ac84b2664440e7"/>
    <p:sldLayoutId xmlns:r="http://schemas.openxmlformats.org/officeDocument/2006/relationships" id="2147483650" r:id="Rd5d50f2de53c4578"/>
    <p:sldLayoutId xmlns:r="http://schemas.openxmlformats.org/officeDocument/2006/relationships" id="2147483651" r:id="R67d342a3511b462e"/>
    <p:sldLayoutId xmlns:r="http://schemas.openxmlformats.org/officeDocument/2006/relationships" id="2147483652" r:id="R5e25bb0e630645ab"/>
    <p:sldLayoutId xmlns:r="http://schemas.openxmlformats.org/officeDocument/2006/relationships" id="2147483653" r:id="Rb872e211e48140af"/>
    <p:sldLayoutId xmlns:r="http://schemas.openxmlformats.org/officeDocument/2006/relationships" id="2147483654" r:id="Rb12000820c0144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8c69e14994c9a" /><Relationship Type="http://schemas.openxmlformats.org/officeDocument/2006/relationships/hyperlink" Target="https://www.wj2ai.com/statement#learning-reusable-proof-strategies" TargetMode="External" Id="R51756bcae71f4b6e" /><Relationship Type="http://schemas.openxmlformats.org/officeDocument/2006/relationships/hyperlink" Target="https://www.wj2ai.com/statement#compositional-verification" TargetMode="External" Id="Rc01e8536f6ad421e" /><Relationship Type="http://schemas.openxmlformats.org/officeDocument/2006/relationships/hyperlink" Target="https://www.wj2ai.com/statement#trustworthy-verification-feedback" TargetMode="External" Id="Rf1773e111ace4ad0" /><Relationship Type="http://schemas.openxmlformats.org/officeDocument/2006/relationships/hyperlink" Target="https://www.anthropic.com/research/formal-verification" TargetMode="External" Id="R033da91f70bf4db9" /><Relationship Type="http://schemas.openxmlformats.org/officeDocument/2006/relationships/hyperlink" Target="https://theorem.dev/blog/verified-software-stack/" TargetMode="External" Id="R9fc49f489fca4113" /><Relationship Type="http://schemas.openxmlformats.org/officeDocument/2006/relationships/notesSlide" Target="/ppt/notesSlides/notesSlide1.xml" Id="R4db70fd659b84e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ee333d00b748f4" /><Relationship Type="http://schemas.openxmlformats.org/officeDocument/2006/relationships/hyperlink" Target="https://www.anthropic.com/research/formal-verification" TargetMode="External" Id="Rde3f1bd24e564637" /><Relationship Type="http://schemas.openxmlformats.org/officeDocument/2006/relationships/hyperlink" Target="https://theorem.dev/blog/verified-software-stack/" TargetMode="External" Id="Rcb42eb408bfb4a02" /><Relationship Type="http://schemas.openxmlformats.org/officeDocument/2006/relationships/notesSlide" Target="/ppt/notesSlides/notesSlide2.xml" Id="R00d093697cbb44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30db242d294fab" /><Relationship Type="http://schemas.openxmlformats.org/officeDocument/2006/relationships/hyperlink" Target="https://www.anthropic.com/research/formal-verification" TargetMode="External" Id="Ra39af4e7375a4191" /><Relationship Type="http://schemas.openxmlformats.org/officeDocument/2006/relationships/hyperlink" Target="https://theorem.dev/blog/verified-software-stack/" TargetMode="External" Id="R9d884bb883564709" /><Relationship Type="http://schemas.openxmlformats.org/officeDocument/2006/relationships/notesSlide" Target="/ppt/notesSlides/notesSlide3.xml" Id="R31bf31c3cf9f4f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93374174f24e07" /><Relationship Type="http://schemas.openxmlformats.org/officeDocument/2006/relationships/hyperlink" Target="https://www.anthropic.com/research/formal-verification" TargetMode="External" Id="Rda6d79aff03041d0" /><Relationship Type="http://schemas.openxmlformats.org/officeDocument/2006/relationships/hyperlink" Target="https://theorem.dev/blog/verified-software-stack/" TargetMode="External" Id="R007b507dad19433f" /><Relationship Type="http://schemas.openxmlformats.org/officeDocument/2006/relationships/notesSlide" Target="/ppt/notesSlides/notesSlide4.xml" Id="R551bba1697eb4a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1" name="Learning Reusable Formal Reasoning">
            <a:extLst xmlns:a="http://schemas.openxmlformats.org/drawingml/2006/main">
              <a:ext uri="{FF2B5EF4-FFF2-40B4-BE49-F238E27FC236}">
                <a16:creationId xmlns:a16="http://schemas.microsoft.com/office/drawing/2014/main" id="{2F913453-A5AA-418E-97E7-5D50CD17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2200"/>
            <a:ext cx="13735050" cy="541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Reusable Formal Reasoning</a:t>
            </a:r>
          </a:p>
        </p:txBody>
      </p:sp>
      <p:sp>
        <p:nvSpPr>
          <p:cNvPr id="2" name="From expensive proofs to transferable reasoning">
            <a:extLst xmlns:a="http://schemas.openxmlformats.org/drawingml/2006/main">
              <a:ext uri="{FF2B5EF4-FFF2-40B4-BE49-F238E27FC236}">
                <a16:creationId xmlns:a16="http://schemas.microsoft.com/office/drawing/2014/main" id="{35A24B63-AF62-46D0-B99E-4BAA05E0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93230"/>
            <a:ext cx="13068300" cy="3756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From expensive proofs to transferable reasoning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79412AC2-875B-497D-8322-D6BBC6E7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194310"/>
            <a:ext cx="2047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Proposed research</a:t>
            </a:r>
          </a:p>
        </p:txBody>
      </p:sp>
      <p:sp>
        <p:nvSpPr>
          <p:cNvPr id="4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578765A3-AD6B-4448-9A0C-7D0E479E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1371600"/>
            <a:ext cx="26193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Stage 1">
            <a:extLst xmlns:a="http://schemas.openxmlformats.org/drawingml/2006/main">
              <a:ext uri="{FF2B5EF4-FFF2-40B4-BE49-F238E27FC236}">
                <a16:creationId xmlns:a16="http://schemas.microsoft.com/office/drawing/2014/main" id="{C6B656B0-0F2A-497C-ACF5-49108413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8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" name="1">
            <a:extLst xmlns:a="http://schemas.openxmlformats.org/drawingml/2006/main">
              <a:ext uri="{FF2B5EF4-FFF2-40B4-BE49-F238E27FC236}">
                <a16:creationId xmlns:a16="http://schemas.microsoft.com/office/drawing/2014/main" id="{AEA9EE1B-066D-4525-ACA0-9F5943AA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8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7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CA04EC9F-3CA0-451A-83A7-292E3D0D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71600"/>
            <a:ext cx="25336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" name="Stage 2">
            <a:extLst xmlns:a="http://schemas.openxmlformats.org/drawingml/2006/main">
              <a:ext uri="{FF2B5EF4-FFF2-40B4-BE49-F238E27FC236}">
                <a16:creationId xmlns:a16="http://schemas.microsoft.com/office/drawing/2014/main" id="{8618A8C5-A042-489F-9934-FD0330FF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" name="2">
            <a:extLst xmlns:a="http://schemas.openxmlformats.org/drawingml/2006/main">
              <a:ext uri="{FF2B5EF4-FFF2-40B4-BE49-F238E27FC236}">
                <a16:creationId xmlns:a16="http://schemas.microsoft.com/office/drawing/2014/main" id="{A4B69524-5B68-418E-A71D-7D0D85A8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0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FD86490E-8CD8-40A2-9016-0EF4D3D0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371600"/>
            <a:ext cx="2933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" name="Stage 3">
            <a:extLst xmlns:a="http://schemas.openxmlformats.org/drawingml/2006/main">
              <a:ext uri="{FF2B5EF4-FFF2-40B4-BE49-F238E27FC236}">
                <a16:creationId xmlns:a16="http://schemas.microsoft.com/office/drawing/2014/main" id="{631D34D8-60AF-4843-BB4A-2EE77864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" name="3">
            <a:extLst xmlns:a="http://schemas.openxmlformats.org/drawingml/2006/main">
              <a:ext uri="{FF2B5EF4-FFF2-40B4-BE49-F238E27FC236}">
                <a16:creationId xmlns:a16="http://schemas.microsoft.com/office/drawing/2014/main" id="{F83C1B13-C3A6-448A-943A-9143552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3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935DE2A0-7C79-4A42-9983-D006DD78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371600"/>
            <a:ext cx="2438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" name="Stage 4">
            <a:extLst xmlns:a="http://schemas.openxmlformats.org/drawingml/2006/main">
              <a:ext uri="{FF2B5EF4-FFF2-40B4-BE49-F238E27FC236}">
                <a16:creationId xmlns:a16="http://schemas.microsoft.com/office/drawing/2014/main" id="{F5CC20FD-8CDA-4308-8A5A-858E9FCF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" name="4">
            <a:extLst xmlns:a="http://schemas.openxmlformats.org/drawingml/2006/main">
              <a:ext uri="{FF2B5EF4-FFF2-40B4-BE49-F238E27FC236}">
                <a16:creationId xmlns:a16="http://schemas.microsoft.com/office/drawing/2014/main" id="{432B2136-4473-41F9-A42D-2FE80097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16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36F4A5F7-47C7-4E6E-A844-9B7CCEA7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1100" y="1371600"/>
            <a:ext cx="30384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" name="Stage 5">
            <a:extLst xmlns:a="http://schemas.openxmlformats.org/drawingml/2006/main">
              <a:ext uri="{FF2B5EF4-FFF2-40B4-BE49-F238E27FC236}">
                <a16:creationId xmlns:a16="http://schemas.microsoft.com/office/drawing/2014/main" id="{E969996C-184A-4197-AAFB-D09B1752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9363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8" name="5">
            <a:extLst xmlns:a="http://schemas.openxmlformats.org/drawingml/2006/main">
              <a:ext uri="{FF2B5EF4-FFF2-40B4-BE49-F238E27FC236}">
                <a16:creationId xmlns:a16="http://schemas.microsoft.com/office/drawing/2014/main" id="{66FCD0DD-6BD9-4150-A693-F51C729E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9363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19" name="Code + test harness">
            <a:extLst xmlns:a="http://schemas.openxmlformats.org/drawingml/2006/main">
              <a:ext uri="{FF2B5EF4-FFF2-40B4-BE49-F238E27FC236}">
                <a16:creationId xmlns:a16="http://schemas.microsoft.com/office/drawing/2014/main" id="{83C5C398-4BBA-410D-BDB4-0439C6CF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646301"/>
            <a:ext cx="23145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Code + test harness</a:t>
            </a:r>
          </a:p>
        </p:txBody>
      </p:sp>
      <p:sp>
        <p:nvSpPr>
          <p:cNvPr id="20" name="Existing software">
            <a:extLst xmlns:a="http://schemas.openxmlformats.org/drawingml/2006/main">
              <a:ext uri="{FF2B5EF4-FFF2-40B4-BE49-F238E27FC236}">
                <a16:creationId xmlns:a16="http://schemas.microsoft.com/office/drawing/2014/main" id="{5E96F816-9E82-45EA-8F5C-7724DF9B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8150"/>
            <a:ext cx="22955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Existing software</a:t>
            </a:r>
          </a:p>
        </p:txBody>
      </p:sp>
      <p:sp>
        <p:nvSpPr>
          <p:cNvPr id="21" name="Editable program window">
            <a:extLst xmlns:a="http://schemas.openxmlformats.org/drawingml/2006/main">
              <a:ext uri="{FF2B5EF4-FFF2-40B4-BE49-F238E27FC236}">
                <a16:creationId xmlns:a16="http://schemas.microsoft.com/office/drawing/2014/main" id="{30DB6B7B-8149-44CA-B927-905A922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76475"/>
            <a:ext cx="8191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70E7698-4D5E-4927-97FA-736E5242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47925"/>
            <a:ext cx="819150" cy="9525"/>
          </a:xfrm>
          <a:custGeom xmlns:a="http://schemas.openxmlformats.org/drawingml/2006/main">
            <a:pathLst>
              <a:path w="819150" h="9525">
                <a:moveTo>
                  <a:pt x="0" y="0"/>
                </a:moveTo>
                <a:lnTo>
                  <a:pt x="819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3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415321F3-F4AF-4538-89E4-8F6C46A5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333625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4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FA2F4B8D-FF76-4B6C-9ABB-400A83C5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5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7BE29E7B-3748-4A16-86D3-AD793344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333625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6" name="&lt;/&gt;">
            <a:extLst xmlns:a="http://schemas.openxmlformats.org/drawingml/2006/main">
              <a:ext uri="{FF2B5EF4-FFF2-40B4-BE49-F238E27FC236}">
                <a16:creationId xmlns:a16="http://schemas.microsoft.com/office/drawing/2014/main" id="{DB88EBE1-3B62-4358-8DCE-FC6D0910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18232"/>
            <a:ext cx="666750" cy="430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9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&lt;/&gt;</a:t>
            </a:r>
          </a:p>
        </p:txBody>
      </p:sp>
      <p:sp>
        <p:nvSpPr>
          <p:cNvPr id="27" name="Editable program window">
            <a:extLst xmlns:a="http://schemas.openxmlformats.org/drawingml/2006/main">
              <a:ext uri="{FF2B5EF4-FFF2-40B4-BE49-F238E27FC236}">
                <a16:creationId xmlns:a16="http://schemas.microsoft.com/office/drawing/2014/main" id="{CD0CCD04-A9BC-466E-B72C-B1C370B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76475"/>
            <a:ext cx="8858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F53E818-BD3D-4B77-8198-AD8B6C9F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47925"/>
            <a:ext cx="885825" cy="9525"/>
          </a:xfrm>
          <a:custGeom xmlns:a="http://schemas.openxmlformats.org/drawingml/2006/main">
            <a:pathLst>
              <a:path w="885825" h="9525">
                <a:moveTo>
                  <a:pt x="0" y="0"/>
                </a:moveTo>
                <a:lnTo>
                  <a:pt x="885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9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D854567E-BCB7-4E38-BD2A-B8CD7AAD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333625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0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1A137666-B968-420F-B7F2-CA9D44F4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33625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1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41FB3CF5-5F03-45A6-A3C6-0BC64161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333625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2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B7A84BFB-8FC0-44AC-BFE0-68C1664B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562225"/>
            <a:ext cx="104775" cy="94297"/>
          </a:xfrm>
          <a:custGeom xmlns:a="http://schemas.openxmlformats.org/drawingml/2006/main">
            <a:pathLst>
              <a:path w="104775" h="94297">
                <a:moveTo>
                  <a:pt x="0" y="57626"/>
                </a:moveTo>
                <a:lnTo>
                  <a:pt x="36671" y="94297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3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E8A5128-C669-4C63-B214-E970C10F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61937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4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00E6E103-3C5C-4CED-8A4D-0F6A0527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752725"/>
            <a:ext cx="104775" cy="94297"/>
          </a:xfrm>
          <a:custGeom xmlns:a="http://schemas.openxmlformats.org/drawingml/2006/main">
            <a:pathLst>
              <a:path w="104775" h="94297">
                <a:moveTo>
                  <a:pt x="0" y="57626"/>
                </a:moveTo>
                <a:lnTo>
                  <a:pt x="36671" y="94297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3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CE4C049-6FD8-4127-86A4-8C6784CA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0987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6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71681031-33E2-4D02-BEEC-3942578E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943225"/>
            <a:ext cx="104775" cy="94297"/>
          </a:xfrm>
          <a:custGeom xmlns:a="http://schemas.openxmlformats.org/drawingml/2006/main">
            <a:pathLst>
              <a:path w="104775" h="94297">
                <a:moveTo>
                  <a:pt x="0" y="57626"/>
                </a:moveTo>
                <a:lnTo>
                  <a:pt x="36671" y="94297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3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B57AB0B-A607-4452-85E8-E0526E557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00037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8" name="Program">
            <a:extLst xmlns:a="http://schemas.openxmlformats.org/drawingml/2006/main">
              <a:ext uri="{FF2B5EF4-FFF2-40B4-BE49-F238E27FC236}">
                <a16:creationId xmlns:a16="http://schemas.microsoft.com/office/drawing/2014/main" id="{0C30060D-7CFF-41B4-8D64-9376E24C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236024"/>
            <a:ext cx="10668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Program</a:t>
            </a:r>
          </a:p>
        </p:txBody>
      </p:sp>
      <p:sp>
        <p:nvSpPr>
          <p:cNvPr id="39" name="Test harness">
            <a:extLst xmlns:a="http://schemas.openxmlformats.org/drawingml/2006/main">
              <a:ext uri="{FF2B5EF4-FFF2-40B4-BE49-F238E27FC236}">
                <a16:creationId xmlns:a16="http://schemas.microsoft.com/office/drawing/2014/main" id="{6FBA34BF-7EF1-4140-8308-0E4736FF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36024"/>
            <a:ext cx="11811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Test harness</a:t>
            </a:r>
          </a:p>
        </p:txBody>
      </p:sp>
      <p:sp>
        <p:nvSpPr>
          <p:cNvPr id="40" name="Explicit property">
            <a:extLst xmlns:a="http://schemas.openxmlformats.org/drawingml/2006/main">
              <a:ext uri="{FF2B5EF4-FFF2-40B4-BE49-F238E27FC236}">
                <a16:creationId xmlns:a16="http://schemas.microsoft.com/office/drawing/2014/main" id="{3A383485-52FF-4D5D-8C87-7E9CDA7D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40777"/>
            <a:ext cx="230505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Explicit property</a:t>
            </a:r>
          </a:p>
        </p:txBody>
      </p:sp>
      <p:sp>
        <p:nvSpPr>
          <p:cNvPr id="41" name="Input domain + execution model">
            <a:extLst xmlns:a="http://schemas.openxmlformats.org/drawingml/2006/main">
              <a:ext uri="{FF2B5EF4-FFF2-40B4-BE49-F238E27FC236}">
                <a16:creationId xmlns:a16="http://schemas.microsoft.com/office/drawing/2014/main" id="{ED52745C-0E83-4E63-9E0E-16B54067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992535"/>
            <a:ext cx="2343150" cy="215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Input domain + execution model</a:t>
            </a:r>
          </a:p>
        </p:txBody>
      </p:sp>
      <p:sp>
        <p:nvSpPr>
          <p:cNvPr id="42" name="Explicit property details">
            <a:extLst xmlns:a="http://schemas.openxmlformats.org/drawingml/2006/main">
              <a:ext uri="{FF2B5EF4-FFF2-40B4-BE49-F238E27FC236}">
                <a16:creationId xmlns:a16="http://schemas.microsoft.com/office/drawing/2014/main" id="{8F8FD1B2-A365-4348-88AF-1CEBDA3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286000"/>
            <a:ext cx="200977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3" name="Input domain">
            <a:extLst xmlns:a="http://schemas.openxmlformats.org/drawingml/2006/main">
              <a:ext uri="{FF2B5EF4-FFF2-40B4-BE49-F238E27FC236}">
                <a16:creationId xmlns:a16="http://schemas.microsoft.com/office/drawing/2014/main" id="{4B6D9B64-791D-4C6D-B11D-F25CEC26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52294"/>
            <a:ext cx="1695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Input domain</a:t>
            </a:r>
          </a:p>
        </p:txBody>
      </p:sp>
      <p:sp>
        <p:nvSpPr>
          <p:cNvPr id="44" name="Execution model">
            <a:extLst xmlns:a="http://schemas.openxmlformats.org/drawingml/2006/main">
              <a:ext uri="{FF2B5EF4-FFF2-40B4-BE49-F238E27FC236}">
                <a16:creationId xmlns:a16="http://schemas.microsoft.com/office/drawing/2014/main" id="{64824B0F-BCC8-42D7-8F95-7656C108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595372"/>
            <a:ext cx="1695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Execution model</a:t>
            </a:r>
          </a:p>
        </p:txBody>
      </p:sp>
      <p:sp>
        <p:nvSpPr>
          <p:cNvPr id="45" name="Safety / functional">
            <a:extLst xmlns:a="http://schemas.openxmlformats.org/drawingml/2006/main">
              <a:ext uri="{FF2B5EF4-FFF2-40B4-BE49-F238E27FC236}">
                <a16:creationId xmlns:a16="http://schemas.microsoft.com/office/drawing/2014/main" id="{40FB6DF0-2A97-448E-8306-E14F5477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838450"/>
            <a:ext cx="1695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Safety / functional</a:t>
            </a:r>
          </a:p>
        </p:txBody>
      </p:sp>
      <p:sp>
        <p:nvSpPr>
          <p:cNvPr id="46" name="property">
            <a:extLst xmlns:a="http://schemas.openxmlformats.org/drawingml/2006/main">
              <a:ext uri="{FF2B5EF4-FFF2-40B4-BE49-F238E27FC236}">
                <a16:creationId xmlns:a16="http://schemas.microsoft.com/office/drawing/2014/main" id="{5496922A-AC31-4F4F-BB3F-F86F1104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081528"/>
            <a:ext cx="1695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property</a:t>
            </a:r>
          </a:p>
        </p:txBody>
      </p:sp>
      <p:sp>
        <p:nvSpPr>
          <p:cNvPr id="47" name="Agent proposes proofs">
            <a:extLst xmlns:a="http://schemas.openxmlformats.org/drawingml/2006/main">
              <a:ext uri="{FF2B5EF4-FFF2-40B4-BE49-F238E27FC236}">
                <a16:creationId xmlns:a16="http://schemas.microsoft.com/office/drawing/2014/main" id="{D18F63A0-7405-4DEE-93BF-0DCAAC14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46301"/>
            <a:ext cx="26670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Agent proposes proofs</a:t>
            </a:r>
          </a:p>
        </p:txBody>
      </p:sp>
      <p:sp>
        <p:nvSpPr>
          <p:cNvPr id="48" name="Invariants · Contracts · Lemmas">
            <a:extLst xmlns:a="http://schemas.openxmlformats.org/drawingml/2006/main">
              <a:ext uri="{FF2B5EF4-FFF2-40B4-BE49-F238E27FC236}">
                <a16:creationId xmlns:a16="http://schemas.microsoft.com/office/drawing/2014/main" id="{35F3AF7C-E017-4ABD-9C00-39B7E78B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978724"/>
            <a:ext cx="26289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Invariants · Contracts · Lemmas</a:t>
            </a:r>
          </a:p>
        </p:txBody>
      </p:sp>
      <p:sp>
        <p:nvSpPr>
          <p:cNvPr id="49" name="Proof artifact">
            <a:extLst xmlns:a="http://schemas.openxmlformats.org/drawingml/2006/main">
              <a:ext uri="{FF2B5EF4-FFF2-40B4-BE49-F238E27FC236}">
                <a16:creationId xmlns:a16="http://schemas.microsoft.com/office/drawing/2014/main" id="{7056BF81-303F-4871-93F7-D14CBEEC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276475"/>
            <a:ext cx="781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0" name="Invariant">
            <a:extLst xmlns:a="http://schemas.openxmlformats.org/drawingml/2006/main">
              <a:ext uri="{FF2B5EF4-FFF2-40B4-BE49-F238E27FC236}">
                <a16:creationId xmlns:a16="http://schemas.microsoft.com/office/drawing/2014/main" id="{736966C1-45BA-4A12-A830-1F15D5AE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361248"/>
            <a:ext cx="704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Invariant</a:t>
            </a:r>
          </a:p>
        </p:txBody>
      </p:sp>
      <p:sp>
        <p:nvSpPr>
          <p:cNvPr id="5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A32DF1A-3D75-4EA7-BF73-879C0A32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2415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38EC4C2-C728-4D04-A464-7C6F59DE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5750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A1ABEA8-5A26-4E87-97ED-94C4138D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4" name="Proof artifact">
            <a:extLst xmlns:a="http://schemas.openxmlformats.org/drawingml/2006/main">
              <a:ext uri="{FF2B5EF4-FFF2-40B4-BE49-F238E27FC236}">
                <a16:creationId xmlns:a16="http://schemas.microsoft.com/office/drawing/2014/main" id="{E50659EE-89AE-4F89-AAC2-6A93C417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76475"/>
            <a:ext cx="781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5" name="Contract">
            <a:extLst xmlns:a="http://schemas.openxmlformats.org/drawingml/2006/main">
              <a:ext uri="{FF2B5EF4-FFF2-40B4-BE49-F238E27FC236}">
                <a16:creationId xmlns:a16="http://schemas.microsoft.com/office/drawing/2014/main" id="{634ABC28-74E7-421A-AF84-67A26F56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61248"/>
            <a:ext cx="704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Contract</a:t>
            </a:r>
          </a:p>
        </p:txBody>
      </p:sp>
      <p:sp>
        <p:nvSpPr>
          <p:cNvPr id="5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D3ED4BC-B06E-4FE5-B775-3C856D84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72415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E44027B-104C-49B9-B32C-F8457BA6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85750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09DEA0E-7253-4C12-A7DF-6634427B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99085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9" name="Proof artifact">
            <a:extLst xmlns:a="http://schemas.openxmlformats.org/drawingml/2006/main">
              <a:ext uri="{FF2B5EF4-FFF2-40B4-BE49-F238E27FC236}">
                <a16:creationId xmlns:a16="http://schemas.microsoft.com/office/drawing/2014/main" id="{4C2A7270-7017-43F6-8534-BD8C9CDD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276475"/>
            <a:ext cx="781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0" name="Lemma">
            <a:extLst xmlns:a="http://schemas.openxmlformats.org/drawingml/2006/main">
              <a:ext uri="{FF2B5EF4-FFF2-40B4-BE49-F238E27FC236}">
                <a16:creationId xmlns:a16="http://schemas.microsoft.com/office/drawing/2014/main" id="{77CC0966-F806-4B7E-815A-F36B01DA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361248"/>
            <a:ext cx="704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Lemma</a:t>
            </a:r>
          </a:p>
        </p:txBody>
      </p:sp>
      <p:sp>
        <p:nvSpPr>
          <p:cNvPr id="6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ED0D192-C9E0-4F77-A486-47B29D40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2415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29D0B37-5B07-4FAF-B255-55DA8C86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5750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81C06DD-3698-462F-9B70-BC3C701B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90850"/>
            <a:ext cx="485775" cy="9525"/>
          </a:xfrm>
          <a:custGeom xmlns:a="http://schemas.openxmlformats.org/drawingml/2006/main">
            <a:pathLst>
              <a:path w="485775" h="9525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4" name="Independent checker">
            <a:extLst xmlns:a="http://schemas.openxmlformats.org/drawingml/2006/main">
              <a:ext uri="{FF2B5EF4-FFF2-40B4-BE49-F238E27FC236}">
                <a16:creationId xmlns:a16="http://schemas.microsoft.com/office/drawing/2014/main" id="{BD25ECF1-6EFF-4442-B8CC-DDB10B61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651064"/>
            <a:ext cx="222885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Independent checker</a:t>
            </a:r>
          </a:p>
        </p:txBody>
      </p:sp>
      <p:sp>
        <p:nvSpPr>
          <p:cNvPr id="65" name="Editable program window">
            <a:extLst xmlns:a="http://schemas.openxmlformats.org/drawingml/2006/main">
              <a:ext uri="{FF2B5EF4-FFF2-40B4-BE49-F238E27FC236}">
                <a16:creationId xmlns:a16="http://schemas.microsoft.com/office/drawing/2014/main" id="{D391AAE5-1CC1-4F3A-8E03-27D23997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209800"/>
            <a:ext cx="16859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B2C4939-380C-4C14-8141-94E6A737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381250"/>
            <a:ext cx="1685925" cy="9525"/>
          </a:xfrm>
          <a:custGeom xmlns:a="http://schemas.openxmlformats.org/drawingml/2006/main">
            <a:pathLst>
              <a:path w="1685925" h="9525">
                <a:moveTo>
                  <a:pt x="0" y="0"/>
                </a:moveTo>
                <a:lnTo>
                  <a:pt x="1685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7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F48480E3-02EE-4DA2-922B-85CD6F02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266950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8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9B361ABA-20C6-4296-A58E-6F1CE51A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66950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9" name="Window control">
            <a:extLst xmlns:a="http://schemas.openxmlformats.org/drawingml/2006/main">
              <a:ext uri="{FF2B5EF4-FFF2-40B4-BE49-F238E27FC236}">
                <a16:creationId xmlns:a16="http://schemas.microsoft.com/office/drawing/2014/main" id="{D8CC1B2A-51AB-41CB-A1D3-8BF7F5CD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266950"/>
            <a:ext cx="33338" cy="333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70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6BAEB172-1A51-44EE-9230-D5324A51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609850"/>
            <a:ext cx="381000" cy="342900"/>
          </a:xfrm>
          <a:custGeom xmlns:a="http://schemas.openxmlformats.org/drawingml/2006/main">
            <a:pathLst>
              <a:path w="381000" h="342900">
                <a:moveTo>
                  <a:pt x="0" y="209550"/>
                </a:moveTo>
                <a:lnTo>
                  <a:pt x="133350" y="342900"/>
                </a:ln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7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A368ADA-244E-44A4-BE6C-3AE83CB5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28900"/>
            <a:ext cx="657225" cy="9525"/>
          </a:xfrm>
          <a:custGeom xmlns:a="http://schemas.openxmlformats.org/drawingml/2006/main">
            <a:pathLst>
              <a:path w="657225" h="9525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7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706CA21-09BA-46FE-B775-4DE13324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800350"/>
            <a:ext cx="657225" cy="9525"/>
          </a:xfrm>
          <a:custGeom xmlns:a="http://schemas.openxmlformats.org/drawingml/2006/main">
            <a:pathLst>
              <a:path w="657225" h="9525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7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08A9164-056B-44CA-9FCB-AA40B040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971800"/>
            <a:ext cx="657225" cy="9525"/>
          </a:xfrm>
          <a:custGeom xmlns:a="http://schemas.openxmlformats.org/drawingml/2006/main">
            <a:pathLst>
              <a:path w="657225" h="9525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74" name="Verification feedback">
            <a:extLst xmlns:a="http://schemas.openxmlformats.org/drawingml/2006/main">
              <a:ext uri="{FF2B5EF4-FFF2-40B4-BE49-F238E27FC236}">
                <a16:creationId xmlns:a16="http://schemas.microsoft.com/office/drawing/2014/main" id="{E4D742FA-809A-4EC1-88DA-7FFD2A5F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1645539"/>
            <a:ext cx="2809875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Verification feedback</a:t>
            </a:r>
          </a:p>
        </p:txBody>
      </p:sp>
      <p:sp>
        <p:nvSpPr>
          <p:cNvPr id="75" name="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101A8781-75E0-4698-B578-F7966053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2190750"/>
            <a:ext cx="9334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6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3196FAEF-108C-4D8D-BE95-E4CFCA05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1150" y="2409825"/>
            <a:ext cx="276225" cy="248603"/>
          </a:xfrm>
          <a:custGeom xmlns:a="http://schemas.openxmlformats.org/drawingml/2006/main">
            <a:pathLst>
              <a:path w="276225" h="248603">
                <a:moveTo>
                  <a:pt x="0" y="151924"/>
                </a:moveTo>
                <a:lnTo>
                  <a:pt x="96679" y="248603"/>
                </a:ln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77" name="Checked">
            <a:extLst xmlns:a="http://schemas.openxmlformats.org/drawingml/2006/main">
              <a:ext uri="{FF2B5EF4-FFF2-40B4-BE49-F238E27FC236}">
                <a16:creationId xmlns:a16="http://schemas.microsoft.com/office/drawing/2014/main" id="{F2178F5E-11AA-445F-9CB8-C5BF6348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925" y="279463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</a:t>
            </a:r>
          </a:p>
        </p:txBody>
      </p:sp>
      <p:sp>
        <p:nvSpPr>
          <p:cNvPr id="78" name="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424E8FDD-C2C7-45E3-BB9C-FA0E5E70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58850" y="2190750"/>
            <a:ext cx="9334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9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1EBD78A2-500A-4F3B-AEC7-A3E64059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2400300"/>
            <a:ext cx="238125" cy="238125"/>
          </a:xfrm>
          <a:custGeom xmlns:a="http://schemas.openxmlformats.org/drawingml/2006/main">
            <a:pathLst>
              <a:path w="238125" h="238125">
                <a:moveTo>
                  <a:pt x="0" y="0"/>
                </a:moveTo>
                <a:lnTo>
                  <a:pt x="238125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80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68B83D4D-5B2E-4740-AC18-186E1B04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2400300"/>
            <a:ext cx="238125" cy="238125"/>
          </a:xfrm>
          <a:custGeom xmlns:a="http://schemas.openxmlformats.org/drawingml/2006/main">
            <a:pathLst>
              <a:path w="238125" h="238125">
                <a:moveTo>
                  <a:pt x="238125" y="0"/>
                </a:moveTo>
                <a:lnTo>
                  <a:pt x="0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81" name="Counterexample">
            <a:extLst xmlns:a="http://schemas.openxmlformats.org/drawingml/2006/main">
              <a:ext uri="{FF2B5EF4-FFF2-40B4-BE49-F238E27FC236}">
                <a16:creationId xmlns:a16="http://schemas.microsoft.com/office/drawing/2014/main" id="{F313A430-308F-4FBA-9A9B-69D8D1DB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7425" y="2822258"/>
            <a:ext cx="8763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Counterexample</a:t>
            </a:r>
          </a:p>
        </p:txBody>
      </p:sp>
      <p:sp>
        <p:nvSpPr>
          <p:cNvPr id="82" name="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5F29C946-DEAD-4169-98FF-4B7E0555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0" y="2190750"/>
            <a:ext cx="9334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3" name="?">
            <a:extLst xmlns:a="http://schemas.openxmlformats.org/drawingml/2006/main">
              <a:ext uri="{FF2B5EF4-FFF2-40B4-BE49-F238E27FC236}">
                <a16:creationId xmlns:a16="http://schemas.microsoft.com/office/drawing/2014/main" id="{A0AE169C-490C-42AB-8B9A-E014F813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2307908"/>
            <a:ext cx="3810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?</a:t>
            </a:r>
          </a:p>
        </p:txBody>
      </p:sp>
      <p:sp>
        <p:nvSpPr>
          <p:cNvPr id="84" name="Unresolved">
            <a:extLst xmlns:a="http://schemas.openxmlformats.org/drawingml/2006/main">
              <a:ext uri="{FF2B5EF4-FFF2-40B4-BE49-F238E27FC236}">
                <a16:creationId xmlns:a16="http://schemas.microsoft.com/office/drawing/2014/main" id="{7F7AA7D5-061C-4C19-9DBB-F426A8DF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9925" y="279463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Unresolved</a:t>
            </a:r>
          </a:p>
        </p:txBody>
      </p:sp>
      <p:sp>
        <p:nvSpPr>
          <p:cNvPr id="8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6B9707D-C6E6-43B9-AC28-FF87A496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05075"/>
            <a:ext cx="504825" cy="9525"/>
          </a:xfrm>
          <a:custGeom xmlns:a="http://schemas.openxmlformats.org/drawingml/2006/main">
            <a:pathLst>
              <a:path w="504825" h="9525">
                <a:moveTo>
                  <a:pt x="0" y="0"/>
                </a:moveTo>
                <a:lnTo>
                  <a:pt x="50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29B3BA90-D9BF-4A7D-901C-BF32302C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87" name="Formalize">
            <a:extLst xmlns:a="http://schemas.openxmlformats.org/drawingml/2006/main">
              <a:ext uri="{FF2B5EF4-FFF2-40B4-BE49-F238E27FC236}">
                <a16:creationId xmlns:a16="http://schemas.microsoft.com/office/drawing/2014/main" id="{412C3DE0-E61E-46FF-8DBF-026CECF5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90369"/>
            <a:ext cx="466725" cy="143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Formalize</a:t>
            </a:r>
          </a:p>
        </p:txBody>
      </p:sp>
      <p:sp>
        <p:nvSpPr>
          <p:cNvPr id="8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4F71EFE-71B3-4003-A76F-792BAF5B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505075"/>
            <a:ext cx="533400" cy="9525"/>
          </a:xfrm>
          <a:custGeom xmlns:a="http://schemas.openxmlformats.org/drawingml/2006/main">
            <a:pathLst>
              <a:path w="533400" h="9525">
                <a:moveTo>
                  <a:pt x="0" y="0"/>
                </a:moveTo>
                <a:lnTo>
                  <a:pt x="53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46C05476-ED13-4F44-A0EE-0D70FA8A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90" name="Propose">
            <a:extLst xmlns:a="http://schemas.openxmlformats.org/drawingml/2006/main">
              <a:ext uri="{FF2B5EF4-FFF2-40B4-BE49-F238E27FC236}">
                <a16:creationId xmlns:a16="http://schemas.microsoft.com/office/drawing/2014/main" id="{F8568DD2-564E-4F19-9B4A-4689C796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68271"/>
            <a:ext cx="495300" cy="187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</a:t>
            </a:r>
          </a:p>
        </p:txBody>
      </p:sp>
      <p:sp>
        <p:nvSpPr>
          <p:cNvPr id="9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63D30088-523C-42D8-8987-CE6A29D0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05075"/>
            <a:ext cx="457200" cy="9525"/>
          </a:xfrm>
          <a:custGeom xmlns:a="http://schemas.openxmlformats.org/drawingml/2006/main"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9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FD3C82D3-972B-4C49-949F-288D4520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93" name="Check">
            <a:extLst xmlns:a="http://schemas.openxmlformats.org/drawingml/2006/main">
              <a:ext uri="{FF2B5EF4-FFF2-40B4-BE49-F238E27FC236}">
                <a16:creationId xmlns:a16="http://schemas.microsoft.com/office/drawing/2014/main" id="{238FB71D-F899-4AF4-A6CD-6F724B8E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157222"/>
            <a:ext cx="419100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9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64FA78F-E99D-4940-AFDF-BDA61FAF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5825" y="2505075"/>
            <a:ext cx="295275" cy="9525"/>
          </a:xfrm>
          <a:custGeom xmlns:a="http://schemas.openxmlformats.org/drawingml/2006/main">
            <a:pathLst>
              <a:path w="295275" h="9525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9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E110952-85B6-473A-9901-A62110AE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9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AB8636B-BFA4-4DEE-B5E4-F59F3E20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562350"/>
            <a:ext cx="6067425" cy="400050"/>
          </a:xfrm>
          <a:custGeom xmlns:a="http://schemas.openxmlformats.org/drawingml/2006/main">
            <a:pathLst>
              <a:path w="6067425" h="400050">
                <a:moveTo>
                  <a:pt x="6067425" y="0"/>
                </a:moveTo>
                <a:lnTo>
                  <a:pt x="6067425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9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A46427D-8897-4FF4-B0C0-18D47316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623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98" name="Refine and learn">
            <a:extLst xmlns:a="http://schemas.openxmlformats.org/drawingml/2006/main">
              <a:ext uri="{FF2B5EF4-FFF2-40B4-BE49-F238E27FC236}">
                <a16:creationId xmlns:a16="http://schemas.microsoft.com/office/drawing/2014/main" id="{AF680F61-4E52-45D1-90D0-0BBD8DAC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627501"/>
            <a:ext cx="24765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Refine and learn</a:t>
            </a:r>
          </a:p>
        </p:txBody>
      </p:sp>
      <p:sp>
        <p:nvSpPr>
          <p:cNvPr id="9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0B28987-AF55-42B1-84A6-EEFC4B6C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962400"/>
            <a:ext cx="4933950" cy="742950"/>
          </a:xfrm>
          <a:custGeom xmlns:a="http://schemas.openxmlformats.org/drawingml/2006/main">
            <a:pathLst>
              <a:path w="4933950" h="742950">
                <a:moveTo>
                  <a:pt x="4933950" y="0"/>
                </a:moveTo>
                <a:lnTo>
                  <a:pt x="4933950" y="209550"/>
                </a:lnTo>
                <a:lnTo>
                  <a:pt x="0" y="209550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0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0E5E395-3453-4BC4-A318-35ABE05C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591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851F5FB-0883-4377-BA4C-A262AD75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71950"/>
            <a:ext cx="1038225" cy="533400"/>
          </a:xfrm>
          <a:custGeom xmlns:a="http://schemas.openxmlformats.org/drawingml/2006/main">
            <a:pathLst>
              <a:path w="1038225" h="533400">
                <a:moveTo>
                  <a:pt x="1038225" y="0"/>
                </a:move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0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2E9E2073-D36A-4946-B8B5-B0C9A225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591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5C7B7C9-7AED-49EA-ABE6-7093EC40B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171950"/>
            <a:ext cx="4943475" cy="533400"/>
          </a:xfrm>
          <a:custGeom xmlns:a="http://schemas.openxmlformats.org/drawingml/2006/main">
            <a:pathLst>
              <a:path w="4943475" h="533400">
                <a:moveTo>
                  <a:pt x="0" y="0"/>
                </a:moveTo>
                <a:lnTo>
                  <a:pt x="4943475" y="0"/>
                </a:lnTo>
                <a:lnTo>
                  <a:pt x="4943475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0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30F9D45-0C60-42C3-9D17-0EC7CECE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8275" y="4591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5" name="Learn from proof feedback">
            <a:extLst xmlns:a="http://schemas.openxmlformats.org/drawingml/2006/main">
              <a:ext uri="{FF2B5EF4-FFF2-40B4-BE49-F238E27FC236}">
                <a16:creationId xmlns:a16="http://schemas.microsoft.com/office/drawing/2014/main" id="{C9EF0DFD-0957-43A5-8BE6-6C76CB40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259199"/>
            <a:ext cx="267652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Learn from proof feedback</a:t>
            </a:r>
          </a:p>
        </p:txBody>
      </p:sp>
      <p:sp>
        <p:nvSpPr>
          <p:cNvPr id="106" name="Reuse through checked interfaces">
            <a:extLst xmlns:a="http://schemas.openxmlformats.org/drawingml/2006/main">
              <a:ext uri="{FF2B5EF4-FFF2-40B4-BE49-F238E27FC236}">
                <a16:creationId xmlns:a16="http://schemas.microsoft.com/office/drawing/2014/main" id="{57D8519D-2C5C-45E8-BB10-6AF33C4B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259199"/>
            <a:ext cx="30861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Reuse through checked interfaces</a:t>
            </a:r>
          </a:p>
        </p:txBody>
      </p:sp>
      <p:sp>
        <p:nvSpPr>
          <p:cNvPr id="107" name="Audit requirements">
            <a:extLst xmlns:a="http://schemas.openxmlformats.org/drawingml/2006/main">
              <a:ext uri="{FF2B5EF4-FFF2-40B4-BE49-F238E27FC236}">
                <a16:creationId xmlns:a16="http://schemas.microsoft.com/office/drawing/2014/main" id="{067B3BA7-0A4A-458B-BA0D-823A82F0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253675"/>
            <a:ext cx="23812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Audit requirements</a:t>
            </a:r>
          </a:p>
        </p:txBody>
      </p:sp>
      <p:sp>
        <p:nvSpPr>
          <p:cNvPr id="108" name="Learn reusable strategies panel">
            <a:extLst xmlns:a="http://schemas.openxmlformats.org/drawingml/2006/main">
              <a:ext uri="{FF2B5EF4-FFF2-40B4-BE49-F238E27FC236}">
                <a16:creationId xmlns:a16="http://schemas.microsoft.com/office/drawing/2014/main" id="{628A90E1-E06E-4AD7-A1CE-12CC39E1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4714875"/>
            <a:ext cx="53244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9" name="Stage A">
            <a:extLst xmlns:a="http://schemas.openxmlformats.org/drawingml/2006/main">
              <a:ext uri="{FF2B5EF4-FFF2-40B4-BE49-F238E27FC236}">
                <a16:creationId xmlns:a16="http://schemas.microsoft.com/office/drawing/2014/main" id="{02ADDA9E-4BF5-4A1A-A56D-294DD09C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819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0" name="A">
            <a:extLst xmlns:a="http://schemas.openxmlformats.org/drawingml/2006/main">
              <a:ext uri="{FF2B5EF4-FFF2-40B4-BE49-F238E27FC236}">
                <a16:creationId xmlns:a16="http://schemas.microsoft.com/office/drawing/2014/main" id="{E4B3ED9B-A75B-42B5-8DE6-E2771AC9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871199"/>
            <a:ext cx="419100" cy="31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</a:t>
            </a:r>
          </a:p>
        </p:txBody>
      </p:sp>
      <p:sp>
        <p:nvSpPr>
          <p:cNvPr id="111" name="Learn reusable strategies">
            <a:extLst xmlns:a="http://schemas.openxmlformats.org/drawingml/2006/main">
              <a:ext uri="{FF2B5EF4-FFF2-40B4-BE49-F238E27FC236}">
                <a16:creationId xmlns:a16="http://schemas.microsoft.com/office/drawing/2014/main" id="{AB7778BE-6F67-47D4-89D8-286A88ED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815840"/>
            <a:ext cx="444817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51756bcae71f4b6e"/>
              </a:rPr>
              <a:t>Learn reusable strategies</a:t>
            </a:r>
          </a:p>
        </p:txBody>
      </p:sp>
      <p:sp>
        <p:nvSpPr>
          <p:cNvPr id="112" name="What transfers beyond one proof?">
            <a:extLst xmlns:a="http://schemas.openxmlformats.org/drawingml/2006/main">
              <a:ext uri="{FF2B5EF4-FFF2-40B4-BE49-F238E27FC236}">
                <a16:creationId xmlns:a16="http://schemas.microsoft.com/office/drawing/2014/main" id="{7B111EE3-453B-4C23-9515-5407F918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178362"/>
            <a:ext cx="44481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What transfers beyond one proof?</a:t>
            </a:r>
          </a:p>
        </p:txBody>
      </p:sp>
      <p:sp>
        <p:nvSpPr>
          <p:cNvPr id="113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75E5E00A-3A19-4F22-BDA5-57E96150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00725"/>
            <a:ext cx="504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B7B5760-9237-4A9C-B013-A8805751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9817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3CCCF42-E799-44A6-AEBE-C3A76198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10552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99B251A-5CE1-4B4F-8FD5-32029B64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2293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7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C61E60D7-ADE3-4292-9164-DF5A8410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504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A5FA896-3AFA-4F59-9905-E30D66D3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739FBB5-2B6B-4460-8978-55B0943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103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4B8D5AC-D586-4896-9D3C-C56A3CCA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1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996941FF-A9B7-4EBA-AD27-87552AFB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10275"/>
            <a:ext cx="504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8E85608E-8705-4E09-A22B-9FB8FBB4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1912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092DD12-9331-4AF0-AFE9-F8F92296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31507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B2D06F5-45BA-4234-A9A6-CF42124B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4389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5" name="Checked">
            <a:extLst xmlns:a="http://schemas.openxmlformats.org/drawingml/2006/main">
              <a:ext uri="{FF2B5EF4-FFF2-40B4-BE49-F238E27FC236}">
                <a16:creationId xmlns:a16="http://schemas.microsoft.com/office/drawing/2014/main" id="{4841064A-06A8-4E00-93C6-C15297C5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62572"/>
            <a:ext cx="10001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</a:t>
            </a:r>
          </a:p>
        </p:txBody>
      </p:sp>
      <p:sp>
        <p:nvSpPr>
          <p:cNvPr id="126" name="derivations">
            <a:extLst xmlns:a="http://schemas.openxmlformats.org/drawingml/2006/main">
              <a:ext uri="{FF2B5EF4-FFF2-40B4-BE49-F238E27FC236}">
                <a16:creationId xmlns:a16="http://schemas.microsoft.com/office/drawing/2014/main" id="{A64AFAC4-79E7-48EE-898A-DEB6416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105650"/>
            <a:ext cx="10001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derivations</a:t>
            </a:r>
          </a:p>
        </p:txBody>
      </p:sp>
      <p:sp>
        <p:nvSpPr>
          <p:cNvPr id="12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AA84E55-A150-4B1F-A2A6-333DE610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76975"/>
            <a:ext cx="609600" cy="9525"/>
          </a:xfrm>
          <a:custGeom xmlns:a="http://schemas.openxmlformats.org/drawingml/2006/main">
            <a:pathLst>
              <a:path w="609600" h="9525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F468AF4-041A-4772-A5CD-9B9BD35B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2293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9" name="Learned strategy">
            <a:extLst xmlns:a="http://schemas.openxmlformats.org/drawingml/2006/main">
              <a:ext uri="{FF2B5EF4-FFF2-40B4-BE49-F238E27FC236}">
                <a16:creationId xmlns:a16="http://schemas.microsoft.com/office/drawing/2014/main" id="{1AD6E13C-3745-418E-AE44-3919B93F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524500"/>
            <a:ext cx="22574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0" name="Learned strategy">
            <a:extLst xmlns:a="http://schemas.openxmlformats.org/drawingml/2006/main">
              <a:ext uri="{FF2B5EF4-FFF2-40B4-BE49-F238E27FC236}">
                <a16:creationId xmlns:a16="http://schemas.microsoft.com/office/drawing/2014/main" id="{2EFDFFC3-8601-43E9-95FE-D5D608D0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20288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Learned strategy</a:t>
            </a:r>
          </a:p>
        </p:txBody>
      </p:sp>
      <p:sp>
        <p:nvSpPr>
          <p:cNvPr id="131" name="Strategy component">
            <a:extLst xmlns:a="http://schemas.openxmlformats.org/drawingml/2006/main">
              <a:ext uri="{FF2B5EF4-FFF2-40B4-BE49-F238E27FC236}">
                <a16:creationId xmlns:a16="http://schemas.microsoft.com/office/drawing/2014/main" id="{40F40891-F964-4D90-8604-B347B02B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905500"/>
            <a:ext cx="1924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2" name="Abstract patterns">
            <a:extLst xmlns:a="http://schemas.openxmlformats.org/drawingml/2006/main">
              <a:ext uri="{FF2B5EF4-FFF2-40B4-BE49-F238E27FC236}">
                <a16:creationId xmlns:a16="http://schemas.microsoft.com/office/drawing/2014/main" id="{51C92BB7-C383-4DB1-8062-8D9B0A1B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947410"/>
            <a:ext cx="1790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Abstract patterns</a:t>
            </a:r>
          </a:p>
        </p:txBody>
      </p:sp>
      <p:sp>
        <p:nvSpPr>
          <p:cNvPr id="133" name="Strategy component">
            <a:extLst xmlns:a="http://schemas.openxmlformats.org/drawingml/2006/main">
              <a:ext uri="{FF2B5EF4-FFF2-40B4-BE49-F238E27FC236}">
                <a16:creationId xmlns:a16="http://schemas.microsoft.com/office/drawing/2014/main" id="{5DD2EC68-D417-4D02-A224-9096A832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6276975"/>
            <a:ext cx="1924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4" name="Proof heuristics">
            <a:extLst xmlns:a="http://schemas.openxmlformats.org/drawingml/2006/main">
              <a:ext uri="{FF2B5EF4-FFF2-40B4-BE49-F238E27FC236}">
                <a16:creationId xmlns:a16="http://schemas.microsoft.com/office/drawing/2014/main" id="{14EE7437-3433-486C-85AE-D806E085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6318885"/>
            <a:ext cx="1790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Proof heuristics</a:t>
            </a:r>
          </a:p>
        </p:txBody>
      </p:sp>
      <p:sp>
        <p:nvSpPr>
          <p:cNvPr id="135" name="Strategy component">
            <a:extLst xmlns:a="http://schemas.openxmlformats.org/drawingml/2006/main">
              <a:ext uri="{FF2B5EF4-FFF2-40B4-BE49-F238E27FC236}">
                <a16:creationId xmlns:a16="http://schemas.microsoft.com/office/drawing/2014/main" id="{073346AA-96E6-4528-85CD-1A596B97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6648450"/>
            <a:ext cx="1924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6" name="Reusable templates">
            <a:extLst xmlns:a="http://schemas.openxmlformats.org/drawingml/2006/main">
              <a:ext uri="{FF2B5EF4-FFF2-40B4-BE49-F238E27FC236}">
                <a16:creationId xmlns:a16="http://schemas.microsoft.com/office/drawing/2014/main" id="{3DA8099A-2D89-460D-A033-7FE726FB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6690360"/>
            <a:ext cx="1790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Reusable templates</a:t>
            </a:r>
          </a:p>
        </p:txBody>
      </p:sp>
      <p:sp>
        <p:nvSpPr>
          <p:cNvPr id="13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8BC31D4-572E-4092-89A8-5448D2EC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6276975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3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DB99882-8C5A-42EB-A753-BD85C69D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2293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9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498D518D-CDF5-438D-96BB-0D422249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5762625"/>
            <a:ext cx="504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B507014-633F-4918-8863-AE6FD877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9436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DAD0A69-4CF4-4BC8-95A3-84741614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06742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58B43EA-B1A9-46DF-BC27-3B1F4A4D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1912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3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E677594C-4303-4611-A951-984E46FF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67400"/>
            <a:ext cx="504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F84B385-0954-434B-8D06-0708A4B5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604837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D42535C-EFAE-433E-BBA3-CA94FE5C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61722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915C57E-C397-4C0D-BDC0-76A43651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629602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7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6E4E63CF-F77C-43AE-8CB9-D5ABA92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5972175"/>
            <a:ext cx="5048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D04176A-54A0-47DC-A7D5-3F917EAF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531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711064B-D520-44C1-B65F-A0743CF7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27697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2BC14C8-1E04-498B-B588-2045F0F5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4008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1" name="Unfamiliar">
            <a:extLst xmlns:a="http://schemas.openxmlformats.org/drawingml/2006/main">
              <a:ext uri="{FF2B5EF4-FFF2-40B4-BE49-F238E27FC236}">
                <a16:creationId xmlns:a16="http://schemas.microsoft.com/office/drawing/2014/main" id="{FCE762CA-43B1-40CE-BE82-6280FF20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703695"/>
            <a:ext cx="1000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Unfamiliar</a:t>
            </a:r>
          </a:p>
        </p:txBody>
      </p:sp>
      <p:sp>
        <p:nvSpPr>
          <p:cNvPr id="152" name="programs">
            <a:extLst xmlns:a="http://schemas.openxmlformats.org/drawingml/2006/main">
              <a:ext uri="{FF2B5EF4-FFF2-40B4-BE49-F238E27FC236}">
                <a16:creationId xmlns:a16="http://schemas.microsoft.com/office/drawing/2014/main" id="{B171E3B9-501C-4C3E-9E13-34D6FD4E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924675"/>
            <a:ext cx="1000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programs</a:t>
            </a:r>
          </a:p>
        </p:txBody>
      </p:sp>
      <p:sp>
        <p:nvSpPr>
          <p:cNvPr id="153" name="Retrieval and search comparison">
            <a:extLst xmlns:a="http://schemas.openxmlformats.org/drawingml/2006/main">
              <a:ext uri="{FF2B5EF4-FFF2-40B4-BE49-F238E27FC236}">
                <a16:creationId xmlns:a16="http://schemas.microsoft.com/office/drawing/2014/main" id="{3237D1EA-85BC-4E68-8CD8-8E9B0C97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21995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154" name="Editable magnifier lens">
            <a:extLst xmlns:a="http://schemas.openxmlformats.org/drawingml/2006/main">
              <a:ext uri="{FF2B5EF4-FFF2-40B4-BE49-F238E27FC236}">
                <a16:creationId xmlns:a16="http://schemas.microsoft.com/office/drawing/2014/main" id="{3FCD0252-CC96-422B-843C-A8A6C6EE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315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11111"/>
            </a:solidFill>
            <a:prstDash val="solid"/>
          </a:ln>
        </p:spPr>
      </p:sp>
      <p:sp>
        <p:nvSpPr>
          <p:cNvPr id="155" name="Editable magnifier handle">
            <a:extLst xmlns:a="http://schemas.openxmlformats.org/drawingml/2006/main">
              <a:ext uri="{FF2B5EF4-FFF2-40B4-BE49-F238E27FC236}">
                <a16:creationId xmlns:a16="http://schemas.microsoft.com/office/drawing/2014/main" id="{70E504D9-EF60-4FAD-9CB3-8BC0F313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804" y="7457504"/>
            <a:ext cx="89154" cy="89154"/>
          </a:xfrm>
          <a:custGeom xmlns:a="http://schemas.openxmlformats.org/drawingml/2006/main">
            <a:pathLst>
              <a:path w="89154" h="89154">
                <a:moveTo>
                  <a:pt x="0" y="0"/>
                </a:moveTo>
                <a:lnTo>
                  <a:pt x="89154" y="89154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1111"/>
            </a:solidFill>
            <a:prstDash val="solid"/>
          </a:ln>
        </p:spPr>
      </p:sp>
      <p:sp>
        <p:nvSpPr>
          <p:cNvPr id="156" name="Compare with retrieval + search">
            <a:extLst xmlns:a="http://schemas.openxmlformats.org/drawingml/2006/main">
              <a:ext uri="{FF2B5EF4-FFF2-40B4-BE49-F238E27FC236}">
                <a16:creationId xmlns:a16="http://schemas.microsoft.com/office/drawing/2014/main" id="{45D8FFE9-0720-4BF4-AFF9-6A12B643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7302437"/>
            <a:ext cx="32385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Compare with retrieval + search</a:t>
            </a:r>
          </a:p>
        </p:txBody>
      </p:sp>
      <p:sp>
        <p:nvSpPr>
          <p:cNvPr id="157" name="Compose verification evidence panel">
            <a:extLst xmlns:a="http://schemas.openxmlformats.org/drawingml/2006/main">
              <a:ext uri="{FF2B5EF4-FFF2-40B4-BE49-F238E27FC236}">
                <a16:creationId xmlns:a16="http://schemas.microsoft.com/office/drawing/2014/main" id="{4CB0CCC7-E19A-4983-B773-48EDD74D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714875"/>
            <a:ext cx="45339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8" name="Stage B">
            <a:extLst xmlns:a="http://schemas.openxmlformats.org/drawingml/2006/main">
              <a:ext uri="{FF2B5EF4-FFF2-40B4-BE49-F238E27FC236}">
                <a16:creationId xmlns:a16="http://schemas.microsoft.com/office/drawing/2014/main" id="{8C43396C-E428-445E-A238-888A80A3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819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9" name="B">
            <a:extLst xmlns:a="http://schemas.openxmlformats.org/drawingml/2006/main">
              <a:ext uri="{FF2B5EF4-FFF2-40B4-BE49-F238E27FC236}">
                <a16:creationId xmlns:a16="http://schemas.microsoft.com/office/drawing/2014/main" id="{485ADC0A-0471-4B2D-894C-77A34BB2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871199"/>
            <a:ext cx="419100" cy="31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B</a:t>
            </a:r>
          </a:p>
        </p:txBody>
      </p:sp>
      <p:sp>
        <p:nvSpPr>
          <p:cNvPr id="160" name="Compose verification evidence">
            <a:extLst xmlns:a="http://schemas.openxmlformats.org/drawingml/2006/main">
              <a:ext uri="{FF2B5EF4-FFF2-40B4-BE49-F238E27FC236}">
                <a16:creationId xmlns:a16="http://schemas.microsoft.com/office/drawing/2014/main" id="{C33119CE-5049-4024-B8ED-DBE23966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815840"/>
            <a:ext cx="36576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c01e8536f6ad421e"/>
              </a:rPr>
              <a:t>Compose verification evidence</a:t>
            </a:r>
          </a:p>
        </p:txBody>
      </p:sp>
      <p:sp>
        <p:nvSpPr>
          <p:cNvPr id="161" name="Can checked dependencies support callers?">
            <a:extLst xmlns:a="http://schemas.openxmlformats.org/drawingml/2006/main">
              <a:ext uri="{FF2B5EF4-FFF2-40B4-BE49-F238E27FC236}">
                <a16:creationId xmlns:a16="http://schemas.microsoft.com/office/drawing/2014/main" id="{2E561F1F-55EB-4A43-BCDC-6F8501AF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178362"/>
            <a:ext cx="36576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Can checked dependencies support callers?</a:t>
            </a:r>
          </a:p>
        </p:txBody>
      </p:sp>
      <p:sp>
        <p:nvSpPr>
          <p:cNvPr id="162" name="Local checked evidence">
            <a:extLst xmlns:a="http://schemas.openxmlformats.org/drawingml/2006/main">
              <a:ext uri="{FF2B5EF4-FFF2-40B4-BE49-F238E27FC236}">
                <a16:creationId xmlns:a16="http://schemas.microsoft.com/office/drawing/2014/main" id="{1D005272-06C7-4A99-8D20-657D5610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553075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3" name="Library A proof">
            <a:extLst xmlns:a="http://schemas.openxmlformats.org/drawingml/2006/main">
              <a:ext uri="{FF2B5EF4-FFF2-40B4-BE49-F238E27FC236}">
                <a16:creationId xmlns:a16="http://schemas.microsoft.com/office/drawing/2014/main" id="{7E3E0BBA-8226-4E3D-8083-BDAA6448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574411"/>
            <a:ext cx="15049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Library A proof</a:t>
            </a:r>
          </a:p>
        </p:txBody>
      </p:sp>
      <p:sp>
        <p:nvSpPr>
          <p:cNvPr id="164" name="(e.g., memory safety)">
            <a:extLst xmlns:a="http://schemas.openxmlformats.org/drawingml/2006/main">
              <a:ext uri="{FF2B5EF4-FFF2-40B4-BE49-F238E27FC236}">
                <a16:creationId xmlns:a16="http://schemas.microsoft.com/office/drawing/2014/main" id="{B209E933-4549-4B37-AC33-380B4C03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815584"/>
            <a:ext cx="1543050" cy="198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(e.g., memory safety)</a:t>
            </a:r>
          </a:p>
        </p:txBody>
      </p:sp>
      <p:sp>
        <p:nvSpPr>
          <p:cNvPr id="165" name="Local checked evidence">
            <a:extLst xmlns:a="http://schemas.openxmlformats.org/drawingml/2006/main">
              <a:ext uri="{FF2B5EF4-FFF2-40B4-BE49-F238E27FC236}">
                <a16:creationId xmlns:a16="http://schemas.microsoft.com/office/drawing/2014/main" id="{A27DEF72-972A-440A-80D2-6E3AA52D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6172200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6" name="Library B proof">
            <a:extLst xmlns:a="http://schemas.openxmlformats.org/drawingml/2006/main">
              <a:ext uri="{FF2B5EF4-FFF2-40B4-BE49-F238E27FC236}">
                <a16:creationId xmlns:a16="http://schemas.microsoft.com/office/drawing/2014/main" id="{FD123A02-F0D8-4979-9D14-865E725B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193536"/>
            <a:ext cx="15049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Library B proof</a:t>
            </a:r>
          </a:p>
        </p:txBody>
      </p:sp>
      <p:sp>
        <p:nvSpPr>
          <p:cNvPr id="167" name="(e.g., API contract)">
            <a:extLst xmlns:a="http://schemas.openxmlformats.org/drawingml/2006/main">
              <a:ext uri="{FF2B5EF4-FFF2-40B4-BE49-F238E27FC236}">
                <a16:creationId xmlns:a16="http://schemas.microsoft.com/office/drawing/2014/main" id="{CE36F92A-4B26-4CAC-85A4-798AA269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6434709"/>
            <a:ext cx="1543050" cy="198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(e.g., API contract)</a:t>
            </a:r>
          </a:p>
        </p:txBody>
      </p:sp>
      <p:sp>
        <p:nvSpPr>
          <p:cNvPr id="168" name="Local checked evidence">
            <a:extLst xmlns:a="http://schemas.openxmlformats.org/drawingml/2006/main">
              <a:ext uri="{FF2B5EF4-FFF2-40B4-BE49-F238E27FC236}">
                <a16:creationId xmlns:a16="http://schemas.microsoft.com/office/drawing/2014/main" id="{D235594C-935E-437E-A013-7B050058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6791325"/>
            <a:ext cx="1657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9" name="Caller obligations">
            <a:extLst xmlns:a="http://schemas.openxmlformats.org/drawingml/2006/main">
              <a:ext uri="{FF2B5EF4-FFF2-40B4-BE49-F238E27FC236}">
                <a16:creationId xmlns:a16="http://schemas.microsoft.com/office/drawing/2014/main" id="{7ADA9EA7-4424-48DA-8AF2-96039D5A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812661"/>
            <a:ext cx="15049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Caller obligations</a:t>
            </a:r>
          </a:p>
        </p:txBody>
      </p:sp>
      <p:sp>
        <p:nvSpPr>
          <p:cNvPr id="170" name="(e.g., correct usage)">
            <a:extLst xmlns:a="http://schemas.openxmlformats.org/drawingml/2006/main">
              <a:ext uri="{FF2B5EF4-FFF2-40B4-BE49-F238E27FC236}">
                <a16:creationId xmlns:a16="http://schemas.microsoft.com/office/drawing/2014/main" id="{5AB9D8CB-C9E3-4349-BE6D-7893D74C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7053834"/>
            <a:ext cx="1543050" cy="198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(e.g., correct usage)</a:t>
            </a:r>
          </a:p>
        </p:txBody>
      </p:sp>
      <p:sp>
        <p:nvSpPr>
          <p:cNvPr id="171" name="Checked interfaces">
            <a:extLst xmlns:a="http://schemas.openxmlformats.org/drawingml/2006/main">
              <a:ext uri="{FF2B5EF4-FFF2-40B4-BE49-F238E27FC236}">
                <a16:creationId xmlns:a16="http://schemas.microsoft.com/office/drawing/2014/main" id="{16078785-4A23-407E-A6CC-F933D4CE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753100"/>
            <a:ext cx="1038225" cy="1266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2" name="Checked">
            <a:extLst xmlns:a="http://schemas.openxmlformats.org/drawingml/2006/main">
              <a:ext uri="{FF2B5EF4-FFF2-40B4-BE49-F238E27FC236}">
                <a16:creationId xmlns:a16="http://schemas.microsoft.com/office/drawing/2014/main" id="{43D1F28A-B94B-4B2D-B451-D948CA6F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76735"/>
            <a:ext cx="9429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</a:t>
            </a:r>
          </a:p>
        </p:txBody>
      </p:sp>
      <p:sp>
        <p:nvSpPr>
          <p:cNvPr id="173" name="interfaces">
            <a:extLst xmlns:a="http://schemas.openxmlformats.org/drawingml/2006/main">
              <a:ext uri="{FF2B5EF4-FFF2-40B4-BE49-F238E27FC236}">
                <a16:creationId xmlns:a16="http://schemas.microsoft.com/office/drawing/2014/main" id="{95440C14-3426-4FF9-B7D6-E219E696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119813"/>
            <a:ext cx="9429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interfaces</a:t>
            </a:r>
          </a:p>
        </p:txBody>
      </p:sp>
      <p:sp>
        <p:nvSpPr>
          <p:cNvPr id="17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27366FC-0113-4824-98B3-31E4E212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600825"/>
            <a:ext cx="223838" cy="238125"/>
          </a:xfrm>
          <a:custGeom xmlns:a="http://schemas.openxmlformats.org/drawingml/2006/main">
            <a:pathLst>
              <a:path w="223838" h="238125">
                <a:moveTo>
                  <a:pt x="223838" y="0"/>
                </a:moveTo>
                <a:lnTo>
                  <a:pt x="223838" y="58293"/>
                </a:lnTo>
                <a:lnTo>
                  <a:pt x="0" y="2381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FEDC922-CDA3-435F-9938-BDA8EB2E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6659118"/>
            <a:ext cx="223838" cy="179832"/>
          </a:xfrm>
          <a:custGeom xmlns:a="http://schemas.openxmlformats.org/drawingml/2006/main">
            <a:pathLst>
              <a:path w="223838" h="179832">
                <a:moveTo>
                  <a:pt x="0" y="0"/>
                </a:moveTo>
                <a:lnTo>
                  <a:pt x="223838" y="17983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6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0BB8D156-8B10-4C00-9C5E-3436ABEC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613" y="6467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7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36CA74C8-D10B-4A28-A665-C69E19BC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6772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8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694D0BE7-2E02-4898-8FA4-888B5124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6772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BF6A833-BE97-4C41-8C1E-122CA30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10250"/>
            <a:ext cx="238125" cy="323850"/>
          </a:xfrm>
          <a:custGeom xmlns:a="http://schemas.openxmlformats.org/drawingml/2006/main">
            <a:pathLst>
              <a:path w="238125" h="323850">
                <a:moveTo>
                  <a:pt x="0" y="0"/>
                </a:moveTo>
                <a:lnTo>
                  <a:pt x="123825" y="0"/>
                </a:lnTo>
                <a:lnTo>
                  <a:pt x="123825" y="323850"/>
                </a:lnTo>
                <a:lnTo>
                  <a:pt x="238125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8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30B2CB3-B25C-44F6-8597-37023F7B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60864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8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B400549-904D-4320-AB94-4F9CEF62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6381750"/>
            <a:ext cx="238125" cy="47625"/>
          </a:xfrm>
          <a:custGeom xmlns:a="http://schemas.openxmlformats.org/drawingml/2006/main">
            <a:pathLst>
              <a:path w="238125" h="47625">
                <a:moveTo>
                  <a:pt x="0" y="47625"/>
                </a:moveTo>
                <a:lnTo>
                  <a:pt x="123825" y="47625"/>
                </a:lnTo>
                <a:lnTo>
                  <a:pt x="123825" y="0"/>
                </a:ln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8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BA69790-EFEE-4D44-BD36-D81CF1EF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6334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8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716EEE9-28D2-464F-9F33-B326B09B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6772275"/>
            <a:ext cx="238125" cy="276225"/>
          </a:xfrm>
          <a:custGeom xmlns:a="http://schemas.openxmlformats.org/drawingml/2006/main">
            <a:pathLst>
              <a:path w="238125" h="276225">
                <a:moveTo>
                  <a:pt x="0" y="276225"/>
                </a:moveTo>
                <a:lnTo>
                  <a:pt x="123825" y="276225"/>
                </a:lnTo>
                <a:lnTo>
                  <a:pt x="123825" y="0"/>
                </a:ln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8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96C03E8-21F0-4D43-8C57-4E8B5FDD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67246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85" name="Larger stated property">
            <a:extLst xmlns:a="http://schemas.openxmlformats.org/drawingml/2006/main">
              <a:ext uri="{FF2B5EF4-FFF2-40B4-BE49-F238E27FC236}">
                <a16:creationId xmlns:a16="http://schemas.microsoft.com/office/drawing/2014/main" id="{B670C47A-5A43-449E-BE92-1B4FC42B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581650"/>
            <a:ext cx="12001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86" name="Larger stated">
            <a:extLst xmlns:a="http://schemas.openxmlformats.org/drawingml/2006/main">
              <a:ext uri="{FF2B5EF4-FFF2-40B4-BE49-F238E27FC236}">
                <a16:creationId xmlns:a16="http://schemas.microsoft.com/office/drawing/2014/main" id="{2457492B-11DE-40CE-B483-F5FA2174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06046"/>
            <a:ext cx="1066800" cy="237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Larger stated</a:t>
            </a:r>
          </a:p>
        </p:txBody>
      </p:sp>
      <p:sp>
        <p:nvSpPr>
          <p:cNvPr id="187" name="property">
            <a:extLst xmlns:a="http://schemas.openxmlformats.org/drawingml/2006/main">
              <a:ext uri="{FF2B5EF4-FFF2-40B4-BE49-F238E27FC236}">
                <a16:creationId xmlns:a16="http://schemas.microsoft.com/office/drawing/2014/main" id="{1B288CD2-54E4-4FEC-B30B-80AF96A8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943600"/>
            <a:ext cx="1066800" cy="2375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property</a:t>
            </a:r>
          </a:p>
        </p:txBody>
      </p:sp>
      <p:sp>
        <p:nvSpPr>
          <p:cNvPr id="188" name="(e.g., caller">
            <a:extLst xmlns:a="http://schemas.openxmlformats.org/drawingml/2006/main">
              <a:ext uri="{FF2B5EF4-FFF2-40B4-BE49-F238E27FC236}">
                <a16:creationId xmlns:a16="http://schemas.microsoft.com/office/drawing/2014/main" id="{FD8A464A-CEBB-4FBB-9837-BBC96275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252782"/>
            <a:ext cx="1085850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(e.g., caller</a:t>
            </a:r>
          </a:p>
        </p:txBody>
      </p:sp>
      <p:sp>
        <p:nvSpPr>
          <p:cNvPr id="189" name="functionality)">
            <a:extLst xmlns:a="http://schemas.openxmlformats.org/drawingml/2006/main">
              <a:ext uri="{FF2B5EF4-FFF2-40B4-BE49-F238E27FC236}">
                <a16:creationId xmlns:a16="http://schemas.microsoft.com/office/drawing/2014/main" id="{36D7964C-1A46-4EFB-80DC-48DD899D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462713"/>
            <a:ext cx="1085850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functionality)</a:t>
            </a:r>
          </a:p>
        </p:txBody>
      </p:sp>
      <p:sp>
        <p:nvSpPr>
          <p:cNvPr id="190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CF191C93-B779-46B3-9AB9-E1B3F5CA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781800"/>
            <a:ext cx="457200" cy="409575"/>
          </a:xfrm>
          <a:custGeom xmlns:a="http://schemas.openxmlformats.org/drawingml/2006/main">
            <a:pathLst>
              <a:path w="457200" h="409575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409575"/>
                </a:lnTo>
                <a:lnTo>
                  <a:pt x="0" y="4095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9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F27AE62-ED6E-4C75-BD70-20A9585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678180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9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A1D3601-42E2-4393-865C-D741A644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565" y="6925151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9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DFA6FAD-FE69-4AF2-A1BB-BD7DABA6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565" y="6994779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9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8335443-E723-4A25-BE62-D08C858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565" y="7064407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9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6A4C8F9-558F-4385-9BC7-40538C8E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6429375"/>
            <a:ext cx="104775" cy="9525"/>
          </a:xfrm>
          <a:custGeom xmlns:a="http://schemas.openxmlformats.org/drawingml/2006/main">
            <a:pathLst>
              <a:path w="104775" h="9525">
                <a:moveTo>
                  <a:pt x="0" y="0"/>
                </a:move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9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3358127B-5CE3-4B21-BB26-23F85CA9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6381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97" name="Audit verification feedback panel">
            <a:extLst xmlns:a="http://schemas.openxmlformats.org/drawingml/2006/main">
              <a:ext uri="{FF2B5EF4-FFF2-40B4-BE49-F238E27FC236}">
                <a16:creationId xmlns:a16="http://schemas.microsoft.com/office/drawing/2014/main" id="{BD4FD748-6884-47C7-8321-ED7C4619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714875"/>
            <a:ext cx="50673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98" name="Stage C">
            <a:extLst xmlns:a="http://schemas.openxmlformats.org/drawingml/2006/main">
              <a:ext uri="{FF2B5EF4-FFF2-40B4-BE49-F238E27FC236}">
                <a16:creationId xmlns:a16="http://schemas.microsoft.com/office/drawing/2014/main" id="{6F5332AE-3B50-46D4-88EF-0D4014D4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819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99" name="C">
            <a:extLst xmlns:a="http://schemas.openxmlformats.org/drawingml/2006/main">
              <a:ext uri="{FF2B5EF4-FFF2-40B4-BE49-F238E27FC236}">
                <a16:creationId xmlns:a16="http://schemas.microsoft.com/office/drawing/2014/main" id="{AAE95C0C-9309-4799-92A9-EA2A1139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871199"/>
            <a:ext cx="419100" cy="31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4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</a:t>
            </a:r>
          </a:p>
        </p:txBody>
      </p:sp>
      <p:sp>
        <p:nvSpPr>
          <p:cNvPr id="200" name="Audit verification feedback">
            <a:extLst xmlns:a="http://schemas.openxmlformats.org/drawingml/2006/main">
              <a:ext uri="{FF2B5EF4-FFF2-40B4-BE49-F238E27FC236}">
                <a16:creationId xmlns:a16="http://schemas.microsoft.com/office/drawing/2014/main" id="{3FBCB65D-8CA8-4F0F-9051-5A976B0E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815840"/>
            <a:ext cx="41910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f1773e111ace4ad0"/>
              </a:rPr>
              <a:t>Audit verification feedback</a:t>
            </a:r>
          </a:p>
        </p:txBody>
      </p:sp>
      <p:sp>
        <p:nvSpPr>
          <p:cNvPr id="201" name="Does the theorem capture the requirement?">
            <a:extLst xmlns:a="http://schemas.openxmlformats.org/drawingml/2006/main">
              <a:ext uri="{FF2B5EF4-FFF2-40B4-BE49-F238E27FC236}">
                <a16:creationId xmlns:a16="http://schemas.microsoft.com/office/drawing/2014/main" id="{3E92CFF4-9ACA-4872-BC2B-EC5647A0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5178362"/>
            <a:ext cx="41910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Does the theorem capture the requirement?</a:t>
            </a:r>
          </a:p>
        </p:txBody>
      </p:sp>
      <p:sp>
        <p:nvSpPr>
          <p:cNvPr id="202" name="Evidence assessment input">
            <a:extLst xmlns:a="http://schemas.openxmlformats.org/drawingml/2006/main">
              <a:ext uri="{FF2B5EF4-FFF2-40B4-BE49-F238E27FC236}">
                <a16:creationId xmlns:a16="http://schemas.microsoft.com/office/drawing/2014/main" id="{4A713E33-586C-4263-8102-DB328361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5562600"/>
            <a:ext cx="13811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03" name="Intended">
            <a:extLst xmlns:a="http://schemas.openxmlformats.org/drawingml/2006/main">
              <a:ext uri="{FF2B5EF4-FFF2-40B4-BE49-F238E27FC236}">
                <a16:creationId xmlns:a16="http://schemas.microsoft.com/office/drawing/2014/main" id="{76F7B8DC-4472-472C-B3E9-AB72137A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586222"/>
            <a:ext cx="12858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Intended</a:t>
            </a:r>
          </a:p>
        </p:txBody>
      </p:sp>
      <p:sp>
        <p:nvSpPr>
          <p:cNvPr id="204" name="requirements">
            <a:extLst xmlns:a="http://schemas.openxmlformats.org/drawingml/2006/main">
              <a:ext uri="{FF2B5EF4-FFF2-40B4-BE49-F238E27FC236}">
                <a16:creationId xmlns:a16="http://schemas.microsoft.com/office/drawing/2014/main" id="{0D8D9B50-FDDE-4B7F-959E-22E26D2B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829300"/>
            <a:ext cx="12858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requirements</a:t>
            </a:r>
          </a:p>
        </p:txBody>
      </p:sp>
      <p:sp>
        <p:nvSpPr>
          <p:cNvPr id="205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85864A5A-E74E-46E4-A25C-DD58389B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4738" y="6143625"/>
            <a:ext cx="381000" cy="419100"/>
          </a:xfrm>
          <a:custGeom xmlns:a="http://schemas.openxmlformats.org/drawingml/2006/main">
            <a:pathLst>
              <a:path w="381000" h="419100">
                <a:moveTo>
                  <a:pt x="0" y="0"/>
                </a:moveTo>
                <a:lnTo>
                  <a:pt x="285750" y="0"/>
                </a:lnTo>
                <a:lnTo>
                  <a:pt x="381000" y="95250"/>
                </a:lnTo>
                <a:lnTo>
                  <a:pt x="381000" y="419100"/>
                </a:lnTo>
                <a:lnTo>
                  <a:pt x="0" y="4191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0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78A5640-BF61-438E-9DDB-CA22FADF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488" y="6143625"/>
            <a:ext cx="95250" cy="95250"/>
          </a:xfrm>
          <a:custGeom xmlns:a="http://schemas.openxmlformats.org/drawingml/2006/main">
            <a:pathLst>
              <a:path w="95250" h="95250">
                <a:moveTo>
                  <a:pt x="0" y="0"/>
                </a:moveTo>
                <a:lnTo>
                  <a:pt x="0" y="95250"/>
                </a:lnTo>
                <a:lnTo>
                  <a:pt x="9525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0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6EAEFC5-7DB8-44B8-80E8-7FC36AB0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0938" y="6290310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0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CA08264-8241-42A5-AA91-4909F2B7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0938" y="6361557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0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7D38668-1FBE-4649-9F37-20FF12A7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0938" y="6432804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0" name="Evidence assessment input">
            <a:extLst xmlns:a="http://schemas.openxmlformats.org/drawingml/2006/main">
              <a:ext uri="{FF2B5EF4-FFF2-40B4-BE49-F238E27FC236}">
                <a16:creationId xmlns:a16="http://schemas.microsoft.com/office/drawing/2014/main" id="{16F031C9-33EC-45AC-AAE8-98A90C3C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5562600"/>
            <a:ext cx="16859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11" name="Exact artifacts">
            <a:extLst xmlns:a="http://schemas.openxmlformats.org/drawingml/2006/main">
              <a:ext uri="{FF2B5EF4-FFF2-40B4-BE49-F238E27FC236}">
                <a16:creationId xmlns:a16="http://schemas.microsoft.com/office/drawing/2014/main" id="{53ED2D71-4C3B-48F5-BC90-7ADE8BD6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5707761"/>
            <a:ext cx="15906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Exact artifacts</a:t>
            </a:r>
          </a:p>
        </p:txBody>
      </p:sp>
      <p:sp>
        <p:nvSpPr>
          <p:cNvPr id="212" name="(proofs, counterexamples,">
            <a:extLst xmlns:a="http://schemas.openxmlformats.org/drawingml/2006/main">
              <a:ext uri="{FF2B5EF4-FFF2-40B4-BE49-F238E27FC236}">
                <a16:creationId xmlns:a16="http://schemas.microsoft.com/office/drawing/2014/main" id="{5BF08DF8-375E-475F-8D8C-50EEDE66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5991416"/>
            <a:ext cx="1590675" cy="171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(proofs, counterexamples,</a:t>
            </a:r>
          </a:p>
        </p:txBody>
      </p:sp>
      <p:sp>
        <p:nvSpPr>
          <p:cNvPr id="213" name="traces)">
            <a:extLst xmlns:a="http://schemas.openxmlformats.org/drawingml/2006/main">
              <a:ext uri="{FF2B5EF4-FFF2-40B4-BE49-F238E27FC236}">
                <a16:creationId xmlns:a16="http://schemas.microsoft.com/office/drawing/2014/main" id="{8999A842-4FDE-43E1-A628-F634AC49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162675"/>
            <a:ext cx="1590675" cy="171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traces)</a:t>
            </a:r>
          </a:p>
        </p:txBody>
      </p:sp>
      <p:sp>
        <p:nvSpPr>
          <p:cNvPr id="214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952B9563-FBE3-427C-8001-DC0A68AA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1138" y="6400800"/>
            <a:ext cx="381000" cy="200025"/>
          </a:xfrm>
          <a:custGeom xmlns:a="http://schemas.openxmlformats.org/drawingml/2006/main">
            <a:pathLst>
              <a:path w="381000" h="200025">
                <a:moveTo>
                  <a:pt x="0" y="0"/>
                </a:moveTo>
                <a:lnTo>
                  <a:pt x="285750" y="0"/>
                </a:lnTo>
                <a:lnTo>
                  <a:pt x="381000" y="95250"/>
                </a:lnTo>
                <a:lnTo>
                  <a:pt x="381000" y="200025"/>
                </a:lnTo>
                <a:lnTo>
                  <a:pt x="0" y="2000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1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9CF549F-9D83-4989-9D6B-B2AD0CC1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6888" y="6400800"/>
            <a:ext cx="95250" cy="95250"/>
          </a:xfrm>
          <a:custGeom xmlns:a="http://schemas.openxmlformats.org/drawingml/2006/main">
            <a:pathLst>
              <a:path w="95250" h="95250">
                <a:moveTo>
                  <a:pt x="0" y="0"/>
                </a:moveTo>
                <a:lnTo>
                  <a:pt x="0" y="95250"/>
                </a:lnTo>
                <a:lnTo>
                  <a:pt x="9525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3E8037E-7E71-4F20-85E4-9964DB5A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7338" y="6470809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387918A-939C-4D23-851C-82E76542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7338" y="6504813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D796E81-5BBE-4D36-ADC0-5E590ABB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7338" y="6538817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9" name="Evidence assessment input">
            <a:extLst xmlns:a="http://schemas.openxmlformats.org/drawingml/2006/main">
              <a:ext uri="{FF2B5EF4-FFF2-40B4-BE49-F238E27FC236}">
                <a16:creationId xmlns:a16="http://schemas.microsoft.com/office/drawing/2014/main" id="{5B4B8F6B-3F42-41CE-9BFD-E5BAFA67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5562600"/>
            <a:ext cx="1419225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20" name="Assumptions">
            <a:extLst xmlns:a="http://schemas.openxmlformats.org/drawingml/2006/main">
              <a:ext uri="{FF2B5EF4-FFF2-40B4-BE49-F238E27FC236}">
                <a16:creationId xmlns:a16="http://schemas.microsoft.com/office/drawing/2014/main" id="{88345822-AD17-4740-81E7-EA8FA5C5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5707761"/>
            <a:ext cx="13239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Assumptions</a:t>
            </a:r>
          </a:p>
        </p:txBody>
      </p:sp>
      <p:sp>
        <p:nvSpPr>
          <p:cNvPr id="221" name="(environment, model,">
            <a:extLst xmlns:a="http://schemas.openxmlformats.org/drawingml/2006/main">
              <a:ext uri="{FF2B5EF4-FFF2-40B4-BE49-F238E27FC236}">
                <a16:creationId xmlns:a16="http://schemas.microsoft.com/office/drawing/2014/main" id="{9B12D6DC-7DD6-460C-928E-F67D3FDE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5991416"/>
            <a:ext cx="1323975" cy="171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(environment, model,</a:t>
            </a:r>
          </a:p>
        </p:txBody>
      </p:sp>
      <p:sp>
        <p:nvSpPr>
          <p:cNvPr id="222" name="trusted components)">
            <a:extLst xmlns:a="http://schemas.openxmlformats.org/drawingml/2006/main">
              <a:ext uri="{FF2B5EF4-FFF2-40B4-BE49-F238E27FC236}">
                <a16:creationId xmlns:a16="http://schemas.microsoft.com/office/drawing/2014/main" id="{72EB3DD3-0E77-4D1B-9AD3-C86E61A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6162675"/>
            <a:ext cx="1323975" cy="171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163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trusted components)</a:t>
            </a:r>
          </a:p>
        </p:txBody>
      </p:sp>
      <p:sp>
        <p:nvSpPr>
          <p:cNvPr id="223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EAB269CF-1F71-4808-AD40-5EAFCFA3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6113" y="6400800"/>
            <a:ext cx="381000" cy="200025"/>
          </a:xfrm>
          <a:custGeom xmlns:a="http://schemas.openxmlformats.org/drawingml/2006/main">
            <a:pathLst>
              <a:path w="381000" h="200025">
                <a:moveTo>
                  <a:pt x="0" y="0"/>
                </a:moveTo>
                <a:lnTo>
                  <a:pt x="285750" y="0"/>
                </a:lnTo>
                <a:lnTo>
                  <a:pt x="381000" y="95250"/>
                </a:lnTo>
                <a:lnTo>
                  <a:pt x="381000" y="200025"/>
                </a:lnTo>
                <a:lnTo>
                  <a:pt x="0" y="2000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2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567DE6F-7EFC-4658-909F-7CF173A3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1863" y="6400800"/>
            <a:ext cx="95250" cy="95250"/>
          </a:xfrm>
          <a:custGeom xmlns:a="http://schemas.openxmlformats.org/drawingml/2006/main">
            <a:pathLst>
              <a:path w="95250" h="95250">
                <a:moveTo>
                  <a:pt x="0" y="0"/>
                </a:moveTo>
                <a:lnTo>
                  <a:pt x="0" y="95250"/>
                </a:lnTo>
                <a:lnTo>
                  <a:pt x="9525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2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7D9F303-4E7B-449E-81DC-7022C8F1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2313" y="6470809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2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833DE67-61A2-4A09-8606-FF11E316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2313" y="6504813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2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83EC78F-D008-4EDF-A355-C7F07871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2313" y="6538817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2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3F0AA37-209F-490E-B21A-B2697A93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667500"/>
            <a:ext cx="3390900" cy="142875"/>
          </a:xfrm>
          <a:custGeom xmlns:a="http://schemas.openxmlformats.org/drawingml/2006/main">
            <a:pathLst>
              <a:path w="3390900" h="142875">
                <a:moveTo>
                  <a:pt x="0" y="0"/>
                </a:moveTo>
                <a:lnTo>
                  <a:pt x="0" y="142875"/>
                </a:lnTo>
                <a:lnTo>
                  <a:pt x="3390900" y="142875"/>
                </a:lnTo>
                <a:lnTo>
                  <a:pt x="3390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2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3709C77-4B6F-4F16-A28B-9A725D68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6810375"/>
            <a:ext cx="9525" cy="171450"/>
          </a:xfrm>
          <a:custGeom xmlns:a="http://schemas.openxmlformats.org/drawingml/2006/main">
            <a:pathLst>
              <a:path w="952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3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A24788AD-F460-494F-AB50-5E49A254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68675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231" name="Assess feedback">
            <a:extLst xmlns:a="http://schemas.openxmlformats.org/drawingml/2006/main">
              <a:ext uri="{FF2B5EF4-FFF2-40B4-BE49-F238E27FC236}">
                <a16:creationId xmlns:a16="http://schemas.microsoft.com/office/drawing/2014/main" id="{0CE4F2FF-7989-4F5A-9AEC-08CAD53E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0" y="6991350"/>
            <a:ext cx="25241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32" name="Editable magnifier lens">
            <a:extLst xmlns:a="http://schemas.openxmlformats.org/drawingml/2006/main">
              <a:ext uri="{FF2B5EF4-FFF2-40B4-BE49-F238E27FC236}">
                <a16:creationId xmlns:a16="http://schemas.microsoft.com/office/drawing/2014/main" id="{7792FB81-8B20-47E8-B0AF-31D67533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7134225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11111"/>
            </a:solidFill>
            <a:prstDash val="solid"/>
          </a:ln>
        </p:spPr>
      </p:sp>
      <p:sp>
        <p:nvSpPr>
          <p:cNvPr id="233" name="Editable magnifier handle">
            <a:extLst xmlns:a="http://schemas.openxmlformats.org/drawingml/2006/main">
              <a:ext uri="{FF2B5EF4-FFF2-40B4-BE49-F238E27FC236}">
                <a16:creationId xmlns:a16="http://schemas.microsoft.com/office/drawing/2014/main" id="{18D8FB61-7985-4900-BD96-8EF5E931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0292" y="7363492"/>
            <a:ext cx="143637" cy="143637"/>
          </a:xfrm>
          <a:custGeom xmlns:a="http://schemas.openxmlformats.org/drawingml/2006/main">
            <a:pathLst>
              <a:path w="143637" h="143637">
                <a:moveTo>
                  <a:pt x="0" y="0"/>
                </a:moveTo>
                <a:lnTo>
                  <a:pt x="143637" y="14363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1111"/>
            </a:solidFill>
            <a:prstDash val="solid"/>
          </a:ln>
        </p:spPr>
      </p:sp>
      <p:sp>
        <p:nvSpPr>
          <p:cNvPr id="234" name="Assess feedback">
            <a:extLst xmlns:a="http://schemas.openxmlformats.org/drawingml/2006/main">
              <a:ext uri="{FF2B5EF4-FFF2-40B4-BE49-F238E27FC236}">
                <a16:creationId xmlns:a16="http://schemas.microsoft.com/office/drawing/2014/main" id="{740ADB3A-346B-479B-A6F7-20B6F4CA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7100888"/>
            <a:ext cx="17240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Assess feedback</a:t>
            </a:r>
          </a:p>
        </p:txBody>
      </p:sp>
      <p:sp>
        <p:nvSpPr>
          <p:cNvPr id="23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DD76088-4B2A-4221-B099-FEFBBDE2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458075"/>
            <a:ext cx="1114425" cy="9525"/>
          </a:xfrm>
          <a:custGeom xmlns:a="http://schemas.openxmlformats.org/drawingml/2006/main">
            <a:pathLst>
              <a:path w="1114425" h="9525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36" name="Verification goal">
            <a:extLst xmlns:a="http://schemas.openxmlformats.org/drawingml/2006/main">
              <a:ext uri="{FF2B5EF4-FFF2-40B4-BE49-F238E27FC236}">
                <a16:creationId xmlns:a16="http://schemas.microsoft.com/office/drawing/2014/main" id="{11C3A809-10A5-4A88-B527-FE0AFEA7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953375"/>
            <a:ext cx="1232535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37" name="Efficient, reusable, independently checkable verification">
            <a:extLst xmlns:a="http://schemas.openxmlformats.org/drawingml/2006/main">
              <a:ext uri="{FF2B5EF4-FFF2-40B4-BE49-F238E27FC236}">
                <a16:creationId xmlns:a16="http://schemas.microsoft.com/office/drawing/2014/main" id="{A8D41E32-1BCF-48BA-90C4-93FDF25A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8024241"/>
            <a:ext cx="12020550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Efficient, reusable, independently checkable verification</a:t>
            </a:r>
          </a:p>
        </p:txBody>
      </p:sp>
      <p:sp>
        <p:nvSpPr>
          <p:cNvPr id="238" name="Guarantees depend on the property, input domain, execution semantics, and truste">
            <a:extLst xmlns:a="http://schemas.openxmlformats.org/drawingml/2006/main">
              <a:ext uri="{FF2B5EF4-FFF2-40B4-BE49-F238E27FC236}">
                <a16:creationId xmlns:a16="http://schemas.microsoft.com/office/drawing/2014/main" id="{DBA0D172-2BB0-4976-B1D6-A40C6E1B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476298"/>
            <a:ext cx="14211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Guarantees depend on the property, input domain, execution semantics, and trusted checking.</a:t>
            </a:r>
          </a:p>
        </p:txBody>
      </p:sp>
      <p:sp>
        <p:nvSpPr>
          <p:cNvPr id="239" name="[1] Anthropic + Theorem (2026)">
            <a:extLst xmlns:a="http://schemas.openxmlformats.org/drawingml/2006/main">
              <a:ext uri="{FF2B5EF4-FFF2-40B4-BE49-F238E27FC236}">
                <a16:creationId xmlns:a16="http://schemas.microsoft.com/office/drawing/2014/main" id="{19E098B9-3E12-4DC8-A802-885FD979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8755571"/>
            <a:ext cx="3571875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033da91f70bf4db9"/>
              </a:rPr>
              <a:t>[1] Anthropic + Theorem (2026)</a:t>
            </a:r>
          </a:p>
        </p:txBody>
      </p:sp>
      <p:sp>
        <p:nvSpPr>
          <p:cNvPr id="240" name="[2] Theorem (2026)">
            <a:extLst xmlns:a="http://schemas.openxmlformats.org/drawingml/2006/main">
              <a:ext uri="{FF2B5EF4-FFF2-40B4-BE49-F238E27FC236}">
                <a16:creationId xmlns:a16="http://schemas.microsoft.com/office/drawing/2014/main" id="{44F05674-3D91-40CD-AE75-23EB1AF8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8755571"/>
            <a:ext cx="2857500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9fc49f489fca4113"/>
              </a:rPr>
              <a:t>[2] Theorem (2026)</a:t>
            </a:r>
          </a:p>
        </p:txBody>
      </p:sp>
    </p:spTree>
    <p:extLst>
      <p:ext uri="{BB962C8B-B14F-4D97-AF65-F5344CB8AC3E}">
        <p14:creationId xmlns:p14="http://schemas.microsoft.com/office/powerpoint/2010/main" val="923479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6" name="Learning Reusable Proof Strategies">
            <a:extLst xmlns:a="http://schemas.openxmlformats.org/drawingml/2006/main">
              <a:ext uri="{FF2B5EF4-FFF2-40B4-BE49-F238E27FC236}">
                <a16:creationId xmlns:a16="http://schemas.microsoft.com/office/drawing/2014/main" id="{BF3C8FC0-29C2-4F53-BDFD-CD5D1F39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2200"/>
            <a:ext cx="13735050" cy="541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Reusable Proof Strategies</a:t>
            </a:r>
          </a:p>
        </p:txBody>
      </p:sp>
      <p:sp>
        <p:nvSpPr>
          <p:cNvPr id="2" name="Which verification evidence teaches transfer?">
            <a:extLst xmlns:a="http://schemas.openxmlformats.org/drawingml/2006/main">
              <a:ext uri="{FF2B5EF4-FFF2-40B4-BE49-F238E27FC236}">
                <a16:creationId xmlns:a16="http://schemas.microsoft.com/office/drawing/2014/main" id="{BEF37974-CB23-49ED-A1BD-73105A79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93230"/>
            <a:ext cx="13068300" cy="3756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Which verification evidence teaches transfer?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D41CE200-405C-4F37-B541-9E51C03F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194310"/>
            <a:ext cx="2047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Proposed research</a:t>
            </a:r>
          </a:p>
        </p:txBody>
      </p:sp>
      <p:sp>
        <p:nvSpPr>
          <p:cNvPr id="4" name="Code + test harness">
            <a:extLst xmlns:a="http://schemas.openxmlformats.org/drawingml/2006/main">
              <a:ext uri="{FF2B5EF4-FFF2-40B4-BE49-F238E27FC236}">
                <a16:creationId xmlns:a16="http://schemas.microsoft.com/office/drawing/2014/main" id="{D95334C7-2432-4ADA-91DD-6B85F466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447800"/>
            <a:ext cx="24479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Code +">
            <a:extLst xmlns:a="http://schemas.openxmlformats.org/drawingml/2006/main">
              <a:ext uri="{FF2B5EF4-FFF2-40B4-BE49-F238E27FC236}">
                <a16:creationId xmlns:a16="http://schemas.microsoft.com/office/drawing/2014/main" id="{375AC7D6-6DF9-4645-8A10-E5D74471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33538"/>
            <a:ext cx="1419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Code +</a:t>
            </a:r>
          </a:p>
        </p:txBody>
      </p:sp>
      <p:sp>
        <p:nvSpPr>
          <p:cNvPr id="6" name="test harness">
            <a:extLst xmlns:a="http://schemas.openxmlformats.org/drawingml/2006/main">
              <a:ext uri="{FF2B5EF4-FFF2-40B4-BE49-F238E27FC236}">
                <a16:creationId xmlns:a16="http://schemas.microsoft.com/office/drawing/2014/main" id="{0538343E-5E98-499C-BDBC-FF206159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09763"/>
            <a:ext cx="14192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test harness</a:t>
            </a:r>
          </a:p>
        </p:txBody>
      </p:sp>
      <p:sp>
        <p:nvSpPr>
          <p:cNvPr id="7" name="Explicit property">
            <a:extLst xmlns:a="http://schemas.openxmlformats.org/drawingml/2006/main">
              <a:ext uri="{FF2B5EF4-FFF2-40B4-BE49-F238E27FC236}">
                <a16:creationId xmlns:a16="http://schemas.microsoft.com/office/drawing/2014/main" id="{6DFC817D-C8DB-4917-8F25-44F5D357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447800"/>
            <a:ext cx="23717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" name="Explicit">
            <a:extLst xmlns:a="http://schemas.openxmlformats.org/drawingml/2006/main">
              <a:ext uri="{FF2B5EF4-FFF2-40B4-BE49-F238E27FC236}">
                <a16:creationId xmlns:a16="http://schemas.microsoft.com/office/drawing/2014/main" id="{CA1A3539-5BFB-4562-82DB-C5C056D9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633538"/>
            <a:ext cx="13430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Explicit</a:t>
            </a:r>
          </a:p>
        </p:txBody>
      </p:sp>
      <p:sp>
        <p:nvSpPr>
          <p:cNvPr id="9" name="property">
            <a:extLst xmlns:a="http://schemas.openxmlformats.org/drawingml/2006/main">
              <a:ext uri="{FF2B5EF4-FFF2-40B4-BE49-F238E27FC236}">
                <a16:creationId xmlns:a16="http://schemas.microsoft.com/office/drawing/2014/main" id="{ED36AAC3-56E9-459A-A20F-4C82D9D7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09763"/>
            <a:ext cx="13430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property</a:t>
            </a:r>
          </a:p>
        </p:txBody>
      </p:sp>
      <p:sp>
        <p:nvSpPr>
          <p:cNvPr id="10" name="Agent proposes proofs">
            <a:extLst xmlns:a="http://schemas.openxmlformats.org/drawingml/2006/main">
              <a:ext uri="{FF2B5EF4-FFF2-40B4-BE49-F238E27FC236}">
                <a16:creationId xmlns:a16="http://schemas.microsoft.com/office/drawing/2014/main" id="{3CDE65E3-E468-4772-9C97-C57FEFEF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447800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" name="Agent">
            <a:extLst xmlns:a="http://schemas.openxmlformats.org/drawingml/2006/main">
              <a:ext uri="{FF2B5EF4-FFF2-40B4-BE49-F238E27FC236}">
                <a16:creationId xmlns:a16="http://schemas.microsoft.com/office/drawing/2014/main" id="{78CF1697-97A5-4D70-BA92-EC4B5CED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633538"/>
            <a:ext cx="154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Agent</a:t>
            </a:r>
          </a:p>
        </p:txBody>
      </p:sp>
      <p:sp>
        <p:nvSpPr>
          <p:cNvPr id="12" name="proposes proofs">
            <a:extLst xmlns:a="http://schemas.openxmlformats.org/drawingml/2006/main">
              <a:ext uri="{FF2B5EF4-FFF2-40B4-BE49-F238E27FC236}">
                <a16:creationId xmlns:a16="http://schemas.microsoft.com/office/drawing/2014/main" id="{9AC415CB-DCFC-451C-99CA-36EAE3CC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909763"/>
            <a:ext cx="1543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proposes proofs</a:t>
            </a:r>
          </a:p>
        </p:txBody>
      </p:sp>
      <p:sp>
        <p:nvSpPr>
          <p:cNvPr id="13" name="Independent checker">
            <a:extLst xmlns:a="http://schemas.openxmlformats.org/drawingml/2006/main">
              <a:ext uri="{FF2B5EF4-FFF2-40B4-BE49-F238E27FC236}">
                <a16:creationId xmlns:a16="http://schemas.microsoft.com/office/drawing/2014/main" id="{33FC287F-646E-449A-B463-2D600184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447800"/>
            <a:ext cx="22574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" name="Independent">
            <a:extLst xmlns:a="http://schemas.openxmlformats.org/drawingml/2006/main">
              <a:ext uri="{FF2B5EF4-FFF2-40B4-BE49-F238E27FC236}">
                <a16:creationId xmlns:a16="http://schemas.microsoft.com/office/drawing/2014/main" id="{76E5EEE9-7462-4FFC-BD5F-848AE8BF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633538"/>
            <a:ext cx="1228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Independent</a:t>
            </a:r>
          </a:p>
        </p:txBody>
      </p:sp>
      <p:sp>
        <p:nvSpPr>
          <p:cNvPr id="15" name="checker">
            <a:extLst xmlns:a="http://schemas.openxmlformats.org/drawingml/2006/main">
              <a:ext uri="{FF2B5EF4-FFF2-40B4-BE49-F238E27FC236}">
                <a16:creationId xmlns:a16="http://schemas.microsoft.com/office/drawing/2014/main" id="{C2AB4476-073F-4D03-9780-B6348C0F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909763"/>
            <a:ext cx="12287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checker</a:t>
            </a:r>
          </a:p>
        </p:txBody>
      </p:sp>
      <p:sp>
        <p:nvSpPr>
          <p:cNvPr id="1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C1E1EC77-8797-4B87-9680-49C6FFAC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95450"/>
            <a:ext cx="485775" cy="657225"/>
          </a:xfrm>
          <a:custGeom xmlns:a="http://schemas.openxmlformats.org/drawingml/2006/main">
            <a:pathLst>
              <a:path w="485775" h="657225">
                <a:moveTo>
                  <a:pt x="0" y="0"/>
                </a:moveTo>
                <a:lnTo>
                  <a:pt x="364331" y="0"/>
                </a:lnTo>
                <a:lnTo>
                  <a:pt x="485775" y="121444"/>
                </a:lnTo>
                <a:lnTo>
                  <a:pt x="485775" y="657225"/>
                </a:lnTo>
                <a:lnTo>
                  <a:pt x="0" y="6572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93A8ACE-8A2C-4679-82F2-E9E1BA42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156" y="1695450"/>
            <a:ext cx="121444" cy="121444"/>
          </a:xfrm>
          <a:custGeom xmlns:a="http://schemas.openxmlformats.org/drawingml/2006/main">
            <a:pathLst>
              <a:path w="121444" h="121444">
                <a:moveTo>
                  <a:pt x="0" y="0"/>
                </a:moveTo>
                <a:lnTo>
                  <a:pt x="0" y="121444"/>
                </a:lnTo>
                <a:lnTo>
                  <a:pt x="121444" y="12144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152C06F-2010-4303-8B9E-D872AC44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1925479"/>
            <a:ext cx="267176" cy="9525"/>
          </a:xfrm>
          <a:custGeom xmlns:a="http://schemas.openxmlformats.org/drawingml/2006/main">
            <a:pathLst>
              <a:path w="267176" h="9525">
                <a:moveTo>
                  <a:pt x="0" y="0"/>
                </a:moveTo>
                <a:lnTo>
                  <a:pt x="26717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636C20A-E13D-424B-9EF7-F49B4DA7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2037207"/>
            <a:ext cx="267176" cy="9525"/>
          </a:xfrm>
          <a:custGeom xmlns:a="http://schemas.openxmlformats.org/drawingml/2006/main">
            <a:pathLst>
              <a:path w="267176" h="9525">
                <a:moveTo>
                  <a:pt x="0" y="0"/>
                </a:moveTo>
                <a:lnTo>
                  <a:pt x="26717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051B7D9-AF6B-42C0-A8D2-3C57F99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" y="2148935"/>
            <a:ext cx="267176" cy="9525"/>
          </a:xfrm>
          <a:custGeom xmlns:a="http://schemas.openxmlformats.org/drawingml/2006/main">
            <a:pathLst>
              <a:path w="267176" h="9525">
                <a:moveTo>
                  <a:pt x="0" y="0"/>
                </a:moveTo>
                <a:lnTo>
                  <a:pt x="26717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" name="Existing software">
            <a:extLst xmlns:a="http://schemas.openxmlformats.org/drawingml/2006/main">
              <a:ext uri="{FF2B5EF4-FFF2-40B4-BE49-F238E27FC236}">
                <a16:creationId xmlns:a16="http://schemas.microsoft.com/office/drawing/2014/main" id="{C70F55AC-FCFC-4996-BC48-0C20591E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1624"/>
            <a:ext cx="1314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Existing software</a:t>
            </a:r>
          </a:p>
        </p:txBody>
      </p:sp>
      <p:sp>
        <p:nvSpPr>
          <p:cNvPr id="22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1BCA5CA5-3CC3-4D39-A2DE-43826ED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695450"/>
            <a:ext cx="628650" cy="695325"/>
          </a:xfrm>
          <a:custGeom xmlns:a="http://schemas.openxmlformats.org/drawingml/2006/main">
            <a:pathLst>
              <a:path w="628650" h="695325">
                <a:moveTo>
                  <a:pt x="0" y="0"/>
                </a:moveTo>
                <a:lnTo>
                  <a:pt x="471488" y="0"/>
                </a:lnTo>
                <a:lnTo>
                  <a:pt x="628650" y="157163"/>
                </a:lnTo>
                <a:lnTo>
                  <a:pt x="628650" y="695325"/>
                </a:lnTo>
                <a:lnTo>
                  <a:pt x="0" y="6953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81044D0-D36B-4966-AD93-50C5EE41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213" y="1695450"/>
            <a:ext cx="157163" cy="157163"/>
          </a:xfrm>
          <a:custGeom xmlns:a="http://schemas.openxmlformats.org/drawingml/2006/main">
            <a:pathLst>
              <a:path w="157163" h="157163">
                <a:moveTo>
                  <a:pt x="0" y="0"/>
                </a:moveTo>
                <a:lnTo>
                  <a:pt x="0" y="157163"/>
                </a:lnTo>
                <a:lnTo>
                  <a:pt x="157163" y="157163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4" name="&lt;/&gt;">
            <a:extLst xmlns:a="http://schemas.openxmlformats.org/drawingml/2006/main">
              <a:ext uri="{FF2B5EF4-FFF2-40B4-BE49-F238E27FC236}">
                <a16:creationId xmlns:a16="http://schemas.microsoft.com/office/drawing/2014/main" id="{0E12C317-D465-4EA0-A80E-BCCA8564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86327"/>
            <a:ext cx="571500" cy="3135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29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&lt;/&gt;</a:t>
            </a:r>
          </a:p>
        </p:txBody>
      </p:sp>
      <p:sp>
        <p:nvSpPr>
          <p:cNvPr id="25" name="Input domain +">
            <a:extLst xmlns:a="http://schemas.openxmlformats.org/drawingml/2006/main">
              <a:ext uri="{FF2B5EF4-FFF2-40B4-BE49-F238E27FC236}">
                <a16:creationId xmlns:a16="http://schemas.microsoft.com/office/drawing/2014/main" id="{2AB3B513-85C6-4C50-83F7-02E162C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93608"/>
            <a:ext cx="1171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Input domain +</a:t>
            </a:r>
          </a:p>
        </p:txBody>
      </p:sp>
      <p:sp>
        <p:nvSpPr>
          <p:cNvPr id="26" name="execution model">
            <a:extLst xmlns:a="http://schemas.openxmlformats.org/drawingml/2006/main">
              <a:ext uri="{FF2B5EF4-FFF2-40B4-BE49-F238E27FC236}">
                <a16:creationId xmlns:a16="http://schemas.microsoft.com/office/drawing/2014/main" id="{EDDFF0BE-111B-4F0C-ABA5-381C999F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14588"/>
            <a:ext cx="1171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execution model</a:t>
            </a:r>
          </a:p>
        </p:txBody>
      </p:sp>
      <p:sp>
        <p:nvSpPr>
          <p:cNvPr id="2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B75529F1-A50A-42E4-AC51-8ECC260E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04975"/>
            <a:ext cx="457200" cy="628650"/>
          </a:xfrm>
          <a:custGeom xmlns:a="http://schemas.openxmlformats.org/drawingml/2006/main">
            <a:pathLst>
              <a:path w="457200" h="628650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28650"/>
                </a:lnTo>
                <a:lnTo>
                  <a:pt x="0" y="6286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35681BC-E1C5-499B-AA3F-281D7134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04975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B2B660B-205B-4297-B8CD-CCB7D5E9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290" y="1925003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846DE2E3-97AC-4B25-810A-FC9A3852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290" y="2031873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794CC64-E6DD-438C-8D12-F0E7EB0A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290" y="213874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2" name="Invariants · Contracts ·">
            <a:extLst xmlns:a="http://schemas.openxmlformats.org/drawingml/2006/main">
              <a:ext uri="{FF2B5EF4-FFF2-40B4-BE49-F238E27FC236}">
                <a16:creationId xmlns:a16="http://schemas.microsoft.com/office/drawing/2014/main" id="{059BDF79-AE67-4828-9304-EB23BD66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14182"/>
            <a:ext cx="1533525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Invariants · Contracts ·</a:t>
            </a:r>
          </a:p>
        </p:txBody>
      </p:sp>
      <p:sp>
        <p:nvSpPr>
          <p:cNvPr id="33" name="Lemmas">
            <a:extLst xmlns:a="http://schemas.openxmlformats.org/drawingml/2006/main">
              <a:ext uri="{FF2B5EF4-FFF2-40B4-BE49-F238E27FC236}">
                <a16:creationId xmlns:a16="http://schemas.microsoft.com/office/drawing/2014/main" id="{7AA29116-F10D-49E5-A8EE-39EDEAA5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24113"/>
            <a:ext cx="1533525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Lemmas</a:t>
            </a:r>
          </a:p>
        </p:txBody>
      </p:sp>
      <p:sp>
        <p:nvSpPr>
          <p:cNvPr id="34" name="Editable magnifier lens">
            <a:extLst xmlns:a="http://schemas.openxmlformats.org/drawingml/2006/main">
              <a:ext uri="{FF2B5EF4-FFF2-40B4-BE49-F238E27FC236}">
                <a16:creationId xmlns:a16="http://schemas.microsoft.com/office/drawing/2014/main" id="{422881BF-2D99-4B8D-9BFD-5CABFFA0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1714500"/>
            <a:ext cx="409575" cy="409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11111"/>
            </a:solidFill>
            <a:prstDash val="solid"/>
          </a:ln>
        </p:spPr>
      </p:sp>
      <p:sp>
        <p:nvSpPr>
          <p:cNvPr id="35" name="Editable magnifier handle">
            <a:extLst xmlns:a="http://schemas.openxmlformats.org/drawingml/2006/main">
              <a:ext uri="{FF2B5EF4-FFF2-40B4-BE49-F238E27FC236}">
                <a16:creationId xmlns:a16="http://schemas.microsoft.com/office/drawing/2014/main" id="{A5DEA6D7-6FE2-43B0-91D9-04971645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5072" y="2054447"/>
            <a:ext cx="212979" cy="212979"/>
          </a:xfrm>
          <a:custGeom xmlns:a="http://schemas.openxmlformats.org/drawingml/2006/main">
            <a:pathLst>
              <a:path w="212979" h="212979">
                <a:moveTo>
                  <a:pt x="0" y="0"/>
                </a:moveTo>
                <a:lnTo>
                  <a:pt x="212979" y="212979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1111"/>
            </a:solidFill>
            <a:prstDash val="solid"/>
          </a:ln>
        </p:spPr>
      </p:sp>
      <p:sp>
        <p:nvSpPr>
          <p:cNvPr id="3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E68E051-E81B-40E5-8A41-EA98C1DE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057400"/>
            <a:ext cx="971550" cy="9525"/>
          </a:xfrm>
          <a:custGeom xmlns:a="http://schemas.openxmlformats.org/drawingml/2006/main">
            <a:pathLst>
              <a:path w="971550" h="9525">
                <a:moveTo>
                  <a:pt x="0" y="0"/>
                </a:moveTo>
                <a:lnTo>
                  <a:pt x="971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789D27A5-FFDF-482D-8B71-696F79CE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097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38" name="Formalize">
            <a:extLst xmlns:a="http://schemas.openxmlformats.org/drawingml/2006/main">
              <a:ext uri="{FF2B5EF4-FFF2-40B4-BE49-F238E27FC236}">
                <a16:creationId xmlns:a16="http://schemas.microsoft.com/office/drawing/2014/main" id="{CEE8A6C5-D5E7-4C3D-9503-2F7D6575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39075"/>
            <a:ext cx="9525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Formalize</a:t>
            </a:r>
          </a:p>
        </p:txBody>
      </p:sp>
      <p:sp>
        <p:nvSpPr>
          <p:cNvPr id="3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FBA4EA6-5E67-4904-9D9A-3A9A5FE3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57400"/>
            <a:ext cx="866775" cy="9525"/>
          </a:xfrm>
          <a:custGeom xmlns:a="http://schemas.openxmlformats.org/drawingml/2006/main">
            <a:pathLst>
              <a:path w="866775" h="9525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9BC42AA-045D-453C-A663-8BEC2017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097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1" name="Propose">
            <a:extLst xmlns:a="http://schemas.openxmlformats.org/drawingml/2006/main">
              <a:ext uri="{FF2B5EF4-FFF2-40B4-BE49-F238E27FC236}">
                <a16:creationId xmlns:a16="http://schemas.microsoft.com/office/drawing/2014/main" id="{74863812-882C-4FD9-925C-EAE8EC49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739075"/>
            <a:ext cx="8477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</a:t>
            </a:r>
          </a:p>
        </p:txBody>
      </p:sp>
      <p:sp>
        <p:nvSpPr>
          <p:cNvPr id="4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02AEB84-844D-46B9-8191-2A731FD9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057400"/>
            <a:ext cx="771525" cy="9525"/>
          </a:xfrm>
          <a:custGeom xmlns:a="http://schemas.openxmlformats.org/drawingml/2006/main">
            <a:pathLst>
              <a:path w="771525" h="9525">
                <a:moveTo>
                  <a:pt x="0" y="0"/>
                </a:moveTo>
                <a:lnTo>
                  <a:pt x="771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3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83619FD-E006-44D6-9F89-0364FE98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0097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4" name="Check">
            <a:extLst xmlns:a="http://schemas.openxmlformats.org/drawingml/2006/main">
              <a:ext uri="{FF2B5EF4-FFF2-40B4-BE49-F238E27FC236}">
                <a16:creationId xmlns:a16="http://schemas.microsoft.com/office/drawing/2014/main" id="{3CE52F66-D245-4811-A1C9-5482D883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39075"/>
            <a:ext cx="75247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4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4280D06-B6FA-499B-BAE3-119F58E2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2057400"/>
            <a:ext cx="161925" cy="9525"/>
          </a:xfrm>
          <a:custGeom xmlns:a="http://schemas.openxmlformats.org/drawingml/2006/main">
            <a:pathLst>
              <a:path w="161925" h="9525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6" name="Distinct proof outcome">
            <a:extLst xmlns:a="http://schemas.openxmlformats.org/drawingml/2006/main">
              <a:ext uri="{FF2B5EF4-FFF2-40B4-BE49-F238E27FC236}">
                <a16:creationId xmlns:a16="http://schemas.microsoft.com/office/drawing/2014/main" id="{9E6B5B5A-8342-4ECC-B4E0-3F9212E6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990600"/>
            <a:ext cx="2409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7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0E5CAB7A-14C2-470E-88EE-E99C08DC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1162050"/>
            <a:ext cx="285750" cy="257175"/>
          </a:xfrm>
          <a:custGeom xmlns:a="http://schemas.openxmlformats.org/drawingml/2006/main">
            <a:pathLst>
              <a:path w="285750" h="257175">
                <a:moveTo>
                  <a:pt x="0" y="157163"/>
                </a:moveTo>
                <a:lnTo>
                  <a:pt x="100013" y="257175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48" name="Checked step">
            <a:extLst xmlns:a="http://schemas.openxmlformats.org/drawingml/2006/main">
              <a:ext uri="{FF2B5EF4-FFF2-40B4-BE49-F238E27FC236}">
                <a16:creationId xmlns:a16="http://schemas.microsoft.com/office/drawing/2014/main" id="{A711F36C-3A84-4219-BA15-2DCD18D7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1138238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 step</a:t>
            </a:r>
          </a:p>
        </p:txBody>
      </p:sp>
      <p:sp>
        <p:nvSpPr>
          <p:cNvPr id="4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184AFC0-8231-4B71-9C40-9A865C63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1276350"/>
            <a:ext cx="552450" cy="781050"/>
          </a:xfrm>
          <a:custGeom xmlns:a="http://schemas.openxmlformats.org/drawingml/2006/main">
            <a:pathLst>
              <a:path w="552450" h="781050">
                <a:moveTo>
                  <a:pt x="0" y="781050"/>
                </a:moveTo>
                <a:lnTo>
                  <a:pt x="0" y="0"/>
                </a:ln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882AC6C-0240-47E3-92A1-5271834D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12287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1" name="Distinct proof outcome">
            <a:extLst xmlns:a="http://schemas.openxmlformats.org/drawingml/2006/main">
              <a:ext uri="{FF2B5EF4-FFF2-40B4-BE49-F238E27FC236}">
                <a16:creationId xmlns:a16="http://schemas.microsoft.com/office/drawing/2014/main" id="{1712F3FB-991F-466F-8791-B6FA2EE8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1666875"/>
            <a:ext cx="2409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2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0A43CAA6-5658-4720-86A1-283583DA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875" y="1828800"/>
            <a:ext cx="257175" cy="257175"/>
          </a:xfrm>
          <a:custGeom xmlns:a="http://schemas.openxmlformats.org/drawingml/2006/main">
            <a:pathLst>
              <a:path w="257175" h="257175">
                <a:moveTo>
                  <a:pt x="0" y="0"/>
                </a:moveTo>
                <a:lnTo>
                  <a:pt x="257175" y="2571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3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8F4F131C-C155-4573-83DD-AB6460BA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875" y="1828800"/>
            <a:ext cx="257175" cy="257175"/>
          </a:xfrm>
          <a:custGeom xmlns:a="http://schemas.openxmlformats.org/drawingml/2006/main">
            <a:pathLst>
              <a:path w="257175" h="257175">
                <a:moveTo>
                  <a:pt x="257175" y="0"/>
                </a:moveTo>
                <a:lnTo>
                  <a:pt x="0" y="2571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4" name="Counterexample">
            <a:extLst xmlns:a="http://schemas.openxmlformats.org/drawingml/2006/main">
              <a:ext uri="{FF2B5EF4-FFF2-40B4-BE49-F238E27FC236}">
                <a16:creationId xmlns:a16="http://schemas.microsoft.com/office/drawing/2014/main" id="{5FB196F3-C668-48C8-81E2-3C5F8D0F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1814513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Counterexample</a:t>
            </a:r>
          </a:p>
        </p:txBody>
      </p:sp>
      <p:sp>
        <p:nvSpPr>
          <p:cNvPr id="5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0938DE3-A4D0-4300-80F0-0ED143FB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1952625"/>
            <a:ext cx="552450" cy="104775"/>
          </a:xfrm>
          <a:custGeom xmlns:a="http://schemas.openxmlformats.org/drawingml/2006/main">
            <a:pathLst>
              <a:path w="552450" h="104775">
                <a:moveTo>
                  <a:pt x="0" y="104775"/>
                </a:moveTo>
                <a:lnTo>
                  <a:pt x="0" y="0"/>
                </a:ln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B2849BA-DBF2-4CD5-9EC5-23FD6D78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19050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7" name="Distinct proof outcome">
            <a:extLst xmlns:a="http://schemas.openxmlformats.org/drawingml/2006/main">
              <a:ext uri="{FF2B5EF4-FFF2-40B4-BE49-F238E27FC236}">
                <a16:creationId xmlns:a16="http://schemas.microsoft.com/office/drawing/2014/main" id="{AAA9587D-9474-4B28-B5B6-ED8DB71B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2343150"/>
            <a:ext cx="2409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8" name="?">
            <a:extLst xmlns:a="http://schemas.openxmlformats.org/drawingml/2006/main">
              <a:ext uri="{FF2B5EF4-FFF2-40B4-BE49-F238E27FC236}">
                <a16:creationId xmlns:a16="http://schemas.microsoft.com/office/drawing/2014/main" id="{FC28F411-23BA-4939-BAAA-0514747C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20725" y="2407920"/>
            <a:ext cx="41910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30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?</a:t>
            </a:r>
          </a:p>
        </p:txBody>
      </p:sp>
      <p:sp>
        <p:nvSpPr>
          <p:cNvPr id="59" name="Unresolved /">
            <a:extLst xmlns:a="http://schemas.openxmlformats.org/drawingml/2006/main">
              <a:ext uri="{FF2B5EF4-FFF2-40B4-BE49-F238E27FC236}">
                <a16:creationId xmlns:a16="http://schemas.microsoft.com/office/drawing/2014/main" id="{68915BA5-6D38-4062-A00C-D0FA3E437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2352675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Unresolved /</a:t>
            </a:r>
          </a:p>
        </p:txBody>
      </p:sp>
      <p:sp>
        <p:nvSpPr>
          <p:cNvPr id="60" name="resource limit">
            <a:extLst xmlns:a="http://schemas.openxmlformats.org/drawingml/2006/main">
              <a:ext uri="{FF2B5EF4-FFF2-40B4-BE49-F238E27FC236}">
                <a16:creationId xmlns:a16="http://schemas.microsoft.com/office/drawing/2014/main" id="{A670536B-7351-44DD-9A04-0212F911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2628900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resource limit</a:t>
            </a:r>
          </a:p>
        </p:txBody>
      </p:sp>
      <p:sp>
        <p:nvSpPr>
          <p:cNvPr id="6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C8C52C4-F7D2-4F02-8942-D76B2E8D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2057400"/>
            <a:ext cx="552450" cy="571500"/>
          </a:xfrm>
          <a:custGeom xmlns:a="http://schemas.openxmlformats.org/drawingml/2006/main">
            <a:pathLst>
              <a:path w="552450" h="571500">
                <a:moveTo>
                  <a:pt x="0" y="0"/>
                </a:moveTo>
                <a:lnTo>
                  <a:pt x="0" y="571500"/>
                </a:lnTo>
                <a:lnTo>
                  <a:pt x="55245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B27C7191-43D1-46F3-9BDE-C0014730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25812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37E4319-06CE-430F-AA57-9427B901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057400"/>
            <a:ext cx="4676775" cy="1200150"/>
          </a:xfrm>
          <a:custGeom xmlns:a="http://schemas.openxmlformats.org/drawingml/2006/main">
            <a:pathLst>
              <a:path w="4676775" h="1200150">
                <a:moveTo>
                  <a:pt x="4676775" y="0"/>
                </a:moveTo>
                <a:lnTo>
                  <a:pt x="4676775" y="1200150"/>
                </a:lnTo>
                <a:lnTo>
                  <a:pt x="0" y="1200150"/>
                </a:lnTo>
                <a:lnTo>
                  <a:pt x="0" y="6381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6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2EABF0E9-2E93-41EA-B0AA-33BEB373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955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5" name="Any outcome: investigate and refine the proof">
            <a:extLst xmlns:a="http://schemas.openxmlformats.org/drawingml/2006/main">
              <a:ext uri="{FF2B5EF4-FFF2-40B4-BE49-F238E27FC236}">
                <a16:creationId xmlns:a16="http://schemas.microsoft.com/office/drawing/2014/main" id="{31B3BE77-220D-4504-82E3-10C7C407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10650"/>
            <a:ext cx="425767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Any outcome: investigate and refine the proof</a:t>
            </a:r>
          </a:p>
        </p:txBody>
      </p:sp>
      <p:sp>
        <p:nvSpPr>
          <p:cNvPr id="66" name="Alternative mechanisms comparison">
            <a:extLst xmlns:a="http://schemas.openxmlformats.org/drawingml/2006/main">
              <a:ext uri="{FF2B5EF4-FFF2-40B4-BE49-F238E27FC236}">
                <a16:creationId xmlns:a16="http://schemas.microsoft.com/office/drawing/2014/main" id="{C64C09A7-205C-4C8A-B18E-89DC4A75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476625"/>
            <a:ext cx="15382875" cy="461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67" name="Compare three experimental mechanisms">
            <a:extLst xmlns:a="http://schemas.openxmlformats.org/drawingml/2006/main">
              <a:ext uri="{FF2B5EF4-FFF2-40B4-BE49-F238E27FC236}">
                <a16:creationId xmlns:a16="http://schemas.microsoft.com/office/drawing/2014/main" id="{A8122B29-B3E1-4F7D-81DF-C81F62BE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22154"/>
            <a:ext cx="9639300" cy="3756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Compare three experimental mechanisms</a:t>
            </a:r>
          </a:p>
        </p:txBody>
      </p:sp>
      <p:sp>
        <p:nvSpPr>
          <p:cNvPr id="68" name="Alternative mechanism: Retrieve">
            <a:extLst xmlns:a="http://schemas.openxmlformats.org/drawingml/2006/main">
              <a:ext uri="{FF2B5EF4-FFF2-40B4-BE49-F238E27FC236}">
                <a16:creationId xmlns:a16="http://schemas.microsoft.com/office/drawing/2014/main" id="{86EF8403-2A05-4B7B-B606-B0114281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4600575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9" name="Stage 1">
            <a:extLst xmlns:a="http://schemas.openxmlformats.org/drawingml/2006/main">
              <a:ext uri="{FF2B5EF4-FFF2-40B4-BE49-F238E27FC236}">
                <a16:creationId xmlns:a16="http://schemas.microsoft.com/office/drawing/2014/main" id="{060192AB-518E-4D35-AD5E-2D08286A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29075"/>
            <a:ext cx="504825" cy="504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0" name="1">
            <a:extLst xmlns:a="http://schemas.openxmlformats.org/drawingml/2006/main">
              <a:ext uri="{FF2B5EF4-FFF2-40B4-BE49-F238E27FC236}">
                <a16:creationId xmlns:a16="http://schemas.microsoft.com/office/drawing/2014/main" id="{4810159D-F249-4483-A65C-510BB5C4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091168"/>
            <a:ext cx="504825" cy="380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71" name="Retrieve">
            <a:extLst xmlns:a="http://schemas.openxmlformats.org/drawingml/2006/main">
              <a:ext uri="{FF2B5EF4-FFF2-40B4-BE49-F238E27FC236}">
                <a16:creationId xmlns:a16="http://schemas.microsoft.com/office/drawing/2014/main" id="{6694B46C-1FBC-4F76-876F-B0B0DB90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015931"/>
            <a:ext cx="3333750" cy="3977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Retrieve</a:t>
            </a:r>
          </a:p>
        </p:txBody>
      </p:sp>
      <p:sp>
        <p:nvSpPr>
          <p:cNvPr id="72" name="Reuse checked proof artifacts">
            <a:extLst xmlns:a="http://schemas.openxmlformats.org/drawingml/2006/main">
              <a:ext uri="{FF2B5EF4-FFF2-40B4-BE49-F238E27FC236}">
                <a16:creationId xmlns:a16="http://schemas.microsoft.com/office/drawing/2014/main" id="{81DE4CC0-8E79-4398-98EF-A9E70062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27601"/>
            <a:ext cx="33528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Reuse checked proof artifacts</a:t>
            </a:r>
          </a:p>
        </p:txBody>
      </p:sp>
      <p:sp>
        <p:nvSpPr>
          <p:cNvPr id="73" name="Alternative mechanism: Refine">
            <a:extLst xmlns:a="http://schemas.openxmlformats.org/drawingml/2006/main">
              <a:ext uri="{FF2B5EF4-FFF2-40B4-BE49-F238E27FC236}">
                <a16:creationId xmlns:a16="http://schemas.microsoft.com/office/drawing/2014/main" id="{A3FE78C5-1EE3-45A1-A4CC-061D3507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933825"/>
            <a:ext cx="4600575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4" name="Stage 2">
            <a:extLst xmlns:a="http://schemas.openxmlformats.org/drawingml/2006/main">
              <a:ext uri="{FF2B5EF4-FFF2-40B4-BE49-F238E27FC236}">
                <a16:creationId xmlns:a16="http://schemas.microsoft.com/office/drawing/2014/main" id="{67C1BBAB-E9CF-40A6-929A-667986EB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29075"/>
            <a:ext cx="504825" cy="504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5" name="2">
            <a:extLst xmlns:a="http://schemas.openxmlformats.org/drawingml/2006/main">
              <a:ext uri="{FF2B5EF4-FFF2-40B4-BE49-F238E27FC236}">
                <a16:creationId xmlns:a16="http://schemas.microsoft.com/office/drawing/2014/main" id="{F8E08C15-253B-4742-895F-1D113F33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091168"/>
            <a:ext cx="504825" cy="380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76" name="Refine">
            <a:extLst xmlns:a="http://schemas.openxmlformats.org/drawingml/2006/main">
              <a:ext uri="{FF2B5EF4-FFF2-40B4-BE49-F238E27FC236}">
                <a16:creationId xmlns:a16="http://schemas.microsoft.com/office/drawing/2014/main" id="{CB54C5E6-4B58-45FC-8AA8-064B9D1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015931"/>
            <a:ext cx="3333750" cy="3977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Refine</a:t>
            </a:r>
          </a:p>
        </p:txBody>
      </p:sp>
      <p:sp>
        <p:nvSpPr>
          <p:cNvPr id="77" name="Adapt during one task">
            <a:extLst xmlns:a="http://schemas.openxmlformats.org/drawingml/2006/main">
              <a:ext uri="{FF2B5EF4-FFF2-40B4-BE49-F238E27FC236}">
                <a16:creationId xmlns:a16="http://schemas.microsoft.com/office/drawing/2014/main" id="{B4A3736A-886B-42F3-A10A-83BCCC51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27601"/>
            <a:ext cx="33528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Adapt during one task</a:t>
            </a:r>
          </a:p>
        </p:txBody>
      </p:sp>
      <p:sp>
        <p:nvSpPr>
          <p:cNvPr id="78" name="Alternative mechanism: Learn">
            <a:extLst xmlns:a="http://schemas.openxmlformats.org/drawingml/2006/main">
              <a:ext uri="{FF2B5EF4-FFF2-40B4-BE49-F238E27FC236}">
                <a16:creationId xmlns:a16="http://schemas.microsoft.com/office/drawing/2014/main" id="{AD98B958-0951-4C10-908C-81E26EC3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933825"/>
            <a:ext cx="4600575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9" name="Stage 3">
            <a:extLst xmlns:a="http://schemas.openxmlformats.org/drawingml/2006/main">
              <a:ext uri="{FF2B5EF4-FFF2-40B4-BE49-F238E27FC236}">
                <a16:creationId xmlns:a16="http://schemas.microsoft.com/office/drawing/2014/main" id="{AC4416DB-AB72-4E96-BC46-852E7C73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4029075"/>
            <a:ext cx="504825" cy="504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0" name="3">
            <a:extLst xmlns:a="http://schemas.openxmlformats.org/drawingml/2006/main">
              <a:ext uri="{FF2B5EF4-FFF2-40B4-BE49-F238E27FC236}">
                <a16:creationId xmlns:a16="http://schemas.microsoft.com/office/drawing/2014/main" id="{03D3BD6C-66D2-4060-AB5C-A1F648C9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4091168"/>
            <a:ext cx="504825" cy="380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84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81" name="Learn">
            <a:extLst xmlns:a="http://schemas.openxmlformats.org/drawingml/2006/main">
              <a:ext uri="{FF2B5EF4-FFF2-40B4-BE49-F238E27FC236}">
                <a16:creationId xmlns:a16="http://schemas.microsoft.com/office/drawing/2014/main" id="{947B444C-3707-47C7-8673-4CCA0446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0025" y="4015931"/>
            <a:ext cx="3333750" cy="3977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Learn</a:t>
            </a:r>
          </a:p>
        </p:txBody>
      </p:sp>
      <p:sp>
        <p:nvSpPr>
          <p:cNvPr id="82" name="Train reusable proof strategies">
            <a:extLst xmlns:a="http://schemas.openxmlformats.org/drawingml/2006/main">
              <a:ext uri="{FF2B5EF4-FFF2-40B4-BE49-F238E27FC236}">
                <a16:creationId xmlns:a16="http://schemas.microsoft.com/office/drawing/2014/main" id="{8D42BFEC-5C46-4F6B-BE9C-BB487DA8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39550" y="4427601"/>
            <a:ext cx="33528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Train reusable proof strategies</a:t>
            </a:r>
          </a:p>
        </p:txBody>
      </p:sp>
      <p:sp>
        <p:nvSpPr>
          <p:cNvPr id="83" name="Editable proof library">
            <a:extLst xmlns:a="http://schemas.openxmlformats.org/drawingml/2006/main">
              <a:ext uri="{FF2B5EF4-FFF2-40B4-BE49-F238E27FC236}">
                <a16:creationId xmlns:a16="http://schemas.microsoft.com/office/drawing/2014/main" id="{463B011D-97DF-4292-936A-61C2D96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972050"/>
            <a:ext cx="6096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4" name="Proof library layer">
            <a:extLst xmlns:a="http://schemas.openxmlformats.org/drawingml/2006/main">
              <a:ext uri="{FF2B5EF4-FFF2-40B4-BE49-F238E27FC236}">
                <a16:creationId xmlns:a16="http://schemas.microsoft.com/office/drawing/2014/main" id="{043B55FA-61E1-47E6-A83F-9539EFE7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886325"/>
            <a:ext cx="609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5" name="Proof library layer">
            <a:extLst xmlns:a="http://schemas.openxmlformats.org/drawingml/2006/main">
              <a:ext uri="{FF2B5EF4-FFF2-40B4-BE49-F238E27FC236}">
                <a16:creationId xmlns:a16="http://schemas.microsoft.com/office/drawing/2014/main" id="{EF402364-C19F-4F61-8F23-5E2AB451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114925"/>
            <a:ext cx="609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6" name="Proof library layer">
            <a:extLst xmlns:a="http://schemas.openxmlformats.org/drawingml/2006/main">
              <a:ext uri="{FF2B5EF4-FFF2-40B4-BE49-F238E27FC236}">
                <a16:creationId xmlns:a16="http://schemas.microsoft.com/office/drawing/2014/main" id="{01F870C3-DF7C-4751-9CD3-04709906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43525"/>
            <a:ext cx="60960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43D2A6E-2B25-4BEE-8D3E-E59542D5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238750"/>
            <a:ext cx="647700" cy="9525"/>
          </a:xfrm>
          <a:custGeom xmlns:a="http://schemas.openxmlformats.org/drawingml/2006/main">
            <a:pathLst>
              <a:path w="647700" h="9525">
                <a:moveTo>
                  <a:pt x="0" y="0"/>
                </a:moveTo>
                <a:lnTo>
                  <a:pt x="647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D5B0F96-A4CF-40BC-8025-0EA58E81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91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89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CB64638D-6A0F-4544-BD42-A917D757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95850"/>
            <a:ext cx="542925" cy="685800"/>
          </a:xfrm>
          <a:custGeom xmlns:a="http://schemas.openxmlformats.org/drawingml/2006/main">
            <a:pathLst>
              <a:path w="542925" h="685800">
                <a:moveTo>
                  <a:pt x="0" y="0"/>
                </a:moveTo>
                <a:lnTo>
                  <a:pt x="407194" y="0"/>
                </a:lnTo>
                <a:lnTo>
                  <a:pt x="542925" y="135731"/>
                </a:lnTo>
                <a:lnTo>
                  <a:pt x="542925" y="685800"/>
                </a:lnTo>
                <a:lnTo>
                  <a:pt x="0" y="6858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9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7D3FACF-225F-447D-8BFA-71359758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819" y="4895850"/>
            <a:ext cx="135731" cy="135731"/>
          </a:xfrm>
          <a:custGeom xmlns:a="http://schemas.openxmlformats.org/drawingml/2006/main">
            <a:pathLst>
              <a:path w="135731" h="135731">
                <a:moveTo>
                  <a:pt x="0" y="0"/>
                </a:moveTo>
                <a:lnTo>
                  <a:pt x="0" y="135731"/>
                </a:lnTo>
                <a:lnTo>
                  <a:pt x="135731" y="135731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E1DAD66-C68D-44FA-9CC7-006F5E8B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210" y="5135880"/>
            <a:ext cx="298609" cy="9525"/>
          </a:xfrm>
          <a:custGeom xmlns:a="http://schemas.openxmlformats.org/drawingml/2006/main">
            <a:pathLst>
              <a:path w="298609" h="9525">
                <a:moveTo>
                  <a:pt x="0" y="0"/>
                </a:moveTo>
                <a:lnTo>
                  <a:pt x="29860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92666E8-375C-46B9-928F-EF7E2B5C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210" y="5252466"/>
            <a:ext cx="298609" cy="9525"/>
          </a:xfrm>
          <a:custGeom xmlns:a="http://schemas.openxmlformats.org/drawingml/2006/main">
            <a:pathLst>
              <a:path w="298609" h="9525">
                <a:moveTo>
                  <a:pt x="0" y="0"/>
                </a:moveTo>
                <a:lnTo>
                  <a:pt x="29860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7BF59F3-BEFD-42D8-A525-F7089291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210" y="5369052"/>
            <a:ext cx="298609" cy="9525"/>
          </a:xfrm>
          <a:custGeom xmlns:a="http://schemas.openxmlformats.org/drawingml/2006/main">
            <a:pathLst>
              <a:path w="298609" h="9525">
                <a:moveTo>
                  <a:pt x="0" y="0"/>
                </a:moveTo>
                <a:lnTo>
                  <a:pt x="29860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4" name="Search and reuse from">
            <a:extLst xmlns:a="http://schemas.openxmlformats.org/drawingml/2006/main">
              <a:ext uri="{FF2B5EF4-FFF2-40B4-BE49-F238E27FC236}">
                <a16:creationId xmlns:a16="http://schemas.microsoft.com/office/drawing/2014/main" id="{38A6BFE3-3A04-48CB-8192-6A7EC453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711952"/>
            <a:ext cx="378142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Search and reuse from</a:t>
            </a:r>
          </a:p>
        </p:txBody>
      </p:sp>
      <p:sp>
        <p:nvSpPr>
          <p:cNvPr id="95" name="existing invariants, lemmas, etc.">
            <a:extLst xmlns:a="http://schemas.openxmlformats.org/drawingml/2006/main">
              <a:ext uri="{FF2B5EF4-FFF2-40B4-BE49-F238E27FC236}">
                <a16:creationId xmlns:a16="http://schemas.microsoft.com/office/drawing/2014/main" id="{32F27D6C-09CF-4793-897A-2378304F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010275"/>
            <a:ext cx="378142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existing invariants, lemmas, etc.</a:t>
            </a:r>
          </a:p>
        </p:txBody>
      </p:sp>
      <p:sp>
        <p:nvSpPr>
          <p:cNvPr id="9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EF52896F-8829-4590-8DDC-FF823F74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4905375"/>
            <a:ext cx="504825" cy="666750"/>
          </a:xfrm>
          <a:custGeom xmlns:a="http://schemas.openxmlformats.org/drawingml/2006/main">
            <a:pathLst>
              <a:path w="504825" h="666750">
                <a:moveTo>
                  <a:pt x="0" y="0"/>
                </a:moveTo>
                <a:lnTo>
                  <a:pt x="378619" y="0"/>
                </a:lnTo>
                <a:lnTo>
                  <a:pt x="504825" y="126206"/>
                </a:lnTo>
                <a:lnTo>
                  <a:pt x="504825" y="666750"/>
                </a:lnTo>
                <a:lnTo>
                  <a:pt x="0" y="666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9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9D14D45-A3CF-4A61-88CE-18F3DBD2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144" y="4905375"/>
            <a:ext cx="126206" cy="126206"/>
          </a:xfrm>
          <a:custGeom xmlns:a="http://schemas.openxmlformats.org/drawingml/2006/main">
            <a:pathLst>
              <a:path w="126206" h="126206">
                <a:moveTo>
                  <a:pt x="0" y="0"/>
                </a:moveTo>
                <a:lnTo>
                  <a:pt x="0" y="126206"/>
                </a:lnTo>
                <a:lnTo>
                  <a:pt x="126206" y="126206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6B84035-55C7-49DF-943A-F6E9E5F2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8490" y="5138738"/>
            <a:ext cx="277654" cy="9525"/>
          </a:xfrm>
          <a:custGeom xmlns:a="http://schemas.openxmlformats.org/drawingml/2006/main">
            <a:pathLst>
              <a:path w="277654" h="9525">
                <a:moveTo>
                  <a:pt x="0" y="0"/>
                </a:moveTo>
                <a:lnTo>
                  <a:pt x="2776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5486186-271B-42D5-9B6B-0DD33E8C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8490" y="5252085"/>
            <a:ext cx="277654" cy="9525"/>
          </a:xfrm>
          <a:custGeom xmlns:a="http://schemas.openxmlformats.org/drawingml/2006/main">
            <a:pathLst>
              <a:path w="277654" h="9525">
                <a:moveTo>
                  <a:pt x="0" y="0"/>
                </a:moveTo>
                <a:lnTo>
                  <a:pt x="2776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CDC8650-7083-4DAC-9C0B-19B70810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8490" y="5365433"/>
            <a:ext cx="277654" cy="9525"/>
          </a:xfrm>
          <a:custGeom xmlns:a="http://schemas.openxmlformats.org/drawingml/2006/main">
            <a:pathLst>
              <a:path w="277654" h="9525">
                <a:moveTo>
                  <a:pt x="0" y="0"/>
                </a:moveTo>
                <a:lnTo>
                  <a:pt x="2776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E2EA7E4-9C2A-403F-B124-B33DC716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238750"/>
            <a:ext cx="647700" cy="9525"/>
          </a:xfrm>
          <a:custGeom xmlns:a="http://schemas.openxmlformats.org/drawingml/2006/main">
            <a:pathLst>
              <a:path w="647700" h="9525">
                <a:moveTo>
                  <a:pt x="0" y="0"/>
                </a:moveTo>
                <a:lnTo>
                  <a:pt x="647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8A5E85FB-DC4C-4CAD-820F-5DB3D6A3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191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3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F9D3B752-52A2-448F-9A06-49863F43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905375"/>
            <a:ext cx="514350" cy="666750"/>
          </a:xfrm>
          <a:custGeom xmlns:a="http://schemas.openxmlformats.org/drawingml/2006/main">
            <a:pathLst>
              <a:path w="514350" h="666750">
                <a:moveTo>
                  <a:pt x="0" y="0"/>
                </a:moveTo>
                <a:lnTo>
                  <a:pt x="385763" y="0"/>
                </a:lnTo>
                <a:lnTo>
                  <a:pt x="514350" y="128588"/>
                </a:lnTo>
                <a:lnTo>
                  <a:pt x="514350" y="666750"/>
                </a:lnTo>
                <a:lnTo>
                  <a:pt x="0" y="666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0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DDF2A01-25D8-4A64-9890-86BB8A77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4438" y="4905375"/>
            <a:ext cx="128588" cy="128588"/>
          </a:xfrm>
          <a:custGeom xmlns:a="http://schemas.openxmlformats.org/drawingml/2006/main">
            <a:pathLst>
              <a:path w="128588" h="128588">
                <a:moveTo>
                  <a:pt x="0" y="0"/>
                </a:moveTo>
                <a:lnTo>
                  <a:pt x="0" y="128588"/>
                </a:lnTo>
                <a:lnTo>
                  <a:pt x="128588" y="128588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87B27E8-1BAA-4637-B8A9-22160D51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1545" y="5138738"/>
            <a:ext cx="282893" cy="9525"/>
          </a:xfrm>
          <a:custGeom xmlns:a="http://schemas.openxmlformats.org/drawingml/2006/main">
            <a:pathLst>
              <a:path w="282893" h="9525">
                <a:moveTo>
                  <a:pt x="0" y="0"/>
                </a:moveTo>
                <a:lnTo>
                  <a:pt x="2828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02ECF4C-CE39-45E1-94F9-F1071664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1545" y="5252085"/>
            <a:ext cx="282893" cy="9525"/>
          </a:xfrm>
          <a:custGeom xmlns:a="http://schemas.openxmlformats.org/drawingml/2006/main">
            <a:pathLst>
              <a:path w="282893" h="9525">
                <a:moveTo>
                  <a:pt x="0" y="0"/>
                </a:moveTo>
                <a:lnTo>
                  <a:pt x="2828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B92CC5A-ACF0-40F9-B62F-19C92798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1545" y="5365433"/>
            <a:ext cx="282893" cy="9525"/>
          </a:xfrm>
          <a:custGeom xmlns:a="http://schemas.openxmlformats.org/drawingml/2006/main">
            <a:pathLst>
              <a:path w="282893" h="9525">
                <a:moveTo>
                  <a:pt x="0" y="0"/>
                </a:moveTo>
                <a:lnTo>
                  <a:pt x="2828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8" name="Iteratively improve using">
            <a:extLst xmlns:a="http://schemas.openxmlformats.org/drawingml/2006/main">
              <a:ext uri="{FF2B5EF4-FFF2-40B4-BE49-F238E27FC236}">
                <a16:creationId xmlns:a16="http://schemas.microsoft.com/office/drawing/2014/main" id="{74D18876-5482-4668-BEC9-4FFA33C4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5723001"/>
            <a:ext cx="39147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Iteratively improve using</a:t>
            </a:r>
          </a:p>
        </p:txBody>
      </p:sp>
      <p:sp>
        <p:nvSpPr>
          <p:cNvPr id="109" name="checker feedback on the same task.">
            <a:extLst xmlns:a="http://schemas.openxmlformats.org/drawingml/2006/main">
              <a:ext uri="{FF2B5EF4-FFF2-40B4-BE49-F238E27FC236}">
                <a16:creationId xmlns:a16="http://schemas.microsoft.com/office/drawing/2014/main" id="{CF8E916C-69A4-476A-A585-A0976ECA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6010275"/>
            <a:ext cx="39147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checker feedback on the same task.</a:t>
            </a:r>
          </a:p>
        </p:txBody>
      </p:sp>
      <p:sp>
        <p:nvSpPr>
          <p:cNvPr id="110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D0F0A64E-04CD-4B76-96FC-03BCC3D9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4905375"/>
            <a:ext cx="495300" cy="666750"/>
          </a:xfrm>
          <a:custGeom xmlns:a="http://schemas.openxmlformats.org/drawingml/2006/main">
            <a:pathLst>
              <a:path w="495300" h="666750">
                <a:moveTo>
                  <a:pt x="0" y="0"/>
                </a:moveTo>
                <a:lnTo>
                  <a:pt x="371475" y="0"/>
                </a:lnTo>
                <a:lnTo>
                  <a:pt x="495300" y="123825"/>
                </a:lnTo>
                <a:lnTo>
                  <a:pt x="495300" y="666750"/>
                </a:lnTo>
                <a:lnTo>
                  <a:pt x="0" y="666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1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A75210D-E662-4B43-9720-7F0DFF28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9150" y="4905375"/>
            <a:ext cx="123825" cy="123825"/>
          </a:xfrm>
          <a:custGeom xmlns:a="http://schemas.openxmlformats.org/drawingml/2006/main">
            <a:pathLst>
              <a:path w="123825" h="123825">
                <a:moveTo>
                  <a:pt x="0" y="0"/>
                </a:moveTo>
                <a:lnTo>
                  <a:pt x="0" y="123825"/>
                </a:lnTo>
                <a:lnTo>
                  <a:pt x="123825" y="1238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551B8D1-CDEC-4039-880F-65A402FF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6735" y="5138738"/>
            <a:ext cx="272415" cy="9525"/>
          </a:xfrm>
          <a:custGeom xmlns:a="http://schemas.openxmlformats.org/drawingml/2006/main">
            <a:pathLst>
              <a:path w="272415" h="9525">
                <a:moveTo>
                  <a:pt x="0" y="0"/>
                </a:moveTo>
                <a:lnTo>
                  <a:pt x="27241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6FA6F2C-F2A0-4894-A6C5-79854C24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6735" y="5252085"/>
            <a:ext cx="272415" cy="9525"/>
          </a:xfrm>
          <a:custGeom xmlns:a="http://schemas.openxmlformats.org/drawingml/2006/main">
            <a:pathLst>
              <a:path w="272415" h="9525">
                <a:moveTo>
                  <a:pt x="0" y="0"/>
                </a:moveTo>
                <a:lnTo>
                  <a:pt x="27241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8A90A77-B2C1-417A-B63A-B1D2BEF8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6735" y="5365433"/>
            <a:ext cx="272415" cy="9525"/>
          </a:xfrm>
          <a:custGeom xmlns:a="http://schemas.openxmlformats.org/drawingml/2006/main">
            <a:pathLst>
              <a:path w="272415" h="9525">
                <a:moveTo>
                  <a:pt x="0" y="0"/>
                </a:moveTo>
                <a:lnTo>
                  <a:pt x="27241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9CA383A-3C54-48DD-B3E9-E5577BF0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1100" y="5238750"/>
            <a:ext cx="657225" cy="9525"/>
          </a:xfrm>
          <a:custGeom xmlns:a="http://schemas.openxmlformats.org/drawingml/2006/main">
            <a:pathLst>
              <a:path w="657225" h="9525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A9DA22B-03B2-4204-9AC9-8FD0F3C2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54025" y="5191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17" name="Strategy">
            <a:extLst xmlns:a="http://schemas.openxmlformats.org/drawingml/2006/main">
              <a:ext uri="{FF2B5EF4-FFF2-40B4-BE49-F238E27FC236}">
                <a16:creationId xmlns:a16="http://schemas.microsoft.com/office/drawing/2014/main" id="{1D1FD4C2-C0DC-4D98-91F3-AEDE22A6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024628"/>
            <a:ext cx="1285875" cy="342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Strategy</a:t>
            </a:r>
          </a:p>
        </p:txBody>
      </p:sp>
      <p:sp>
        <p:nvSpPr>
          <p:cNvPr id="118" name="Compare final proofs,">
            <a:extLst xmlns:a="http://schemas.openxmlformats.org/drawingml/2006/main">
              <a:ext uri="{FF2B5EF4-FFF2-40B4-BE49-F238E27FC236}">
                <a16:creationId xmlns:a16="http://schemas.microsoft.com/office/drawing/2014/main" id="{6EB139B2-D0B1-4490-95B6-A057BB46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5711952"/>
            <a:ext cx="39147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Compare final proofs,</a:t>
            </a:r>
          </a:p>
        </p:txBody>
      </p:sp>
      <p:sp>
        <p:nvSpPr>
          <p:cNvPr id="119" name="derivations, and revisions.">
            <a:extLst xmlns:a="http://schemas.openxmlformats.org/drawingml/2006/main">
              <a:ext uri="{FF2B5EF4-FFF2-40B4-BE49-F238E27FC236}">
                <a16:creationId xmlns:a16="http://schemas.microsoft.com/office/drawing/2014/main" id="{7FC62502-A799-4A1E-8AE3-E10B358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010275"/>
            <a:ext cx="39147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derivations, and revisions.</a:t>
            </a:r>
          </a:p>
        </p:txBody>
      </p:sp>
      <p:sp>
        <p:nvSpPr>
          <p:cNvPr id="12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1AD2A93-66C0-4CF8-8A6B-EAF36C33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37222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843ED30-1C54-4EED-9DF4-2103099F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6865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8C7EA9B-D8B1-42E8-B367-B806DC0C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637222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3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8491D40E-C41A-4AB1-92C1-FB96DE0C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66865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98F7D29-BBDE-477A-B967-BB15F8F4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72225"/>
            <a:ext cx="9525" cy="428625"/>
          </a:xfrm>
          <a:custGeom xmlns:a="http://schemas.openxmlformats.org/drawingml/2006/main">
            <a:pathLst>
              <a:path w="9525" h="428625">
                <a:moveTo>
                  <a:pt x="0" y="0"/>
                </a:moveTo>
                <a:lnTo>
                  <a:pt x="0" y="428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B8374DF8-BD09-4918-9E38-C3F04D4D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850" y="66865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6" name="Held-out transfer test">
            <a:extLst xmlns:a="http://schemas.openxmlformats.org/drawingml/2006/main">
              <a:ext uri="{FF2B5EF4-FFF2-40B4-BE49-F238E27FC236}">
                <a16:creationId xmlns:a16="http://schemas.microsoft.com/office/drawing/2014/main" id="{B5683081-D9E7-4111-8245-E725DDB0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810375"/>
            <a:ext cx="11734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8588C11B-21B2-4CE2-A11C-9C2AEDEF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6953250"/>
            <a:ext cx="428625" cy="504825"/>
          </a:xfrm>
          <a:custGeom xmlns:a="http://schemas.openxmlformats.org/drawingml/2006/main">
            <a:pathLst>
              <a:path w="428625" h="504825">
                <a:moveTo>
                  <a:pt x="0" y="0"/>
                </a:moveTo>
                <a:lnTo>
                  <a:pt x="321469" y="0"/>
                </a:lnTo>
                <a:lnTo>
                  <a:pt x="428625" y="107156"/>
                </a:lnTo>
                <a:lnTo>
                  <a:pt x="428625" y="504825"/>
                </a:lnTo>
                <a:lnTo>
                  <a:pt x="0" y="5048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2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6CD8A688-CE4F-4E49-A77A-223DAE6A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144" y="6953250"/>
            <a:ext cx="107156" cy="107156"/>
          </a:xfrm>
          <a:custGeom xmlns:a="http://schemas.openxmlformats.org/drawingml/2006/main">
            <a:pathLst>
              <a:path w="107156" h="107156">
                <a:moveTo>
                  <a:pt x="0" y="0"/>
                </a:moveTo>
                <a:lnTo>
                  <a:pt x="0" y="107156"/>
                </a:lnTo>
                <a:lnTo>
                  <a:pt x="107156" y="107156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5C760D7-4F11-4EE7-850F-126D58B2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712993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77060CD-D721-46AB-9D57-6B94282A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721575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BA524BB-4DE9-44C1-AB2F-0A8EA266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730157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2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CD2B35F2-2F82-4893-BF7D-FEAC8A92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953250"/>
            <a:ext cx="428625" cy="504825"/>
          </a:xfrm>
          <a:custGeom xmlns:a="http://schemas.openxmlformats.org/drawingml/2006/main">
            <a:pathLst>
              <a:path w="428625" h="504825">
                <a:moveTo>
                  <a:pt x="0" y="0"/>
                </a:moveTo>
                <a:lnTo>
                  <a:pt x="321469" y="0"/>
                </a:lnTo>
                <a:lnTo>
                  <a:pt x="428625" y="107156"/>
                </a:lnTo>
                <a:lnTo>
                  <a:pt x="428625" y="504825"/>
                </a:lnTo>
                <a:lnTo>
                  <a:pt x="0" y="5048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3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51B8B50-F8BF-4D38-BC6F-5BFC8D86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169" y="6953250"/>
            <a:ext cx="107156" cy="107156"/>
          </a:xfrm>
          <a:custGeom xmlns:a="http://schemas.openxmlformats.org/drawingml/2006/main">
            <a:pathLst>
              <a:path w="107156" h="107156">
                <a:moveTo>
                  <a:pt x="0" y="0"/>
                </a:moveTo>
                <a:lnTo>
                  <a:pt x="0" y="107156"/>
                </a:lnTo>
                <a:lnTo>
                  <a:pt x="107156" y="107156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9059A26-CF32-46E1-92FD-53CCBAE4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712993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3453B44-5D10-4DDD-BFC4-5D86D8E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721575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C25DD0E-11C9-4AC4-B8B1-25673EF2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730157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7" name="Held-out transfer test">
            <a:extLst xmlns:a="http://schemas.openxmlformats.org/drawingml/2006/main">
              <a:ext uri="{FF2B5EF4-FFF2-40B4-BE49-F238E27FC236}">
                <a16:creationId xmlns:a16="http://schemas.microsoft.com/office/drawing/2014/main" id="{8ECBFA42-BF54-4B5D-AB1E-C59ED205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6911340"/>
            <a:ext cx="60293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Held-out transfer test</a:t>
            </a:r>
          </a:p>
        </p:txBody>
      </p:sp>
      <p:sp>
        <p:nvSpPr>
          <p:cNvPr id="138" name="Unfamiliar programs + changed obligations">
            <a:extLst xmlns:a="http://schemas.openxmlformats.org/drawingml/2006/main">
              <a:ext uri="{FF2B5EF4-FFF2-40B4-BE49-F238E27FC236}">
                <a16:creationId xmlns:a16="http://schemas.microsoft.com/office/drawing/2014/main" id="{44F9C690-5C93-4890-B510-748BAFFF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254050"/>
            <a:ext cx="60293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Unfamiliar programs + changed obligations</a:t>
            </a:r>
          </a:p>
        </p:txBody>
      </p:sp>
      <p:sp>
        <p:nvSpPr>
          <p:cNvPr id="139" name="Matched evaluation budgets">
            <a:extLst xmlns:a="http://schemas.openxmlformats.org/drawingml/2006/main">
              <a:ext uri="{FF2B5EF4-FFF2-40B4-BE49-F238E27FC236}">
                <a16:creationId xmlns:a16="http://schemas.microsoft.com/office/drawing/2014/main" id="{BD21973F-2DC1-424B-A834-090D2EE9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7648575"/>
            <a:ext cx="151257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0" name="Matched data, tools, and total cost">
            <a:extLst xmlns:a="http://schemas.openxmlformats.org/drawingml/2006/main">
              <a:ext uri="{FF2B5EF4-FFF2-40B4-BE49-F238E27FC236}">
                <a16:creationId xmlns:a16="http://schemas.microsoft.com/office/drawing/2014/main" id="{8C73F9B4-3C7B-4A97-A2B3-42540E26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690676"/>
            <a:ext cx="140398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Matched data, tools, and total cost</a:t>
            </a:r>
          </a:p>
        </p:txBody>
      </p:sp>
      <p:sp>
        <p:nvSpPr>
          <p:cNvPr id="141" name="Learning versus artifact reuse">
            <a:extLst xmlns:a="http://schemas.openxmlformats.org/drawingml/2006/main">
              <a:ext uri="{FF2B5EF4-FFF2-40B4-BE49-F238E27FC236}">
                <a16:creationId xmlns:a16="http://schemas.microsoft.com/office/drawing/2014/main" id="{AE1169CB-BC07-4492-9A95-1E2E8FDC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8162925"/>
            <a:ext cx="15382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2" name="Sharing a proof and learning a strategy are evaluated separately.">
            <a:extLst xmlns:a="http://schemas.openxmlformats.org/drawingml/2006/main">
              <a:ext uri="{FF2B5EF4-FFF2-40B4-BE49-F238E27FC236}">
                <a16:creationId xmlns:a16="http://schemas.microsoft.com/office/drawing/2014/main" id="{05D3E001-68B2-4007-BA5D-32CE0717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72641"/>
            <a:ext cx="14811375" cy="342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Sharing a proof and learning a strategy are evaluated separately.</a:t>
            </a:r>
          </a:p>
        </p:txBody>
      </p:sp>
      <p:sp>
        <p:nvSpPr>
          <p:cNvPr id="143" name="Checked success does not establish generalization.">
            <a:extLst xmlns:a="http://schemas.openxmlformats.org/drawingml/2006/main">
              <a:ext uri="{FF2B5EF4-FFF2-40B4-BE49-F238E27FC236}">
                <a16:creationId xmlns:a16="http://schemas.microsoft.com/office/drawing/2014/main" id="{47C3487C-88F1-44B6-B699-B21C9838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476298"/>
            <a:ext cx="14211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 success does not establish generalization.</a:t>
            </a:r>
          </a:p>
        </p:txBody>
      </p:sp>
      <p:sp>
        <p:nvSpPr>
          <p:cNvPr id="144" name="[1] Anthropic + Theorem (2026)">
            <a:extLst xmlns:a="http://schemas.openxmlformats.org/drawingml/2006/main">
              <a:ext uri="{FF2B5EF4-FFF2-40B4-BE49-F238E27FC236}">
                <a16:creationId xmlns:a16="http://schemas.microsoft.com/office/drawing/2014/main" id="{072166BD-8831-4939-A6EE-47FCF6CE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8755571"/>
            <a:ext cx="3571875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de3f1bd24e564637"/>
              </a:rPr>
              <a:t>[1] Anthropic + Theorem (2026)</a:t>
            </a:r>
          </a:p>
        </p:txBody>
      </p:sp>
      <p:sp>
        <p:nvSpPr>
          <p:cNvPr id="145" name="[2] Theorem (2026)">
            <a:extLst xmlns:a="http://schemas.openxmlformats.org/drawingml/2006/main">
              <a:ext uri="{FF2B5EF4-FFF2-40B4-BE49-F238E27FC236}">
                <a16:creationId xmlns:a16="http://schemas.microsoft.com/office/drawing/2014/main" id="{91AE6BFE-8CA0-4109-BB05-0DC11CF7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8755571"/>
            <a:ext cx="2857500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cb42eb408bfb4a02"/>
              </a:rPr>
              <a:t>[2] Theorem (2026)</a:t>
            </a:r>
          </a:p>
        </p:txBody>
      </p:sp>
    </p:spTree>
    <p:extLst>
      <p:ext uri="{BB962C8B-B14F-4D97-AF65-F5344CB8AC3E}">
        <p14:creationId xmlns:p14="http://schemas.microsoft.com/office/powerpoint/2010/main" val="7825184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Compositional Verification">
            <a:extLst xmlns:a="http://schemas.openxmlformats.org/drawingml/2006/main">
              <a:ext uri="{FF2B5EF4-FFF2-40B4-BE49-F238E27FC236}">
                <a16:creationId xmlns:a16="http://schemas.microsoft.com/office/drawing/2014/main" id="{3FA59192-3B0A-4913-B9AC-02BFDE04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2200"/>
            <a:ext cx="13735050" cy="541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Compositional Verification</a:t>
            </a:r>
          </a:p>
        </p:txBody>
      </p:sp>
      <p:sp>
        <p:nvSpPr>
          <p:cNvPr id="2" name="Reuse checked components through verified interfaces">
            <a:extLst xmlns:a="http://schemas.openxmlformats.org/drawingml/2006/main">
              <a:ext uri="{FF2B5EF4-FFF2-40B4-BE49-F238E27FC236}">
                <a16:creationId xmlns:a16="http://schemas.microsoft.com/office/drawing/2014/main" id="{038AD4F1-1307-408C-8CDB-1AFB533F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93230"/>
            <a:ext cx="13068300" cy="3756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Reuse checked components through verified interfaces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B3A01365-D89D-44ED-91F9-2778095A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194310"/>
            <a:ext cx="2047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Proposed research</a:t>
            </a:r>
          </a:p>
        </p:txBody>
      </p:sp>
      <p:sp>
        <p:nvSpPr>
          <p:cNvPr id="4" name="Global software property">
            <a:extLst xmlns:a="http://schemas.openxmlformats.org/drawingml/2006/main">
              <a:ext uri="{FF2B5EF4-FFF2-40B4-BE49-F238E27FC236}">
                <a16:creationId xmlns:a16="http://schemas.microsoft.com/office/drawing/2014/main" id="{0E30E181-BECD-414E-848F-22C235BB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219325"/>
            <a:ext cx="14478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Stage 1">
            <a:extLst xmlns:a="http://schemas.openxmlformats.org/drawingml/2006/main">
              <a:ext uri="{FF2B5EF4-FFF2-40B4-BE49-F238E27FC236}">
                <a16:creationId xmlns:a16="http://schemas.microsoft.com/office/drawing/2014/main" id="{32A6BA56-81A9-4D50-8CCE-FB66359D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" name="1">
            <a:extLst xmlns:a="http://schemas.openxmlformats.org/drawingml/2006/main">
              <a:ext uri="{FF2B5EF4-FFF2-40B4-BE49-F238E27FC236}">
                <a16:creationId xmlns:a16="http://schemas.microsoft.com/office/drawing/2014/main" id="{E26BA75F-B35F-459F-B3E0-42F7932B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828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34639FE3-B58F-475C-B82C-0FBB152D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86050"/>
            <a:ext cx="638175" cy="895350"/>
          </a:xfrm>
          <a:custGeom xmlns:a="http://schemas.openxmlformats.org/drawingml/2006/main">
            <a:pathLst>
              <a:path w="638175" h="895350">
                <a:moveTo>
                  <a:pt x="0" y="0"/>
                </a:moveTo>
                <a:lnTo>
                  <a:pt x="478631" y="0"/>
                </a:lnTo>
                <a:lnTo>
                  <a:pt x="638175" y="159544"/>
                </a:lnTo>
                <a:lnTo>
                  <a:pt x="638175" y="895350"/>
                </a:lnTo>
                <a:lnTo>
                  <a:pt x="0" y="8953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DA99C69-4AE3-4633-91DA-3184FEBC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006" y="2686050"/>
            <a:ext cx="159544" cy="159544"/>
          </a:xfrm>
          <a:custGeom xmlns:a="http://schemas.openxmlformats.org/drawingml/2006/main">
            <a:pathLst>
              <a:path w="159544" h="159544">
                <a:moveTo>
                  <a:pt x="0" y="0"/>
                </a:moveTo>
                <a:lnTo>
                  <a:pt x="0" y="159544"/>
                </a:lnTo>
                <a:lnTo>
                  <a:pt x="159544" y="15954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9B44940-F06E-423F-93DE-F262F1CA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" y="2999423"/>
            <a:ext cx="350996" cy="9525"/>
          </a:xfrm>
          <a:custGeom xmlns:a="http://schemas.openxmlformats.org/drawingml/2006/main">
            <a:pathLst>
              <a:path w="350996" h="9525">
                <a:moveTo>
                  <a:pt x="0" y="0"/>
                </a:moveTo>
                <a:lnTo>
                  <a:pt x="35099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44FC937-0E52-4C79-9ECB-34915D92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" y="3151632"/>
            <a:ext cx="350996" cy="9525"/>
          </a:xfrm>
          <a:custGeom xmlns:a="http://schemas.openxmlformats.org/drawingml/2006/main">
            <a:pathLst>
              <a:path w="350996" h="9525">
                <a:moveTo>
                  <a:pt x="0" y="0"/>
                </a:moveTo>
                <a:lnTo>
                  <a:pt x="35099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43E2E30-DD32-4DB9-B23C-CE152207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" y="3303842"/>
            <a:ext cx="350996" cy="9525"/>
          </a:xfrm>
          <a:custGeom xmlns:a="http://schemas.openxmlformats.org/drawingml/2006/main">
            <a:pathLst>
              <a:path w="350996" h="9525">
                <a:moveTo>
                  <a:pt x="0" y="0"/>
                </a:moveTo>
                <a:lnTo>
                  <a:pt x="35099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" name="Global">
            <a:extLst xmlns:a="http://schemas.openxmlformats.org/drawingml/2006/main">
              <a:ext uri="{FF2B5EF4-FFF2-40B4-BE49-F238E27FC236}">
                <a16:creationId xmlns:a16="http://schemas.microsoft.com/office/drawing/2014/main" id="{B42A736F-E786-4621-9AAB-3F7727F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624644"/>
            <a:ext cx="1257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Global</a:t>
            </a:r>
          </a:p>
        </p:txBody>
      </p:sp>
      <p:sp>
        <p:nvSpPr>
          <p:cNvPr id="13" name="software">
            <a:extLst xmlns:a="http://schemas.openxmlformats.org/drawingml/2006/main">
              <a:ext uri="{FF2B5EF4-FFF2-40B4-BE49-F238E27FC236}">
                <a16:creationId xmlns:a16="http://schemas.microsoft.com/office/drawing/2014/main" id="{98ADA2C8-6E8E-4868-9BA8-F7C8FD30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945065"/>
            <a:ext cx="1257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software</a:t>
            </a:r>
          </a:p>
        </p:txBody>
      </p:sp>
      <p:sp>
        <p:nvSpPr>
          <p:cNvPr id="14" name="property">
            <a:extLst xmlns:a="http://schemas.openxmlformats.org/drawingml/2006/main">
              <a:ext uri="{FF2B5EF4-FFF2-40B4-BE49-F238E27FC236}">
                <a16:creationId xmlns:a16="http://schemas.microsoft.com/office/drawing/2014/main" id="{AE191A13-E6F2-4C9B-801C-952E8A71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265486"/>
            <a:ext cx="1257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property</a:t>
            </a:r>
          </a:p>
        </p:txBody>
      </p:sp>
      <p:sp>
        <p:nvSpPr>
          <p:cNvPr id="15" name="Agent proposes decomposition">
            <a:extLst xmlns:a="http://schemas.openxmlformats.org/drawingml/2006/main">
              <a:ext uri="{FF2B5EF4-FFF2-40B4-BE49-F238E27FC236}">
                <a16:creationId xmlns:a16="http://schemas.microsoft.com/office/drawing/2014/main" id="{B1543678-705A-44FF-943C-971FB4B5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19325"/>
            <a:ext cx="18288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" name="Stage 2">
            <a:extLst xmlns:a="http://schemas.openxmlformats.org/drawingml/2006/main">
              <a:ext uri="{FF2B5EF4-FFF2-40B4-BE49-F238E27FC236}">
                <a16:creationId xmlns:a16="http://schemas.microsoft.com/office/drawing/2014/main" id="{B5EDF852-AB15-43CA-B2BD-A82C9DBE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383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" name="2">
            <a:extLst xmlns:a="http://schemas.openxmlformats.org/drawingml/2006/main">
              <a:ext uri="{FF2B5EF4-FFF2-40B4-BE49-F238E27FC236}">
                <a16:creationId xmlns:a16="http://schemas.microsoft.com/office/drawing/2014/main" id="{FADDC822-9A6F-461B-8F90-A80A9C54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828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189C642-0387-4FEA-BAF1-508052F5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86075"/>
            <a:ext cx="242888" cy="504825"/>
          </a:xfrm>
          <a:custGeom xmlns:a="http://schemas.openxmlformats.org/drawingml/2006/main">
            <a:pathLst>
              <a:path w="242888" h="504825">
                <a:moveTo>
                  <a:pt x="242888" y="0"/>
                </a:moveTo>
                <a:lnTo>
                  <a:pt x="242888" y="175641"/>
                </a:lnTo>
                <a:lnTo>
                  <a:pt x="0" y="5048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6393DEB-5912-4ECB-ADF7-2EFF5BBA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438" y="3061716"/>
            <a:ext cx="242888" cy="329184"/>
          </a:xfrm>
          <a:custGeom xmlns:a="http://schemas.openxmlformats.org/drawingml/2006/main">
            <a:pathLst>
              <a:path w="242888" h="329184">
                <a:moveTo>
                  <a:pt x="0" y="0"/>
                </a:moveTo>
                <a:lnTo>
                  <a:pt x="242888" y="32918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0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773AC6A7-4A4E-4A04-ACB3-B1AD2661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763" y="2752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1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EBB9813F-0368-4B89-BB72-3DA363AC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3242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2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A39E40DA-9DF3-43AF-9415-BC303078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242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3" name="Agent proposes">
            <a:extLst xmlns:a="http://schemas.openxmlformats.org/drawingml/2006/main">
              <a:ext uri="{FF2B5EF4-FFF2-40B4-BE49-F238E27FC236}">
                <a16:creationId xmlns:a16="http://schemas.microsoft.com/office/drawing/2014/main" id="{7F192A47-CC86-499C-B0FD-C51FD397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759327"/>
            <a:ext cx="161925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Agent proposes</a:t>
            </a:r>
          </a:p>
        </p:txBody>
      </p:sp>
      <p:sp>
        <p:nvSpPr>
          <p:cNvPr id="24" name="decomposition">
            <a:extLst xmlns:a="http://schemas.openxmlformats.org/drawingml/2006/main">
              <a:ext uri="{FF2B5EF4-FFF2-40B4-BE49-F238E27FC236}">
                <a16:creationId xmlns:a16="http://schemas.microsoft.com/office/drawing/2014/main" id="{93703B2C-B2A0-4006-AE82-20AE8055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057650"/>
            <a:ext cx="161925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decomposition</a:t>
            </a:r>
          </a:p>
        </p:txBody>
      </p:sp>
      <p:sp>
        <p:nvSpPr>
          <p:cNvPr id="2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6ECF1CD-535B-41AC-9063-EF05B998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343275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7A71380-D551-447E-9A34-F02E38F6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2956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27" name="Component verification">
            <a:extLst xmlns:a="http://schemas.openxmlformats.org/drawingml/2006/main">
              <a:ext uri="{FF2B5EF4-FFF2-40B4-BE49-F238E27FC236}">
                <a16:creationId xmlns:a16="http://schemas.microsoft.com/office/drawing/2014/main" id="{60A1F496-D86D-4128-BE0A-DAA810A0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847850"/>
            <a:ext cx="6391275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28" name="Check each component">
            <a:extLst xmlns:a="http://schemas.openxmlformats.org/drawingml/2006/main">
              <a:ext uri="{FF2B5EF4-FFF2-40B4-BE49-F238E27FC236}">
                <a16:creationId xmlns:a16="http://schemas.microsoft.com/office/drawing/2014/main" id="{95D0DAC1-58DA-4439-A35A-427B7F73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486091"/>
            <a:ext cx="3724275" cy="342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 each component</a:t>
            </a:r>
          </a:p>
        </p:txBody>
      </p:sp>
      <p:sp>
        <p:nvSpPr>
          <p:cNvPr id="29" name="Software component">
            <a:extLst xmlns:a="http://schemas.openxmlformats.org/drawingml/2006/main">
              <a:ext uri="{FF2B5EF4-FFF2-40B4-BE49-F238E27FC236}">
                <a16:creationId xmlns:a16="http://schemas.microsoft.com/office/drawing/2014/main" id="{6E300236-8762-4270-B577-6004712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28825"/>
            <a:ext cx="19145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30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1B48E8F8-2243-471A-BA92-8146E78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90775"/>
            <a:ext cx="438150" cy="257175"/>
          </a:xfrm>
          <a:custGeom xmlns:a="http://schemas.openxmlformats.org/drawingml/2006/main">
            <a:pathLst>
              <a:path w="438150" h="257175">
                <a:moveTo>
                  <a:pt x="219075" y="0"/>
                </a:moveTo>
                <a:lnTo>
                  <a:pt x="438150" y="123825"/>
                </a:lnTo>
                <a:lnTo>
                  <a:pt x="219075" y="257175"/>
                </a:lnTo>
                <a:lnTo>
                  <a:pt x="0" y="123825"/>
                </a:ln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1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FCAD0EFC-A9D8-42BF-854E-4AFA40D3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76475"/>
            <a:ext cx="438150" cy="257175"/>
          </a:xfrm>
          <a:custGeom xmlns:a="http://schemas.openxmlformats.org/drawingml/2006/main">
            <a:pathLst>
              <a:path w="438150" h="257175">
                <a:moveTo>
                  <a:pt x="219075" y="0"/>
                </a:moveTo>
                <a:lnTo>
                  <a:pt x="438150" y="123825"/>
                </a:lnTo>
                <a:lnTo>
                  <a:pt x="219075" y="257175"/>
                </a:lnTo>
                <a:lnTo>
                  <a:pt x="0" y="123825"/>
                </a:ln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2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6F31DEC5-17AB-44FF-9344-29D5BB34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62175"/>
            <a:ext cx="438150" cy="257175"/>
          </a:xfrm>
          <a:custGeom xmlns:a="http://schemas.openxmlformats.org/drawingml/2006/main">
            <a:pathLst>
              <a:path w="438150" h="257175">
                <a:moveTo>
                  <a:pt x="219075" y="0"/>
                </a:moveTo>
                <a:lnTo>
                  <a:pt x="438150" y="123825"/>
                </a:lnTo>
                <a:lnTo>
                  <a:pt x="219075" y="257175"/>
                </a:lnTo>
                <a:lnTo>
                  <a:pt x="0" y="123825"/>
                </a:ln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3" name="Shared">
            <a:extLst xmlns:a="http://schemas.openxmlformats.org/drawingml/2006/main">
              <a:ext uri="{FF2B5EF4-FFF2-40B4-BE49-F238E27FC236}">
                <a16:creationId xmlns:a16="http://schemas.microsoft.com/office/drawing/2014/main" id="{F5FD5CAF-0B76-450D-B861-31E53AFB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146173"/>
            <a:ext cx="9810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Shared</a:t>
            </a:r>
          </a:p>
        </p:txBody>
      </p:sp>
      <p:sp>
        <p:nvSpPr>
          <p:cNvPr id="34" name="library A">
            <a:extLst xmlns:a="http://schemas.openxmlformats.org/drawingml/2006/main">
              <a:ext uri="{FF2B5EF4-FFF2-40B4-BE49-F238E27FC236}">
                <a16:creationId xmlns:a16="http://schemas.microsoft.com/office/drawing/2014/main" id="{CE7A8CC7-6EF5-4A90-AF1B-1FFF3D4F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400300"/>
            <a:ext cx="9810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library A</a:t>
            </a:r>
          </a:p>
        </p:txBody>
      </p:sp>
      <p:sp>
        <p:nvSpPr>
          <p:cNvPr id="35" name="Contract and local proof">
            <a:extLst xmlns:a="http://schemas.openxmlformats.org/drawingml/2006/main">
              <a:ext uri="{FF2B5EF4-FFF2-40B4-BE49-F238E27FC236}">
                <a16:creationId xmlns:a16="http://schemas.microsoft.com/office/drawing/2014/main" id="{06A9F05D-F7D7-4B9B-924C-C67BB9EA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028825"/>
            <a:ext cx="17240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3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508E1D55-42E8-4332-B682-CFBADC56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190750"/>
            <a:ext cx="333375" cy="419100"/>
          </a:xfrm>
          <a:custGeom xmlns:a="http://schemas.openxmlformats.org/drawingml/2006/main">
            <a:pathLst>
              <a:path w="333375" h="419100">
                <a:moveTo>
                  <a:pt x="0" y="0"/>
                </a:moveTo>
                <a:lnTo>
                  <a:pt x="250031" y="0"/>
                </a:lnTo>
                <a:lnTo>
                  <a:pt x="333375" y="83344"/>
                </a:lnTo>
                <a:lnTo>
                  <a:pt x="333375" y="419100"/>
                </a:lnTo>
                <a:lnTo>
                  <a:pt x="0" y="4191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3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C4D420B-BE4B-43BC-85A4-C678FAF4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956" y="2190750"/>
            <a:ext cx="83344" cy="83344"/>
          </a:xfrm>
          <a:custGeom xmlns:a="http://schemas.openxmlformats.org/drawingml/2006/main">
            <a:pathLst>
              <a:path w="83344" h="83344">
                <a:moveTo>
                  <a:pt x="0" y="0"/>
                </a:moveTo>
                <a:lnTo>
                  <a:pt x="0" y="83344"/>
                </a:lnTo>
                <a:lnTo>
                  <a:pt x="83344" y="8334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AB1628B-627B-4194-BBD4-EAB5A6CB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37435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A5B0145-3F37-42D2-9C17-EC17D676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08682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4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CCAD91E-8F86-4A4D-B541-3429699B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79929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41" name="Contract +">
            <a:extLst xmlns:a="http://schemas.openxmlformats.org/drawingml/2006/main">
              <a:ext uri="{FF2B5EF4-FFF2-40B4-BE49-F238E27FC236}">
                <a16:creationId xmlns:a16="http://schemas.microsoft.com/office/drawing/2014/main" id="{3C69FCD7-DF94-4955-BD07-9748ABE7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5124"/>
            <a:ext cx="990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Contract +</a:t>
            </a:r>
          </a:p>
        </p:txBody>
      </p:sp>
      <p:sp>
        <p:nvSpPr>
          <p:cNvPr id="42" name="local proof">
            <a:extLst xmlns:a="http://schemas.openxmlformats.org/drawingml/2006/main">
              <a:ext uri="{FF2B5EF4-FFF2-40B4-BE49-F238E27FC236}">
                <a16:creationId xmlns:a16="http://schemas.microsoft.com/office/drawing/2014/main" id="{07F1C3A9-1FB6-41C3-AEE1-56D50744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00300"/>
            <a:ext cx="990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local proof</a:t>
            </a:r>
          </a:p>
        </p:txBody>
      </p:sp>
      <p:sp>
        <p:nvSpPr>
          <p:cNvPr id="43" name="Independent check">
            <a:extLst xmlns:a="http://schemas.openxmlformats.org/drawingml/2006/main">
              <a:ext uri="{FF2B5EF4-FFF2-40B4-BE49-F238E27FC236}">
                <a16:creationId xmlns:a16="http://schemas.microsoft.com/office/drawing/2014/main" id="{4F5DA2F0-A4F1-4DE6-8D32-7ACFAE1F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28825"/>
            <a:ext cx="18383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4" name="Check result">
            <a:extLst xmlns:a="http://schemas.openxmlformats.org/drawingml/2006/main">
              <a:ext uri="{FF2B5EF4-FFF2-40B4-BE49-F238E27FC236}">
                <a16:creationId xmlns:a16="http://schemas.microsoft.com/office/drawing/2014/main" id="{2804A414-78A6-43F2-9B6A-5F88D66D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90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5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2529488D-9F57-4484-8930-3DD7F2E8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286000"/>
            <a:ext cx="228600" cy="205740"/>
          </a:xfrm>
          <a:custGeom xmlns:a="http://schemas.openxmlformats.org/drawingml/2006/main">
            <a:pathLst>
              <a:path w="228600" h="205740">
                <a:moveTo>
                  <a:pt x="0" y="125730"/>
                </a:moveTo>
                <a:lnTo>
                  <a:pt x="80010" y="205740"/>
                </a:ln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46" name="Independent">
            <a:extLst xmlns:a="http://schemas.openxmlformats.org/drawingml/2006/main">
              <a:ext uri="{FF2B5EF4-FFF2-40B4-BE49-F238E27FC236}">
                <a16:creationId xmlns:a16="http://schemas.microsoft.com/office/drawing/2014/main" id="{BD087889-760E-4D77-8A76-BD37E560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124075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Independent</a:t>
            </a:r>
          </a:p>
        </p:txBody>
      </p:sp>
      <p:sp>
        <p:nvSpPr>
          <p:cNvPr id="47" name="check">
            <a:extLst xmlns:a="http://schemas.openxmlformats.org/drawingml/2006/main">
              <a:ext uri="{FF2B5EF4-FFF2-40B4-BE49-F238E27FC236}">
                <a16:creationId xmlns:a16="http://schemas.microsoft.com/office/drawing/2014/main" id="{79B93C1E-7251-4869-ACC8-2112D3EE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40030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4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D2BE278-9470-4336-945F-59B2F22E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40030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02D7025-45FC-47D2-892F-E028ACFB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352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06C3BF2-F71E-49BA-A87D-5E0BBC00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400300"/>
            <a:ext cx="304800" cy="9525"/>
          </a:xfrm>
          <a:custGeom xmlns:a="http://schemas.openxmlformats.org/drawingml/2006/main"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189C2FA-D716-4A19-A534-47C7F4FF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52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C0383DD-2973-4F01-A63F-F44B71FE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00300"/>
            <a:ext cx="952500" cy="942975"/>
          </a:xfrm>
          <a:custGeom xmlns:a="http://schemas.openxmlformats.org/drawingml/2006/main">
            <a:pathLst>
              <a:path w="952500" h="942975">
                <a:moveTo>
                  <a:pt x="0" y="942975"/>
                </a:moveTo>
                <a:lnTo>
                  <a:pt x="314325" y="942975"/>
                </a:lnTo>
                <a:lnTo>
                  <a:pt x="314325" y="0"/>
                </a:ln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3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7D895D84-0F70-4C0F-BBDF-2F74C849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52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F12BBC7-9F35-47C6-A1AF-FF056FEE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400300"/>
            <a:ext cx="638175" cy="971550"/>
          </a:xfrm>
          <a:custGeom xmlns:a="http://schemas.openxmlformats.org/drawingml/2006/main">
            <a:pathLst>
              <a:path w="638175" h="971550">
                <a:moveTo>
                  <a:pt x="0" y="0"/>
                </a:moveTo>
                <a:lnTo>
                  <a:pt x="323850" y="0"/>
                </a:lnTo>
                <a:lnTo>
                  <a:pt x="323850" y="971550"/>
                </a:lnTo>
                <a:lnTo>
                  <a:pt x="638175" y="971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04D813D-6676-4C4C-A6F4-73B19A63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3242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6" name="Software component">
            <a:extLst xmlns:a="http://schemas.openxmlformats.org/drawingml/2006/main">
              <a:ext uri="{FF2B5EF4-FFF2-40B4-BE49-F238E27FC236}">
                <a16:creationId xmlns:a16="http://schemas.microsoft.com/office/drawing/2014/main" id="{6DE1F798-DE43-43AB-985E-6B49927D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48000"/>
            <a:ext cx="19145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7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FFEBC710-78A5-471A-9290-EDA2FC59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09950"/>
            <a:ext cx="438150" cy="257175"/>
          </a:xfrm>
          <a:custGeom xmlns:a="http://schemas.openxmlformats.org/drawingml/2006/main">
            <a:pathLst>
              <a:path w="438150" h="257175">
                <a:moveTo>
                  <a:pt x="219075" y="0"/>
                </a:moveTo>
                <a:lnTo>
                  <a:pt x="438150" y="123825"/>
                </a:lnTo>
                <a:lnTo>
                  <a:pt x="219075" y="257175"/>
                </a:lnTo>
                <a:lnTo>
                  <a:pt x="0" y="123825"/>
                </a:ln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8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5452F32D-3A38-47C2-AD36-3EA7ACC5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95650"/>
            <a:ext cx="438150" cy="257175"/>
          </a:xfrm>
          <a:custGeom xmlns:a="http://schemas.openxmlformats.org/drawingml/2006/main">
            <a:pathLst>
              <a:path w="438150" h="257175">
                <a:moveTo>
                  <a:pt x="219075" y="0"/>
                </a:moveTo>
                <a:lnTo>
                  <a:pt x="438150" y="123825"/>
                </a:lnTo>
                <a:lnTo>
                  <a:pt x="219075" y="257175"/>
                </a:lnTo>
                <a:lnTo>
                  <a:pt x="0" y="123825"/>
                </a:ln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9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885331EF-550D-422A-BCFF-868841B4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81350"/>
            <a:ext cx="438150" cy="257175"/>
          </a:xfrm>
          <a:custGeom xmlns:a="http://schemas.openxmlformats.org/drawingml/2006/main">
            <a:pathLst>
              <a:path w="438150" h="257175">
                <a:moveTo>
                  <a:pt x="219075" y="0"/>
                </a:moveTo>
                <a:lnTo>
                  <a:pt x="438150" y="123825"/>
                </a:lnTo>
                <a:lnTo>
                  <a:pt x="219075" y="257175"/>
                </a:lnTo>
                <a:lnTo>
                  <a:pt x="0" y="123825"/>
                </a:lnTo>
                <a:lnTo>
                  <a:pt x="2190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0" name="Shared">
            <a:extLst xmlns:a="http://schemas.openxmlformats.org/drawingml/2006/main">
              <a:ext uri="{FF2B5EF4-FFF2-40B4-BE49-F238E27FC236}">
                <a16:creationId xmlns:a16="http://schemas.microsoft.com/office/drawing/2014/main" id="{7796DB7A-E40F-4369-A4D3-35FFDBBF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165348"/>
            <a:ext cx="9810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Shared</a:t>
            </a:r>
          </a:p>
        </p:txBody>
      </p:sp>
      <p:sp>
        <p:nvSpPr>
          <p:cNvPr id="61" name="library B">
            <a:extLst xmlns:a="http://schemas.openxmlformats.org/drawingml/2006/main">
              <a:ext uri="{FF2B5EF4-FFF2-40B4-BE49-F238E27FC236}">
                <a16:creationId xmlns:a16="http://schemas.microsoft.com/office/drawing/2014/main" id="{542C8D22-6AA8-401C-AA94-2D3F4573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419475"/>
            <a:ext cx="9810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library B</a:t>
            </a:r>
          </a:p>
        </p:txBody>
      </p:sp>
      <p:sp>
        <p:nvSpPr>
          <p:cNvPr id="62" name="Contract and local proof">
            <a:extLst xmlns:a="http://schemas.openxmlformats.org/drawingml/2006/main">
              <a:ext uri="{FF2B5EF4-FFF2-40B4-BE49-F238E27FC236}">
                <a16:creationId xmlns:a16="http://schemas.microsoft.com/office/drawing/2014/main" id="{63FEF006-4B8F-41BD-8118-EC4B1CAE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48000"/>
            <a:ext cx="17240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3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D367AC42-89E2-49A5-97CD-B4C1B70D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09925"/>
            <a:ext cx="333375" cy="419100"/>
          </a:xfrm>
          <a:custGeom xmlns:a="http://schemas.openxmlformats.org/drawingml/2006/main">
            <a:pathLst>
              <a:path w="333375" h="419100">
                <a:moveTo>
                  <a:pt x="0" y="0"/>
                </a:moveTo>
                <a:lnTo>
                  <a:pt x="250031" y="0"/>
                </a:lnTo>
                <a:lnTo>
                  <a:pt x="333375" y="83344"/>
                </a:lnTo>
                <a:lnTo>
                  <a:pt x="333375" y="419100"/>
                </a:lnTo>
                <a:lnTo>
                  <a:pt x="0" y="4191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6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AD8E59A-7FAD-4E8E-8F0C-433A062D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956" y="3209925"/>
            <a:ext cx="83344" cy="83344"/>
          </a:xfrm>
          <a:custGeom xmlns:a="http://schemas.openxmlformats.org/drawingml/2006/main">
            <a:pathLst>
              <a:path w="83344" h="83344">
                <a:moveTo>
                  <a:pt x="0" y="0"/>
                </a:moveTo>
                <a:lnTo>
                  <a:pt x="0" y="83344"/>
                </a:lnTo>
                <a:lnTo>
                  <a:pt x="83344" y="8334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2DD53AB-7C2F-4EAC-87F9-A6FBE7B2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6610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13CD81B-3787-4C42-8D67-31517909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7857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A839001-24E4-4975-A389-77EE040F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99104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8" name="Contract +">
            <a:extLst xmlns:a="http://schemas.openxmlformats.org/drawingml/2006/main">
              <a:ext uri="{FF2B5EF4-FFF2-40B4-BE49-F238E27FC236}">
                <a16:creationId xmlns:a16="http://schemas.microsoft.com/office/drawing/2014/main" id="{03C526A5-0A6E-4419-B455-B465D460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54299"/>
            <a:ext cx="990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Contract +</a:t>
            </a:r>
          </a:p>
        </p:txBody>
      </p:sp>
      <p:sp>
        <p:nvSpPr>
          <p:cNvPr id="69" name="local proof">
            <a:extLst xmlns:a="http://schemas.openxmlformats.org/drawingml/2006/main">
              <a:ext uri="{FF2B5EF4-FFF2-40B4-BE49-F238E27FC236}">
                <a16:creationId xmlns:a16="http://schemas.microsoft.com/office/drawing/2014/main" id="{35733997-A2EE-4F02-82DD-4C7215B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19475"/>
            <a:ext cx="990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local proof</a:t>
            </a:r>
          </a:p>
        </p:txBody>
      </p:sp>
      <p:sp>
        <p:nvSpPr>
          <p:cNvPr id="70" name="Independent check">
            <a:extLst xmlns:a="http://schemas.openxmlformats.org/drawingml/2006/main">
              <a:ext uri="{FF2B5EF4-FFF2-40B4-BE49-F238E27FC236}">
                <a16:creationId xmlns:a16="http://schemas.microsoft.com/office/drawing/2014/main" id="{08D3005C-42AE-4337-B212-60039369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48000"/>
            <a:ext cx="18383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1" name="Check result">
            <a:extLst xmlns:a="http://schemas.openxmlformats.org/drawingml/2006/main">
              <a:ext uri="{FF2B5EF4-FFF2-40B4-BE49-F238E27FC236}">
                <a16:creationId xmlns:a16="http://schemas.microsoft.com/office/drawing/2014/main" id="{09C5A818-4721-45B4-94C1-78A481F7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09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2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08857A7B-9AC3-4FA7-B818-E890CC23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305175"/>
            <a:ext cx="228600" cy="205740"/>
          </a:xfrm>
          <a:custGeom xmlns:a="http://schemas.openxmlformats.org/drawingml/2006/main">
            <a:pathLst>
              <a:path w="228600" h="205740">
                <a:moveTo>
                  <a:pt x="0" y="125730"/>
                </a:moveTo>
                <a:lnTo>
                  <a:pt x="80010" y="205740"/>
                </a:ln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73" name="Independent">
            <a:extLst xmlns:a="http://schemas.openxmlformats.org/drawingml/2006/main">
              <a:ext uri="{FF2B5EF4-FFF2-40B4-BE49-F238E27FC236}">
                <a16:creationId xmlns:a16="http://schemas.microsoft.com/office/drawing/2014/main" id="{DE9E9939-4119-4F03-A2B8-7DEE6331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14325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Independent</a:t>
            </a:r>
          </a:p>
        </p:txBody>
      </p:sp>
      <p:sp>
        <p:nvSpPr>
          <p:cNvPr id="74" name="check">
            <a:extLst xmlns:a="http://schemas.openxmlformats.org/drawingml/2006/main">
              <a:ext uri="{FF2B5EF4-FFF2-40B4-BE49-F238E27FC236}">
                <a16:creationId xmlns:a16="http://schemas.microsoft.com/office/drawing/2014/main" id="{63D4FE2C-EC8B-4437-A64F-70575A73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7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3C3828F-3145-4B46-BDD4-8BF777B0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419475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3E94EFA6-8B1B-4511-AEAC-4CF83DB0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3718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C7E19B0-28D6-465E-9D27-B742D205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19475"/>
            <a:ext cx="304800" cy="9525"/>
          </a:xfrm>
          <a:custGeom xmlns:a="http://schemas.openxmlformats.org/drawingml/2006/main"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BB7F6F45-513B-41AB-8D12-F592D2F2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718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9B05C85-9197-449F-915B-70696EEF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43275"/>
            <a:ext cx="952500" cy="76200"/>
          </a:xfrm>
          <a:custGeom xmlns:a="http://schemas.openxmlformats.org/drawingml/2006/main">
            <a:pathLst>
              <a:path w="952500" h="76200">
                <a:moveTo>
                  <a:pt x="0" y="0"/>
                </a:moveTo>
                <a:lnTo>
                  <a:pt x="314325" y="0"/>
                </a:lnTo>
                <a:lnTo>
                  <a:pt x="314325" y="76200"/>
                </a:lnTo>
                <a:lnTo>
                  <a:pt x="9525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A178F21A-99FC-4809-9ADE-DCC0B004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718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8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AF85B2D-F13C-4F1E-A0E5-F6847E9B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371850"/>
            <a:ext cx="638175" cy="47625"/>
          </a:xfrm>
          <a:custGeom xmlns:a="http://schemas.openxmlformats.org/drawingml/2006/main">
            <a:pathLst>
              <a:path w="638175" h="47625">
                <a:moveTo>
                  <a:pt x="0" y="47625"/>
                </a:moveTo>
                <a:lnTo>
                  <a:pt x="323850" y="47625"/>
                </a:lnTo>
                <a:lnTo>
                  <a:pt x="323850" y="0"/>
                </a:ln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38AAB1BA-0702-4A20-92CE-8081D2D8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3242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83" name="Software component">
            <a:extLst xmlns:a="http://schemas.openxmlformats.org/drawingml/2006/main">
              <a:ext uri="{FF2B5EF4-FFF2-40B4-BE49-F238E27FC236}">
                <a16:creationId xmlns:a16="http://schemas.microsoft.com/office/drawing/2014/main" id="{4D803493-D01F-4730-8917-10436B85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086225"/>
            <a:ext cx="19145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4" name="&lt;/&gt;">
            <a:extLst xmlns:a="http://schemas.openxmlformats.org/drawingml/2006/main">
              <a:ext uri="{FF2B5EF4-FFF2-40B4-BE49-F238E27FC236}">
                <a16:creationId xmlns:a16="http://schemas.microsoft.com/office/drawing/2014/main" id="{5E472C12-4E8B-436E-903C-B42455F4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54056"/>
            <a:ext cx="638175" cy="3977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7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&lt;/&gt;</a:t>
            </a:r>
          </a:p>
        </p:txBody>
      </p:sp>
      <p:sp>
        <p:nvSpPr>
          <p:cNvPr id="85" name="Caller">
            <a:extLst xmlns:a="http://schemas.openxmlformats.org/drawingml/2006/main">
              <a:ext uri="{FF2B5EF4-FFF2-40B4-BE49-F238E27FC236}">
                <a16:creationId xmlns:a16="http://schemas.microsoft.com/office/drawing/2014/main" id="{D768B184-DC07-499A-9D47-9FC8ECC8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203573"/>
            <a:ext cx="9810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Caller</a:t>
            </a:r>
          </a:p>
        </p:txBody>
      </p:sp>
      <p:sp>
        <p:nvSpPr>
          <p:cNvPr id="86" name="component">
            <a:extLst xmlns:a="http://schemas.openxmlformats.org/drawingml/2006/main">
              <a:ext uri="{FF2B5EF4-FFF2-40B4-BE49-F238E27FC236}">
                <a16:creationId xmlns:a16="http://schemas.microsoft.com/office/drawing/2014/main" id="{968FB9C5-A844-43FD-BC2F-DF806552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457700"/>
            <a:ext cx="9810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component</a:t>
            </a:r>
          </a:p>
        </p:txBody>
      </p:sp>
      <p:sp>
        <p:nvSpPr>
          <p:cNvPr id="87" name="Contract and local proof">
            <a:extLst xmlns:a="http://schemas.openxmlformats.org/drawingml/2006/main">
              <a:ext uri="{FF2B5EF4-FFF2-40B4-BE49-F238E27FC236}">
                <a16:creationId xmlns:a16="http://schemas.microsoft.com/office/drawing/2014/main" id="{69CF0CEC-7AD0-4B13-9A7B-6F52B6BA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086225"/>
            <a:ext cx="17240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8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23E34285-A6CE-4A73-A55D-F0A89286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248150"/>
            <a:ext cx="333375" cy="419100"/>
          </a:xfrm>
          <a:custGeom xmlns:a="http://schemas.openxmlformats.org/drawingml/2006/main">
            <a:pathLst>
              <a:path w="333375" h="419100">
                <a:moveTo>
                  <a:pt x="0" y="0"/>
                </a:moveTo>
                <a:lnTo>
                  <a:pt x="250031" y="0"/>
                </a:lnTo>
                <a:lnTo>
                  <a:pt x="333375" y="83344"/>
                </a:lnTo>
                <a:lnTo>
                  <a:pt x="333375" y="419100"/>
                </a:lnTo>
                <a:lnTo>
                  <a:pt x="0" y="4191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8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B94E90B-5B3D-4953-8C94-31CFBCBB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956" y="4248150"/>
            <a:ext cx="83344" cy="83344"/>
          </a:xfrm>
          <a:custGeom xmlns:a="http://schemas.openxmlformats.org/drawingml/2006/main">
            <a:pathLst>
              <a:path w="83344" h="83344">
                <a:moveTo>
                  <a:pt x="0" y="0"/>
                </a:moveTo>
                <a:lnTo>
                  <a:pt x="0" y="83344"/>
                </a:lnTo>
                <a:lnTo>
                  <a:pt x="83344" y="8334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7FB2B01-18B3-4E99-8368-3F3E1619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94835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27676F8-6F2D-40A5-B3F4-C7F04373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66082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80336797-CC91-482E-B9E0-CDC52412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537329"/>
            <a:ext cx="183356" cy="9525"/>
          </a:xfrm>
          <a:custGeom xmlns:a="http://schemas.openxmlformats.org/drawingml/2006/main">
            <a:pathLst>
              <a:path w="183356" h="9525">
                <a:moveTo>
                  <a:pt x="0" y="0"/>
                </a:moveTo>
                <a:lnTo>
                  <a:pt x="1833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3" name="Contract +">
            <a:extLst xmlns:a="http://schemas.openxmlformats.org/drawingml/2006/main">
              <a:ext uri="{FF2B5EF4-FFF2-40B4-BE49-F238E27FC236}">
                <a16:creationId xmlns:a16="http://schemas.microsoft.com/office/drawing/2014/main" id="{254B3C9B-105D-466F-A2CB-E2E5FC8B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92524"/>
            <a:ext cx="990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Contract +</a:t>
            </a:r>
          </a:p>
        </p:txBody>
      </p:sp>
      <p:sp>
        <p:nvSpPr>
          <p:cNvPr id="94" name="local proof">
            <a:extLst xmlns:a="http://schemas.openxmlformats.org/drawingml/2006/main">
              <a:ext uri="{FF2B5EF4-FFF2-40B4-BE49-F238E27FC236}">
                <a16:creationId xmlns:a16="http://schemas.microsoft.com/office/drawing/2014/main" id="{B6026B00-7E73-4467-9535-039C536E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57700"/>
            <a:ext cx="990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local proof</a:t>
            </a:r>
          </a:p>
        </p:txBody>
      </p:sp>
      <p:sp>
        <p:nvSpPr>
          <p:cNvPr id="95" name="Independent check">
            <a:extLst xmlns:a="http://schemas.openxmlformats.org/drawingml/2006/main">
              <a:ext uri="{FF2B5EF4-FFF2-40B4-BE49-F238E27FC236}">
                <a16:creationId xmlns:a16="http://schemas.microsoft.com/office/drawing/2014/main" id="{ACA35C75-49C3-40A6-AA62-6120D556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86225"/>
            <a:ext cx="18383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6" name="Check result">
            <a:extLst xmlns:a="http://schemas.openxmlformats.org/drawingml/2006/main">
              <a:ext uri="{FF2B5EF4-FFF2-40B4-BE49-F238E27FC236}">
                <a16:creationId xmlns:a16="http://schemas.microsoft.com/office/drawing/2014/main" id="{B436CB98-B1EC-48A9-96ED-70DB5538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248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7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D4766E17-D5FF-4169-8B31-2598B42B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343400"/>
            <a:ext cx="228600" cy="205740"/>
          </a:xfrm>
          <a:custGeom xmlns:a="http://schemas.openxmlformats.org/drawingml/2006/main">
            <a:pathLst>
              <a:path w="228600" h="205740">
                <a:moveTo>
                  <a:pt x="0" y="125730"/>
                </a:moveTo>
                <a:lnTo>
                  <a:pt x="80010" y="205740"/>
                </a:ln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98" name="Independent">
            <a:extLst xmlns:a="http://schemas.openxmlformats.org/drawingml/2006/main">
              <a:ext uri="{FF2B5EF4-FFF2-40B4-BE49-F238E27FC236}">
                <a16:creationId xmlns:a16="http://schemas.microsoft.com/office/drawing/2014/main" id="{EB6DB7FE-BEC9-485C-A8D7-66E9FE88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181475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Independent</a:t>
            </a:r>
          </a:p>
        </p:txBody>
      </p:sp>
      <p:sp>
        <p:nvSpPr>
          <p:cNvPr id="99" name="check">
            <a:extLst xmlns:a="http://schemas.openxmlformats.org/drawingml/2006/main">
              <a:ext uri="{FF2B5EF4-FFF2-40B4-BE49-F238E27FC236}">
                <a16:creationId xmlns:a16="http://schemas.microsoft.com/office/drawing/2014/main" id="{465D6A07-27A6-48DA-8B60-28573A43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45770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10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7324E9F-19BF-40E6-8BDA-10B8B7FE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457700"/>
            <a:ext cx="323850" cy="9525"/>
          </a:xfrm>
          <a:custGeom xmlns:a="http://schemas.openxmlformats.org/drawingml/2006/main">
            <a:pathLst>
              <a:path w="323850" h="9525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F7B8344F-BA75-4DD7-9015-FD14D67C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410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C271129-2F9C-4DCE-AAD1-CC05BCC2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457700"/>
            <a:ext cx="304800" cy="9525"/>
          </a:xfrm>
          <a:custGeom xmlns:a="http://schemas.openxmlformats.org/drawingml/2006/main"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3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46A4D76-EC53-4795-A88B-3539B3A6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10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D9CF0D1-0544-4C6F-8363-486C0C06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43275"/>
            <a:ext cx="952500" cy="1114425"/>
          </a:xfrm>
          <a:custGeom xmlns:a="http://schemas.openxmlformats.org/drawingml/2006/main">
            <a:pathLst>
              <a:path w="952500" h="1114425">
                <a:moveTo>
                  <a:pt x="0" y="0"/>
                </a:moveTo>
                <a:lnTo>
                  <a:pt x="314325" y="0"/>
                </a:lnTo>
                <a:lnTo>
                  <a:pt x="314325" y="1114425"/>
                </a:lnTo>
                <a:lnTo>
                  <a:pt x="952500" y="11144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50E4527-FB19-4C13-87F6-A15087AD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10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BC72DC2-DA1A-4A03-ACF0-823DA439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371850"/>
            <a:ext cx="638175" cy="1085850"/>
          </a:xfrm>
          <a:custGeom xmlns:a="http://schemas.openxmlformats.org/drawingml/2006/main">
            <a:pathLst>
              <a:path w="638175" h="1085850">
                <a:moveTo>
                  <a:pt x="0" y="1085850"/>
                </a:moveTo>
                <a:lnTo>
                  <a:pt x="323850" y="1085850"/>
                </a:lnTo>
                <a:lnTo>
                  <a:pt x="323850" y="0"/>
                </a:ln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99FCAB6-F9A7-476B-A477-EEF69900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3242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8" name="Interface and assumption gate">
            <a:extLst xmlns:a="http://schemas.openxmlformats.org/drawingml/2006/main">
              <a:ext uri="{FF2B5EF4-FFF2-40B4-BE49-F238E27FC236}">
                <a16:creationId xmlns:a16="http://schemas.microsoft.com/office/drawing/2014/main" id="{BC7A090B-1F6A-4514-AFE1-77F35E6A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2257425"/>
            <a:ext cx="1857375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9" name="Stage 6">
            <a:extLst xmlns:a="http://schemas.openxmlformats.org/drawingml/2006/main">
              <a:ext uri="{FF2B5EF4-FFF2-40B4-BE49-F238E27FC236}">
                <a16:creationId xmlns:a16="http://schemas.microsoft.com/office/drawing/2014/main" id="{D92EEBD0-BDC5-4EB2-8F26-4535C7B2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20764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0" name="6">
            <a:extLst xmlns:a="http://schemas.openxmlformats.org/drawingml/2006/main">
              <a:ext uri="{FF2B5EF4-FFF2-40B4-BE49-F238E27FC236}">
                <a16:creationId xmlns:a16="http://schemas.microsoft.com/office/drawing/2014/main" id="{3452FE75-EB2A-4CF2-991B-7BBA484A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21209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11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FBDEDE0-C6AE-4BD8-85F6-F7263AC8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2771775"/>
            <a:ext cx="242888" cy="333375"/>
          </a:xfrm>
          <a:custGeom xmlns:a="http://schemas.openxmlformats.org/drawingml/2006/main">
            <a:pathLst>
              <a:path w="242888" h="333375">
                <a:moveTo>
                  <a:pt x="242888" y="0"/>
                </a:moveTo>
                <a:lnTo>
                  <a:pt x="242888" y="100203"/>
                </a:ln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85087C3-1341-46F2-A5FD-DBFDD30A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438" y="2871978"/>
            <a:ext cx="242888" cy="233172"/>
          </a:xfrm>
          <a:custGeom xmlns:a="http://schemas.openxmlformats.org/drawingml/2006/main">
            <a:pathLst>
              <a:path w="242888" h="233172">
                <a:moveTo>
                  <a:pt x="0" y="0"/>
                </a:moveTo>
                <a:lnTo>
                  <a:pt x="242888" y="2331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3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FB408FE2-3F9B-40EF-A67A-B5CBECA6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7763" y="2638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4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60B125C4-3141-44DA-A67E-CD4CB75F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3038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5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C1A12B03-0959-41D0-9564-60B3797C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0650" y="3038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6" name="Check interfaces">
            <a:extLst xmlns:a="http://schemas.openxmlformats.org/drawingml/2006/main">
              <a:ext uri="{FF2B5EF4-FFF2-40B4-BE49-F238E27FC236}">
                <a16:creationId xmlns:a16="http://schemas.microsoft.com/office/drawing/2014/main" id="{6C65A005-7F5C-4C88-8651-BCC107D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3421190"/>
            <a:ext cx="17049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 interfaces</a:t>
            </a:r>
          </a:p>
        </p:txBody>
      </p:sp>
      <p:sp>
        <p:nvSpPr>
          <p:cNvPr id="117" name="+ assumptions">
            <a:extLst xmlns:a="http://schemas.openxmlformats.org/drawingml/2006/main">
              <a:ext uri="{FF2B5EF4-FFF2-40B4-BE49-F238E27FC236}">
                <a16:creationId xmlns:a16="http://schemas.microsoft.com/office/drawing/2014/main" id="{A95B5B57-E795-4DBE-B512-6F5F067A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3719513"/>
            <a:ext cx="17049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+ assumptions</a:t>
            </a:r>
          </a:p>
        </p:txBody>
      </p:sp>
      <p:sp>
        <p:nvSpPr>
          <p:cNvPr id="118" name="Interface checks">
            <a:extLst xmlns:a="http://schemas.openxmlformats.org/drawingml/2006/main">
              <a:ext uri="{FF2B5EF4-FFF2-40B4-BE49-F238E27FC236}">
                <a16:creationId xmlns:a16="http://schemas.microsoft.com/office/drawing/2014/main" id="{411972C2-67F1-4827-9BDA-F2B14F36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01475" y="4086225"/>
            <a:ext cx="1685925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119" name="Caller obligations">
            <a:extLst xmlns:a="http://schemas.openxmlformats.org/drawingml/2006/main">
              <a:ext uri="{FF2B5EF4-FFF2-40B4-BE49-F238E27FC236}">
                <a16:creationId xmlns:a16="http://schemas.microsoft.com/office/drawing/2014/main" id="{5E4309D0-9E5B-47BB-B4AB-96A30DA8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4090797"/>
            <a:ext cx="14478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Caller obligations</a:t>
            </a:r>
          </a:p>
        </p:txBody>
      </p:sp>
      <p:sp>
        <p:nvSpPr>
          <p:cNvPr id="120" name="Shared state">
            <a:extLst xmlns:a="http://schemas.openxmlformats.org/drawingml/2006/main">
              <a:ext uri="{FF2B5EF4-FFF2-40B4-BE49-F238E27FC236}">
                <a16:creationId xmlns:a16="http://schemas.microsoft.com/office/drawing/2014/main" id="{92FBB421-0025-4724-ACB8-C542376E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4344924"/>
            <a:ext cx="14478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Shared state</a:t>
            </a:r>
          </a:p>
        </p:txBody>
      </p:sp>
      <p:sp>
        <p:nvSpPr>
          <p:cNvPr id="121" name="Execution model">
            <a:extLst xmlns:a="http://schemas.openxmlformats.org/drawingml/2006/main">
              <a:ext uri="{FF2B5EF4-FFF2-40B4-BE49-F238E27FC236}">
                <a16:creationId xmlns:a16="http://schemas.microsoft.com/office/drawing/2014/main" id="{9401A965-8B5F-4F33-B186-31D09A00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4599051"/>
            <a:ext cx="14478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Execution model</a:t>
            </a:r>
          </a:p>
        </p:txBody>
      </p:sp>
      <p:sp>
        <p:nvSpPr>
          <p:cNvPr id="122" name="Evidence for larger property">
            <a:extLst xmlns:a="http://schemas.openxmlformats.org/drawingml/2006/main">
              <a:ext uri="{FF2B5EF4-FFF2-40B4-BE49-F238E27FC236}">
                <a16:creationId xmlns:a16="http://schemas.microsoft.com/office/drawing/2014/main" id="{42CC260F-A0FD-45BB-860B-8D5C592A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6525" y="2219325"/>
            <a:ext cx="1514475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3" name="Stage 7">
            <a:extLst xmlns:a="http://schemas.openxmlformats.org/drawingml/2006/main">
              <a:ext uri="{FF2B5EF4-FFF2-40B4-BE49-F238E27FC236}">
                <a16:creationId xmlns:a16="http://schemas.microsoft.com/office/drawing/2014/main" id="{3978D4C2-7FB9-42D7-93A8-6ED85397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8025" y="20383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4" name="7">
            <a:extLst xmlns:a="http://schemas.openxmlformats.org/drawingml/2006/main">
              <a:ext uri="{FF2B5EF4-FFF2-40B4-BE49-F238E27FC236}">
                <a16:creationId xmlns:a16="http://schemas.microsoft.com/office/drawing/2014/main" id="{346F29A7-D21F-477E-B97E-9B7D4905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8025" y="20828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7</a:t>
            </a:r>
          </a:p>
        </p:txBody>
      </p:sp>
      <p:sp>
        <p:nvSpPr>
          <p:cNvPr id="125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454C27DE-51E8-4E2A-848A-83B3E4C7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2676525"/>
            <a:ext cx="619125" cy="866775"/>
          </a:xfrm>
          <a:custGeom xmlns:a="http://schemas.openxmlformats.org/drawingml/2006/main">
            <a:pathLst>
              <a:path w="619125" h="866775">
                <a:moveTo>
                  <a:pt x="0" y="0"/>
                </a:moveTo>
                <a:lnTo>
                  <a:pt x="464344" y="0"/>
                </a:lnTo>
                <a:lnTo>
                  <a:pt x="619125" y="154781"/>
                </a:lnTo>
                <a:lnTo>
                  <a:pt x="619125" y="866775"/>
                </a:lnTo>
                <a:lnTo>
                  <a:pt x="0" y="8667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2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A52DB4D-2887-450A-86CA-2E7EDBBB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8544" y="2676525"/>
            <a:ext cx="154781" cy="154781"/>
          </a:xfrm>
          <a:custGeom xmlns:a="http://schemas.openxmlformats.org/drawingml/2006/main">
            <a:pathLst>
              <a:path w="154781" h="154781">
                <a:moveTo>
                  <a:pt x="0" y="0"/>
                </a:moveTo>
                <a:lnTo>
                  <a:pt x="0" y="154781"/>
                </a:lnTo>
                <a:lnTo>
                  <a:pt x="154781" y="154781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74F1FF1-1CDB-43A8-93E6-A19B1CAD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8025" y="2979896"/>
            <a:ext cx="340519" cy="9525"/>
          </a:xfrm>
          <a:custGeom xmlns:a="http://schemas.openxmlformats.org/drawingml/2006/main">
            <a:pathLst>
              <a:path w="340519" h="9525">
                <a:moveTo>
                  <a:pt x="0" y="0"/>
                </a:moveTo>
                <a:lnTo>
                  <a:pt x="3405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902B67B-DB75-4C32-8E64-9D0DDE3D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8025" y="3127248"/>
            <a:ext cx="340519" cy="9525"/>
          </a:xfrm>
          <a:custGeom xmlns:a="http://schemas.openxmlformats.org/drawingml/2006/main">
            <a:pathLst>
              <a:path w="340519" h="9525">
                <a:moveTo>
                  <a:pt x="0" y="0"/>
                </a:moveTo>
                <a:lnTo>
                  <a:pt x="3405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CD33854-69F8-4811-A381-F533F50D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8025" y="3274600"/>
            <a:ext cx="340519" cy="9525"/>
          </a:xfrm>
          <a:custGeom xmlns:a="http://schemas.openxmlformats.org/drawingml/2006/main">
            <a:pathLst>
              <a:path w="340519" h="9525">
                <a:moveTo>
                  <a:pt x="0" y="0"/>
                </a:moveTo>
                <a:lnTo>
                  <a:pt x="34051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30" name="Evidence for">
            <a:extLst xmlns:a="http://schemas.openxmlformats.org/drawingml/2006/main">
              <a:ext uri="{FF2B5EF4-FFF2-40B4-BE49-F238E27FC236}">
                <a16:creationId xmlns:a16="http://schemas.microsoft.com/office/drawing/2014/main" id="{411BD644-D21A-4D1C-B063-B61DD55B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655504"/>
            <a:ext cx="1343025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Evidence for</a:t>
            </a:r>
          </a:p>
        </p:txBody>
      </p:sp>
      <p:sp>
        <p:nvSpPr>
          <p:cNvPr id="131" name="the larger">
            <a:extLst xmlns:a="http://schemas.openxmlformats.org/drawingml/2006/main">
              <a:ext uri="{FF2B5EF4-FFF2-40B4-BE49-F238E27FC236}">
                <a16:creationId xmlns:a16="http://schemas.microsoft.com/office/drawing/2014/main" id="{061C396B-5F8E-4D64-8118-D2BED476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964877"/>
            <a:ext cx="1343025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the larger</a:t>
            </a:r>
          </a:p>
        </p:txBody>
      </p:sp>
      <p:sp>
        <p:nvSpPr>
          <p:cNvPr id="132" name="property">
            <a:extLst xmlns:a="http://schemas.openxmlformats.org/drawingml/2006/main">
              <a:ext uri="{FF2B5EF4-FFF2-40B4-BE49-F238E27FC236}">
                <a16:creationId xmlns:a16="http://schemas.microsoft.com/office/drawing/2014/main" id="{DE87A2F0-B3B8-44E0-96C5-B43504AD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4274249"/>
            <a:ext cx="1343025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property</a:t>
            </a:r>
          </a:p>
        </p:txBody>
      </p:sp>
      <p:sp>
        <p:nvSpPr>
          <p:cNvPr id="13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F5E2FAF-7714-47CD-BEB9-CC51DBC2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3371850"/>
            <a:ext cx="533400" cy="9525"/>
          </a:xfrm>
          <a:custGeom xmlns:a="http://schemas.openxmlformats.org/drawingml/2006/main">
            <a:pathLst>
              <a:path w="533400" h="9525">
                <a:moveTo>
                  <a:pt x="0" y="0"/>
                </a:moveTo>
                <a:lnTo>
                  <a:pt x="53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3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1868D45-2034-43D2-B42A-FC827B4F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33242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147681C-C41A-44B8-8447-E8F6BC77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657725"/>
            <a:ext cx="9515475" cy="714375"/>
          </a:xfrm>
          <a:custGeom xmlns:a="http://schemas.openxmlformats.org/drawingml/2006/main">
            <a:pathLst>
              <a:path w="9515475" h="714375">
                <a:moveTo>
                  <a:pt x="9515475" y="304800"/>
                </a:moveTo>
                <a:lnTo>
                  <a:pt x="9515475" y="714375"/>
                </a:lnTo>
                <a:lnTo>
                  <a:pt x="0" y="7143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3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8DC06E9-FEAC-4D3C-917C-AE28C7DB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577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7" name="Revise incompatible obligations">
            <a:extLst xmlns:a="http://schemas.openxmlformats.org/drawingml/2006/main">
              <a:ext uri="{FF2B5EF4-FFF2-40B4-BE49-F238E27FC236}">
                <a16:creationId xmlns:a16="http://schemas.microsoft.com/office/drawing/2014/main" id="{0071065C-3690-4104-82C8-5E2E3D95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421439"/>
            <a:ext cx="432435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Revise incompatible obligations</a:t>
            </a:r>
          </a:p>
        </p:txBody>
      </p:sp>
      <p:sp>
        <p:nvSpPr>
          <p:cNvPr id="138" name="Dependency reuse">
            <a:extLst xmlns:a="http://schemas.openxmlformats.org/drawingml/2006/main">
              <a:ext uri="{FF2B5EF4-FFF2-40B4-BE49-F238E27FC236}">
                <a16:creationId xmlns:a16="http://schemas.microsoft.com/office/drawing/2014/main" id="{5E4972A9-30DA-485F-958D-AD2C8AD6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57875"/>
            <a:ext cx="80676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9" name="Reuse one dependency proof across callers">
            <a:extLst xmlns:a="http://schemas.openxmlformats.org/drawingml/2006/main">
              <a:ext uri="{FF2B5EF4-FFF2-40B4-BE49-F238E27FC236}">
                <a16:creationId xmlns:a16="http://schemas.microsoft.com/office/drawing/2014/main" id="{286CDD29-ADF1-4DA2-B43D-C286E7AA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978652"/>
            <a:ext cx="763905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Reuse one dependency proof across callers</a:t>
            </a:r>
          </a:p>
        </p:txBody>
      </p:sp>
      <p:sp>
        <p:nvSpPr>
          <p:cNvPr id="140" name="Checked shared library">
            <a:extLst xmlns:a="http://schemas.openxmlformats.org/drawingml/2006/main">
              <a:ext uri="{FF2B5EF4-FFF2-40B4-BE49-F238E27FC236}">
                <a16:creationId xmlns:a16="http://schemas.microsoft.com/office/drawing/2014/main" id="{48B44FAE-8C91-47B9-86B6-BF9DA9FE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86525"/>
            <a:ext cx="24955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1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6FF61B4E-7709-4450-AD6D-204FFB71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934200"/>
            <a:ext cx="466725" cy="257175"/>
          </a:xfrm>
          <a:custGeom xmlns:a="http://schemas.openxmlformats.org/drawingml/2006/main">
            <a:pathLst>
              <a:path w="466725" h="257175">
                <a:moveTo>
                  <a:pt x="233363" y="0"/>
                </a:moveTo>
                <a:lnTo>
                  <a:pt x="466725" y="123825"/>
                </a:lnTo>
                <a:lnTo>
                  <a:pt x="233363" y="257175"/>
                </a:lnTo>
                <a:lnTo>
                  <a:pt x="0" y="123825"/>
                </a:lnTo>
                <a:lnTo>
                  <a:pt x="2333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42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F13510AF-924F-4ED3-AB87-FB59C376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819900"/>
            <a:ext cx="466725" cy="257175"/>
          </a:xfrm>
          <a:custGeom xmlns:a="http://schemas.openxmlformats.org/drawingml/2006/main">
            <a:pathLst>
              <a:path w="466725" h="257175">
                <a:moveTo>
                  <a:pt x="233363" y="0"/>
                </a:moveTo>
                <a:lnTo>
                  <a:pt x="466725" y="123825"/>
                </a:lnTo>
                <a:lnTo>
                  <a:pt x="233363" y="257175"/>
                </a:lnTo>
                <a:lnTo>
                  <a:pt x="0" y="123825"/>
                </a:lnTo>
                <a:lnTo>
                  <a:pt x="2333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43" name="Editable library layer">
            <a:extLst xmlns:a="http://schemas.openxmlformats.org/drawingml/2006/main">
              <a:ext uri="{FF2B5EF4-FFF2-40B4-BE49-F238E27FC236}">
                <a16:creationId xmlns:a16="http://schemas.microsoft.com/office/drawing/2014/main" id="{14E58B0F-9FD8-4A23-AB49-DCB93484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705600"/>
            <a:ext cx="466725" cy="257175"/>
          </a:xfrm>
          <a:custGeom xmlns:a="http://schemas.openxmlformats.org/drawingml/2006/main">
            <a:pathLst>
              <a:path w="466725" h="257175">
                <a:moveTo>
                  <a:pt x="233363" y="0"/>
                </a:moveTo>
                <a:lnTo>
                  <a:pt x="466725" y="123825"/>
                </a:lnTo>
                <a:lnTo>
                  <a:pt x="233363" y="257175"/>
                </a:lnTo>
                <a:lnTo>
                  <a:pt x="0" y="123825"/>
                </a:lnTo>
                <a:lnTo>
                  <a:pt x="2333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44" name="Shared library A">
            <a:extLst xmlns:a="http://schemas.openxmlformats.org/drawingml/2006/main">
              <a:ext uri="{FF2B5EF4-FFF2-40B4-BE49-F238E27FC236}">
                <a16:creationId xmlns:a16="http://schemas.microsoft.com/office/drawing/2014/main" id="{EF4F1732-2BCE-4267-94D4-3A677BB1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573012"/>
            <a:ext cx="15335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Shared library A</a:t>
            </a:r>
          </a:p>
        </p:txBody>
      </p:sp>
      <p:sp>
        <p:nvSpPr>
          <p:cNvPr id="145" name="Checked proof">
            <a:extLst xmlns:a="http://schemas.openxmlformats.org/drawingml/2006/main">
              <a:ext uri="{FF2B5EF4-FFF2-40B4-BE49-F238E27FC236}">
                <a16:creationId xmlns:a16="http://schemas.microsoft.com/office/drawing/2014/main" id="{62C1D942-271B-4333-9718-735208A1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926199"/>
            <a:ext cx="15335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 proof</a:t>
            </a:r>
          </a:p>
        </p:txBody>
      </p:sp>
      <p:sp>
        <p:nvSpPr>
          <p:cNvPr id="146" name="+ interface">
            <a:extLst xmlns:a="http://schemas.openxmlformats.org/drawingml/2006/main">
              <a:ext uri="{FF2B5EF4-FFF2-40B4-BE49-F238E27FC236}">
                <a16:creationId xmlns:a16="http://schemas.microsoft.com/office/drawing/2014/main" id="{4A79B77A-EDF7-4F54-A744-96F1CD97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191375"/>
            <a:ext cx="15335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+ interface</a:t>
            </a:r>
          </a:p>
        </p:txBody>
      </p:sp>
      <p:sp>
        <p:nvSpPr>
          <p:cNvPr id="147" name="Verified interface">
            <a:extLst xmlns:a="http://schemas.openxmlformats.org/drawingml/2006/main">
              <a:ext uri="{FF2B5EF4-FFF2-40B4-BE49-F238E27FC236}">
                <a16:creationId xmlns:a16="http://schemas.microsoft.com/office/drawing/2014/main" id="{9662F7B7-5292-4670-85F1-F911DC24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686550"/>
            <a:ext cx="914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8" name="Verified">
            <a:extLst xmlns:a="http://schemas.openxmlformats.org/drawingml/2006/main">
              <a:ext uri="{FF2B5EF4-FFF2-40B4-BE49-F238E27FC236}">
                <a16:creationId xmlns:a16="http://schemas.microsoft.com/office/drawing/2014/main" id="{A3359698-6B88-4459-80FB-4C2BD8BC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6727698"/>
            <a:ext cx="7810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Verified</a:t>
            </a:r>
          </a:p>
        </p:txBody>
      </p:sp>
      <p:sp>
        <p:nvSpPr>
          <p:cNvPr id="149" name="interface">
            <a:extLst xmlns:a="http://schemas.openxmlformats.org/drawingml/2006/main">
              <a:ext uri="{FF2B5EF4-FFF2-40B4-BE49-F238E27FC236}">
                <a16:creationId xmlns:a16="http://schemas.microsoft.com/office/drawing/2014/main" id="{5852A542-3993-4220-A795-5CF1C84E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6981825"/>
            <a:ext cx="7810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interface</a:t>
            </a:r>
          </a:p>
        </p:txBody>
      </p:sp>
      <p:sp>
        <p:nvSpPr>
          <p:cNvPr id="15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1592737-FBD8-4448-A931-B135DDDA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7000875"/>
            <a:ext cx="247650" cy="9525"/>
          </a:xfrm>
          <a:custGeom xmlns:a="http://schemas.openxmlformats.org/drawingml/2006/main"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5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40B5BD34-0B3C-4046-AF50-257ECAD7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9532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52" name="Caller component">
            <a:extLst xmlns:a="http://schemas.openxmlformats.org/drawingml/2006/main">
              <a:ext uri="{FF2B5EF4-FFF2-40B4-BE49-F238E27FC236}">
                <a16:creationId xmlns:a16="http://schemas.microsoft.com/office/drawing/2014/main" id="{7C865069-C881-4F7C-8BF2-9B9AAB61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6353175"/>
            <a:ext cx="29813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3" name="&lt;/&gt;">
            <a:extLst xmlns:a="http://schemas.openxmlformats.org/drawingml/2006/main">
              <a:ext uri="{FF2B5EF4-FFF2-40B4-BE49-F238E27FC236}">
                <a16:creationId xmlns:a16="http://schemas.microsoft.com/office/drawing/2014/main" id="{E02A56BF-A38F-46B4-84B0-EC890E97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6479477"/>
            <a:ext cx="49530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&lt;/&gt;</a:t>
            </a:r>
          </a:p>
        </p:txBody>
      </p:sp>
      <p:sp>
        <p:nvSpPr>
          <p:cNvPr id="154" name="Caller component 1">
            <a:extLst xmlns:a="http://schemas.openxmlformats.org/drawingml/2006/main">
              <a:ext uri="{FF2B5EF4-FFF2-40B4-BE49-F238E27FC236}">
                <a16:creationId xmlns:a16="http://schemas.microsoft.com/office/drawing/2014/main" id="{A09DC780-C268-4AAA-A437-81F1B936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481001"/>
            <a:ext cx="20288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Caller component 1</a:t>
            </a:r>
          </a:p>
        </p:txBody>
      </p:sp>
      <p:sp>
        <p:nvSpPr>
          <p:cNvPr id="15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4A7F3B7-0603-41EA-859A-9037A394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629400"/>
            <a:ext cx="638175" cy="352425"/>
          </a:xfrm>
          <a:custGeom xmlns:a="http://schemas.openxmlformats.org/drawingml/2006/main">
            <a:pathLst>
              <a:path w="638175" h="352425">
                <a:moveTo>
                  <a:pt x="0" y="352425"/>
                </a:moveTo>
                <a:lnTo>
                  <a:pt x="247650" y="352425"/>
                </a:lnTo>
                <a:lnTo>
                  <a:pt x="247650" y="0"/>
                </a:ln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5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89432039-1929-4F8D-87FC-173D2688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65817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57" name="Caller component">
            <a:extLst xmlns:a="http://schemas.openxmlformats.org/drawingml/2006/main">
              <a:ext uri="{FF2B5EF4-FFF2-40B4-BE49-F238E27FC236}">
                <a16:creationId xmlns:a16="http://schemas.microsoft.com/office/drawing/2014/main" id="{4765270F-6472-48CF-B48A-AE2A7F49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7086600"/>
            <a:ext cx="29813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8" name="&lt;/&gt;">
            <a:extLst xmlns:a="http://schemas.openxmlformats.org/drawingml/2006/main">
              <a:ext uri="{FF2B5EF4-FFF2-40B4-BE49-F238E27FC236}">
                <a16:creationId xmlns:a16="http://schemas.microsoft.com/office/drawing/2014/main" id="{5961D3E4-507B-4B96-A2A7-BB4B3FB4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7212902"/>
            <a:ext cx="49530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&lt;/&gt;</a:t>
            </a:r>
          </a:p>
        </p:txBody>
      </p:sp>
      <p:sp>
        <p:nvSpPr>
          <p:cNvPr id="159" name="Caller component 2">
            <a:extLst xmlns:a="http://schemas.openxmlformats.org/drawingml/2006/main">
              <a:ext uri="{FF2B5EF4-FFF2-40B4-BE49-F238E27FC236}">
                <a16:creationId xmlns:a16="http://schemas.microsoft.com/office/drawing/2014/main" id="{8D649386-EEAD-4D53-A37C-ED2275DE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214426"/>
            <a:ext cx="20288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Caller component 2</a:t>
            </a:r>
          </a:p>
        </p:txBody>
      </p:sp>
      <p:sp>
        <p:nvSpPr>
          <p:cNvPr id="16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5B792F9-1536-4A2F-BE3B-92DB85D5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981825"/>
            <a:ext cx="638175" cy="381000"/>
          </a:xfrm>
          <a:custGeom xmlns:a="http://schemas.openxmlformats.org/drawingml/2006/main">
            <a:pathLst>
              <a:path w="638175" h="381000">
                <a:moveTo>
                  <a:pt x="0" y="0"/>
                </a:moveTo>
                <a:lnTo>
                  <a:pt x="247650" y="0"/>
                </a:lnTo>
                <a:lnTo>
                  <a:pt x="247650" y="381000"/>
                </a:lnTo>
                <a:lnTo>
                  <a:pt x="638175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6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140EF2E-0B63-4C4F-AAB8-760CE6C0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73152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62" name="Changes and revalidation">
            <a:extLst xmlns:a="http://schemas.openxmlformats.org/drawingml/2006/main">
              <a:ext uri="{FF2B5EF4-FFF2-40B4-BE49-F238E27FC236}">
                <a16:creationId xmlns:a16="http://schemas.microsoft.com/office/drawing/2014/main" id="{996982B3-03A6-43F7-BBE3-2430BA0F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857875"/>
            <a:ext cx="69532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3" name="When something changes">
            <a:extLst xmlns:a="http://schemas.openxmlformats.org/drawingml/2006/main">
              <a:ext uri="{FF2B5EF4-FFF2-40B4-BE49-F238E27FC236}">
                <a16:creationId xmlns:a16="http://schemas.microsoft.com/office/drawing/2014/main" id="{196ED811-835C-4608-876F-F61C075F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982653"/>
            <a:ext cx="62865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When something changes</a:t>
            </a:r>
          </a:p>
        </p:txBody>
      </p:sp>
      <p:sp>
        <p:nvSpPr>
          <p:cNvPr id="164" name="Changed caller component or property">
            <a:extLst xmlns:a="http://schemas.openxmlformats.org/drawingml/2006/main">
              <a:ext uri="{FF2B5EF4-FFF2-40B4-BE49-F238E27FC236}">
                <a16:creationId xmlns:a16="http://schemas.microsoft.com/office/drawing/2014/main" id="{E0ED0F23-0C12-4F80-A121-1D7645C2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6505575"/>
            <a:ext cx="3057525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5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8DBD1D4D-C6C0-4889-8EC7-D881651A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6696075"/>
            <a:ext cx="381000" cy="542925"/>
          </a:xfrm>
          <a:custGeom xmlns:a="http://schemas.openxmlformats.org/drawingml/2006/main">
            <a:pathLst>
              <a:path w="381000" h="542925">
                <a:moveTo>
                  <a:pt x="0" y="0"/>
                </a:moveTo>
                <a:lnTo>
                  <a:pt x="285750" y="0"/>
                </a:lnTo>
                <a:lnTo>
                  <a:pt x="381000" y="95250"/>
                </a:lnTo>
                <a:lnTo>
                  <a:pt x="381000" y="542925"/>
                </a:lnTo>
                <a:lnTo>
                  <a:pt x="0" y="5429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6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B767CBE-2E3B-46AB-9CBE-0AC25F4B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6696075"/>
            <a:ext cx="95250" cy="95250"/>
          </a:xfrm>
          <a:custGeom xmlns:a="http://schemas.openxmlformats.org/drawingml/2006/main">
            <a:pathLst>
              <a:path w="95250" h="95250">
                <a:moveTo>
                  <a:pt x="0" y="0"/>
                </a:moveTo>
                <a:lnTo>
                  <a:pt x="0" y="95250"/>
                </a:lnTo>
                <a:lnTo>
                  <a:pt x="9525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8093B59A-5FA5-4988-8EAF-103A0CD5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86099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D7C39A7-B53A-418F-834A-F3107E59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978396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3DCBC89-D82C-41B4-9378-54D87EEE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070693"/>
            <a:ext cx="209550" cy="9525"/>
          </a:xfrm>
          <a:custGeom xmlns:a="http://schemas.openxmlformats.org/drawingml/2006/main">
            <a:pathLst>
              <a:path w="209550" h="9525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70" name="Changed caller /">
            <a:extLst xmlns:a="http://schemas.openxmlformats.org/drawingml/2006/main">
              <a:ext uri="{FF2B5EF4-FFF2-40B4-BE49-F238E27FC236}">
                <a16:creationId xmlns:a16="http://schemas.microsoft.com/office/drawing/2014/main" id="{02C8E813-1F97-44A2-85B0-D3921344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685026"/>
            <a:ext cx="21526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Changed caller /</a:t>
            </a:r>
          </a:p>
        </p:txBody>
      </p:sp>
      <p:sp>
        <p:nvSpPr>
          <p:cNvPr id="171" name="component / property">
            <a:extLst xmlns:a="http://schemas.openxmlformats.org/drawingml/2006/main">
              <a:ext uri="{FF2B5EF4-FFF2-40B4-BE49-F238E27FC236}">
                <a16:creationId xmlns:a16="http://schemas.microsoft.com/office/drawing/2014/main" id="{B9729487-9600-487C-809B-96157F03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972300"/>
            <a:ext cx="21526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component / property</a:t>
            </a:r>
          </a:p>
        </p:txBody>
      </p:sp>
      <p:sp>
        <p:nvSpPr>
          <p:cNvPr id="172" name="Revalidate affected evidence">
            <a:extLst xmlns:a="http://schemas.openxmlformats.org/drawingml/2006/main">
              <a:ext uri="{FF2B5EF4-FFF2-40B4-BE49-F238E27FC236}">
                <a16:creationId xmlns:a16="http://schemas.microsoft.com/office/drawing/2014/main" id="{2270AE50-3E23-4BA3-AE6A-4A562030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6505575"/>
            <a:ext cx="289560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3" name="Revalidate">
            <a:extLst xmlns:a="http://schemas.openxmlformats.org/drawingml/2006/main">
              <a:ext uri="{FF2B5EF4-FFF2-40B4-BE49-F238E27FC236}">
                <a16:creationId xmlns:a16="http://schemas.microsoft.com/office/drawing/2014/main" id="{34A31F55-0959-44E3-BF35-D87EB358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6662928"/>
            <a:ext cx="232410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Revalidate</a:t>
            </a:r>
          </a:p>
        </p:txBody>
      </p:sp>
      <p:sp>
        <p:nvSpPr>
          <p:cNvPr id="174" name="affected evidence">
            <a:extLst xmlns:a="http://schemas.openxmlformats.org/drawingml/2006/main">
              <a:ext uri="{FF2B5EF4-FFF2-40B4-BE49-F238E27FC236}">
                <a16:creationId xmlns:a16="http://schemas.microsoft.com/office/drawing/2014/main" id="{73524304-24E7-43FE-9A51-B646B410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6972300"/>
            <a:ext cx="232410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affected evidence</a:t>
            </a:r>
          </a:p>
        </p:txBody>
      </p:sp>
      <p:sp>
        <p:nvSpPr>
          <p:cNvPr id="17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CA25A0D-7380-4656-862B-74640845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981825"/>
            <a:ext cx="409575" cy="9525"/>
          </a:xfrm>
          <a:custGeom xmlns:a="http://schemas.openxmlformats.org/drawingml/2006/main">
            <a:pathLst>
              <a:path w="409575" h="9525">
                <a:moveTo>
                  <a:pt x="0" y="0"/>
                </a:moveTo>
                <a:lnTo>
                  <a:pt x="4095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0D43825-1D40-4109-970A-E46F2083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69342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7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2FD9CA7-0E3B-46A5-B0A4-792CE241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6925" y="4962525"/>
            <a:ext cx="9525" cy="1543050"/>
          </a:xfrm>
          <a:custGeom xmlns:a="http://schemas.openxmlformats.org/drawingml/2006/main">
            <a:pathLst>
              <a:path w="9525" h="1543050">
                <a:moveTo>
                  <a:pt x="0" y="1543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7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03E6D2D-0B46-4233-8703-9676E3A5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49625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79" name="Conditional proof reuse">
            <a:extLst xmlns:a="http://schemas.openxmlformats.org/drawingml/2006/main">
              <a:ext uri="{FF2B5EF4-FFF2-40B4-BE49-F238E27FC236}">
                <a16:creationId xmlns:a16="http://schemas.microsoft.com/office/drawing/2014/main" id="{7759E238-142E-4FBE-9498-0E591E6A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8067675"/>
            <a:ext cx="15335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80" name="Reuse is conditional on matching interfaces, artifacts, and assumptions.">
            <a:extLst xmlns:a="http://schemas.openxmlformats.org/drawingml/2006/main">
              <a:ext uri="{FF2B5EF4-FFF2-40B4-BE49-F238E27FC236}">
                <a16:creationId xmlns:a16="http://schemas.microsoft.com/office/drawing/2014/main" id="{ADDB5807-BB8E-4ABA-957C-6D56C4B6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097964"/>
            <a:ext cx="147828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Reuse is conditional on matching interfaces, artifacts, and assumptions.</a:t>
            </a:r>
          </a:p>
        </p:txBody>
      </p:sp>
      <p:sp>
        <p:nvSpPr>
          <p:cNvPr id="181" name="Larger guarantees require checked interfaces and explicit assumptions.">
            <a:extLst xmlns:a="http://schemas.openxmlformats.org/drawingml/2006/main">
              <a:ext uri="{FF2B5EF4-FFF2-40B4-BE49-F238E27FC236}">
                <a16:creationId xmlns:a16="http://schemas.microsoft.com/office/drawing/2014/main" id="{74D87E4A-FBED-4CC1-99F9-470AAFD2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476298"/>
            <a:ext cx="14211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Larger guarantees require checked interfaces and explicit assumptions.</a:t>
            </a:r>
          </a:p>
        </p:txBody>
      </p:sp>
      <p:sp>
        <p:nvSpPr>
          <p:cNvPr id="182" name="[1] Anthropic + Theorem (2026)">
            <a:extLst xmlns:a="http://schemas.openxmlformats.org/drawingml/2006/main">
              <a:ext uri="{FF2B5EF4-FFF2-40B4-BE49-F238E27FC236}">
                <a16:creationId xmlns:a16="http://schemas.microsoft.com/office/drawing/2014/main" id="{16A7A542-94BF-430F-A387-B80C10BD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8755571"/>
            <a:ext cx="3571875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a39af4e7375a4191"/>
              </a:rPr>
              <a:t>[1] Anthropic + Theorem (2026)</a:t>
            </a:r>
          </a:p>
        </p:txBody>
      </p:sp>
      <p:sp>
        <p:nvSpPr>
          <p:cNvPr id="183" name="[2] Theorem (2026)">
            <a:extLst xmlns:a="http://schemas.openxmlformats.org/drawingml/2006/main">
              <a:ext uri="{FF2B5EF4-FFF2-40B4-BE49-F238E27FC236}">
                <a16:creationId xmlns:a16="http://schemas.microsoft.com/office/drawing/2014/main" id="{71FF3F1A-BABD-4D9A-8C48-976B99B6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8755571"/>
            <a:ext cx="2857500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9d884bb883564709"/>
              </a:rPr>
              <a:t>[2] Theorem (2026)</a:t>
            </a:r>
          </a:p>
        </p:txBody>
      </p:sp>
    </p:spTree>
    <p:extLst>
      <p:ext uri="{BB962C8B-B14F-4D97-AF65-F5344CB8AC3E}">
        <p14:creationId xmlns:p14="http://schemas.microsoft.com/office/powerpoint/2010/main" val="2924683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2" name="Trustworthy Verification Feedback">
            <a:extLst xmlns:a="http://schemas.openxmlformats.org/drawingml/2006/main">
              <a:ext uri="{FF2B5EF4-FFF2-40B4-BE49-F238E27FC236}">
                <a16:creationId xmlns:a16="http://schemas.microsoft.com/office/drawing/2014/main" id="{5A8FD0B7-0AA8-4507-BEE0-CA719090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2200"/>
            <a:ext cx="13735050" cy="541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6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Trustworthy Verification Feedback</a:t>
            </a:r>
          </a:p>
        </p:txBody>
      </p:sp>
      <p:sp>
        <p:nvSpPr>
          <p:cNvPr id="2" name="A checked theorem must support the intended requirement">
            <a:extLst xmlns:a="http://schemas.openxmlformats.org/drawingml/2006/main">
              <a:ext uri="{FF2B5EF4-FFF2-40B4-BE49-F238E27FC236}">
                <a16:creationId xmlns:a16="http://schemas.microsoft.com/office/drawing/2014/main" id="{AE5004F0-02E9-4A61-B549-71EF726D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93230"/>
            <a:ext cx="13068300" cy="3756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5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 checked theorem must support the intended requirement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81FC2570-FA87-4854-9E96-61A4B068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194310"/>
            <a:ext cx="2047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Proposed research</a:t>
            </a:r>
          </a:p>
        </p:txBody>
      </p:sp>
      <p:sp>
        <p:nvSpPr>
          <p:cNvPr id="4" name="Verification input">
            <a:extLst xmlns:a="http://schemas.openxmlformats.org/drawingml/2006/main">
              <a:ext uri="{FF2B5EF4-FFF2-40B4-BE49-F238E27FC236}">
                <a16:creationId xmlns:a16="http://schemas.microsoft.com/office/drawing/2014/main" id="{A7E64F3C-B090-4E91-AB5E-359D6827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280987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Stage 1">
            <a:extLst xmlns:a="http://schemas.openxmlformats.org/drawingml/2006/main">
              <a:ext uri="{FF2B5EF4-FFF2-40B4-BE49-F238E27FC236}">
                <a16:creationId xmlns:a16="http://schemas.microsoft.com/office/drawing/2014/main" id="{032CDE2A-FF30-4C2A-8A29-FB5B5033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39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" name="1">
            <a:extLst xmlns:a="http://schemas.openxmlformats.org/drawingml/2006/main">
              <a:ext uri="{FF2B5EF4-FFF2-40B4-BE49-F238E27FC236}">
                <a16:creationId xmlns:a16="http://schemas.microsoft.com/office/drawing/2014/main" id="{3D3C4D33-3DDC-4185-A9F9-FB29295F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684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EA30B3D2-4241-466C-A691-738E04EE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457200" cy="571500"/>
          </a:xfrm>
          <a:custGeom xmlns:a="http://schemas.openxmlformats.org/drawingml/2006/main">
            <a:pathLst>
              <a:path w="457200" h="571500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571500"/>
                </a:lnTo>
                <a:lnTo>
                  <a:pt x="0" y="5715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C9B612F-C4CF-457D-A7DD-AAD1D447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0020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F73770F-20B0-43E2-8A57-AB57AD9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" y="180022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472A7A5-EB31-44F8-9456-3CC87D87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" y="1897380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15EA34C-FED2-443A-8AED-80041AA0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" y="199453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" name="Approved property">
            <a:extLst xmlns:a="http://schemas.openxmlformats.org/drawingml/2006/main">
              <a:ext uri="{FF2B5EF4-FFF2-40B4-BE49-F238E27FC236}">
                <a16:creationId xmlns:a16="http://schemas.microsoft.com/office/drawing/2014/main" id="{9D69F10D-01E5-401A-9594-4B902487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15237"/>
            <a:ext cx="1771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Approved property</a:t>
            </a:r>
          </a:p>
        </p:txBody>
      </p:sp>
      <p:sp>
        <p:nvSpPr>
          <p:cNvPr id="13" name="Test-derived or explicit">
            <a:extLst xmlns:a="http://schemas.openxmlformats.org/drawingml/2006/main">
              <a:ext uri="{FF2B5EF4-FFF2-40B4-BE49-F238E27FC236}">
                <a16:creationId xmlns:a16="http://schemas.microsoft.com/office/drawing/2014/main" id="{C938FCA8-F50A-4FD5-A68D-070E0379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993011"/>
            <a:ext cx="17716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Test-derived or explicit</a:t>
            </a:r>
          </a:p>
        </p:txBody>
      </p:sp>
      <p:sp>
        <p:nvSpPr>
          <p:cNvPr id="1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6AC9CCC3-9F46-46B5-ACF8-83D7F369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852613"/>
            <a:ext cx="1333500" cy="1471613"/>
          </a:xfrm>
          <a:custGeom xmlns:a="http://schemas.openxmlformats.org/drawingml/2006/main">
            <a:pathLst>
              <a:path w="1333500" h="1471613">
                <a:moveTo>
                  <a:pt x="0" y="0"/>
                </a:moveTo>
                <a:lnTo>
                  <a:pt x="257175" y="0"/>
                </a:lnTo>
                <a:lnTo>
                  <a:pt x="257175" y="1471613"/>
                </a:lnTo>
                <a:lnTo>
                  <a:pt x="1333500" y="14716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3D5304E-5735-4F3B-A713-74A7DEB0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276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6" name="Verification input">
            <a:extLst xmlns:a="http://schemas.openxmlformats.org/drawingml/2006/main">
              <a:ext uri="{FF2B5EF4-FFF2-40B4-BE49-F238E27FC236}">
                <a16:creationId xmlns:a16="http://schemas.microsoft.com/office/drawing/2014/main" id="{B4720154-3162-49DB-BB6D-F8767818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52725"/>
            <a:ext cx="280987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" name="Stage 2">
            <a:extLst xmlns:a="http://schemas.openxmlformats.org/drawingml/2006/main">
              <a:ext uri="{FF2B5EF4-FFF2-40B4-BE49-F238E27FC236}">
                <a16:creationId xmlns:a16="http://schemas.microsoft.com/office/drawing/2014/main" id="{CC4EA2E9-8F10-4F7A-9A06-A3E351D0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09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8" name="2">
            <a:extLst xmlns:a="http://schemas.openxmlformats.org/drawingml/2006/main">
              <a:ext uri="{FF2B5EF4-FFF2-40B4-BE49-F238E27FC236}">
                <a16:creationId xmlns:a16="http://schemas.microsoft.com/office/drawing/2014/main" id="{FED1DDA3-E0E7-471D-BF31-B957C88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543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9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6F4FFB31-3EA3-4B8F-A30D-3C737C68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57200" cy="571500"/>
          </a:xfrm>
          <a:custGeom xmlns:a="http://schemas.openxmlformats.org/drawingml/2006/main">
            <a:pathLst>
              <a:path w="457200" h="571500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571500"/>
                </a:lnTo>
                <a:lnTo>
                  <a:pt x="0" y="5715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2BBD07E-6CEA-41AA-95CD-C96ABB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8610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" name="&lt;/&gt;">
            <a:extLst xmlns:a="http://schemas.openxmlformats.org/drawingml/2006/main">
              <a:ext uri="{FF2B5EF4-FFF2-40B4-BE49-F238E27FC236}">
                <a16:creationId xmlns:a16="http://schemas.microsoft.com/office/drawing/2014/main" id="{CD2F3ADA-A1EB-4C6C-BF46-FDA96C8F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257824"/>
            <a:ext cx="400050" cy="228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48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&lt;/&gt;</a:t>
            </a:r>
          </a:p>
        </p:txBody>
      </p:sp>
      <p:sp>
        <p:nvSpPr>
          <p:cNvPr id="22" name="Exact code + model">
            <a:extLst xmlns:a="http://schemas.openxmlformats.org/drawingml/2006/main">
              <a:ext uri="{FF2B5EF4-FFF2-40B4-BE49-F238E27FC236}">
                <a16:creationId xmlns:a16="http://schemas.microsoft.com/office/drawing/2014/main" id="{8B69D1FA-C7DB-4471-A497-4E1DA2E6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001137"/>
            <a:ext cx="1771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Exact code + model</a:t>
            </a:r>
          </a:p>
        </p:txBody>
      </p:sp>
      <p:sp>
        <p:nvSpPr>
          <p:cNvPr id="23" name="Domain + execution">
            <a:extLst xmlns:a="http://schemas.openxmlformats.org/drawingml/2006/main">
              <a:ext uri="{FF2B5EF4-FFF2-40B4-BE49-F238E27FC236}">
                <a16:creationId xmlns:a16="http://schemas.microsoft.com/office/drawing/2014/main" id="{82D99F76-C21B-45C6-A247-D16AB9A8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357372"/>
            <a:ext cx="17716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Domain + execution</a:t>
            </a:r>
          </a:p>
        </p:txBody>
      </p:sp>
      <p:sp>
        <p:nvSpPr>
          <p:cNvPr id="24" name="semantics">
            <a:extLst xmlns:a="http://schemas.openxmlformats.org/drawingml/2006/main">
              <a:ext uri="{FF2B5EF4-FFF2-40B4-BE49-F238E27FC236}">
                <a16:creationId xmlns:a16="http://schemas.microsoft.com/office/drawing/2014/main" id="{FCDB17D2-CE4B-4D41-9AF7-54E6D1E7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600450"/>
            <a:ext cx="17716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semantics</a:t>
            </a:r>
          </a:p>
        </p:txBody>
      </p:sp>
      <p:sp>
        <p:nvSpPr>
          <p:cNvPr id="2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5F19F2B-E453-4B95-9C27-E9464438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324225"/>
            <a:ext cx="1333500" cy="14288"/>
          </a:xfrm>
          <a:custGeom xmlns:a="http://schemas.openxmlformats.org/drawingml/2006/main">
            <a:pathLst>
              <a:path w="1333500" h="14288">
                <a:moveTo>
                  <a:pt x="0" y="14288"/>
                </a:moveTo>
                <a:lnTo>
                  <a:pt x="257175" y="14288"/>
                </a:lnTo>
                <a:lnTo>
                  <a:pt x="257175" y="0"/>
                </a:ln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A1477612-BC88-4DF5-ABFB-176A5586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276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27" name="Verification input">
            <a:extLst xmlns:a="http://schemas.openxmlformats.org/drawingml/2006/main">
              <a:ext uri="{FF2B5EF4-FFF2-40B4-BE49-F238E27FC236}">
                <a16:creationId xmlns:a16="http://schemas.microsoft.com/office/drawing/2014/main" id="{CACA7143-8C92-4E72-9607-326ACFC0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257675"/>
            <a:ext cx="280987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8" name="Stage 3">
            <a:extLst xmlns:a="http://schemas.openxmlformats.org/drawingml/2006/main">
              <a:ext uri="{FF2B5EF4-FFF2-40B4-BE49-F238E27FC236}">
                <a16:creationId xmlns:a16="http://schemas.microsoft.com/office/drawing/2014/main" id="{3A0A7397-767E-4ADF-BB32-59F9B47B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114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9" name="3">
            <a:extLst xmlns:a="http://schemas.openxmlformats.org/drawingml/2006/main">
              <a:ext uri="{FF2B5EF4-FFF2-40B4-BE49-F238E27FC236}">
                <a16:creationId xmlns:a16="http://schemas.microsoft.com/office/drawing/2014/main" id="{0825FAFD-32BA-4575-996A-E12202DA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15932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3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D4698A7-ED7A-482A-A0BE-4534F403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05350"/>
            <a:ext cx="176213" cy="276225"/>
          </a:xfrm>
          <a:custGeom xmlns:a="http://schemas.openxmlformats.org/drawingml/2006/main">
            <a:pathLst>
              <a:path w="176213" h="276225">
                <a:moveTo>
                  <a:pt x="176213" y="0"/>
                </a:moveTo>
                <a:lnTo>
                  <a:pt x="176213" y="75057"/>
                </a:lnTo>
                <a:lnTo>
                  <a:pt x="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3AA176A-C1C9-4CFB-A17F-AA702EE5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8" y="4780407"/>
            <a:ext cx="176213" cy="201168"/>
          </a:xfrm>
          <a:custGeom xmlns:a="http://schemas.openxmlformats.org/drawingml/2006/main">
            <a:pathLst>
              <a:path w="176213" h="201168">
                <a:moveTo>
                  <a:pt x="0" y="0"/>
                </a:moveTo>
                <a:lnTo>
                  <a:pt x="176213" y="20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2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8ECFA07A-EB04-4361-8C3A-6F1A91F5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5720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3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081C18E1-CD2D-4597-9316-2CDBAF72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14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4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BB765358-8133-4863-9792-ECB9BAA2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14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5" name="Candidate proof">
            <a:extLst xmlns:a="http://schemas.openxmlformats.org/drawingml/2006/main">
              <a:ext uri="{FF2B5EF4-FFF2-40B4-BE49-F238E27FC236}">
                <a16:creationId xmlns:a16="http://schemas.microsoft.com/office/drawing/2014/main" id="{DEDFD106-435B-4AA2-8DC2-F93876CB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506087"/>
            <a:ext cx="1771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Candidate proof</a:t>
            </a:r>
          </a:p>
        </p:txBody>
      </p:sp>
      <p:sp>
        <p:nvSpPr>
          <p:cNvPr id="36" name="Invariants, contracts,">
            <a:extLst xmlns:a="http://schemas.openxmlformats.org/drawingml/2006/main">
              <a:ext uri="{FF2B5EF4-FFF2-40B4-BE49-F238E27FC236}">
                <a16:creationId xmlns:a16="http://schemas.microsoft.com/office/drawing/2014/main" id="{67C5CE9A-2A8C-4DFE-A09C-91C332C6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862322"/>
            <a:ext cx="17716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Invariants, contracts,</a:t>
            </a:r>
          </a:p>
        </p:txBody>
      </p:sp>
      <p:sp>
        <p:nvSpPr>
          <p:cNvPr id="37" name="lemmas, etc.">
            <a:extLst xmlns:a="http://schemas.openxmlformats.org/drawingml/2006/main">
              <a:ext uri="{FF2B5EF4-FFF2-40B4-BE49-F238E27FC236}">
                <a16:creationId xmlns:a16="http://schemas.microsoft.com/office/drawing/2014/main" id="{BF869FC0-EF23-4455-957E-FB660563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105400"/>
            <a:ext cx="17716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lemmas, etc.</a:t>
            </a:r>
          </a:p>
        </p:txBody>
      </p:sp>
      <p:sp>
        <p:nvSpPr>
          <p:cNvPr id="3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5E64E86-5CC2-446D-8375-17390A41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324225"/>
            <a:ext cx="1333500" cy="1519238"/>
          </a:xfrm>
          <a:custGeom xmlns:a="http://schemas.openxmlformats.org/drawingml/2006/main">
            <a:pathLst>
              <a:path w="1333500" h="1519238">
                <a:moveTo>
                  <a:pt x="0" y="1519238"/>
                </a:moveTo>
                <a:lnTo>
                  <a:pt x="257175" y="1519238"/>
                </a:lnTo>
                <a:lnTo>
                  <a:pt x="257175" y="0"/>
                </a:ln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3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335CC6F-60DC-4422-9326-92BD3406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276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0" name="Check">
            <a:extLst xmlns:a="http://schemas.openxmlformats.org/drawingml/2006/main">
              <a:ext uri="{FF2B5EF4-FFF2-40B4-BE49-F238E27FC236}">
                <a16:creationId xmlns:a16="http://schemas.microsoft.com/office/drawing/2014/main" id="{B1AD0ED0-7614-496B-9160-AD02D48A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83371"/>
            <a:ext cx="9144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41" name="for">
            <a:extLst xmlns:a="http://schemas.openxmlformats.org/drawingml/2006/main">
              <a:ext uri="{FF2B5EF4-FFF2-40B4-BE49-F238E27FC236}">
                <a16:creationId xmlns:a16="http://schemas.microsoft.com/office/drawing/2014/main" id="{88CDDDF1-F03F-4218-9D39-4010E09E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26449"/>
            <a:ext cx="9144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for</a:t>
            </a:r>
          </a:p>
        </p:txBody>
      </p:sp>
      <p:sp>
        <p:nvSpPr>
          <p:cNvPr id="42" name="correctness">
            <a:extLst xmlns:a="http://schemas.openxmlformats.org/drawingml/2006/main">
              <a:ext uri="{FF2B5EF4-FFF2-40B4-BE49-F238E27FC236}">
                <a16:creationId xmlns:a16="http://schemas.microsoft.com/office/drawing/2014/main" id="{3FE39DE7-4561-4B56-9AF1-2BC3BD27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9527"/>
            <a:ext cx="9144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correctness</a:t>
            </a:r>
          </a:p>
        </p:txBody>
      </p:sp>
      <p:sp>
        <p:nvSpPr>
          <p:cNvPr id="43" name="Independent checker">
            <a:extLst xmlns:a="http://schemas.openxmlformats.org/drawingml/2006/main">
              <a:ext uri="{FF2B5EF4-FFF2-40B4-BE49-F238E27FC236}">
                <a16:creationId xmlns:a16="http://schemas.microsoft.com/office/drawing/2014/main" id="{A3C62157-E9AA-4806-ACF6-C780EADD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14287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4" name="Stage 4">
            <a:extLst xmlns:a="http://schemas.openxmlformats.org/drawingml/2006/main">
              <a:ext uri="{FF2B5EF4-FFF2-40B4-BE49-F238E27FC236}">
                <a16:creationId xmlns:a16="http://schemas.microsoft.com/office/drawing/2014/main" id="{B6923A8E-B645-4FC9-BE6A-15A1DC68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240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5" name="4">
            <a:extLst xmlns:a="http://schemas.openxmlformats.org/drawingml/2006/main">
              <a:ext uri="{FF2B5EF4-FFF2-40B4-BE49-F238E27FC236}">
                <a16:creationId xmlns:a16="http://schemas.microsoft.com/office/drawing/2014/main" id="{5E8206A8-B7F8-455B-923D-C97B3D71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685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46" name="CHECK">
            <a:extLst xmlns:a="http://schemas.openxmlformats.org/drawingml/2006/main">
              <a:ext uri="{FF2B5EF4-FFF2-40B4-BE49-F238E27FC236}">
                <a16:creationId xmlns:a16="http://schemas.microsoft.com/office/drawing/2014/main" id="{BB5592B5-3867-4E7B-A713-D1519AC4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71941"/>
            <a:ext cx="1104900" cy="342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</a:t>
            </a:r>
          </a:p>
        </p:txBody>
      </p:sp>
      <p:sp>
        <p:nvSpPr>
          <p:cNvPr id="47" name="Independent">
            <a:extLst xmlns:a="http://schemas.openxmlformats.org/drawingml/2006/main">
              <a:ext uri="{FF2B5EF4-FFF2-40B4-BE49-F238E27FC236}">
                <a16:creationId xmlns:a16="http://schemas.microsoft.com/office/drawing/2014/main" id="{B81167BA-6880-41A1-94A3-AC784862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216402"/>
            <a:ext cx="127635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Independent</a:t>
            </a:r>
          </a:p>
        </p:txBody>
      </p:sp>
      <p:sp>
        <p:nvSpPr>
          <p:cNvPr id="48" name="checker">
            <a:extLst xmlns:a="http://schemas.openxmlformats.org/drawingml/2006/main">
              <a:ext uri="{FF2B5EF4-FFF2-40B4-BE49-F238E27FC236}">
                <a16:creationId xmlns:a16="http://schemas.microsoft.com/office/drawing/2014/main" id="{1F0DFDBE-AC6A-4B8D-94B7-9A909BD2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14725"/>
            <a:ext cx="127635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checker</a:t>
            </a:r>
          </a:p>
        </p:txBody>
      </p:sp>
      <p:sp>
        <p:nvSpPr>
          <p:cNvPr id="4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3C6E8AC-87F8-4D72-8C57-734311DE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181350"/>
            <a:ext cx="866775" cy="9525"/>
          </a:xfrm>
          <a:custGeom xmlns:a="http://schemas.openxmlformats.org/drawingml/2006/main">
            <a:pathLst>
              <a:path w="866775" h="9525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B007CD8-AD9A-4E61-8E76-EB84E4A4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337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1" name="Proof">
            <a:extLst xmlns:a="http://schemas.openxmlformats.org/drawingml/2006/main">
              <a:ext uri="{FF2B5EF4-FFF2-40B4-BE49-F238E27FC236}">
                <a16:creationId xmlns:a16="http://schemas.microsoft.com/office/drawing/2014/main" id="{82CEA527-958A-4642-9C70-D9A81314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508314"/>
            <a:ext cx="7239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Proof</a:t>
            </a:r>
          </a:p>
        </p:txBody>
      </p:sp>
      <p:sp>
        <p:nvSpPr>
          <p:cNvPr id="52" name="valid">
            <a:extLst xmlns:a="http://schemas.openxmlformats.org/drawingml/2006/main">
              <a:ext uri="{FF2B5EF4-FFF2-40B4-BE49-F238E27FC236}">
                <a16:creationId xmlns:a16="http://schemas.microsoft.com/office/drawing/2014/main" id="{79D1F648-433E-487D-A09C-19C38C74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95588"/>
            <a:ext cx="7239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valid</a:t>
            </a:r>
          </a:p>
        </p:txBody>
      </p:sp>
      <p:sp>
        <p:nvSpPr>
          <p:cNvPr id="53" name="Theorem checked">
            <a:extLst xmlns:a="http://schemas.openxmlformats.org/drawingml/2006/main">
              <a:ext uri="{FF2B5EF4-FFF2-40B4-BE49-F238E27FC236}">
                <a16:creationId xmlns:a16="http://schemas.microsoft.com/office/drawing/2014/main" id="{E0BA88C8-FC25-4B10-B694-44CF5D9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66950"/>
            <a:ext cx="1457325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4" name="Stage 5">
            <a:extLst xmlns:a="http://schemas.openxmlformats.org/drawingml/2006/main">
              <a:ext uri="{FF2B5EF4-FFF2-40B4-BE49-F238E27FC236}">
                <a16:creationId xmlns:a16="http://schemas.microsoft.com/office/drawing/2014/main" id="{13F30209-64C0-4E3D-B063-73C4AE9A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1240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5" name="5">
            <a:extLst xmlns:a="http://schemas.openxmlformats.org/drawingml/2006/main">
              <a:ext uri="{FF2B5EF4-FFF2-40B4-BE49-F238E27FC236}">
                <a16:creationId xmlns:a16="http://schemas.microsoft.com/office/drawing/2014/main" id="{14BA2856-5E00-4C87-AA48-FC0EE1A8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1685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5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19E92250-4582-406C-86A3-58BF0DC9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62225"/>
            <a:ext cx="533400" cy="657225"/>
          </a:xfrm>
          <a:custGeom xmlns:a="http://schemas.openxmlformats.org/drawingml/2006/main">
            <a:pathLst>
              <a:path w="533400" h="657225">
                <a:moveTo>
                  <a:pt x="0" y="0"/>
                </a:moveTo>
                <a:lnTo>
                  <a:pt x="400050" y="0"/>
                </a:lnTo>
                <a:lnTo>
                  <a:pt x="533400" y="133350"/>
                </a:lnTo>
                <a:lnTo>
                  <a:pt x="533400" y="657225"/>
                </a:lnTo>
                <a:lnTo>
                  <a:pt x="0" y="6572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5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6A5E287-54AC-4E17-9E29-361E059F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62225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0"/>
                </a:moveTo>
                <a:lnTo>
                  <a:pt x="0" y="133350"/>
                </a:lnTo>
                <a:lnTo>
                  <a:pt x="13335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561E6C6-FF10-4AF7-94E7-9299B519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780" y="2792254"/>
            <a:ext cx="293370" cy="9525"/>
          </a:xfrm>
          <a:custGeom xmlns:a="http://schemas.openxmlformats.org/drawingml/2006/main">
            <a:pathLst>
              <a:path w="293370" h="9525">
                <a:moveTo>
                  <a:pt x="0" y="0"/>
                </a:moveTo>
                <a:lnTo>
                  <a:pt x="2933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5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4463BF3-B710-4237-94A3-FC44E208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780" y="2903982"/>
            <a:ext cx="293370" cy="9525"/>
          </a:xfrm>
          <a:custGeom xmlns:a="http://schemas.openxmlformats.org/drawingml/2006/main">
            <a:pathLst>
              <a:path w="293370" h="9525">
                <a:moveTo>
                  <a:pt x="0" y="0"/>
                </a:moveTo>
                <a:lnTo>
                  <a:pt x="2933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98BDF47-EABF-4E8C-A5E7-87CBFE50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780" y="3015710"/>
            <a:ext cx="293370" cy="9525"/>
          </a:xfrm>
          <a:custGeom xmlns:a="http://schemas.openxmlformats.org/drawingml/2006/main">
            <a:pathLst>
              <a:path w="293370" h="9525">
                <a:moveTo>
                  <a:pt x="0" y="0"/>
                </a:moveTo>
                <a:lnTo>
                  <a:pt x="2933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61" name="Theorem">
            <a:extLst xmlns:a="http://schemas.openxmlformats.org/drawingml/2006/main">
              <a:ext uri="{FF2B5EF4-FFF2-40B4-BE49-F238E27FC236}">
                <a16:creationId xmlns:a16="http://schemas.microsoft.com/office/drawing/2014/main" id="{F1AFF5AC-FF41-42B3-86DA-3EBE9102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21355"/>
            <a:ext cx="12668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Theorem</a:t>
            </a:r>
          </a:p>
        </p:txBody>
      </p:sp>
      <p:sp>
        <p:nvSpPr>
          <p:cNvPr id="62" name="checked">
            <a:extLst xmlns:a="http://schemas.openxmlformats.org/drawingml/2006/main">
              <a:ext uri="{FF2B5EF4-FFF2-40B4-BE49-F238E27FC236}">
                <a16:creationId xmlns:a16="http://schemas.microsoft.com/office/drawing/2014/main" id="{6134A8E1-0C94-4A11-BACD-08CCF2D6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552825"/>
            <a:ext cx="12668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2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checked</a:t>
            </a:r>
          </a:p>
        </p:txBody>
      </p:sp>
      <p:sp>
        <p:nvSpPr>
          <p:cNvPr id="63" name="Proof is valid under">
            <a:extLst xmlns:a="http://schemas.openxmlformats.org/drawingml/2006/main">
              <a:ext uri="{FF2B5EF4-FFF2-40B4-BE49-F238E27FC236}">
                <a16:creationId xmlns:a16="http://schemas.microsoft.com/office/drawing/2014/main" id="{6C780DC4-CD9A-4DD3-AF07-1444ECCC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42766"/>
            <a:ext cx="1285875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Proof is valid under</a:t>
            </a:r>
          </a:p>
        </p:txBody>
      </p:sp>
      <p:sp>
        <p:nvSpPr>
          <p:cNvPr id="64" name="the given property,">
            <a:extLst xmlns:a="http://schemas.openxmlformats.org/drawingml/2006/main">
              <a:ext uri="{FF2B5EF4-FFF2-40B4-BE49-F238E27FC236}">
                <a16:creationId xmlns:a16="http://schemas.microsoft.com/office/drawing/2014/main" id="{EB9EF469-C6F7-4D8A-AA4B-84683A1B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052697"/>
            <a:ext cx="1285875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the given property,</a:t>
            </a:r>
          </a:p>
        </p:txBody>
      </p:sp>
      <p:sp>
        <p:nvSpPr>
          <p:cNvPr id="65" name="code and model.">
            <a:extLst xmlns:a="http://schemas.openxmlformats.org/drawingml/2006/main">
              <a:ext uri="{FF2B5EF4-FFF2-40B4-BE49-F238E27FC236}">
                <a16:creationId xmlns:a16="http://schemas.microsoft.com/office/drawing/2014/main" id="{11D7E7B1-387F-4F22-9A99-D6B4C876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262628"/>
            <a:ext cx="1285875" cy="20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code and model.</a:t>
            </a:r>
          </a:p>
        </p:txBody>
      </p:sp>
      <p:sp>
        <p:nvSpPr>
          <p:cNvPr id="6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CB72E1E-0806-4793-8D1A-E5CC2368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181350"/>
            <a:ext cx="1238250" cy="9525"/>
          </a:xfrm>
          <a:custGeom xmlns:a="http://schemas.openxmlformats.org/drawingml/2006/main">
            <a:pathLst>
              <a:path w="1238250" h="9525">
                <a:moveTo>
                  <a:pt x="0" y="0"/>
                </a:moveTo>
                <a:lnTo>
                  <a:pt x="1238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86FE849-C5A1-4379-8281-66F28B97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1337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8" name="A checked">
            <a:extLst xmlns:a="http://schemas.openxmlformats.org/drawingml/2006/main">
              <a:ext uri="{FF2B5EF4-FFF2-40B4-BE49-F238E27FC236}">
                <a16:creationId xmlns:a16="http://schemas.microsoft.com/office/drawing/2014/main" id="{5F6254D6-D4F5-4A69-B306-1024EC75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5317"/>
            <a:ext cx="10572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 checked</a:t>
            </a:r>
          </a:p>
        </p:txBody>
      </p:sp>
      <p:sp>
        <p:nvSpPr>
          <p:cNvPr id="69" name="theorem still">
            <a:extLst xmlns:a="http://schemas.openxmlformats.org/drawingml/2006/main">
              <a:ext uri="{FF2B5EF4-FFF2-40B4-BE49-F238E27FC236}">
                <a16:creationId xmlns:a16="http://schemas.microsoft.com/office/drawing/2014/main" id="{61241F10-D0FD-4F72-B4FB-F1FD08C6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7346"/>
            <a:ext cx="10572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theorem still</a:t>
            </a:r>
          </a:p>
        </p:txBody>
      </p:sp>
      <p:sp>
        <p:nvSpPr>
          <p:cNvPr id="70" name="needs">
            <a:extLst xmlns:a="http://schemas.openxmlformats.org/drawingml/2006/main">
              <a:ext uri="{FF2B5EF4-FFF2-40B4-BE49-F238E27FC236}">
                <a16:creationId xmlns:a16="http://schemas.microsoft.com/office/drawing/2014/main" id="{FE15251C-B471-4180-8A40-145643AD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19375"/>
            <a:ext cx="10572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needs</a:t>
            </a:r>
          </a:p>
        </p:txBody>
      </p:sp>
      <p:sp>
        <p:nvSpPr>
          <p:cNvPr id="71" name="assessment">
            <a:extLst xmlns:a="http://schemas.openxmlformats.org/drawingml/2006/main">
              <a:ext uri="{FF2B5EF4-FFF2-40B4-BE49-F238E27FC236}">
                <a16:creationId xmlns:a16="http://schemas.microsoft.com/office/drawing/2014/main" id="{8EBCEA14-35E5-429E-BB3D-ADAA75DD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1404"/>
            <a:ext cx="10572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assessment</a:t>
            </a:r>
          </a:p>
        </p:txBody>
      </p:sp>
      <p:sp>
        <p:nvSpPr>
          <p:cNvPr id="72" name="Intended requirement assessment">
            <a:extLst xmlns:a="http://schemas.openxmlformats.org/drawingml/2006/main">
              <a:ext uri="{FF2B5EF4-FFF2-40B4-BE49-F238E27FC236}">
                <a16:creationId xmlns:a16="http://schemas.microsoft.com/office/drawing/2014/main" id="{C9CEF543-2481-4919-8916-585D459F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1343025"/>
            <a:ext cx="3362325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3" name="Stage 6">
            <a:extLst xmlns:a="http://schemas.openxmlformats.org/drawingml/2006/main">
              <a:ext uri="{FF2B5EF4-FFF2-40B4-BE49-F238E27FC236}">
                <a16:creationId xmlns:a16="http://schemas.microsoft.com/office/drawing/2014/main" id="{0BCF9045-D405-4F5F-AF29-C8074D12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200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4" name="6">
            <a:extLst xmlns:a="http://schemas.openxmlformats.org/drawingml/2006/main">
              <a:ext uri="{FF2B5EF4-FFF2-40B4-BE49-F238E27FC236}">
                <a16:creationId xmlns:a16="http://schemas.microsoft.com/office/drawing/2014/main" id="{D4F3DB26-8C29-4634-9D96-6BCE38FF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2446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75" name="Assess intended requirements">
            <a:extLst xmlns:a="http://schemas.openxmlformats.org/drawingml/2006/main">
              <a:ext uri="{FF2B5EF4-FFF2-40B4-BE49-F238E27FC236}">
                <a16:creationId xmlns:a16="http://schemas.microsoft.com/office/drawing/2014/main" id="{D57A2558-2733-4FEC-BCED-D1164340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433513"/>
            <a:ext cx="2876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Assess intended requirements</a:t>
            </a:r>
          </a:p>
        </p:txBody>
      </p:sp>
      <p:sp>
        <p:nvSpPr>
          <p:cNvPr id="76" name="Evidence assessment criterion">
            <a:extLst xmlns:a="http://schemas.openxmlformats.org/drawingml/2006/main">
              <a:ext uri="{FF2B5EF4-FFF2-40B4-BE49-F238E27FC236}">
                <a16:creationId xmlns:a16="http://schemas.microsoft.com/office/drawing/2014/main" id="{38A4BBC3-11D8-4F9E-BC74-373F9408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1819275"/>
            <a:ext cx="30765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14D1FE88-280D-4695-BCEF-2A7C3343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009775"/>
            <a:ext cx="342900" cy="457200"/>
          </a:xfrm>
          <a:custGeom xmlns:a="http://schemas.openxmlformats.org/drawingml/2006/main">
            <a:pathLst>
              <a:path w="342900" h="457200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457200"/>
                </a:lnTo>
                <a:lnTo>
                  <a:pt x="0" y="4572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7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8801733-E2B9-4DB1-A0F2-8059F1DC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009775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7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B421F80-50B2-43C2-AA11-2F22BB04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2169795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8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68DE271-5D23-450E-BEBE-24B18A2B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2247519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8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8ADF7ED-0FCB-4323-AB9D-D436966C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2325243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82" name="Requirement coverage">
            <a:extLst xmlns:a="http://schemas.openxmlformats.org/drawingml/2006/main">
              <a:ext uri="{FF2B5EF4-FFF2-40B4-BE49-F238E27FC236}">
                <a16:creationId xmlns:a16="http://schemas.microsoft.com/office/drawing/2014/main" id="{C26C8FC9-3C22-4198-B8AD-9E809B06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1884426"/>
            <a:ext cx="229552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Requirement coverage</a:t>
            </a:r>
          </a:p>
        </p:txBody>
      </p:sp>
      <p:sp>
        <p:nvSpPr>
          <p:cNvPr id="83" name="Does the theorem address">
            <a:extLst xmlns:a="http://schemas.openxmlformats.org/drawingml/2006/main">
              <a:ext uri="{FF2B5EF4-FFF2-40B4-BE49-F238E27FC236}">
                <a16:creationId xmlns:a16="http://schemas.microsoft.com/office/drawing/2014/main" id="{3E7444A9-FC0B-4706-BFDB-8F4E7FE2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171510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Does the theorem address</a:t>
            </a:r>
          </a:p>
        </p:txBody>
      </p:sp>
      <p:sp>
        <p:nvSpPr>
          <p:cNvPr id="84" name="the intended requirements?">
            <a:extLst xmlns:a="http://schemas.openxmlformats.org/drawingml/2006/main">
              <a:ext uri="{FF2B5EF4-FFF2-40B4-BE49-F238E27FC236}">
                <a16:creationId xmlns:a16="http://schemas.microsoft.com/office/drawing/2014/main" id="{A66C6491-3DF8-45AA-B4C2-E076303C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414588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the intended requirements?</a:t>
            </a:r>
          </a:p>
        </p:txBody>
      </p:sp>
      <p:sp>
        <p:nvSpPr>
          <p:cNvPr id="85" name="Evidence assessment criterion">
            <a:extLst xmlns:a="http://schemas.openxmlformats.org/drawingml/2006/main">
              <a:ext uri="{FF2B5EF4-FFF2-40B4-BE49-F238E27FC236}">
                <a16:creationId xmlns:a16="http://schemas.microsoft.com/office/drawing/2014/main" id="{622260DC-E7D5-4FCC-BFA5-0CA00B76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90825"/>
            <a:ext cx="30765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E11A7A9D-56C0-4ABB-9237-CB4A5E16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981325"/>
            <a:ext cx="342900" cy="457200"/>
          </a:xfrm>
          <a:custGeom xmlns:a="http://schemas.openxmlformats.org/drawingml/2006/main">
            <a:pathLst>
              <a:path w="342900" h="457200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457200"/>
                </a:lnTo>
                <a:lnTo>
                  <a:pt x="0" y="4572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8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7BC32E9-5F86-44D8-9F39-4D09DEA4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981325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8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B097959-B156-4F60-8637-75A97A0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3141345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8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085F5FA-7A8F-4E96-89BC-C540507C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3219069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29CBA7C-C07C-4AB3-AC14-302A95EC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3296793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1" name="Artifact matching">
            <a:extLst xmlns:a="http://schemas.openxmlformats.org/drawingml/2006/main">
              <a:ext uri="{FF2B5EF4-FFF2-40B4-BE49-F238E27FC236}">
                <a16:creationId xmlns:a16="http://schemas.microsoft.com/office/drawing/2014/main" id="{BA524CF4-F2C4-45CD-9D5C-544E0523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855976"/>
            <a:ext cx="229552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Artifact matching</a:t>
            </a:r>
          </a:p>
        </p:txBody>
      </p:sp>
      <p:sp>
        <p:nvSpPr>
          <p:cNvPr id="92" name="Does the proof match the">
            <a:extLst xmlns:a="http://schemas.openxmlformats.org/drawingml/2006/main">
              <a:ext uri="{FF2B5EF4-FFF2-40B4-BE49-F238E27FC236}">
                <a16:creationId xmlns:a16="http://schemas.microsoft.com/office/drawing/2014/main" id="{86E4077D-0EF0-428A-A752-698429F2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143060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Does the proof match the</a:t>
            </a:r>
          </a:p>
        </p:txBody>
      </p:sp>
      <p:sp>
        <p:nvSpPr>
          <p:cNvPr id="93" name="approved code and property?">
            <a:extLst xmlns:a="http://schemas.openxmlformats.org/drawingml/2006/main">
              <a:ext uri="{FF2B5EF4-FFF2-40B4-BE49-F238E27FC236}">
                <a16:creationId xmlns:a16="http://schemas.microsoft.com/office/drawing/2014/main" id="{C811875E-CB1F-4295-B0FE-935DBC63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386138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approved code and property?</a:t>
            </a:r>
          </a:p>
        </p:txBody>
      </p:sp>
      <p:sp>
        <p:nvSpPr>
          <p:cNvPr id="94" name="Evidence assessment criterion">
            <a:extLst xmlns:a="http://schemas.openxmlformats.org/drawingml/2006/main">
              <a:ext uri="{FF2B5EF4-FFF2-40B4-BE49-F238E27FC236}">
                <a16:creationId xmlns:a16="http://schemas.microsoft.com/office/drawing/2014/main" id="{E17CA6DF-2330-4BD2-90DA-2542A593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781425"/>
            <a:ext cx="30765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5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DC3316DA-9100-48FA-B443-8F295D78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971925"/>
            <a:ext cx="342900" cy="457200"/>
          </a:xfrm>
          <a:custGeom xmlns:a="http://schemas.openxmlformats.org/drawingml/2006/main">
            <a:pathLst>
              <a:path w="342900" h="457200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457200"/>
                </a:lnTo>
                <a:lnTo>
                  <a:pt x="0" y="4572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9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F533952-D932-4669-B633-B19D057A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971925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17B8219-771E-4EC7-85F5-87998291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4131945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D929CE6-F756-42A5-8F90-1967E50D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4209669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58F230E-7EEF-4C0B-9A4B-08D244CF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4287393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0" name="Explicit assumptions">
            <a:extLst xmlns:a="http://schemas.openxmlformats.org/drawingml/2006/main">
              <a:ext uri="{FF2B5EF4-FFF2-40B4-BE49-F238E27FC236}">
                <a16:creationId xmlns:a16="http://schemas.microsoft.com/office/drawing/2014/main" id="{64DD8DB9-67DE-4489-BBFB-F83956E7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846576"/>
            <a:ext cx="229552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Explicit assumptions</a:t>
            </a:r>
          </a:p>
        </p:txBody>
      </p:sp>
      <p:sp>
        <p:nvSpPr>
          <p:cNvPr id="101" name="Are all assumptions stated">
            <a:extLst xmlns:a="http://schemas.openxmlformats.org/drawingml/2006/main">
              <a:ext uri="{FF2B5EF4-FFF2-40B4-BE49-F238E27FC236}">
                <a16:creationId xmlns:a16="http://schemas.microsoft.com/office/drawing/2014/main" id="{8C075F44-2DC5-4B1C-9993-84CCB5A9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133660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Are all assumptions stated</a:t>
            </a:r>
          </a:p>
        </p:txBody>
      </p:sp>
      <p:sp>
        <p:nvSpPr>
          <p:cNvPr id="102" name="and acceptable?">
            <a:extLst xmlns:a="http://schemas.openxmlformats.org/drawingml/2006/main">
              <a:ext uri="{FF2B5EF4-FFF2-40B4-BE49-F238E27FC236}">
                <a16:creationId xmlns:a16="http://schemas.microsoft.com/office/drawing/2014/main" id="{2D916502-B6E1-4B6B-9F1B-2ADCEC65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76738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and acceptable?</a:t>
            </a:r>
          </a:p>
        </p:txBody>
      </p:sp>
      <p:sp>
        <p:nvSpPr>
          <p:cNvPr id="103" name="Evidence assessment criterion">
            <a:extLst xmlns:a="http://schemas.openxmlformats.org/drawingml/2006/main">
              <a:ext uri="{FF2B5EF4-FFF2-40B4-BE49-F238E27FC236}">
                <a16:creationId xmlns:a16="http://schemas.microsoft.com/office/drawing/2014/main" id="{DA7C33DD-F6DE-4E1F-9AC3-1DEF9018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81550"/>
            <a:ext cx="30765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4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67EAC848-649F-4AD7-93D3-BC775F44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972050"/>
            <a:ext cx="342900" cy="457200"/>
          </a:xfrm>
          <a:custGeom xmlns:a="http://schemas.openxmlformats.org/drawingml/2006/main">
            <a:pathLst>
              <a:path w="342900" h="457200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457200"/>
                </a:lnTo>
                <a:lnTo>
                  <a:pt x="0" y="4572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0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1844828-4499-490D-B4C1-C563846F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972050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A5658CA-7BC9-4670-A5A2-5C0715CB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5132070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B1ECC54-C977-413B-A451-520313CF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5209794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E4EAB39-E30C-4DE9-A3C1-53AC847B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855" y="5287518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9" name="Behavior preservation">
            <a:extLst xmlns:a="http://schemas.openxmlformats.org/drawingml/2006/main">
              <a:ext uri="{FF2B5EF4-FFF2-40B4-BE49-F238E27FC236}">
                <a16:creationId xmlns:a16="http://schemas.microsoft.com/office/drawing/2014/main" id="{55F8C35C-E1D3-4AC9-B79B-8E056E5A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846701"/>
            <a:ext cx="229552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Behavior preservation</a:t>
            </a:r>
          </a:p>
        </p:txBody>
      </p:sp>
      <p:sp>
        <p:nvSpPr>
          <p:cNvPr id="110" name="Does the change preserve">
            <a:extLst xmlns:a="http://schemas.openxmlformats.org/drawingml/2006/main">
              <a:ext uri="{FF2B5EF4-FFF2-40B4-BE49-F238E27FC236}">
                <a16:creationId xmlns:a16="http://schemas.microsoft.com/office/drawing/2014/main" id="{E1CF4419-58D3-452B-8891-B76EC067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5133785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Does the change preserve</a:t>
            </a:r>
          </a:p>
        </p:txBody>
      </p:sp>
      <p:sp>
        <p:nvSpPr>
          <p:cNvPr id="111" name="required behavior?">
            <a:extLst xmlns:a="http://schemas.openxmlformats.org/drawingml/2006/main">
              <a:ext uri="{FF2B5EF4-FFF2-40B4-BE49-F238E27FC236}">
                <a16:creationId xmlns:a16="http://schemas.microsoft.com/office/drawing/2014/main" id="{D332F8C5-9E97-46BF-9A87-68368CE3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5376863"/>
            <a:ext cx="2295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required behavior?</a:t>
            </a:r>
          </a:p>
        </p:txBody>
      </p:sp>
      <p:sp>
        <p:nvSpPr>
          <p:cNvPr id="112" name="Validated learning credit">
            <a:extLst xmlns:a="http://schemas.openxmlformats.org/drawingml/2006/main">
              <a:ext uri="{FF2B5EF4-FFF2-40B4-BE49-F238E27FC236}">
                <a16:creationId xmlns:a16="http://schemas.microsoft.com/office/drawing/2014/main" id="{C83CEAC8-9D3D-4D32-8894-7A4E0CD6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1990725"/>
            <a:ext cx="1647825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3" name="Stage 8">
            <a:extLst xmlns:a="http://schemas.openxmlformats.org/drawingml/2006/main">
              <a:ext uri="{FF2B5EF4-FFF2-40B4-BE49-F238E27FC236}">
                <a16:creationId xmlns:a16="http://schemas.microsoft.com/office/drawing/2014/main" id="{9B1C6897-1CB1-4638-A871-FC298F7B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18478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4" name="8">
            <a:extLst xmlns:a="http://schemas.openxmlformats.org/drawingml/2006/main">
              <a:ext uri="{FF2B5EF4-FFF2-40B4-BE49-F238E27FC236}">
                <a16:creationId xmlns:a16="http://schemas.microsoft.com/office/drawing/2014/main" id="{2C7B9EAE-23F9-4674-B490-8BEB528C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975" y="189237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52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8</a:t>
            </a:r>
          </a:p>
        </p:txBody>
      </p:sp>
      <p:sp>
        <p:nvSpPr>
          <p:cNvPr id="115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4ADB2A94-0ADF-4A53-9835-59E9CBD7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200" y="2333625"/>
            <a:ext cx="514350" cy="647700"/>
          </a:xfrm>
          <a:custGeom xmlns:a="http://schemas.openxmlformats.org/drawingml/2006/main">
            <a:pathLst>
              <a:path w="514350" h="647700">
                <a:moveTo>
                  <a:pt x="0" y="0"/>
                </a:moveTo>
                <a:lnTo>
                  <a:pt x="385763" y="0"/>
                </a:lnTo>
                <a:lnTo>
                  <a:pt x="514350" y="128588"/>
                </a:lnTo>
                <a:lnTo>
                  <a:pt x="514350" y="647700"/>
                </a:lnTo>
                <a:lnTo>
                  <a:pt x="0" y="6477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1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61F8B86-BDE4-4263-BF95-4FEBF2F9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9963" y="2333625"/>
            <a:ext cx="128588" cy="128588"/>
          </a:xfrm>
          <a:custGeom xmlns:a="http://schemas.openxmlformats.org/drawingml/2006/main">
            <a:pathLst>
              <a:path w="128588" h="128588">
                <a:moveTo>
                  <a:pt x="0" y="0"/>
                </a:moveTo>
                <a:lnTo>
                  <a:pt x="0" y="128588"/>
                </a:lnTo>
                <a:lnTo>
                  <a:pt x="128588" y="128588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22BC3DE-A642-4B7C-ACC2-04905F07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7070" y="2560320"/>
            <a:ext cx="282893" cy="9525"/>
          </a:xfrm>
          <a:custGeom xmlns:a="http://schemas.openxmlformats.org/drawingml/2006/main">
            <a:pathLst>
              <a:path w="282893" h="9525">
                <a:moveTo>
                  <a:pt x="0" y="0"/>
                </a:moveTo>
                <a:lnTo>
                  <a:pt x="2828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3C58E7D-ABD2-43C9-8437-8DBD86B6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7070" y="2670429"/>
            <a:ext cx="282893" cy="9525"/>
          </a:xfrm>
          <a:custGeom xmlns:a="http://schemas.openxmlformats.org/drawingml/2006/main">
            <a:pathLst>
              <a:path w="282893" h="9525">
                <a:moveTo>
                  <a:pt x="0" y="0"/>
                </a:moveTo>
                <a:lnTo>
                  <a:pt x="2828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E44E222-E316-4E37-B961-FF299276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7070" y="2780538"/>
            <a:ext cx="282893" cy="9525"/>
          </a:xfrm>
          <a:custGeom xmlns:a="http://schemas.openxmlformats.org/drawingml/2006/main">
            <a:pathLst>
              <a:path w="282893" h="9525">
                <a:moveTo>
                  <a:pt x="0" y="0"/>
                </a:moveTo>
                <a:lnTo>
                  <a:pt x="2828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0" name="Validated">
            <a:extLst xmlns:a="http://schemas.openxmlformats.org/drawingml/2006/main">
              <a:ext uri="{FF2B5EF4-FFF2-40B4-BE49-F238E27FC236}">
                <a16:creationId xmlns:a16="http://schemas.microsoft.com/office/drawing/2014/main" id="{194104EC-E74E-4DF2-A82F-8D212CEE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3081147"/>
            <a:ext cx="14763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Validated</a:t>
            </a:r>
          </a:p>
        </p:txBody>
      </p:sp>
      <p:sp>
        <p:nvSpPr>
          <p:cNvPr id="121" name="learning credit /">
            <a:extLst xmlns:a="http://schemas.openxmlformats.org/drawingml/2006/main">
              <a:ext uri="{FF2B5EF4-FFF2-40B4-BE49-F238E27FC236}">
                <a16:creationId xmlns:a16="http://schemas.microsoft.com/office/drawing/2014/main" id="{C92C05DF-3B2D-4BEB-ACA5-FC7E74DF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3335274"/>
            <a:ext cx="14763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learning credit /</a:t>
            </a:r>
          </a:p>
        </p:txBody>
      </p:sp>
      <p:sp>
        <p:nvSpPr>
          <p:cNvPr id="122" name="accepted change">
            <a:extLst xmlns:a="http://schemas.openxmlformats.org/drawingml/2006/main">
              <a:ext uri="{FF2B5EF4-FFF2-40B4-BE49-F238E27FC236}">
                <a16:creationId xmlns:a16="http://schemas.microsoft.com/office/drawing/2014/main" id="{97406832-AC32-4C6A-8484-DAC88FB9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3589401"/>
            <a:ext cx="14763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accepted change</a:t>
            </a:r>
          </a:p>
        </p:txBody>
      </p:sp>
      <p:sp>
        <p:nvSpPr>
          <p:cNvPr id="123" name="Use as trusted feedback">
            <a:extLst xmlns:a="http://schemas.openxmlformats.org/drawingml/2006/main">
              <a:ext uri="{FF2B5EF4-FFF2-40B4-BE49-F238E27FC236}">
                <a16:creationId xmlns:a16="http://schemas.microsoft.com/office/drawing/2014/main" id="{C415069C-DDA6-4AF1-BDF3-7A156EC3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3918204"/>
            <a:ext cx="1457325" cy="182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Use as trusted feedback</a:t>
            </a:r>
          </a:p>
        </p:txBody>
      </p:sp>
      <p:sp>
        <p:nvSpPr>
          <p:cNvPr id="124" name="for learning and updates.">
            <a:extLst xmlns:a="http://schemas.openxmlformats.org/drawingml/2006/main">
              <a:ext uri="{FF2B5EF4-FFF2-40B4-BE49-F238E27FC236}">
                <a16:creationId xmlns:a16="http://schemas.microsoft.com/office/drawing/2014/main" id="{EF73E07D-DF28-4CA6-B373-5944FDD0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4100513"/>
            <a:ext cx="1457325" cy="182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38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for learning and updates.</a:t>
            </a:r>
          </a:p>
        </p:txBody>
      </p:sp>
      <p:sp>
        <p:nvSpPr>
          <p:cNvPr id="12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DDFB444-8CF2-4FF0-8878-7E730256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019425"/>
            <a:ext cx="1123950" cy="9525"/>
          </a:xfrm>
          <a:custGeom xmlns:a="http://schemas.openxmlformats.org/drawingml/2006/main">
            <a:pathLst>
              <a:path w="1123950" h="9525">
                <a:moveTo>
                  <a:pt x="0" y="0"/>
                </a:moveTo>
                <a:lnTo>
                  <a:pt x="1123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19CA05E-C88E-4A4F-8B72-EB8BD085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29718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7" name="All checks">
            <a:extLst xmlns:a="http://schemas.openxmlformats.org/drawingml/2006/main">
              <a:ext uri="{FF2B5EF4-FFF2-40B4-BE49-F238E27FC236}">
                <a16:creationId xmlns:a16="http://schemas.microsoft.com/office/drawing/2014/main" id="{4E4D6BAC-811F-4840-B8C4-38373CF1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2433638"/>
            <a:ext cx="9620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All checks</a:t>
            </a:r>
          </a:p>
        </p:txBody>
      </p:sp>
      <p:sp>
        <p:nvSpPr>
          <p:cNvPr id="128" name="satisfied">
            <a:extLst xmlns:a="http://schemas.openxmlformats.org/drawingml/2006/main">
              <a:ext uri="{FF2B5EF4-FFF2-40B4-BE49-F238E27FC236}">
                <a16:creationId xmlns:a16="http://schemas.microsoft.com/office/drawing/2014/main" id="{058474BE-0DDA-41E1-8615-984AAF6D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2709863"/>
            <a:ext cx="9620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satisfied</a:t>
            </a:r>
          </a:p>
        </p:txBody>
      </p:sp>
      <p:sp>
        <p:nvSpPr>
          <p:cNvPr id="129" name="Protected requirements and rules">
            <a:extLst xmlns:a="http://schemas.openxmlformats.org/drawingml/2006/main">
              <a:ext uri="{FF2B5EF4-FFF2-40B4-BE49-F238E27FC236}">
                <a16:creationId xmlns:a16="http://schemas.microsoft.com/office/drawing/2014/main" id="{717E554D-A140-4852-B456-31FFB1F2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4933950"/>
            <a:ext cx="25527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0" name="Protected requirements">
            <a:extLst xmlns:a="http://schemas.openxmlformats.org/drawingml/2006/main">
              <a:ext uri="{FF2B5EF4-FFF2-40B4-BE49-F238E27FC236}">
                <a16:creationId xmlns:a16="http://schemas.microsoft.com/office/drawing/2014/main" id="{A522696B-5071-4E5E-8760-F23D0695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5033201"/>
            <a:ext cx="2266950" cy="28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Protected requirements</a:t>
            </a:r>
          </a:p>
        </p:txBody>
      </p:sp>
      <p:sp>
        <p:nvSpPr>
          <p:cNvPr id="131" name="+ acceptance rules">
            <a:extLst xmlns:a="http://schemas.openxmlformats.org/drawingml/2006/main">
              <a:ext uri="{FF2B5EF4-FFF2-40B4-BE49-F238E27FC236}">
                <a16:creationId xmlns:a16="http://schemas.microsoft.com/office/drawing/2014/main" id="{DA72BA59-73DE-4590-A9EF-3AE0AF33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5314950"/>
            <a:ext cx="2266950" cy="28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13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+ acceptance rules</a:t>
            </a:r>
          </a:p>
        </p:txBody>
      </p:sp>
      <p:sp>
        <p:nvSpPr>
          <p:cNvPr id="132" name="Cannot be weakened to">
            <a:extLst xmlns:a="http://schemas.openxmlformats.org/drawingml/2006/main">
              <a:ext uri="{FF2B5EF4-FFF2-40B4-BE49-F238E27FC236}">
                <a16:creationId xmlns:a16="http://schemas.microsoft.com/office/drawing/2014/main" id="{D7EE444D-8742-4BF8-9A51-F12CADB2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5535549"/>
            <a:ext cx="22669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Cannot be weakened to</a:t>
            </a:r>
          </a:p>
        </p:txBody>
      </p:sp>
      <p:sp>
        <p:nvSpPr>
          <p:cNvPr id="133" name="obtain reward.">
            <a:extLst xmlns:a="http://schemas.openxmlformats.org/drawingml/2006/main">
              <a:ext uri="{FF2B5EF4-FFF2-40B4-BE49-F238E27FC236}">
                <a16:creationId xmlns:a16="http://schemas.microsoft.com/office/drawing/2014/main" id="{27CB041F-03D0-4B77-A150-918AC039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5800725"/>
            <a:ext cx="22669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obtain reward.</a:t>
            </a:r>
          </a:p>
        </p:txBody>
      </p:sp>
      <p:sp>
        <p:nvSpPr>
          <p:cNvPr id="13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3540346-9510-4A5B-BE3D-64086EFE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695700"/>
            <a:ext cx="533400" cy="1238250"/>
          </a:xfrm>
          <a:custGeom xmlns:a="http://schemas.openxmlformats.org/drawingml/2006/main">
            <a:pathLst>
              <a:path w="533400" h="1238250">
                <a:moveTo>
                  <a:pt x="533400" y="1238250"/>
                </a:moveTo>
                <a:lnTo>
                  <a:pt x="5334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3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36557F70-2125-49DF-A5B3-613E70F0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648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0" y="47625"/>
                </a:moveTo>
                <a:lnTo>
                  <a:pt x="114300" y="0"/>
                </a:lnTo>
                <a:lnTo>
                  <a:pt x="114300" y="9525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98B0482-C468-4B95-A1DA-36711B21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29075"/>
            <a:ext cx="9525" cy="1266825"/>
          </a:xfrm>
          <a:custGeom xmlns:a="http://schemas.openxmlformats.org/drawingml/2006/main">
            <a:pathLst>
              <a:path w="9525" h="1266825">
                <a:moveTo>
                  <a:pt x="0" y="0"/>
                </a:moveTo>
                <a:lnTo>
                  <a:pt x="0" y="12668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3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268659E-A3E3-4ED0-9CA9-3FA30EE5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18160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8" name="Invalid or">
            <a:extLst xmlns:a="http://schemas.openxmlformats.org/drawingml/2006/main">
              <a:ext uri="{FF2B5EF4-FFF2-40B4-BE49-F238E27FC236}">
                <a16:creationId xmlns:a16="http://schemas.microsoft.com/office/drawing/2014/main" id="{0E806404-F3D5-40DB-95AE-F44A4697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97502"/>
            <a:ext cx="15144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Invalid or</a:t>
            </a:r>
          </a:p>
        </p:txBody>
      </p:sp>
      <p:sp>
        <p:nvSpPr>
          <p:cNvPr id="139" name="unresolved">
            <a:extLst xmlns:a="http://schemas.openxmlformats.org/drawingml/2006/main">
              <a:ext uri="{FF2B5EF4-FFF2-40B4-BE49-F238E27FC236}">
                <a16:creationId xmlns:a16="http://schemas.microsoft.com/office/drawing/2014/main" id="{26F0D863-8C75-4F9E-BFC5-1A100895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95825"/>
            <a:ext cx="15144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unresolved</a:t>
            </a:r>
          </a:p>
        </p:txBody>
      </p:sp>
      <p:sp>
        <p:nvSpPr>
          <p:cNvPr id="140" name="Invalid or unresolved result">
            <a:extLst xmlns:a="http://schemas.openxmlformats.org/drawingml/2006/main">
              <a:ext uri="{FF2B5EF4-FFF2-40B4-BE49-F238E27FC236}">
                <a16:creationId xmlns:a16="http://schemas.microsoft.com/office/drawing/2014/main" id="{325A0C54-FF9B-4476-9D0F-F99BB04D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5295900"/>
            <a:ext cx="28956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1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01C177E3-CDC7-4403-A4E5-D0C08097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53075"/>
            <a:ext cx="428625" cy="609600"/>
          </a:xfrm>
          <a:custGeom xmlns:a="http://schemas.openxmlformats.org/drawingml/2006/main">
            <a:pathLst>
              <a:path w="428625" h="609600">
                <a:moveTo>
                  <a:pt x="0" y="0"/>
                </a:moveTo>
                <a:lnTo>
                  <a:pt x="321469" y="0"/>
                </a:lnTo>
                <a:lnTo>
                  <a:pt x="428625" y="107156"/>
                </a:lnTo>
                <a:lnTo>
                  <a:pt x="428625" y="609600"/>
                </a:lnTo>
                <a:lnTo>
                  <a:pt x="0" y="609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4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AC45C9E-149D-4607-BC0E-2BD5EA34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644" y="5553075"/>
            <a:ext cx="107156" cy="107156"/>
          </a:xfrm>
          <a:custGeom xmlns:a="http://schemas.openxmlformats.org/drawingml/2006/main">
            <a:pathLst>
              <a:path w="107156" h="107156">
                <a:moveTo>
                  <a:pt x="0" y="0"/>
                </a:moveTo>
                <a:lnTo>
                  <a:pt x="0" y="107156"/>
                </a:lnTo>
                <a:lnTo>
                  <a:pt x="107156" y="107156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F007A88-999A-494B-8425-1EC739D4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766435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82821FC-92EA-47E5-BCF1-756A2F46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870067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112E980-E803-4455-BF3C-3DDA97CF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973699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6" name="Invalid / unresolved">
            <a:extLst xmlns:a="http://schemas.openxmlformats.org/drawingml/2006/main">
              <a:ext uri="{FF2B5EF4-FFF2-40B4-BE49-F238E27FC236}">
                <a16:creationId xmlns:a16="http://schemas.microsoft.com/office/drawing/2014/main" id="{12049B43-3186-49A8-9402-ADCF3672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400675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Invalid / unresolved</a:t>
            </a:r>
          </a:p>
        </p:txBody>
      </p:sp>
      <p:sp>
        <p:nvSpPr>
          <p:cNvPr id="147" name="Counterexample,">
            <a:extLst xmlns:a="http://schemas.openxmlformats.org/drawingml/2006/main">
              <a:ext uri="{FF2B5EF4-FFF2-40B4-BE49-F238E27FC236}">
                <a16:creationId xmlns:a16="http://schemas.microsoft.com/office/drawing/2014/main" id="{E103696B-EC10-4042-9991-1FBEC20F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648325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Counterexample,</a:t>
            </a:r>
          </a:p>
        </p:txBody>
      </p:sp>
      <p:sp>
        <p:nvSpPr>
          <p:cNvPr id="148" name="verification failure,">
            <a:extLst xmlns:a="http://schemas.openxmlformats.org/drawingml/2006/main">
              <a:ext uri="{FF2B5EF4-FFF2-40B4-BE49-F238E27FC236}">
                <a16:creationId xmlns:a16="http://schemas.microsoft.com/office/drawing/2014/main" id="{74FE2FD8-CD6A-4169-8DD6-1157F97E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924550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verification failure,</a:t>
            </a:r>
          </a:p>
        </p:txBody>
      </p:sp>
      <p:sp>
        <p:nvSpPr>
          <p:cNvPr id="149" name="or resource limit.">
            <a:extLst xmlns:a="http://schemas.openxmlformats.org/drawingml/2006/main">
              <a:ext uri="{FF2B5EF4-FFF2-40B4-BE49-F238E27FC236}">
                <a16:creationId xmlns:a16="http://schemas.microsoft.com/office/drawing/2014/main" id="{550815F1-9FD5-42E0-88C2-612017AB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6200775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or resource limit.</a:t>
            </a:r>
          </a:p>
        </p:txBody>
      </p:sp>
      <p:sp>
        <p:nvSpPr>
          <p:cNvPr id="150" name="Investigate revise review">
            <a:extLst xmlns:a="http://schemas.openxmlformats.org/drawingml/2006/main">
              <a:ext uri="{FF2B5EF4-FFF2-40B4-BE49-F238E27FC236}">
                <a16:creationId xmlns:a16="http://schemas.microsoft.com/office/drawing/2014/main" id="{94092E6A-E38B-4743-B2CD-6E4A526C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753225"/>
            <a:ext cx="42195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1" name="Editable magnifier lens">
            <a:extLst xmlns:a="http://schemas.openxmlformats.org/drawingml/2006/main">
              <a:ext uri="{FF2B5EF4-FFF2-40B4-BE49-F238E27FC236}">
                <a16:creationId xmlns:a16="http://schemas.microsoft.com/office/drawing/2014/main" id="{E0FDFD92-339C-42F4-9467-EE4E5BA8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7000875"/>
            <a:ext cx="371475" cy="371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11111"/>
            </a:solidFill>
            <a:prstDash val="solid"/>
          </a:ln>
        </p:spPr>
      </p:sp>
      <p:sp>
        <p:nvSpPr>
          <p:cNvPr id="152" name="Editable magnifier handle">
            <a:extLst xmlns:a="http://schemas.openxmlformats.org/drawingml/2006/main">
              <a:ext uri="{FF2B5EF4-FFF2-40B4-BE49-F238E27FC236}">
                <a16:creationId xmlns:a16="http://schemas.microsoft.com/office/drawing/2014/main" id="{F0F91E6A-BD08-4E34-BA5F-E890D2BF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1024" y="7309199"/>
            <a:ext cx="193167" cy="193167"/>
          </a:xfrm>
          <a:custGeom xmlns:a="http://schemas.openxmlformats.org/drawingml/2006/main">
            <a:pathLst>
              <a:path w="193167" h="193167">
                <a:moveTo>
                  <a:pt x="0" y="0"/>
                </a:moveTo>
                <a:lnTo>
                  <a:pt x="193167" y="19316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1111"/>
            </a:solidFill>
            <a:prstDash val="solid"/>
          </a:ln>
        </p:spPr>
      </p:sp>
      <p:sp>
        <p:nvSpPr>
          <p:cNvPr id="153" name="Investigate / revise / review">
            <a:extLst xmlns:a="http://schemas.openxmlformats.org/drawingml/2006/main">
              <a:ext uri="{FF2B5EF4-FFF2-40B4-BE49-F238E27FC236}">
                <a16:creationId xmlns:a16="http://schemas.microsoft.com/office/drawing/2014/main" id="{2ED07B0A-7016-4170-8AE8-F77CD0AB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921627"/>
            <a:ext cx="32766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Investigate / revise / review</a:t>
            </a:r>
          </a:p>
        </p:txBody>
      </p:sp>
      <p:sp>
        <p:nvSpPr>
          <p:cNvPr id="154" name="Revise the proof or proposed change.">
            <a:extLst xmlns:a="http://schemas.openxmlformats.org/drawingml/2006/main">
              <a:ext uri="{FF2B5EF4-FFF2-40B4-BE49-F238E27FC236}">
                <a16:creationId xmlns:a16="http://schemas.microsoft.com/office/drawing/2014/main" id="{F60F6921-6A12-4ACE-8B13-A33D581D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7283387"/>
            <a:ext cx="3276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Revise the proof or proposed change.</a:t>
            </a:r>
          </a:p>
        </p:txBody>
      </p:sp>
      <p:sp>
        <p:nvSpPr>
          <p:cNvPr id="155" name="May require human review.">
            <a:extLst xmlns:a="http://schemas.openxmlformats.org/drawingml/2006/main">
              <a:ext uri="{FF2B5EF4-FFF2-40B4-BE49-F238E27FC236}">
                <a16:creationId xmlns:a16="http://schemas.microsoft.com/office/drawing/2014/main" id="{EFD0B4B2-81DA-4A3F-AFBE-3952C3DA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7548563"/>
            <a:ext cx="32766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May require human review.</a:t>
            </a:r>
          </a:p>
        </p:txBody>
      </p:sp>
      <p:sp>
        <p:nvSpPr>
          <p:cNvPr id="15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719F8EF-74BC-44F2-9F26-5A08A1EA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34075"/>
            <a:ext cx="2809875" cy="1295400"/>
          </a:xfrm>
          <a:custGeom xmlns:a="http://schemas.openxmlformats.org/drawingml/2006/main">
            <a:pathLst>
              <a:path w="2809875" h="1295400">
                <a:moveTo>
                  <a:pt x="0" y="0"/>
                </a:moveTo>
                <a:lnTo>
                  <a:pt x="523875" y="0"/>
                </a:lnTo>
                <a:lnTo>
                  <a:pt x="523875" y="1295400"/>
                </a:lnTo>
                <a:lnTo>
                  <a:pt x="2809875" y="1295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5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7C239B1-A25C-4550-9C03-608EFCBC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71818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58" name="Never a success">
            <a:extLst xmlns:a="http://schemas.openxmlformats.org/drawingml/2006/main">
              <a:ext uri="{FF2B5EF4-FFF2-40B4-BE49-F238E27FC236}">
                <a16:creationId xmlns:a16="http://schemas.microsoft.com/office/drawing/2014/main" id="{5CD17272-7D2A-4A17-AE04-41B9C904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872288"/>
            <a:ext cx="1838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Never a success</a:t>
            </a:r>
          </a:p>
        </p:txBody>
      </p:sp>
      <p:sp>
        <p:nvSpPr>
          <p:cNvPr id="15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4B9B638-7B45-4902-8501-81E6EC6F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819775"/>
            <a:ext cx="9525" cy="933450"/>
          </a:xfrm>
          <a:custGeom xmlns:a="http://schemas.openxmlformats.org/drawingml/2006/main">
            <a:pathLst>
              <a:path w="952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6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A3B79002-FDCF-44C8-BD67-FD7FDEA1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6389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61" name="Failed or inconclusive">
            <a:extLst xmlns:a="http://schemas.openxmlformats.org/drawingml/2006/main">
              <a:ext uri="{FF2B5EF4-FFF2-40B4-BE49-F238E27FC236}">
                <a16:creationId xmlns:a16="http://schemas.microsoft.com/office/drawing/2014/main" id="{72F1BFCC-F0C5-4A66-840B-8B368C15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027801"/>
            <a:ext cx="25050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Failed or inconclusive</a:t>
            </a:r>
          </a:p>
        </p:txBody>
      </p:sp>
      <p:sp>
        <p:nvSpPr>
          <p:cNvPr id="162" name="assessment">
            <a:extLst xmlns:a="http://schemas.openxmlformats.org/drawingml/2006/main">
              <a:ext uri="{FF2B5EF4-FFF2-40B4-BE49-F238E27FC236}">
                <a16:creationId xmlns:a16="http://schemas.microsoft.com/office/drawing/2014/main" id="{A14303D8-8F41-4260-8230-0C8E210E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15075"/>
            <a:ext cx="25050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assessment</a:t>
            </a:r>
          </a:p>
        </p:txBody>
      </p:sp>
      <p:sp>
        <p:nvSpPr>
          <p:cNvPr id="163" name="Common failure examples">
            <a:extLst xmlns:a="http://schemas.openxmlformats.org/drawingml/2006/main">
              <a:ext uri="{FF2B5EF4-FFF2-40B4-BE49-F238E27FC236}">
                <a16:creationId xmlns:a16="http://schemas.microsoft.com/office/drawing/2014/main" id="{764FBA03-88A1-4E5D-9823-CFD211B4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610350"/>
            <a:ext cx="6858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164" name="Common failure examples">
            <a:extLst xmlns:a="http://schemas.openxmlformats.org/drawingml/2006/main">
              <a:ext uri="{FF2B5EF4-FFF2-40B4-BE49-F238E27FC236}">
                <a16:creationId xmlns:a16="http://schemas.microsoft.com/office/drawing/2014/main" id="{4EE3ACAD-B8B7-475E-BA7A-B02826E9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675501"/>
            <a:ext cx="64770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Common failure examples</a:t>
            </a:r>
          </a:p>
        </p:txBody>
      </p:sp>
      <p:sp>
        <p:nvSpPr>
          <p:cNvPr id="165" name="Failure example">
            <a:extLst xmlns:a="http://schemas.openxmlformats.org/drawingml/2006/main">
              <a:ext uri="{FF2B5EF4-FFF2-40B4-BE49-F238E27FC236}">
                <a16:creationId xmlns:a16="http://schemas.microsoft.com/office/drawing/2014/main" id="{C3C3A00E-D7E4-4369-97FB-95B93E80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10400"/>
            <a:ext cx="20478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6" name="Weak property">
            <a:extLst xmlns:a="http://schemas.openxmlformats.org/drawingml/2006/main">
              <a:ext uri="{FF2B5EF4-FFF2-40B4-BE49-F238E27FC236}">
                <a16:creationId xmlns:a16="http://schemas.microsoft.com/office/drawing/2014/main" id="{BCD4FFD2-D8B6-4A26-B1CF-9EE24FC7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171563"/>
            <a:ext cx="18002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Weak property</a:t>
            </a:r>
          </a:p>
        </p:txBody>
      </p:sp>
      <p:sp>
        <p:nvSpPr>
          <p:cNvPr id="167" name="Requirements are">
            <a:extLst xmlns:a="http://schemas.openxmlformats.org/drawingml/2006/main">
              <a:ext uri="{FF2B5EF4-FFF2-40B4-BE49-F238E27FC236}">
                <a16:creationId xmlns:a16="http://schemas.microsoft.com/office/drawing/2014/main" id="{A8BB21EF-C53A-487C-BFC0-E0AEF185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622858"/>
            <a:ext cx="18002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Requirements are</a:t>
            </a:r>
          </a:p>
        </p:txBody>
      </p:sp>
      <p:sp>
        <p:nvSpPr>
          <p:cNvPr id="168" name="underspecified.">
            <a:extLst xmlns:a="http://schemas.openxmlformats.org/drawingml/2006/main">
              <a:ext uri="{FF2B5EF4-FFF2-40B4-BE49-F238E27FC236}">
                <a16:creationId xmlns:a16="http://schemas.microsoft.com/office/drawing/2014/main" id="{B81C26F2-EEF1-4E73-ACB1-FE14E8A8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843838"/>
            <a:ext cx="18002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underspecified.</a:t>
            </a:r>
          </a:p>
        </p:txBody>
      </p:sp>
      <p:sp>
        <p:nvSpPr>
          <p:cNvPr id="169" name="Failure example">
            <a:extLst xmlns:a="http://schemas.openxmlformats.org/drawingml/2006/main">
              <a:ext uri="{FF2B5EF4-FFF2-40B4-BE49-F238E27FC236}">
                <a16:creationId xmlns:a16="http://schemas.microsoft.com/office/drawing/2014/main" id="{594F2281-6B07-49B1-AAFC-CA5253E0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7010400"/>
            <a:ext cx="20478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0" name="Inconsistent">
            <a:extLst xmlns:a="http://schemas.openxmlformats.org/drawingml/2006/main">
              <a:ext uri="{FF2B5EF4-FFF2-40B4-BE49-F238E27FC236}">
                <a16:creationId xmlns:a16="http://schemas.microsoft.com/office/drawing/2014/main" id="{A3EF1C45-76AF-4C92-8719-66F72F1B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7027926"/>
            <a:ext cx="18002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Inconsistent</a:t>
            </a:r>
          </a:p>
        </p:txBody>
      </p:sp>
      <p:sp>
        <p:nvSpPr>
          <p:cNvPr id="171" name="premise">
            <a:extLst xmlns:a="http://schemas.openxmlformats.org/drawingml/2006/main">
              <a:ext uri="{FF2B5EF4-FFF2-40B4-BE49-F238E27FC236}">
                <a16:creationId xmlns:a16="http://schemas.microsoft.com/office/drawing/2014/main" id="{92E75305-FD91-4CCF-9FF6-A47E1DC9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7315200"/>
            <a:ext cx="18002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premise</a:t>
            </a:r>
          </a:p>
        </p:txBody>
      </p:sp>
      <p:sp>
        <p:nvSpPr>
          <p:cNvPr id="172" name="Proof assumes conditions">
            <a:extLst xmlns:a="http://schemas.openxmlformats.org/drawingml/2006/main">
              <a:ext uri="{FF2B5EF4-FFF2-40B4-BE49-F238E27FC236}">
                <a16:creationId xmlns:a16="http://schemas.microsoft.com/office/drawing/2014/main" id="{9B549E26-76DC-42DA-87A6-796BCD39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7622858"/>
            <a:ext cx="18002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Proof assumes conditions</a:t>
            </a:r>
          </a:p>
        </p:txBody>
      </p:sp>
      <p:sp>
        <p:nvSpPr>
          <p:cNvPr id="173" name="that do not hold.">
            <a:extLst xmlns:a="http://schemas.openxmlformats.org/drawingml/2006/main">
              <a:ext uri="{FF2B5EF4-FFF2-40B4-BE49-F238E27FC236}">
                <a16:creationId xmlns:a16="http://schemas.microsoft.com/office/drawing/2014/main" id="{A9EEF833-C68A-41E8-92C2-83C2F8CD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7843838"/>
            <a:ext cx="18002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that do not hold.</a:t>
            </a:r>
          </a:p>
        </p:txBody>
      </p:sp>
      <p:sp>
        <p:nvSpPr>
          <p:cNvPr id="174" name="Failure example">
            <a:extLst xmlns:a="http://schemas.openxmlformats.org/drawingml/2006/main">
              <a:ext uri="{FF2B5EF4-FFF2-40B4-BE49-F238E27FC236}">
                <a16:creationId xmlns:a16="http://schemas.microsoft.com/office/drawing/2014/main" id="{C97616E1-FEE3-4F70-80EA-6DA6F97A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7010400"/>
            <a:ext cx="20478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5" name="Patch disables">
            <a:extLst xmlns:a="http://schemas.openxmlformats.org/drawingml/2006/main">
              <a:ext uri="{FF2B5EF4-FFF2-40B4-BE49-F238E27FC236}">
                <a16:creationId xmlns:a16="http://schemas.microsoft.com/office/drawing/2014/main" id="{A6E1C9D3-A439-4EFD-8B42-34AF7D3B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027926"/>
            <a:ext cx="18002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Patch disables</a:t>
            </a:r>
          </a:p>
        </p:txBody>
      </p:sp>
      <p:sp>
        <p:nvSpPr>
          <p:cNvPr id="176" name="required behavior">
            <a:extLst xmlns:a="http://schemas.openxmlformats.org/drawingml/2006/main">
              <a:ext uri="{FF2B5EF4-FFF2-40B4-BE49-F238E27FC236}">
                <a16:creationId xmlns:a16="http://schemas.microsoft.com/office/drawing/2014/main" id="{AF784A65-1695-4E6E-B0C1-61892F17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315200"/>
            <a:ext cx="18002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950" b="1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required behavior</a:t>
            </a:r>
          </a:p>
        </p:txBody>
      </p:sp>
      <p:sp>
        <p:nvSpPr>
          <p:cNvPr id="177" name="Proof does not match">
            <a:extLst xmlns:a="http://schemas.openxmlformats.org/drawingml/2006/main">
              <a:ext uri="{FF2B5EF4-FFF2-40B4-BE49-F238E27FC236}">
                <a16:creationId xmlns:a16="http://schemas.microsoft.com/office/drawing/2014/main" id="{93C54ACF-1160-426B-B5BB-C55E42AD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622858"/>
            <a:ext cx="18002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Proof does not match</a:t>
            </a:r>
          </a:p>
        </p:txBody>
      </p:sp>
      <p:sp>
        <p:nvSpPr>
          <p:cNvPr id="178" name="the intended functionality.">
            <a:extLst xmlns:a="http://schemas.openxmlformats.org/drawingml/2006/main">
              <a:ext uri="{FF2B5EF4-FFF2-40B4-BE49-F238E27FC236}">
                <a16:creationId xmlns:a16="http://schemas.microsoft.com/office/drawing/2014/main" id="{07E122E6-BB2A-40AB-A294-04485FB0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43838"/>
            <a:ext cx="18002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the intended functionality.</a:t>
            </a:r>
          </a:p>
        </p:txBody>
      </p:sp>
      <p:sp>
        <p:nvSpPr>
          <p:cNvPr id="179" name="A valid proof establishes its theorem; intended requirements need separate asses">
            <a:extLst xmlns:a="http://schemas.openxmlformats.org/drawingml/2006/main">
              <a:ext uri="{FF2B5EF4-FFF2-40B4-BE49-F238E27FC236}">
                <a16:creationId xmlns:a16="http://schemas.microsoft.com/office/drawing/2014/main" id="{E6695DB1-617B-470A-8348-01F33A2A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476298"/>
            <a:ext cx="14211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rPr>
              <a:t>A valid proof establishes its theorem; intended requirements need separate assessment.</a:t>
            </a:r>
          </a:p>
        </p:txBody>
      </p:sp>
      <p:sp>
        <p:nvSpPr>
          <p:cNvPr id="180" name="[1] Anthropic + Theorem (2026)">
            <a:extLst xmlns:a="http://schemas.openxmlformats.org/drawingml/2006/main">
              <a:ext uri="{FF2B5EF4-FFF2-40B4-BE49-F238E27FC236}">
                <a16:creationId xmlns:a16="http://schemas.microsoft.com/office/drawing/2014/main" id="{1F517F0D-DFD5-4009-B689-71AEB423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8755571"/>
            <a:ext cx="3571875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da6d79aff03041d0"/>
              </a:rPr>
              <a:t>[1] Anthropic + Theorem (2026)</a:t>
            </a:r>
          </a:p>
        </p:txBody>
      </p:sp>
      <p:sp>
        <p:nvSpPr>
          <p:cNvPr id="181" name="[2] Theorem (2026)">
            <a:extLst xmlns:a="http://schemas.openxmlformats.org/drawingml/2006/main">
              <a:ext uri="{FF2B5EF4-FFF2-40B4-BE49-F238E27FC236}">
                <a16:creationId xmlns:a16="http://schemas.microsoft.com/office/drawing/2014/main" id="{405551F9-FCE7-4B2B-8679-345B5AD2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8755571"/>
            <a:ext cx="2857500" cy="176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defPPr>
            <a:lvl1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1pPr>
            <a:lvl2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2pPr>
            <a:lvl3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3pPr>
            <a:lvl4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4pPr>
            <a:lvl5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5pPr>
            <a:lvl6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6pPr>
            <a:lvl7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7pPr>
            <a:lvl8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8pPr>
            <a:lvl9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0">
                <a:solidFill>
                  <a:srgbClr val="111111"/>
                </a:solidFill>
                <a:latin typeface="Arial Narrow"/>
                <a:ea typeface="Arial Narrow"/>
                <a:cs typeface="Arial Narrow"/>
                <a:hlinkClick xmlns:r="http://schemas.openxmlformats.org/officeDocument/2006/relationships" r:id="R007b507dad19433f"/>
              </a:rPr>
              <a:t>[2] Theorem (2026)</a:t>
            </a:r>
          </a:p>
        </p:txBody>
      </p:sp>
    </p:spTree>
    <p:extLst>
      <p:ext uri="{BB962C8B-B14F-4D97-AF65-F5344CB8AC3E}">
        <p14:creationId xmlns:p14="http://schemas.microsoft.com/office/powerpoint/2010/main" val="7719234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2026-10-25T19:13:36.2150000Z</dcterms:created>
  <dcterms:modified xsi:type="dcterms:W3CDTF">2026-10-25T19:13:36.2160000Z</dcterms:modified>
</coreProperties>
</file>