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16a88078ec44d0" /><Relationship Type="http://schemas.openxmlformats.org/officeDocument/2006/relationships/extended-properties" Target="/docProps/app.xml" Id="R08659c99366649dc" /><Relationship Type="http://schemas.openxmlformats.org/officeDocument/2006/relationships/officeDocument" Target="/ppt/presentation.xml" Id="Rc71a57a0aae04d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10bab0ad47463e"/>
  </p:sldMasterIdLst>
  <p:notesMasterIdLst>
    <p:notesMasterId xmlns:r="http://schemas.openxmlformats.org/officeDocument/2006/relationships" r:id="R802069e7846248b5"/>
  </p:notesMasterIdLst>
  <p:sldIdLst>
    <p:sldId xmlns:r="http://schemas.openxmlformats.org/officeDocument/2006/relationships" id="256" r:id="R347a099eabab49d8"/>
    <p:sldId xmlns:r="http://schemas.openxmlformats.org/officeDocument/2006/relationships" id="257" r:id="R1d6d410609984f8d"/>
    <p:sldId xmlns:r="http://schemas.openxmlformats.org/officeDocument/2006/relationships" id="258" r:id="Rad8d50fd78ec44c8"/>
    <p:sldId xmlns:r="http://schemas.openxmlformats.org/officeDocument/2006/relationships" id="259" r:id="R7ea3463350634e3f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3744b8f7cf4db5" /><Relationship Type="http://schemas.openxmlformats.org/officeDocument/2006/relationships/slideMaster" Target="/ppt/slideMasters/slideMaster1.xml" Id="Rc010bab0ad47463e" /><Relationship Type="http://schemas.openxmlformats.org/officeDocument/2006/relationships/notesMaster" Target="/ppt/notesMasters/notesMaster1.xml" Id="R802069e7846248b5" /><Relationship Type="http://schemas.openxmlformats.org/officeDocument/2006/relationships/presProps" Target="/ppt/presProps.xml" Id="R65fe057d84634590" /><Relationship Type="http://schemas.openxmlformats.org/officeDocument/2006/relationships/tableStyles" Target="/ppt/tableStyles.xml" Id="Rf2cec35d81be4df5" /><Relationship Type="http://schemas.openxmlformats.org/officeDocument/2006/relationships/slide" Target="/ppt/slides/slide1.xml" Id="R347a099eabab49d8" /><Relationship Type="http://schemas.openxmlformats.org/officeDocument/2006/relationships/slide" Target="/ppt/slides/slide2.xml" Id="R1d6d410609984f8d" /><Relationship Type="http://schemas.openxmlformats.org/officeDocument/2006/relationships/slide" Target="/ppt/slides/slide3.xml" Id="Rad8d50fd78ec44c8" /><Relationship Type="http://schemas.openxmlformats.org/officeDocument/2006/relationships/slide" Target="/ppt/slides/slide4.xml" Id="R7ea3463350634e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bf04e6dfc143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b9b3b4d03f4200" /><Relationship Type="http://schemas.openxmlformats.org/officeDocument/2006/relationships/notesMaster" Target="/ppt/notesMasters/notesMaster1.xml" Id="R95fb9b0668d443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b34629b06a4084" /><Relationship Type="http://schemas.openxmlformats.org/officeDocument/2006/relationships/notesMaster" Target="/ppt/notesMasters/notesMaster1.xml" Id="R3f93f825bc9040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d31194c39f4450" /><Relationship Type="http://schemas.openxmlformats.org/officeDocument/2006/relationships/notesMaster" Target="/ppt/notesMasters/notesMaster1.xml" Id="R9c9d280c3a7d4f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d29439c9e14877" /><Relationship Type="http://schemas.openxmlformats.org/officeDocument/2006/relationships/notesMaster" Target="/ppt/notesMasters/notesMaster1.xml" Id="Re24081975e774b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Verification tools may check proofs and produce diagnostic results. Proof rejection, a validated counterexample to a stated claim, and an unknown result are different outcomes. The research directions are hypotheses to evaluate.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Compare retrieval, inference-time refinement, and learning across training tasks. Freeze model weights and the retrieval bank before held-out evaluation. Exclude test proofs and keep related program transformations in the same split. Validate counterexamples against the actual obligation and execution model. A failed auxiliary invariant does not necessarily demonstrate a program defect.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 a composition argument as well as each local proof. Caller preconditions, frame and shared-state obligations, and environmental assumptions must support the stated global property in the same model. Relevant changes require affected local and composition obligations to be rechecked.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Jian Wang's proposed research agenda. This diagram is a conceptual proposal, not a report of completed experiments.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 sources:</a:t>
            </a:r>
          </a:p>
          <a:p xmlns:a="http://schemas.openxmlformats.org/drawingml/2006/main">
            <a:r>
              <a:t>[1] Anthropic and Theorem. LLMs are making formal software verification feasible at a much larger scale. 22 October 2026. https://www.anthropic.com/research/formal-verification</a:t>
            </a:r>
          </a:p>
          <a:p xmlns:a="http://schemas.openxmlformats.org/drawingml/2006/main">
            <a:r>
              <a:t>[2] Margaret von Ebers et al. Bootstrapping the Verified Software Stack. Theorem, 29 September 2026. https://theorem.dev/blog/verified-software-stack/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Formal guarantees remain conditional on the stated property, input domain, execution semantics, explicit assumptions, and trusted checking.</a:t>
            </a:r>
          </a:p>
          <a:p xmlns:a="http://schemas.openxmlformats.org/drawingml/2006/main">
            <a:r>
              <a:t>Research statement: https://www.wj2ai.com/statement/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Theorem acceptance and intended-requirement assessment are distinct. Assess whether assumptions are consistent, feasible, and justified. Record evidence eligible for a declared learning or change-review use, with provenance and limitations. Requirement tests can be incomplete. A validated counterexample can be useful bug-finding evidence without counting as proof success.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d787b4a7a24df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c6009bbdcd4d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e62da34b71428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81d5dfb1324af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38ae321db48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e81458e97542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885558-FF18-4A73-B7D3-9A09F8DB8C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92580" y="3386032"/>
            <a:ext cx="12740640" cy="1294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27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E7007CE-9C7A-4174-A33E-F8634A6D7E6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388870" y="4929664"/>
            <a:ext cx="11148060" cy="995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AEDB2F9-0B7E-4B1E-B7AE-717FC5B5F6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92580" y="3734594"/>
            <a:ext cx="12740640" cy="1493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8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CA8228-3C9E-4F40-A019-1EB2AC0413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95826" y="697124"/>
            <a:ext cx="14134147" cy="1095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F0AF111-8EF8-4DD6-964E-D1497AF195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95826" y="2489729"/>
            <a:ext cx="14134147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AE9D94-EC42-403F-920F-AD618A6B01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95826" y="697124"/>
            <a:ext cx="14134147" cy="1095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E4DE061-8AEE-4A2E-93F5-A681E8903A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95826" y="2489729"/>
            <a:ext cx="6569392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45672E0-6160-4CA2-B1E5-7C50B92C3F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460581" y="2489729"/>
            <a:ext cx="6569392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74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CC6867-6313-45AB-9F0F-ED72086D55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95826" y="697124"/>
            <a:ext cx="14134147" cy="1095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1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BE7140-8987-4DE1-A699-2366DF6D38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95826" y="2489729"/>
            <a:ext cx="6569392" cy="5576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9860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9675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9489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9304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9118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933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68747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085624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483769" indent="-298609" algn="l">
              <a:lnSpc>
                <a:spcPct val="110000"/>
              </a:lnSpc>
              <a:spcBef>
                <a:spcPts val="0"/>
              </a:spcBef>
              <a:spcAft>
                <a:spcPts val="1568"/>
              </a:spcAft>
              <a:buChar char="•"/>
              <a:defRPr sz="293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3a54b4502743dc" /><Relationship Type="http://schemas.openxmlformats.org/officeDocument/2006/relationships/slideLayout" Target="/ppt/slideLayouts/slideLayout1.xml" Id="Rc79936987be04227" /><Relationship Type="http://schemas.openxmlformats.org/officeDocument/2006/relationships/slideLayout" Target="/ppt/slideLayouts/slideLayout2.xml" Id="Rb8df57525e114676" /><Relationship Type="http://schemas.openxmlformats.org/officeDocument/2006/relationships/slideLayout" Target="/ppt/slideLayouts/slideLayout3.xml" Id="R7ad9729a231543a9" /><Relationship Type="http://schemas.openxmlformats.org/officeDocument/2006/relationships/slideLayout" Target="/ppt/slideLayouts/slideLayout4.xml" Id="R53f798068e894921" /><Relationship Type="http://schemas.openxmlformats.org/officeDocument/2006/relationships/slideLayout" Target="/ppt/slideLayouts/slideLayout5.xml" Id="Rf19f4958d8d44807" /><Relationship Type="http://schemas.openxmlformats.org/officeDocument/2006/relationships/slideLayout" Target="/ppt/slideLayouts/slideLayout6.xml" Id="R38450421a5a14c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9936987be04227"/>
    <p:sldLayoutId xmlns:r="http://schemas.openxmlformats.org/officeDocument/2006/relationships" id="2147483650" r:id="Rb8df57525e114676"/>
    <p:sldLayoutId xmlns:r="http://schemas.openxmlformats.org/officeDocument/2006/relationships" id="2147483651" r:id="R7ad9729a231543a9"/>
    <p:sldLayoutId xmlns:r="http://schemas.openxmlformats.org/officeDocument/2006/relationships" id="2147483652" r:id="R53f798068e894921"/>
    <p:sldLayoutId xmlns:r="http://schemas.openxmlformats.org/officeDocument/2006/relationships" id="2147483653" r:id="Rf19f4958d8d44807"/>
    <p:sldLayoutId xmlns:r="http://schemas.openxmlformats.org/officeDocument/2006/relationships" id="2147483654" r:id="R38450421a5a14c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3e5361f602479a" /><Relationship Type="http://schemas.openxmlformats.org/officeDocument/2006/relationships/hyperlink" Target="https://www.wj2ai.com/statement#learning-reusable-proof-strategies" TargetMode="External" Id="Rc204030d94f94678" /><Relationship Type="http://schemas.openxmlformats.org/officeDocument/2006/relationships/hyperlink" Target="https://www.wj2ai.com/statement#compositional-verification" TargetMode="External" Id="Radf66e0aecc94694" /><Relationship Type="http://schemas.openxmlformats.org/officeDocument/2006/relationships/hyperlink" Target="https://www.wj2ai.com/statement#trustworthy-verification-feedback" TargetMode="External" Id="R3da24a0230354255" /><Relationship Type="http://schemas.openxmlformats.org/officeDocument/2006/relationships/notesSlide" Target="/ppt/notesSlides/notesSlide1.xml" Id="R14ee3d09cbd647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21fa8744ac4102" /><Relationship Type="http://schemas.openxmlformats.org/officeDocument/2006/relationships/notesSlide" Target="/ppt/notesSlides/notesSlide2.xml" Id="Rd97286d7d07a43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7869e41ded4380" /><Relationship Type="http://schemas.openxmlformats.org/officeDocument/2006/relationships/notesSlide" Target="/ppt/notesSlides/notesSlide3.xml" Id="R37a3ef11741243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80047c5d87423f" /><Relationship Type="http://schemas.openxmlformats.org/officeDocument/2006/relationships/notesSlide" Target="/ppt/notesSlides/notesSlide4.xml" Id="R87f9931d1b054d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Learning Reusable Formal Reasoning">
            <a:extLst xmlns:a="http://schemas.openxmlformats.org/drawingml/2006/main">
              <a:ext uri="{FF2B5EF4-FFF2-40B4-BE49-F238E27FC236}">
                <a16:creationId xmlns:a16="http://schemas.microsoft.com/office/drawing/2014/main" id="{42866B22-7D7B-4160-8B65-8C52541C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7348"/>
            <a:ext cx="13735050" cy="508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Reusable Formal Reasoning</a:t>
            </a:r>
          </a:p>
        </p:txBody>
      </p:sp>
      <p:sp>
        <p:nvSpPr>
          <p:cNvPr id="2" name="Learn from verification, compose proofs, and assess what the evidence supports">
            <a:extLst xmlns:a="http://schemas.openxmlformats.org/drawingml/2006/main">
              <a:ext uri="{FF2B5EF4-FFF2-40B4-BE49-F238E27FC236}">
                <a16:creationId xmlns:a16="http://schemas.microsoft.com/office/drawing/2014/main" id="{17F676E2-9AC3-4910-8E16-0324D256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3715"/>
            <a:ext cx="130683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 from verification, compose proofs, and assess what the evidence supports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475C9F9A-D629-48DF-A4EF-29927465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17361"/>
            <a:ext cx="2190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Proposed research</a:t>
            </a:r>
          </a:p>
        </p:txBody>
      </p:sp>
      <p:sp>
        <p:nvSpPr>
          <p:cNvPr id="4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FECBC57E-398B-43A3-B30B-95F97405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1371600"/>
            <a:ext cx="26193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Stage 1">
            <a:extLst xmlns:a="http://schemas.openxmlformats.org/drawingml/2006/main">
              <a:ext uri="{FF2B5EF4-FFF2-40B4-BE49-F238E27FC236}">
                <a16:creationId xmlns:a16="http://schemas.microsoft.com/office/drawing/2014/main" id="{94B6F0D7-4445-43A9-80CC-951C6038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8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" name="1">
            <a:extLst xmlns:a="http://schemas.openxmlformats.org/drawingml/2006/main">
              <a:ext uri="{FF2B5EF4-FFF2-40B4-BE49-F238E27FC236}">
                <a16:creationId xmlns:a16="http://schemas.microsoft.com/office/drawing/2014/main" id="{FA0EEF23-000A-4C52-ADF0-80C09C09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8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Code and">
            <a:extLst xmlns:a="http://schemas.openxmlformats.org/drawingml/2006/main">
              <a:ext uri="{FF2B5EF4-FFF2-40B4-BE49-F238E27FC236}">
                <a16:creationId xmlns:a16="http://schemas.microsoft.com/office/drawing/2014/main" id="{0CA27F44-4870-472C-8EB0-24E37F17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579626"/>
            <a:ext cx="23907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Code and</a:t>
            </a:r>
          </a:p>
        </p:txBody>
      </p:sp>
      <p:sp>
        <p:nvSpPr>
          <p:cNvPr id="8" name="test harness">
            <a:extLst xmlns:a="http://schemas.openxmlformats.org/drawingml/2006/main">
              <a:ext uri="{FF2B5EF4-FFF2-40B4-BE49-F238E27FC236}">
                <a16:creationId xmlns:a16="http://schemas.microsoft.com/office/drawing/2014/main" id="{839F89AD-18FB-4CE0-8F68-240A92B8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866900"/>
            <a:ext cx="23907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 harness</a:t>
            </a:r>
          </a:p>
        </p:txBody>
      </p:sp>
      <p:sp>
        <p:nvSpPr>
          <p:cNvPr id="9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83758CD5-2DD2-4DC8-AAEC-E7DE83AC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371600"/>
            <a:ext cx="25336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" name="Stage 2">
            <a:extLst xmlns:a="http://schemas.openxmlformats.org/drawingml/2006/main">
              <a:ext uri="{FF2B5EF4-FFF2-40B4-BE49-F238E27FC236}">
                <a16:creationId xmlns:a16="http://schemas.microsoft.com/office/drawing/2014/main" id="{8D58F073-C0AE-4B63-8415-448F36FC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" name="2">
            <a:extLst xmlns:a="http://schemas.openxmlformats.org/drawingml/2006/main">
              <a:ext uri="{FF2B5EF4-FFF2-40B4-BE49-F238E27FC236}">
                <a16:creationId xmlns:a16="http://schemas.microsoft.com/office/drawing/2014/main" id="{23E05E1A-CBDC-45E4-BC5D-6A137813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Approved">
            <a:extLst xmlns:a="http://schemas.openxmlformats.org/drawingml/2006/main">
              <a:ext uri="{FF2B5EF4-FFF2-40B4-BE49-F238E27FC236}">
                <a16:creationId xmlns:a16="http://schemas.microsoft.com/office/drawing/2014/main" id="{76953601-B819-4E9D-9AA7-AAFA4909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579626"/>
            <a:ext cx="23050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13" name="property">
            <a:extLst xmlns:a="http://schemas.openxmlformats.org/drawingml/2006/main">
              <a:ext uri="{FF2B5EF4-FFF2-40B4-BE49-F238E27FC236}">
                <a16:creationId xmlns:a16="http://schemas.microsoft.com/office/drawing/2014/main" id="{57AD9C81-C2C5-444D-B5E2-1DC2CA72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866900"/>
            <a:ext cx="23050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property</a:t>
            </a:r>
          </a:p>
        </p:txBody>
      </p:sp>
      <p:sp>
        <p:nvSpPr>
          <p:cNvPr id="14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534C2C93-F848-41AA-A271-0FEA10EC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371600"/>
            <a:ext cx="2933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" name="Stage 3">
            <a:extLst xmlns:a="http://schemas.openxmlformats.org/drawingml/2006/main">
              <a:ext uri="{FF2B5EF4-FFF2-40B4-BE49-F238E27FC236}">
                <a16:creationId xmlns:a16="http://schemas.microsoft.com/office/drawing/2014/main" id="{7F02ED16-F6B8-4C2B-92BA-62C3FCFF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94263E0E-C5FB-4963-84BC-CE6FA083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Agent proposes">
            <a:extLst xmlns:a="http://schemas.openxmlformats.org/drawingml/2006/main">
              <a:ext uri="{FF2B5EF4-FFF2-40B4-BE49-F238E27FC236}">
                <a16:creationId xmlns:a16="http://schemas.microsoft.com/office/drawing/2014/main" id="{6B7A20F9-90BB-46A9-A05A-58E312B7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579626"/>
            <a:ext cx="27051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Agent proposes</a:t>
            </a:r>
          </a:p>
        </p:txBody>
      </p:sp>
      <p:sp>
        <p:nvSpPr>
          <p:cNvPr id="18" name="proof artifacts">
            <a:extLst xmlns:a="http://schemas.openxmlformats.org/drawingml/2006/main">
              <a:ext uri="{FF2B5EF4-FFF2-40B4-BE49-F238E27FC236}">
                <a16:creationId xmlns:a16="http://schemas.microsoft.com/office/drawing/2014/main" id="{4DC75713-37E8-460F-AECA-47FE8CFC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66900"/>
            <a:ext cx="27051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 artifacts</a:t>
            </a:r>
          </a:p>
        </p:txBody>
      </p:sp>
      <p:sp>
        <p:nvSpPr>
          <p:cNvPr id="19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5FDD2656-28D6-4AA0-B2CB-F80976EF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1371600"/>
            <a:ext cx="2438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0" name="Stage 4">
            <a:extLst xmlns:a="http://schemas.openxmlformats.org/drawingml/2006/main">
              <a:ext uri="{FF2B5EF4-FFF2-40B4-BE49-F238E27FC236}">
                <a16:creationId xmlns:a16="http://schemas.microsoft.com/office/drawing/2014/main" id="{5FAD04B0-57E3-4B90-9743-3A1BD99A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1" name="4">
            <a:extLst xmlns:a="http://schemas.openxmlformats.org/drawingml/2006/main">
              <a:ext uri="{FF2B5EF4-FFF2-40B4-BE49-F238E27FC236}">
                <a16:creationId xmlns:a16="http://schemas.microsoft.com/office/drawing/2014/main" id="{0A1393E1-0137-4793-9408-ECCD56D0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Independent">
            <a:extLst xmlns:a="http://schemas.openxmlformats.org/drawingml/2006/main">
              <a:ext uri="{FF2B5EF4-FFF2-40B4-BE49-F238E27FC236}">
                <a16:creationId xmlns:a16="http://schemas.microsoft.com/office/drawing/2014/main" id="{0AC5F236-CD14-47DF-9E29-0C78154E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579626"/>
            <a:ext cx="22098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Independent</a:t>
            </a:r>
          </a:p>
        </p:txBody>
      </p:sp>
      <p:sp>
        <p:nvSpPr>
          <p:cNvPr id="23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A0D94D6D-2919-4A82-BA75-087BDC19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866900"/>
            <a:ext cx="22098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4" name="Research mechanism">
            <a:extLst xmlns:a="http://schemas.openxmlformats.org/drawingml/2006/main">
              <a:ext uri="{FF2B5EF4-FFF2-40B4-BE49-F238E27FC236}">
                <a16:creationId xmlns:a16="http://schemas.microsoft.com/office/drawing/2014/main" id="{ED9F125E-1A35-47D0-888A-D194C66A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1100" y="1371600"/>
            <a:ext cx="30384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5" name="Stage 5">
            <a:extLst xmlns:a="http://schemas.openxmlformats.org/drawingml/2006/main">
              <a:ext uri="{FF2B5EF4-FFF2-40B4-BE49-F238E27FC236}">
                <a16:creationId xmlns:a16="http://schemas.microsoft.com/office/drawing/2014/main" id="{DF869E0B-9414-48B9-A130-A60388DD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9363" y="119062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6" name="5">
            <a:extLst xmlns:a="http://schemas.openxmlformats.org/drawingml/2006/main">
              <a:ext uri="{FF2B5EF4-FFF2-40B4-BE49-F238E27FC236}">
                <a16:creationId xmlns:a16="http://schemas.microsoft.com/office/drawing/2014/main" id="{61F8189C-69D2-476D-916B-7FE26254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9363" y="123514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7BE0D135-DEB5-4E29-A415-A549D702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1579626"/>
            <a:ext cx="28098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8" name="outcomes">
            <a:extLst xmlns:a="http://schemas.openxmlformats.org/drawingml/2006/main">
              <a:ext uri="{FF2B5EF4-FFF2-40B4-BE49-F238E27FC236}">
                <a16:creationId xmlns:a16="http://schemas.microsoft.com/office/drawing/2014/main" id="{408147FB-82BD-467E-B06F-4AE09E44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1866900"/>
            <a:ext cx="28098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outcomes</a:t>
            </a:r>
          </a:p>
        </p:txBody>
      </p:sp>
      <p:sp>
        <p:nvSpPr>
          <p:cNvPr id="29" name="Existing software">
            <a:extLst xmlns:a="http://schemas.openxmlformats.org/drawingml/2006/main">
              <a:ext uri="{FF2B5EF4-FFF2-40B4-BE49-F238E27FC236}">
                <a16:creationId xmlns:a16="http://schemas.microsoft.com/office/drawing/2014/main" id="{0B2121A7-BE06-48D6-86AB-C52BA9E7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216087"/>
            <a:ext cx="23145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Existing software</a:t>
            </a:r>
          </a:p>
        </p:txBody>
      </p:sp>
      <p:sp>
        <p:nvSpPr>
          <p:cNvPr id="30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93EA641F-D2D2-4E69-A221-3A1D830B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81275"/>
            <a:ext cx="447675" cy="590550"/>
          </a:xfrm>
          <a:custGeom xmlns:a="http://schemas.openxmlformats.org/drawingml/2006/main">
            <a:pathLst>
              <a:path w="447675" h="590550">
                <a:moveTo>
                  <a:pt x="0" y="0"/>
                </a:moveTo>
                <a:lnTo>
                  <a:pt x="335756" y="0"/>
                </a:lnTo>
                <a:lnTo>
                  <a:pt x="447675" y="111919"/>
                </a:lnTo>
                <a:lnTo>
                  <a:pt x="447675" y="590550"/>
                </a:lnTo>
                <a:lnTo>
                  <a:pt x="0" y="5905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3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475CAB0-7E84-4F79-834B-F5B35BD5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431" y="2581275"/>
            <a:ext cx="111919" cy="111919"/>
          </a:xfrm>
          <a:custGeom xmlns:a="http://schemas.openxmlformats.org/drawingml/2006/main">
            <a:pathLst>
              <a:path w="111919" h="111919">
                <a:moveTo>
                  <a:pt x="0" y="0"/>
                </a:moveTo>
                <a:lnTo>
                  <a:pt x="0" y="111919"/>
                </a:lnTo>
                <a:lnTo>
                  <a:pt x="111919" y="111919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2" name="&lt;/&gt;">
            <a:extLst xmlns:a="http://schemas.openxmlformats.org/drawingml/2006/main">
              <a:ext uri="{FF2B5EF4-FFF2-40B4-BE49-F238E27FC236}">
                <a16:creationId xmlns:a16="http://schemas.microsoft.com/office/drawing/2014/main" id="{C9A4A284-6DF0-4A06-B20C-0710A784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4900"/>
            <a:ext cx="390525" cy="22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16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16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&lt;/&gt;</a:t>
            </a:r>
          </a:p>
        </p:txBody>
      </p:sp>
      <p:sp>
        <p:nvSpPr>
          <p:cNvPr id="33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1BE4536A-1026-4960-8780-1AF49CE6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581275"/>
            <a:ext cx="447675" cy="590550"/>
          </a:xfrm>
          <a:custGeom xmlns:a="http://schemas.openxmlformats.org/drawingml/2006/main">
            <a:pathLst>
              <a:path w="447675" h="590550">
                <a:moveTo>
                  <a:pt x="0" y="0"/>
                </a:moveTo>
                <a:lnTo>
                  <a:pt x="335756" y="0"/>
                </a:lnTo>
                <a:lnTo>
                  <a:pt x="447675" y="111919"/>
                </a:lnTo>
                <a:lnTo>
                  <a:pt x="447675" y="590550"/>
                </a:lnTo>
                <a:lnTo>
                  <a:pt x="0" y="5905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3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621D2C79-066A-4EDE-A950-32948E9D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531" y="2581275"/>
            <a:ext cx="111919" cy="111919"/>
          </a:xfrm>
          <a:custGeom xmlns:a="http://schemas.openxmlformats.org/drawingml/2006/main">
            <a:pathLst>
              <a:path w="111919" h="111919">
                <a:moveTo>
                  <a:pt x="0" y="0"/>
                </a:moveTo>
                <a:lnTo>
                  <a:pt x="0" y="111919"/>
                </a:lnTo>
                <a:lnTo>
                  <a:pt x="111919" y="111919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BA0A28C-B9BE-4E98-9861-48A1D563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310" y="2787968"/>
            <a:ext cx="246221" cy="9525"/>
          </a:xfrm>
          <a:custGeom xmlns:a="http://schemas.openxmlformats.org/drawingml/2006/main">
            <a:pathLst>
              <a:path w="246221" h="9525">
                <a:moveTo>
                  <a:pt x="0" y="0"/>
                </a:moveTo>
                <a:lnTo>
                  <a:pt x="2462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ACAA2F8-3882-4C94-A98F-A6971467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310" y="2888361"/>
            <a:ext cx="246221" cy="9525"/>
          </a:xfrm>
          <a:custGeom xmlns:a="http://schemas.openxmlformats.org/drawingml/2006/main">
            <a:pathLst>
              <a:path w="246221" h="9525">
                <a:moveTo>
                  <a:pt x="0" y="0"/>
                </a:moveTo>
                <a:lnTo>
                  <a:pt x="2462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EAFA592-3D48-45D2-BAC8-C9871DB0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310" y="2988754"/>
            <a:ext cx="246221" cy="9525"/>
          </a:xfrm>
          <a:custGeom xmlns:a="http://schemas.openxmlformats.org/drawingml/2006/main">
            <a:pathLst>
              <a:path w="246221" h="9525">
                <a:moveTo>
                  <a:pt x="0" y="0"/>
                </a:moveTo>
                <a:lnTo>
                  <a:pt x="2462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8" name="Program">
            <a:extLst xmlns:a="http://schemas.openxmlformats.org/drawingml/2006/main">
              <a:ext uri="{FF2B5EF4-FFF2-40B4-BE49-F238E27FC236}">
                <a16:creationId xmlns:a16="http://schemas.microsoft.com/office/drawing/2014/main" id="{29A07B4D-0453-4CEB-AE03-E792FE21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230499"/>
            <a:ext cx="10668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Program</a:t>
            </a:r>
          </a:p>
        </p:txBody>
      </p:sp>
      <p:sp>
        <p:nvSpPr>
          <p:cNvPr id="39" name="Tests">
            <a:extLst xmlns:a="http://schemas.openxmlformats.org/drawingml/2006/main">
              <a:ext uri="{FF2B5EF4-FFF2-40B4-BE49-F238E27FC236}">
                <a16:creationId xmlns:a16="http://schemas.microsoft.com/office/drawing/2014/main" id="{792082DE-F76D-4292-AB4B-0DA0150A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230499"/>
            <a:ext cx="10668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40" name="State the input domain">
            <a:extLst xmlns:a="http://schemas.openxmlformats.org/drawingml/2006/main">
              <a:ext uri="{FF2B5EF4-FFF2-40B4-BE49-F238E27FC236}">
                <a16:creationId xmlns:a16="http://schemas.microsoft.com/office/drawing/2014/main" id="{49D000AA-64EB-45B1-B0A5-1969EA84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319147"/>
            <a:ext cx="22288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State the input domain</a:t>
            </a:r>
          </a:p>
        </p:txBody>
      </p:sp>
      <p:sp>
        <p:nvSpPr>
          <p:cNvPr id="41" name="and execution model.">
            <a:extLst xmlns:a="http://schemas.openxmlformats.org/drawingml/2006/main">
              <a:ext uri="{FF2B5EF4-FFF2-40B4-BE49-F238E27FC236}">
                <a16:creationId xmlns:a16="http://schemas.microsoft.com/office/drawing/2014/main" id="{2FBDDFD3-B3BB-4026-BA19-90B66C09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562225"/>
            <a:ext cx="22288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execution model.</a:t>
            </a:r>
          </a:p>
        </p:txBody>
      </p:sp>
      <p:sp>
        <p:nvSpPr>
          <p:cNvPr id="42" name="Harness-derived claims">
            <a:extLst xmlns:a="http://schemas.openxmlformats.org/drawingml/2006/main">
              <a:ext uri="{FF2B5EF4-FFF2-40B4-BE49-F238E27FC236}">
                <a16:creationId xmlns:a16="http://schemas.microsoft.com/office/drawing/2014/main" id="{C6C37F27-5252-4348-9213-BAFDA753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63609"/>
            <a:ext cx="23050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Harness-derived claims</a:t>
            </a:r>
          </a:p>
        </p:txBody>
      </p:sp>
      <p:sp>
        <p:nvSpPr>
          <p:cNvPr id="43" name="retain the harness scope.">
            <a:extLst xmlns:a="http://schemas.openxmlformats.org/drawingml/2006/main">
              <a:ext uri="{FF2B5EF4-FFF2-40B4-BE49-F238E27FC236}">
                <a16:creationId xmlns:a16="http://schemas.microsoft.com/office/drawing/2014/main" id="{F4B0C913-80FD-4AD6-8099-4D56DEE3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195638"/>
            <a:ext cx="23050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retain the harness scope.</a:t>
            </a:r>
          </a:p>
        </p:txBody>
      </p:sp>
      <p:sp>
        <p:nvSpPr>
          <p:cNvPr id="44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6787D578-1B19-4931-8810-C62B226A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438400"/>
            <a:ext cx="457200" cy="742950"/>
          </a:xfrm>
          <a:custGeom xmlns:a="http://schemas.openxmlformats.org/drawingml/2006/main">
            <a:pathLst>
              <a:path w="457200" h="742950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742950"/>
                </a:lnTo>
                <a:lnTo>
                  <a:pt x="0" y="7429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4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347B7FD-142C-4EB1-B107-87E81821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3840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4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426CEEA-81DC-423E-B07E-3854DFFE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698433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4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E8DC206-96D0-4810-9DC2-0C6CE8BA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824734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4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FE20910-E5E6-4C8C-8B7A-A34F5BA0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615" y="2951036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49" name="Invariants">
            <a:extLst xmlns:a="http://schemas.openxmlformats.org/drawingml/2006/main">
              <a:ext uri="{FF2B5EF4-FFF2-40B4-BE49-F238E27FC236}">
                <a16:creationId xmlns:a16="http://schemas.microsoft.com/office/drawing/2014/main" id="{231C4C27-B183-4A4E-93E0-52F2359F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26399"/>
            <a:ext cx="181927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Invariants</a:t>
            </a:r>
          </a:p>
        </p:txBody>
      </p:sp>
      <p:sp>
        <p:nvSpPr>
          <p:cNvPr id="50" name="Contracts">
            <a:extLst xmlns:a="http://schemas.openxmlformats.org/drawingml/2006/main">
              <a:ext uri="{FF2B5EF4-FFF2-40B4-BE49-F238E27FC236}">
                <a16:creationId xmlns:a16="http://schemas.microsoft.com/office/drawing/2014/main" id="{08195219-2ADD-4F41-A1E2-0FF51D6D4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91575"/>
            <a:ext cx="181927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51" name="Lemmas">
            <a:extLst xmlns:a="http://schemas.openxmlformats.org/drawingml/2006/main">
              <a:ext uri="{FF2B5EF4-FFF2-40B4-BE49-F238E27FC236}">
                <a16:creationId xmlns:a16="http://schemas.microsoft.com/office/drawing/2014/main" id="{61721726-AA82-4149-BD3C-C1C49D0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56751"/>
            <a:ext cx="181927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Lemmas</a:t>
            </a:r>
          </a:p>
        </p:txBody>
      </p:sp>
      <p:sp>
        <p:nvSpPr>
          <p:cNvPr id="52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43754F67-1F46-489D-A5EC-27847433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381250"/>
            <a:ext cx="457200" cy="411480"/>
          </a:xfrm>
          <a:custGeom xmlns:a="http://schemas.openxmlformats.org/drawingml/2006/main">
            <a:pathLst>
              <a:path w="457200" h="411480">
                <a:moveTo>
                  <a:pt x="0" y="251460"/>
                </a:moveTo>
                <a:lnTo>
                  <a:pt x="160020" y="411480"/>
                </a:ln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3" name="Check formal claims.">
            <a:extLst xmlns:a="http://schemas.openxmlformats.org/drawingml/2006/main">
              <a:ext uri="{FF2B5EF4-FFF2-40B4-BE49-F238E27FC236}">
                <a16:creationId xmlns:a16="http://schemas.microsoft.com/office/drawing/2014/main" id="{A8EB2777-8F22-4B1C-8E69-1A333C3D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015996"/>
            <a:ext cx="22288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 formal claims.</a:t>
            </a:r>
          </a:p>
        </p:txBody>
      </p:sp>
      <p:sp>
        <p:nvSpPr>
          <p:cNvPr id="54" name="Record diagnostics.">
            <a:extLst xmlns:a="http://schemas.openxmlformats.org/drawingml/2006/main">
              <a:ext uri="{FF2B5EF4-FFF2-40B4-BE49-F238E27FC236}">
                <a16:creationId xmlns:a16="http://schemas.microsoft.com/office/drawing/2014/main" id="{723549BE-D310-4A21-B169-30C7E429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48025"/>
            <a:ext cx="22288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Record diagnostics.</a:t>
            </a:r>
          </a:p>
        </p:txBody>
      </p:sp>
      <p:sp>
        <p:nvSpPr>
          <p:cNvPr id="55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3235264F-9BE8-4C4E-BD6F-14DDEEF9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314575"/>
            <a:ext cx="161925" cy="145733"/>
          </a:xfrm>
          <a:custGeom xmlns:a="http://schemas.openxmlformats.org/drawingml/2006/main">
            <a:pathLst>
              <a:path w="161925" h="145733">
                <a:moveTo>
                  <a:pt x="0" y="89059"/>
                </a:moveTo>
                <a:lnTo>
                  <a:pt x="56674" y="145733"/>
                </a:lnTo>
                <a:lnTo>
                  <a:pt x="161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6" name="Proof checked">
            <a:extLst xmlns:a="http://schemas.openxmlformats.org/drawingml/2006/main">
              <a:ext uri="{FF2B5EF4-FFF2-40B4-BE49-F238E27FC236}">
                <a16:creationId xmlns:a16="http://schemas.microsoft.com/office/drawing/2014/main" id="{278DA543-7A83-411F-BE8C-7E900B6E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2284286"/>
            <a:ext cx="24384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 checked</a:t>
            </a:r>
          </a:p>
        </p:txBody>
      </p:sp>
      <p:sp>
        <p:nvSpPr>
          <p:cNvPr id="57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1F844AD7-F984-472C-B56E-2B5016FF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609850"/>
            <a:ext cx="152400" cy="152400"/>
          </a:xfrm>
          <a:custGeom xmlns:a="http://schemas.openxmlformats.org/drawingml/2006/main">
            <a:pathLst>
              <a:path w="152400" h="152400">
                <a:moveTo>
                  <a:pt x="0" y="0"/>
                </a:moveTo>
                <a:lnTo>
                  <a:pt x="15240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8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FFB42BB6-4416-4CB4-91E2-DB9C9B52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609850"/>
            <a:ext cx="152400" cy="152400"/>
          </a:xfrm>
          <a:custGeom xmlns:a="http://schemas.openxmlformats.org/drawingml/2006/main">
            <a:pathLst>
              <a:path w="152400" h="152400"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9" name="Proof rejected">
            <a:extLst xmlns:a="http://schemas.openxmlformats.org/drawingml/2006/main">
              <a:ext uri="{FF2B5EF4-FFF2-40B4-BE49-F238E27FC236}">
                <a16:creationId xmlns:a16="http://schemas.microsoft.com/office/drawing/2014/main" id="{F3388A3D-C0C3-4523-82E7-D8F70E06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2579561"/>
            <a:ext cx="24384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 rejected</a:t>
            </a:r>
          </a:p>
        </p:txBody>
      </p:sp>
      <p:sp>
        <p:nvSpPr>
          <p:cNvPr id="60" name="!">
            <a:extLst xmlns:a="http://schemas.openxmlformats.org/drawingml/2006/main">
              <a:ext uri="{FF2B5EF4-FFF2-40B4-BE49-F238E27FC236}">
                <a16:creationId xmlns:a16="http://schemas.microsoft.com/office/drawing/2014/main" id="{1CCBD737-46BA-43E4-9A30-BB1FB63A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925" y="2858262"/>
            <a:ext cx="2476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61" name="Valid counterexample">
            <a:extLst xmlns:a="http://schemas.openxmlformats.org/drawingml/2006/main">
              <a:ext uri="{FF2B5EF4-FFF2-40B4-BE49-F238E27FC236}">
                <a16:creationId xmlns:a16="http://schemas.microsoft.com/office/drawing/2014/main" id="{8FE61EF5-34A2-4D70-A6EA-B6C5C7F5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2874836"/>
            <a:ext cx="24384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Valid counterexample</a:t>
            </a:r>
          </a:p>
        </p:txBody>
      </p:sp>
      <p:sp>
        <p:nvSpPr>
          <p:cNvPr id="62" name="?">
            <a:extLst xmlns:a="http://schemas.openxmlformats.org/drawingml/2006/main">
              <a:ext uri="{FF2B5EF4-FFF2-40B4-BE49-F238E27FC236}">
                <a16:creationId xmlns:a16="http://schemas.microsoft.com/office/drawing/2014/main" id="{CE34BA3A-832C-4AB8-9DD9-9FA021DA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925" y="3153537"/>
            <a:ext cx="2476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63" name="Unknown / timeout">
            <a:extLst xmlns:a="http://schemas.openxmlformats.org/drawingml/2006/main">
              <a:ext uri="{FF2B5EF4-FFF2-40B4-BE49-F238E27FC236}">
                <a16:creationId xmlns:a16="http://schemas.microsoft.com/office/drawing/2014/main" id="{09A4B33B-F491-4BE7-8A08-FE018A50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3170111"/>
            <a:ext cx="24384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Unknown / timeout</a:t>
            </a:r>
          </a:p>
        </p:txBody>
      </p:sp>
      <p:sp>
        <p:nvSpPr>
          <p:cNvPr id="6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4AF8F95-E9B3-49A2-8041-5FF5EDDF4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05075"/>
            <a:ext cx="504825" cy="9525"/>
          </a:xfrm>
          <a:custGeom xmlns:a="http://schemas.openxmlformats.org/drawingml/2006/main">
            <a:pathLst>
              <a:path w="504825" h="9525">
                <a:moveTo>
                  <a:pt x="0" y="0"/>
                </a:moveTo>
                <a:lnTo>
                  <a:pt x="504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054670A-4A32-46A8-B5DA-E3563140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50A88B3-ADEE-4E06-8A38-93EF0689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505075"/>
            <a:ext cx="533400" cy="9525"/>
          </a:xfrm>
          <a:custGeom xmlns:a="http://schemas.openxmlformats.org/drawingml/2006/main">
            <a:pathLst>
              <a:path w="533400" h="9525">
                <a:moveTo>
                  <a:pt x="0" y="0"/>
                </a:moveTo>
                <a:lnTo>
                  <a:pt x="533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7B3E3FA4-A9A4-4E1F-B5C4-E7FA02EB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9D65A19-E812-4EE5-B23C-44DD25D1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05075"/>
            <a:ext cx="457200" cy="9525"/>
          </a:xfrm>
          <a:custGeom xmlns:a="http://schemas.openxmlformats.org/drawingml/2006/main"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B18313E-7702-4580-979C-9D1102EF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0460480-E517-4AEB-8849-58A88CD8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5825" y="2505075"/>
            <a:ext cx="295275" cy="9525"/>
          </a:xfrm>
          <a:custGeom xmlns:a="http://schemas.openxmlformats.org/drawingml/2006/main">
            <a:pathLst>
              <a:path w="295275" h="9525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E23C2B4-8E2D-4154-9F78-8B31137F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24574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67E9B23-6532-4715-A227-7BBCC858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562350"/>
            <a:ext cx="6067425" cy="400050"/>
          </a:xfrm>
          <a:custGeom xmlns:a="http://schemas.openxmlformats.org/drawingml/2006/main">
            <a:pathLst>
              <a:path w="6067425" h="400050">
                <a:moveTo>
                  <a:pt x="6067425" y="0"/>
                </a:moveTo>
                <a:lnTo>
                  <a:pt x="6067425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73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A3836ED3-677D-49A9-A3BF-2F0988B1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623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4" name="Use feedback to revise proofs">
            <a:extLst xmlns:a="http://schemas.openxmlformats.org/drawingml/2006/main">
              <a:ext uri="{FF2B5EF4-FFF2-40B4-BE49-F238E27FC236}">
                <a16:creationId xmlns:a16="http://schemas.microsoft.com/office/drawing/2014/main" id="{82310D0A-6B2D-4CE3-AE16-2805882D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feedback to revise proofs</a:t>
            </a:r>
          </a:p>
        </p:txBody>
      </p:sp>
      <p:sp>
        <p:nvSpPr>
          <p:cNvPr id="7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7606F9C-55AD-4470-886D-715CFC02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962400"/>
            <a:ext cx="4933950" cy="742950"/>
          </a:xfrm>
          <a:custGeom xmlns:a="http://schemas.openxmlformats.org/drawingml/2006/main">
            <a:pathLst>
              <a:path w="4933950" h="742950">
                <a:moveTo>
                  <a:pt x="4933950" y="0"/>
                </a:moveTo>
                <a:lnTo>
                  <a:pt x="4933950" y="209550"/>
                </a:lnTo>
                <a:lnTo>
                  <a:pt x="0" y="209550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7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9048D25-3E8E-4521-8EF5-6C1417A4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591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E172274-2961-4975-8CB1-17D2E0C1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71950"/>
            <a:ext cx="1038225" cy="533400"/>
          </a:xfrm>
          <a:custGeom xmlns:a="http://schemas.openxmlformats.org/drawingml/2006/main">
            <a:pathLst>
              <a:path w="1038225" h="533400">
                <a:moveTo>
                  <a:pt x="1038225" y="0"/>
                </a:move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7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BDB98BE-B702-4F88-8824-0CA5D835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591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53A6EDD-6346-4BA2-9BBB-46C44D76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171950"/>
            <a:ext cx="4943475" cy="533400"/>
          </a:xfrm>
          <a:custGeom xmlns:a="http://schemas.openxmlformats.org/drawingml/2006/main">
            <a:pathLst>
              <a:path w="4943475" h="533400">
                <a:moveTo>
                  <a:pt x="0" y="0"/>
                </a:moveTo>
                <a:lnTo>
                  <a:pt x="4943475" y="0"/>
                </a:lnTo>
                <a:lnTo>
                  <a:pt x="4943475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8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40E0C850-7985-469D-8685-F45977CF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8275" y="4591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81" name="Transfer across tasks">
            <a:extLst xmlns:a="http://schemas.openxmlformats.org/drawingml/2006/main">
              <a:ext uri="{FF2B5EF4-FFF2-40B4-BE49-F238E27FC236}">
                <a16:creationId xmlns:a16="http://schemas.microsoft.com/office/drawing/2014/main" id="{46E11513-4935-42B0-A0B4-836C7661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98061"/>
            <a:ext cx="27622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Transfer across tasks</a:t>
            </a:r>
          </a:p>
        </p:txBody>
      </p:sp>
      <p:sp>
        <p:nvSpPr>
          <p:cNvPr id="82" name="Reuse across components">
            <a:extLst xmlns:a="http://schemas.openxmlformats.org/drawingml/2006/main">
              <a:ext uri="{FF2B5EF4-FFF2-40B4-BE49-F238E27FC236}">
                <a16:creationId xmlns:a16="http://schemas.microsoft.com/office/drawing/2014/main" id="{DF906733-BBAF-48BC-8FA3-7C4E4A27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98061"/>
            <a:ext cx="30956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Reuse across components</a:t>
            </a:r>
          </a:p>
        </p:txBody>
      </p:sp>
      <p:sp>
        <p:nvSpPr>
          <p:cNvPr id="83" name="Audit intended use">
            <a:extLst xmlns:a="http://schemas.openxmlformats.org/drawingml/2006/main">
              <a:ext uri="{FF2B5EF4-FFF2-40B4-BE49-F238E27FC236}">
                <a16:creationId xmlns:a16="http://schemas.microsoft.com/office/drawing/2014/main" id="{E763C29D-E810-4B3E-B372-9EC3A191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4298061"/>
            <a:ext cx="23336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Audit intended use</a:t>
            </a:r>
          </a:p>
        </p:txBody>
      </p:sp>
      <p:sp>
        <p:nvSpPr>
          <p:cNvPr id="84" name="Learn proof strategies panel">
            <a:extLst xmlns:a="http://schemas.openxmlformats.org/drawingml/2006/main">
              <a:ext uri="{FF2B5EF4-FFF2-40B4-BE49-F238E27FC236}">
                <a16:creationId xmlns:a16="http://schemas.microsoft.com/office/drawing/2014/main" id="{0FCF5635-F4AA-4DDB-8775-AFEDED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4714875"/>
            <a:ext cx="53244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5" name="Stage A">
            <a:extLst xmlns:a="http://schemas.openxmlformats.org/drawingml/2006/main">
              <a:ext uri="{FF2B5EF4-FFF2-40B4-BE49-F238E27FC236}">
                <a16:creationId xmlns:a16="http://schemas.microsoft.com/office/drawing/2014/main" id="{305B9443-7F3F-4E01-9048-C803430F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819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6" name="A">
            <a:extLst xmlns:a="http://schemas.openxmlformats.org/drawingml/2006/main">
              <a:ext uri="{FF2B5EF4-FFF2-40B4-BE49-F238E27FC236}">
                <a16:creationId xmlns:a16="http://schemas.microsoft.com/office/drawing/2014/main" id="{D36E3AA0-9153-421C-99CA-BE42947C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871199"/>
            <a:ext cx="419100" cy="31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4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87" name="Learn proof strategies">
            <a:extLst xmlns:a="http://schemas.openxmlformats.org/drawingml/2006/main">
              <a:ext uri="{FF2B5EF4-FFF2-40B4-BE49-F238E27FC236}">
                <a16:creationId xmlns:a16="http://schemas.microsoft.com/office/drawing/2014/main" id="{908EAC62-B37A-4938-B385-D83E1464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832414"/>
            <a:ext cx="4448175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  <a:hlinkClick xmlns:r="http://schemas.openxmlformats.org/officeDocument/2006/relationships" r:id="Rc204030d94f94678"/>
              </a:rPr>
              <a:t>Learn proof strategies</a:t>
            </a:r>
          </a:p>
        </p:txBody>
      </p:sp>
      <p:sp>
        <p:nvSpPr>
          <p:cNvPr id="88" name="What transfers to new programs?">
            <a:extLst xmlns:a="http://schemas.openxmlformats.org/drawingml/2006/main">
              <a:ext uri="{FF2B5EF4-FFF2-40B4-BE49-F238E27FC236}">
                <a16:creationId xmlns:a16="http://schemas.microsoft.com/office/drawing/2014/main" id="{FADA5276-BB43-4964-AB19-AF952EDC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178362"/>
            <a:ext cx="444817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transfers to new programs?</a:t>
            </a:r>
          </a:p>
        </p:txBody>
      </p:sp>
      <p:sp>
        <p:nvSpPr>
          <p:cNvPr id="89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C5B62AC8-8194-4BB9-828A-95D11A87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743575"/>
            <a:ext cx="447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625823F-201E-4529-8262-0334CE46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2455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E674B01-B875-46F9-8380-DB4B4EAF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4837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21C3338-D3AB-4F8E-8E8F-13AC7C93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7220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3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DE647B46-196C-4E78-AC9D-A477B5E2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447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8D514A8-A827-4E3C-8077-18EF1A42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0293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53ACAB3F-BEEB-4D86-B287-63AD0ACE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15315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6ABA2C8-EEBF-408D-AB84-8C75EC6E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27697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7" name="Editable proof artifact">
            <a:extLst xmlns:a="http://schemas.openxmlformats.org/drawingml/2006/main">
              <a:ext uri="{FF2B5EF4-FFF2-40B4-BE49-F238E27FC236}">
                <a16:creationId xmlns:a16="http://schemas.microsoft.com/office/drawing/2014/main" id="{4D91CB1B-59F9-4FE3-AD25-442CDBCC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953125"/>
            <a:ext cx="447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28982B7F-D751-4094-94C1-FB19913B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3410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DAAA6FD-8FD3-4AC3-9658-D0BB297E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57925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AA70657-F3BA-4D97-82DE-01672600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81750"/>
            <a:ext cx="276225" cy="9525"/>
          </a:xfrm>
          <a:custGeom xmlns:a="http://schemas.openxmlformats.org/drawingml/2006/main">
            <a:pathLst>
              <a:path w="276225" h="9525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1" name="Checked">
            <a:extLst xmlns:a="http://schemas.openxmlformats.org/drawingml/2006/main">
              <a:ext uri="{FF2B5EF4-FFF2-40B4-BE49-F238E27FC236}">
                <a16:creationId xmlns:a16="http://schemas.microsoft.com/office/drawing/2014/main" id="{BF940F0F-6FD3-4548-B652-2950339C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653022"/>
            <a:ext cx="11239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Checked</a:t>
            </a:r>
          </a:p>
        </p:txBody>
      </p:sp>
      <p:sp>
        <p:nvSpPr>
          <p:cNvPr id="102" name="proofs">
            <a:extLst xmlns:a="http://schemas.openxmlformats.org/drawingml/2006/main">
              <a:ext uri="{FF2B5EF4-FFF2-40B4-BE49-F238E27FC236}">
                <a16:creationId xmlns:a16="http://schemas.microsoft.com/office/drawing/2014/main" id="{19A63781-B0FD-4ACC-AE3E-49FBC020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96100"/>
            <a:ext cx="11239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proofs</a:t>
            </a:r>
          </a:p>
        </p:txBody>
      </p:sp>
      <p:sp>
        <p:nvSpPr>
          <p:cNvPr id="10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1D8A7E3-84A5-4994-9398-C7034686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29350"/>
            <a:ext cx="628650" cy="9525"/>
          </a:xfrm>
          <a:custGeom xmlns:a="http://schemas.openxmlformats.org/drawingml/2006/main">
            <a:pathLst>
              <a:path w="628650" h="9525">
                <a:moveTo>
                  <a:pt x="0" y="0"/>
                </a:moveTo>
                <a:lnTo>
                  <a:pt x="628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422DC5C-CF4C-4F1B-91DD-6BDD1825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1817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5" name="Learned strategy">
            <a:extLst xmlns:a="http://schemas.openxmlformats.org/drawingml/2006/main">
              <a:ext uri="{FF2B5EF4-FFF2-40B4-BE49-F238E27FC236}">
                <a16:creationId xmlns:a16="http://schemas.microsoft.com/office/drawing/2014/main" id="{0F57142B-C83A-4EFC-85F8-F3587B32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638800"/>
            <a:ext cx="225742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6" name="Learned strategy">
            <a:extLst xmlns:a="http://schemas.openxmlformats.org/drawingml/2006/main">
              <a:ext uri="{FF2B5EF4-FFF2-40B4-BE49-F238E27FC236}">
                <a16:creationId xmlns:a16="http://schemas.microsoft.com/office/drawing/2014/main" id="{164E5114-A4DC-4848-8BEA-467B67BA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5772912"/>
            <a:ext cx="20288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Learned strategy</a:t>
            </a:r>
          </a:p>
        </p:txBody>
      </p:sp>
      <p:sp>
        <p:nvSpPr>
          <p:cNvPr id="107" name="Choose assertions">
            <a:extLst xmlns:a="http://schemas.openxmlformats.org/drawingml/2006/main">
              <a:ext uri="{FF2B5EF4-FFF2-40B4-BE49-F238E27FC236}">
                <a16:creationId xmlns:a16="http://schemas.microsoft.com/office/drawing/2014/main" id="{2A36A14A-6D1A-45FE-BF9C-28946DA0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6235446"/>
            <a:ext cx="202882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Choose assertions</a:t>
            </a:r>
          </a:p>
        </p:txBody>
      </p:sp>
      <p:sp>
        <p:nvSpPr>
          <p:cNvPr id="108" name="Reuse proof patterns">
            <a:extLst xmlns:a="http://schemas.openxmlformats.org/drawingml/2006/main">
              <a:ext uri="{FF2B5EF4-FFF2-40B4-BE49-F238E27FC236}">
                <a16:creationId xmlns:a16="http://schemas.microsoft.com/office/drawing/2014/main" id="{F58C4765-21DD-467C-9979-C594A0AC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6467475"/>
            <a:ext cx="202882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Reuse proof patterns</a:t>
            </a:r>
          </a:p>
        </p:txBody>
      </p:sp>
      <p:sp>
        <p:nvSpPr>
          <p:cNvPr id="10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180E01C-4235-4A86-8B2F-4D322D0C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6229350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614A3C6-3F1A-4993-B30E-E72048F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1817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11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B4632AED-E674-4158-A123-D49BC16D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76925"/>
            <a:ext cx="447675" cy="628650"/>
          </a:xfrm>
          <a:custGeom xmlns:a="http://schemas.openxmlformats.org/drawingml/2006/main">
            <a:pathLst>
              <a:path w="447675" h="628650">
                <a:moveTo>
                  <a:pt x="0" y="0"/>
                </a:moveTo>
                <a:lnTo>
                  <a:pt x="335756" y="0"/>
                </a:lnTo>
                <a:lnTo>
                  <a:pt x="447675" y="111919"/>
                </a:lnTo>
                <a:lnTo>
                  <a:pt x="447675" y="628650"/>
                </a:lnTo>
                <a:lnTo>
                  <a:pt x="0" y="6286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1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20C3290-B29D-41D3-A0F3-4D1E1DE3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3006" y="5876925"/>
            <a:ext cx="111919" cy="111919"/>
          </a:xfrm>
          <a:custGeom xmlns:a="http://schemas.openxmlformats.org/drawingml/2006/main">
            <a:pathLst>
              <a:path w="111919" h="111919">
                <a:moveTo>
                  <a:pt x="0" y="0"/>
                </a:moveTo>
                <a:lnTo>
                  <a:pt x="0" y="111919"/>
                </a:lnTo>
                <a:lnTo>
                  <a:pt x="111919" y="111919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D65DBC5-39BA-4A95-86BC-E09E7BB5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6785" y="6096953"/>
            <a:ext cx="246221" cy="9525"/>
          </a:xfrm>
          <a:custGeom xmlns:a="http://schemas.openxmlformats.org/drawingml/2006/main">
            <a:pathLst>
              <a:path w="246221" h="9525">
                <a:moveTo>
                  <a:pt x="0" y="0"/>
                </a:moveTo>
                <a:lnTo>
                  <a:pt x="2462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04E6FD3-6619-4677-9EBC-8FE21473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6785" y="6203823"/>
            <a:ext cx="246221" cy="9525"/>
          </a:xfrm>
          <a:custGeom xmlns:a="http://schemas.openxmlformats.org/drawingml/2006/main">
            <a:pathLst>
              <a:path w="246221" h="9525">
                <a:moveTo>
                  <a:pt x="0" y="0"/>
                </a:moveTo>
                <a:lnTo>
                  <a:pt x="2462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2750CCD-BD7F-47B5-8AFB-50AE1282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6785" y="6310694"/>
            <a:ext cx="246221" cy="9525"/>
          </a:xfrm>
          <a:custGeom xmlns:a="http://schemas.openxmlformats.org/drawingml/2006/main">
            <a:pathLst>
              <a:path w="246221" h="9525">
                <a:moveTo>
                  <a:pt x="0" y="0"/>
                </a:moveTo>
                <a:lnTo>
                  <a:pt x="2462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6" name="New">
            <a:extLst xmlns:a="http://schemas.openxmlformats.org/drawingml/2006/main">
              <a:ext uri="{FF2B5EF4-FFF2-40B4-BE49-F238E27FC236}">
                <a16:creationId xmlns:a16="http://schemas.microsoft.com/office/drawing/2014/main" id="{16C2551F-A79C-46FF-A5EF-91C2FA6B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653022"/>
            <a:ext cx="10477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New</a:t>
            </a:r>
          </a:p>
        </p:txBody>
      </p:sp>
      <p:sp>
        <p:nvSpPr>
          <p:cNvPr id="117" name="programs">
            <a:extLst xmlns:a="http://schemas.openxmlformats.org/drawingml/2006/main">
              <a:ext uri="{FF2B5EF4-FFF2-40B4-BE49-F238E27FC236}">
                <a16:creationId xmlns:a16="http://schemas.microsoft.com/office/drawing/2014/main" id="{B2AC2DCA-B949-4E8B-914C-619DE11E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896100"/>
            <a:ext cx="10477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programs</a:t>
            </a:r>
          </a:p>
        </p:txBody>
      </p:sp>
      <p:sp>
        <p:nvSpPr>
          <p:cNvPr id="118" name="Retrieval and search comparison">
            <a:extLst xmlns:a="http://schemas.openxmlformats.org/drawingml/2006/main">
              <a:ext uri="{FF2B5EF4-FFF2-40B4-BE49-F238E27FC236}">
                <a16:creationId xmlns:a16="http://schemas.microsoft.com/office/drawing/2014/main" id="{18C1A804-ABD4-4B80-AEB4-E393A0D7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48525"/>
            <a:ext cx="49434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dash"/>
          </a:ln>
        </p:spPr>
      </p:sp>
      <p:sp>
        <p:nvSpPr>
          <p:cNvPr id="119" name="Compare learning with retrieval and search.">
            <a:extLst xmlns:a="http://schemas.openxmlformats.org/drawingml/2006/main">
              <a:ext uri="{FF2B5EF4-FFF2-40B4-BE49-F238E27FC236}">
                <a16:creationId xmlns:a16="http://schemas.microsoft.com/office/drawing/2014/main" id="{2DA8CA84-1F39-4356-8CF6-26939BDA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332536"/>
            <a:ext cx="46767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Compare learning with retrieval and search.</a:t>
            </a:r>
          </a:p>
        </p:txBody>
      </p:sp>
      <p:sp>
        <p:nvSpPr>
          <p:cNvPr id="120" name="Compose local proofs panel">
            <a:extLst xmlns:a="http://schemas.openxmlformats.org/drawingml/2006/main">
              <a:ext uri="{FF2B5EF4-FFF2-40B4-BE49-F238E27FC236}">
                <a16:creationId xmlns:a16="http://schemas.microsoft.com/office/drawing/2014/main" id="{91D6DA52-4AE1-4C3F-8D16-BA6F8604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714875"/>
            <a:ext cx="45339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1" name="Stage B">
            <a:extLst xmlns:a="http://schemas.openxmlformats.org/drawingml/2006/main">
              <a:ext uri="{FF2B5EF4-FFF2-40B4-BE49-F238E27FC236}">
                <a16:creationId xmlns:a16="http://schemas.microsoft.com/office/drawing/2014/main" id="{AEC1D5EA-9DE5-41A6-86F2-3CFEF62C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819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2" name="B">
            <a:extLst xmlns:a="http://schemas.openxmlformats.org/drawingml/2006/main">
              <a:ext uri="{FF2B5EF4-FFF2-40B4-BE49-F238E27FC236}">
                <a16:creationId xmlns:a16="http://schemas.microsoft.com/office/drawing/2014/main" id="{6B576FCC-C83E-436C-AA1E-A90B82BF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871199"/>
            <a:ext cx="419100" cy="31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4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3" name="Compose local proofs">
            <a:extLst xmlns:a="http://schemas.openxmlformats.org/drawingml/2006/main">
              <a:ext uri="{FF2B5EF4-FFF2-40B4-BE49-F238E27FC236}">
                <a16:creationId xmlns:a16="http://schemas.microsoft.com/office/drawing/2014/main" id="{B289AA6E-34C7-4F9F-BB26-C589BAB4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832414"/>
            <a:ext cx="36576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  <a:hlinkClick xmlns:r="http://schemas.openxmlformats.org/officeDocument/2006/relationships" r:id="Radf66e0aecc94694"/>
              </a:rPr>
              <a:t>Compose local proofs</a:t>
            </a:r>
          </a:p>
        </p:txBody>
      </p:sp>
      <p:sp>
        <p:nvSpPr>
          <p:cNvPr id="124" name="When do local proofs compose?">
            <a:extLst xmlns:a="http://schemas.openxmlformats.org/drawingml/2006/main">
              <a:ext uri="{FF2B5EF4-FFF2-40B4-BE49-F238E27FC236}">
                <a16:creationId xmlns:a16="http://schemas.microsoft.com/office/drawing/2014/main" id="{93E53042-800B-4E66-9435-3F34BD73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178362"/>
            <a:ext cx="36576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When do local proofs compose?</a:t>
            </a:r>
          </a:p>
        </p:txBody>
      </p:sp>
      <p:sp>
        <p:nvSpPr>
          <p:cNvPr id="125" name="Local evidence">
            <a:extLst xmlns:a="http://schemas.openxmlformats.org/drawingml/2006/main">
              <a:ext uri="{FF2B5EF4-FFF2-40B4-BE49-F238E27FC236}">
                <a16:creationId xmlns:a16="http://schemas.microsoft.com/office/drawing/2014/main" id="{1F5EA0C6-548E-4D3A-8339-154A2F83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924550"/>
            <a:ext cx="1857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6" name="Local proofs">
            <a:extLst xmlns:a="http://schemas.openxmlformats.org/drawingml/2006/main">
              <a:ext uri="{FF2B5EF4-FFF2-40B4-BE49-F238E27FC236}">
                <a16:creationId xmlns:a16="http://schemas.microsoft.com/office/drawing/2014/main" id="{964278A4-B2D5-4000-89D6-CDE015CE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6020562"/>
            <a:ext cx="162877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 proofs</a:t>
            </a:r>
          </a:p>
        </p:txBody>
      </p:sp>
      <p:sp>
        <p:nvSpPr>
          <p:cNvPr id="127" name="Library contracts">
            <a:extLst xmlns:a="http://schemas.openxmlformats.org/drawingml/2006/main">
              <a:ext uri="{FF2B5EF4-FFF2-40B4-BE49-F238E27FC236}">
                <a16:creationId xmlns:a16="http://schemas.microsoft.com/office/drawing/2014/main" id="{A0093337-A0CC-4815-B138-36C82C4F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335459"/>
            <a:ext cx="17049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Library contracts</a:t>
            </a:r>
          </a:p>
        </p:txBody>
      </p:sp>
      <p:sp>
        <p:nvSpPr>
          <p:cNvPr id="128" name="Caller conditions">
            <a:extLst xmlns:a="http://schemas.openxmlformats.org/drawingml/2006/main">
              <a:ext uri="{FF2B5EF4-FFF2-40B4-BE49-F238E27FC236}">
                <a16:creationId xmlns:a16="http://schemas.microsoft.com/office/drawing/2014/main" id="{76BB6CF0-BFB7-40A6-AD00-9B55C14D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567488"/>
            <a:ext cx="17049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Caller conditions</a:t>
            </a:r>
          </a:p>
        </p:txBody>
      </p:sp>
      <p:sp>
        <p:nvSpPr>
          <p:cNvPr id="12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935EFA0-E300-43AC-9C1B-31311A34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6381750"/>
            <a:ext cx="228600" cy="9525"/>
          </a:xfrm>
          <a:custGeom xmlns:a="http://schemas.openxmlformats.org/drawingml/2006/main"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3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3722280-3051-4B88-A385-B963D73F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6334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31" name="Composition argument">
            <a:extLst xmlns:a="http://schemas.openxmlformats.org/drawingml/2006/main">
              <a:ext uri="{FF2B5EF4-FFF2-40B4-BE49-F238E27FC236}">
                <a16:creationId xmlns:a16="http://schemas.microsoft.com/office/drawing/2014/main" id="{4DD027DE-3F3C-4B0F-B402-EF53520A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5924550"/>
            <a:ext cx="2047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32" name="Composition">
            <a:extLst xmlns:a="http://schemas.openxmlformats.org/drawingml/2006/main">
              <a:ext uri="{FF2B5EF4-FFF2-40B4-BE49-F238E27FC236}">
                <a16:creationId xmlns:a16="http://schemas.microsoft.com/office/drawing/2014/main" id="{BDA8617A-BA5F-420F-8A86-BB891A4D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6020562"/>
            <a:ext cx="18383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Composition</a:t>
            </a:r>
          </a:p>
        </p:txBody>
      </p:sp>
      <p:sp>
        <p:nvSpPr>
          <p:cNvPr id="133" name="Interfaces, state,">
            <a:extLst xmlns:a="http://schemas.openxmlformats.org/drawingml/2006/main">
              <a:ext uri="{FF2B5EF4-FFF2-40B4-BE49-F238E27FC236}">
                <a16:creationId xmlns:a16="http://schemas.microsoft.com/office/drawing/2014/main" id="{C5065036-F0C9-4CFB-968F-5033375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6335459"/>
            <a:ext cx="183832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Interfaces, state,</a:t>
            </a:r>
          </a:p>
        </p:txBody>
      </p:sp>
      <p:sp>
        <p:nvSpPr>
          <p:cNvPr id="134" name="and assumptions">
            <a:extLst xmlns:a="http://schemas.openxmlformats.org/drawingml/2006/main">
              <a:ext uri="{FF2B5EF4-FFF2-40B4-BE49-F238E27FC236}">
                <a16:creationId xmlns:a16="http://schemas.microsoft.com/office/drawing/2014/main" id="{97E985A6-0AE9-49FB-BBE6-EBB51358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6567488"/>
            <a:ext cx="183832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assumptions</a:t>
            </a:r>
          </a:p>
        </p:txBody>
      </p:sp>
      <p:sp>
        <p:nvSpPr>
          <p:cNvPr id="13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D314CC2-EA53-417F-8573-36A865DA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6829425"/>
            <a:ext cx="9525" cy="200025"/>
          </a:xfrm>
          <a:custGeom xmlns:a="http://schemas.openxmlformats.org/drawingml/2006/main">
            <a:pathLst>
              <a:path w="9525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3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6732FD2-4DA4-4574-BB63-2DB85254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69151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37" name="Show local claims imply">
            <a:extLst xmlns:a="http://schemas.openxmlformats.org/drawingml/2006/main">
              <a:ext uri="{FF2B5EF4-FFF2-40B4-BE49-F238E27FC236}">
                <a16:creationId xmlns:a16="http://schemas.microsoft.com/office/drawing/2014/main" id="{BEE25B12-6248-47DA-9220-6FB9014F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7119747"/>
            <a:ext cx="38766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Show local claims imply</a:t>
            </a:r>
          </a:p>
        </p:txBody>
      </p:sp>
      <p:sp>
        <p:nvSpPr>
          <p:cNvPr id="138" name="the global property">
            <a:extLst xmlns:a="http://schemas.openxmlformats.org/drawingml/2006/main">
              <a:ext uri="{FF2B5EF4-FFF2-40B4-BE49-F238E27FC236}">
                <a16:creationId xmlns:a16="http://schemas.microsoft.com/office/drawing/2014/main" id="{3579479E-904E-4119-8197-82EF72DF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7362825"/>
            <a:ext cx="38766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global property</a:t>
            </a:r>
          </a:p>
        </p:txBody>
      </p:sp>
      <p:sp>
        <p:nvSpPr>
          <p:cNvPr id="139" name="Audit the evidence panel">
            <a:extLst xmlns:a="http://schemas.openxmlformats.org/drawingml/2006/main">
              <a:ext uri="{FF2B5EF4-FFF2-40B4-BE49-F238E27FC236}">
                <a16:creationId xmlns:a16="http://schemas.microsoft.com/office/drawing/2014/main" id="{3D0CB0AE-EFA9-4D6F-A47C-97A0D54B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714875"/>
            <a:ext cx="50673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0" name="Stage C">
            <a:extLst xmlns:a="http://schemas.openxmlformats.org/drawingml/2006/main">
              <a:ext uri="{FF2B5EF4-FFF2-40B4-BE49-F238E27FC236}">
                <a16:creationId xmlns:a16="http://schemas.microsoft.com/office/drawing/2014/main" id="{47BA4BA7-6281-4E3A-A456-02FAE85F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8196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1" name="C">
            <a:extLst xmlns:a="http://schemas.openxmlformats.org/drawingml/2006/main">
              <a:ext uri="{FF2B5EF4-FFF2-40B4-BE49-F238E27FC236}">
                <a16:creationId xmlns:a16="http://schemas.microsoft.com/office/drawing/2014/main" id="{7E496549-A90B-4771-9AB5-9E78FC51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871199"/>
            <a:ext cx="419100" cy="316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4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4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2" name="Audit the evidence">
            <a:extLst xmlns:a="http://schemas.openxmlformats.org/drawingml/2006/main">
              <a:ext uri="{FF2B5EF4-FFF2-40B4-BE49-F238E27FC236}">
                <a16:creationId xmlns:a16="http://schemas.microsoft.com/office/drawing/2014/main" id="{B222A0C7-31BC-4C94-9DDE-423EF091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832414"/>
            <a:ext cx="41910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  <a:hlinkClick xmlns:r="http://schemas.openxmlformats.org/officeDocument/2006/relationships" r:id="R3da24a0230354255"/>
              </a:rPr>
              <a:t>Audit the evidence</a:t>
            </a:r>
          </a:p>
        </p:txBody>
      </p:sp>
      <p:sp>
        <p:nvSpPr>
          <p:cNvPr id="143" name="Does the claim match the goal?">
            <a:extLst xmlns:a="http://schemas.openxmlformats.org/drawingml/2006/main">
              <a:ext uri="{FF2B5EF4-FFF2-40B4-BE49-F238E27FC236}">
                <a16:creationId xmlns:a16="http://schemas.microsoft.com/office/drawing/2014/main" id="{5F5F883D-130D-4D74-802F-20273211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5178362"/>
            <a:ext cx="41910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Does the claim match the goal?</a:t>
            </a:r>
          </a:p>
        </p:txBody>
      </p:sp>
      <p:sp>
        <p:nvSpPr>
          <p:cNvPr id="144" name="Evidence assessment input">
            <a:extLst xmlns:a="http://schemas.openxmlformats.org/drawingml/2006/main">
              <a:ext uri="{FF2B5EF4-FFF2-40B4-BE49-F238E27FC236}">
                <a16:creationId xmlns:a16="http://schemas.microsoft.com/office/drawing/2014/main" id="{A52178F4-3AFF-498D-8AB3-834B3C8E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5619750"/>
            <a:ext cx="13811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5" name="Intended">
            <a:extLst xmlns:a="http://schemas.openxmlformats.org/drawingml/2006/main">
              <a:ext uri="{FF2B5EF4-FFF2-40B4-BE49-F238E27FC236}">
                <a16:creationId xmlns:a16="http://schemas.microsoft.com/office/drawing/2014/main" id="{6B57D2A4-3C3B-405D-B233-10D943B0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5719572"/>
            <a:ext cx="12287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Intended</a:t>
            </a:r>
          </a:p>
        </p:txBody>
      </p:sp>
      <p:sp>
        <p:nvSpPr>
          <p:cNvPr id="146" name="goal">
            <a:extLst xmlns:a="http://schemas.openxmlformats.org/drawingml/2006/main">
              <a:ext uri="{FF2B5EF4-FFF2-40B4-BE49-F238E27FC236}">
                <a16:creationId xmlns:a16="http://schemas.microsoft.com/office/drawing/2014/main" id="{1ADDAFD7-A7D4-4CB1-9358-A8076AEB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5962650"/>
            <a:ext cx="12287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</a:t>
            </a:r>
          </a:p>
        </p:txBody>
      </p:sp>
      <p:sp>
        <p:nvSpPr>
          <p:cNvPr id="14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42535EF6-7F18-477C-843F-6E0F98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788" y="6238875"/>
            <a:ext cx="342900" cy="295275"/>
          </a:xfrm>
          <a:custGeom xmlns:a="http://schemas.openxmlformats.org/drawingml/2006/main">
            <a:pathLst>
              <a:path w="342900" h="295275">
                <a:moveTo>
                  <a:pt x="0" y="0"/>
                </a:moveTo>
                <a:lnTo>
                  <a:pt x="257175" y="0"/>
                </a:lnTo>
                <a:lnTo>
                  <a:pt x="342900" y="85725"/>
                </a:lnTo>
                <a:lnTo>
                  <a:pt x="342900" y="295275"/>
                </a:lnTo>
                <a:lnTo>
                  <a:pt x="0" y="295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4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92FAD6E-1563-41A4-9F70-CE0B2D19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0963" y="6238875"/>
            <a:ext cx="85725" cy="85725"/>
          </a:xfrm>
          <a:custGeom xmlns:a="http://schemas.openxmlformats.org/drawingml/2006/main">
            <a:pathLst>
              <a:path w="85725" h="85725">
                <a:moveTo>
                  <a:pt x="0" y="0"/>
                </a:moveTo>
                <a:lnTo>
                  <a:pt x="0" y="85725"/>
                </a:lnTo>
                <a:lnTo>
                  <a:pt x="85725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4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A5983A3-0B02-4C88-BA49-0F4606E8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2368" y="6342221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68ECFA9-B4DB-4567-8553-233CBB6C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2368" y="6392418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3BA9CEC-43F2-4194-B197-08081F7E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2368" y="6442615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2" name="Evidence assessment input">
            <a:extLst xmlns:a="http://schemas.openxmlformats.org/drawingml/2006/main">
              <a:ext uri="{FF2B5EF4-FFF2-40B4-BE49-F238E27FC236}">
                <a16:creationId xmlns:a16="http://schemas.microsoft.com/office/drawing/2014/main" id="{54CFC3D7-3330-45C3-8107-B417966A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5619750"/>
            <a:ext cx="16859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3" name="Exact">
            <a:extLst xmlns:a="http://schemas.openxmlformats.org/drawingml/2006/main">
              <a:ext uri="{FF2B5EF4-FFF2-40B4-BE49-F238E27FC236}">
                <a16:creationId xmlns:a16="http://schemas.microsoft.com/office/drawing/2014/main" id="{0E3BA044-D4D6-4F44-AAA9-416A130C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5719572"/>
            <a:ext cx="1533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Exact</a:t>
            </a:r>
          </a:p>
        </p:txBody>
      </p:sp>
      <p:sp>
        <p:nvSpPr>
          <p:cNvPr id="154" name="artifacts">
            <a:extLst xmlns:a="http://schemas.openxmlformats.org/drawingml/2006/main">
              <a:ext uri="{FF2B5EF4-FFF2-40B4-BE49-F238E27FC236}">
                <a16:creationId xmlns:a16="http://schemas.microsoft.com/office/drawing/2014/main" id="{91FA9AC6-65E5-444F-9769-2E40B444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5962650"/>
            <a:ext cx="15335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artifacts</a:t>
            </a:r>
          </a:p>
        </p:txBody>
      </p:sp>
      <p:sp>
        <p:nvSpPr>
          <p:cNvPr id="155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7A42EC92-6D3F-4435-A7AA-8E62111B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6238875"/>
            <a:ext cx="342900" cy="295275"/>
          </a:xfrm>
          <a:custGeom xmlns:a="http://schemas.openxmlformats.org/drawingml/2006/main">
            <a:pathLst>
              <a:path w="342900" h="295275">
                <a:moveTo>
                  <a:pt x="0" y="0"/>
                </a:moveTo>
                <a:lnTo>
                  <a:pt x="257175" y="0"/>
                </a:lnTo>
                <a:lnTo>
                  <a:pt x="342900" y="85725"/>
                </a:lnTo>
                <a:lnTo>
                  <a:pt x="342900" y="295275"/>
                </a:lnTo>
                <a:lnTo>
                  <a:pt x="0" y="295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5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3C9DB7D-6BDC-400B-BBA3-E55E6C2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7363" y="6238875"/>
            <a:ext cx="85725" cy="85725"/>
          </a:xfrm>
          <a:custGeom xmlns:a="http://schemas.openxmlformats.org/drawingml/2006/main">
            <a:pathLst>
              <a:path w="85725" h="85725">
                <a:moveTo>
                  <a:pt x="0" y="0"/>
                </a:moveTo>
                <a:lnTo>
                  <a:pt x="0" y="85725"/>
                </a:lnTo>
                <a:lnTo>
                  <a:pt x="85725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2467A97-F057-4E4D-8317-DE1A3196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8768" y="6342221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380F5C5-DA6F-45D7-A90E-6E07ED07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8768" y="6392418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5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F0C53BD-2FB0-4398-A229-D5983461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8768" y="6442615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0" name="Evidence assessment input">
            <a:extLst xmlns:a="http://schemas.openxmlformats.org/drawingml/2006/main">
              <a:ext uri="{FF2B5EF4-FFF2-40B4-BE49-F238E27FC236}">
                <a16:creationId xmlns:a16="http://schemas.microsoft.com/office/drawing/2014/main" id="{1819F9D9-ED97-4F89-8F61-9E4E84A6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619750"/>
            <a:ext cx="14668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1" name="Model">
            <a:extLst xmlns:a="http://schemas.openxmlformats.org/drawingml/2006/main">
              <a:ext uri="{FF2B5EF4-FFF2-40B4-BE49-F238E27FC236}">
                <a16:creationId xmlns:a16="http://schemas.microsoft.com/office/drawing/2014/main" id="{D811C8F5-2E46-4B79-AB9D-F3B98D9A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5575" y="5719572"/>
            <a:ext cx="1314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62" name="assumptions">
            <a:extLst xmlns:a="http://schemas.openxmlformats.org/drawingml/2006/main">
              <a:ext uri="{FF2B5EF4-FFF2-40B4-BE49-F238E27FC236}">
                <a16:creationId xmlns:a16="http://schemas.microsoft.com/office/drawing/2014/main" id="{88C819C1-20C3-4C94-86FD-C7708392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5575" y="5962650"/>
            <a:ext cx="1314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assumptions</a:t>
            </a:r>
          </a:p>
        </p:txBody>
      </p:sp>
      <p:sp>
        <p:nvSpPr>
          <p:cNvPr id="163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70B27678-DEA9-40BC-AF98-51F951AB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350" y="6238875"/>
            <a:ext cx="342900" cy="295275"/>
          </a:xfrm>
          <a:custGeom xmlns:a="http://schemas.openxmlformats.org/drawingml/2006/main">
            <a:pathLst>
              <a:path w="342900" h="295275">
                <a:moveTo>
                  <a:pt x="0" y="0"/>
                </a:moveTo>
                <a:lnTo>
                  <a:pt x="257175" y="0"/>
                </a:lnTo>
                <a:lnTo>
                  <a:pt x="342900" y="85725"/>
                </a:lnTo>
                <a:lnTo>
                  <a:pt x="342900" y="295275"/>
                </a:lnTo>
                <a:lnTo>
                  <a:pt x="0" y="295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6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1D4F6C7C-5CD6-4B36-A759-0FCC663B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8525" y="6238875"/>
            <a:ext cx="85725" cy="85725"/>
          </a:xfrm>
          <a:custGeom xmlns:a="http://schemas.openxmlformats.org/drawingml/2006/main">
            <a:pathLst>
              <a:path w="85725" h="85725">
                <a:moveTo>
                  <a:pt x="0" y="0"/>
                </a:moveTo>
                <a:lnTo>
                  <a:pt x="0" y="85725"/>
                </a:lnTo>
                <a:lnTo>
                  <a:pt x="85725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82978CC9-3A35-42C2-91BB-A3E02F22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9930" y="6342221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CD5D84C-2FC3-4CCE-9856-DA90F4DF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9930" y="6392418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F2CEEAE-B21E-408B-8583-EDB65036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9930" y="6442615"/>
            <a:ext cx="188595" cy="9525"/>
          </a:xfrm>
          <a:custGeom xmlns:a="http://schemas.openxmlformats.org/drawingml/2006/main">
            <a:pathLst>
              <a:path w="188595" h="9525">
                <a:moveTo>
                  <a:pt x="0" y="0"/>
                </a:moveTo>
                <a:lnTo>
                  <a:pt x="1885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6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DD54352-33A5-41CF-B893-69F391C9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619875"/>
            <a:ext cx="3390900" cy="180975"/>
          </a:xfrm>
          <a:custGeom xmlns:a="http://schemas.openxmlformats.org/drawingml/2006/main">
            <a:pathLst>
              <a:path w="3390900" h="180975">
                <a:moveTo>
                  <a:pt x="0" y="0"/>
                </a:moveTo>
                <a:lnTo>
                  <a:pt x="0" y="180975"/>
                </a:lnTo>
                <a:lnTo>
                  <a:pt x="3390900" y="180975"/>
                </a:lnTo>
                <a:lnTo>
                  <a:pt x="3390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6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D900176-9797-4058-B7B2-D8D288C3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6800850"/>
            <a:ext cx="9525" cy="228600"/>
          </a:xfrm>
          <a:custGeom xmlns:a="http://schemas.openxmlformats.org/drawingml/2006/main">
            <a:pathLst>
              <a:path w="952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7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17C76B2-A8E0-42ED-8227-6AAF1EA5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69151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71" name="Assess evidence">
            <a:extLst xmlns:a="http://schemas.openxmlformats.org/drawingml/2006/main">
              <a:ext uri="{FF2B5EF4-FFF2-40B4-BE49-F238E27FC236}">
                <a16:creationId xmlns:a16="http://schemas.microsoft.com/office/drawing/2014/main" id="{D60A16CB-B7E9-406D-942A-7DC202EC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7625" y="7038975"/>
            <a:ext cx="342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2" name="Assess coverage and limits">
            <a:extLst xmlns:a="http://schemas.openxmlformats.org/drawingml/2006/main">
              <a:ext uri="{FF2B5EF4-FFF2-40B4-BE49-F238E27FC236}">
                <a16:creationId xmlns:a16="http://schemas.microsoft.com/office/drawing/2014/main" id="{0E0F3E5A-1D87-4B8A-8303-7DD522E5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2875" y="7211949"/>
            <a:ext cx="32385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Assess coverage and limits</a:t>
            </a:r>
          </a:p>
        </p:txBody>
      </p:sp>
      <p:sp>
        <p:nvSpPr>
          <p:cNvPr id="173" name="Research goal">
            <a:extLst xmlns:a="http://schemas.openxmlformats.org/drawingml/2006/main">
              <a:ext uri="{FF2B5EF4-FFF2-40B4-BE49-F238E27FC236}">
                <a16:creationId xmlns:a16="http://schemas.microsoft.com/office/drawing/2014/main" id="{0B4729FB-9535-4EAC-A529-E92C004E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953375"/>
            <a:ext cx="1232535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4" name="Goal: reusable, independently checked software evidence">
            <a:extLst xmlns:a="http://schemas.openxmlformats.org/drawingml/2006/main">
              <a:ext uri="{FF2B5EF4-FFF2-40B4-BE49-F238E27FC236}">
                <a16:creationId xmlns:a16="http://schemas.microsoft.com/office/drawing/2014/main" id="{8A138656-998E-4273-AD65-77922809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8035290"/>
            <a:ext cx="12020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Goal: reusable, independently checked software evidence</a:t>
            </a:r>
          </a:p>
        </p:txBody>
      </p:sp>
      <p:sp>
        <p:nvSpPr>
          <p:cNvPr id="175" name="Every guarantee is limited by the approved property, model, assumptions, and tru">
            <a:extLst xmlns:a="http://schemas.openxmlformats.org/drawingml/2006/main">
              <a:ext uri="{FF2B5EF4-FFF2-40B4-BE49-F238E27FC236}">
                <a16:creationId xmlns:a16="http://schemas.microsoft.com/office/drawing/2014/main" id="{97EB0BD0-8955-47A6-9AEB-DD1318C6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542211"/>
            <a:ext cx="151638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Every guarantee is limited by the approved property, model, assumptions, and trusted checking.</a:t>
            </a:r>
          </a:p>
        </p:txBody>
      </p:sp>
    </p:spTree>
    <p:extLst>
      <p:ext uri="{BB962C8B-B14F-4D97-AF65-F5344CB8AC3E}">
        <p14:creationId xmlns:p14="http://schemas.microsoft.com/office/powerpoint/2010/main" val="1044883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Learning Reusable Proof Strategies">
            <a:extLst xmlns:a="http://schemas.openxmlformats.org/drawingml/2006/main">
              <a:ext uri="{FF2B5EF4-FFF2-40B4-BE49-F238E27FC236}">
                <a16:creationId xmlns:a16="http://schemas.microsoft.com/office/drawing/2014/main" id="{4E669F70-9088-4F84-8840-96B3C126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7348"/>
            <a:ext cx="13735050" cy="508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Reusable Proof Strategies</a:t>
            </a:r>
          </a:p>
        </p:txBody>
      </p:sp>
      <p:sp>
        <p:nvSpPr>
          <p:cNvPr id="2" name="What transfers from training to unfamiliar programs?">
            <a:extLst xmlns:a="http://schemas.openxmlformats.org/drawingml/2006/main">
              <a:ext uri="{FF2B5EF4-FFF2-40B4-BE49-F238E27FC236}">
                <a16:creationId xmlns:a16="http://schemas.microsoft.com/office/drawing/2014/main" id="{01EB21BB-4DE3-448E-A08A-1006435F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3715"/>
            <a:ext cx="130683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transfers from training to unfamiliar programs?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4D8B0E90-BB1B-4B69-92EA-A3BB98A3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17361"/>
            <a:ext cx="2190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Proposed research</a:t>
            </a:r>
          </a:p>
        </p:txBody>
      </p:sp>
      <p:sp>
        <p:nvSpPr>
          <p:cNvPr id="4" name="Code and test harness">
            <a:extLst xmlns:a="http://schemas.openxmlformats.org/drawingml/2006/main">
              <a:ext uri="{FF2B5EF4-FFF2-40B4-BE49-F238E27FC236}">
                <a16:creationId xmlns:a16="http://schemas.microsoft.com/office/drawing/2014/main" id="{8BC1E2E7-4696-44F7-8DAA-076EAD6D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476375"/>
            <a:ext cx="2381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Code and">
            <a:extLst xmlns:a="http://schemas.openxmlformats.org/drawingml/2006/main">
              <a:ext uri="{FF2B5EF4-FFF2-40B4-BE49-F238E27FC236}">
                <a16:creationId xmlns:a16="http://schemas.microsoft.com/office/drawing/2014/main" id="{209B1651-42D5-44AA-9623-0FB98DF6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54112"/>
            <a:ext cx="13906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Code and</a:t>
            </a:r>
          </a:p>
        </p:txBody>
      </p:sp>
      <p:sp>
        <p:nvSpPr>
          <p:cNvPr id="6" name="test harness">
            <a:extLst xmlns:a="http://schemas.openxmlformats.org/drawingml/2006/main">
              <a:ext uri="{FF2B5EF4-FFF2-40B4-BE49-F238E27FC236}">
                <a16:creationId xmlns:a16="http://schemas.microsoft.com/office/drawing/2014/main" id="{494D1D20-1702-4B70-BCFB-81C40B40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19288"/>
            <a:ext cx="13906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 harness</a:t>
            </a:r>
          </a:p>
        </p:txBody>
      </p:sp>
      <p:sp>
        <p:nvSpPr>
          <p:cNvPr id="7" name="Approved property">
            <a:extLst xmlns:a="http://schemas.openxmlformats.org/drawingml/2006/main">
              <a:ext uri="{FF2B5EF4-FFF2-40B4-BE49-F238E27FC236}">
                <a16:creationId xmlns:a16="http://schemas.microsoft.com/office/drawing/2014/main" id="{11D662A9-434C-4C63-86CB-3837DC13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76375"/>
            <a:ext cx="2476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" name="Approved">
            <a:extLst xmlns:a="http://schemas.openxmlformats.org/drawingml/2006/main">
              <a:ext uri="{FF2B5EF4-FFF2-40B4-BE49-F238E27FC236}">
                <a16:creationId xmlns:a16="http://schemas.microsoft.com/office/drawing/2014/main" id="{E1575F67-E288-488E-9999-02BBC2A9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54112"/>
            <a:ext cx="14859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9" name="property">
            <a:extLst xmlns:a="http://schemas.openxmlformats.org/drawingml/2006/main">
              <a:ext uri="{FF2B5EF4-FFF2-40B4-BE49-F238E27FC236}">
                <a16:creationId xmlns:a16="http://schemas.microsoft.com/office/drawing/2014/main" id="{B2AE89E7-6BA8-4F6C-966D-1BEA3D4D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19288"/>
            <a:ext cx="14859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property</a:t>
            </a:r>
          </a:p>
        </p:txBody>
      </p:sp>
      <p:sp>
        <p:nvSpPr>
          <p:cNvPr id="10" name="Propose proof artifacts">
            <a:extLst xmlns:a="http://schemas.openxmlformats.org/drawingml/2006/main">
              <a:ext uri="{FF2B5EF4-FFF2-40B4-BE49-F238E27FC236}">
                <a16:creationId xmlns:a16="http://schemas.microsoft.com/office/drawing/2014/main" id="{F1200819-DFEE-44ED-8A09-481598CB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76375"/>
            <a:ext cx="2667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" name="Propose proof">
            <a:extLst xmlns:a="http://schemas.openxmlformats.org/drawingml/2006/main">
              <a:ext uri="{FF2B5EF4-FFF2-40B4-BE49-F238E27FC236}">
                <a16:creationId xmlns:a16="http://schemas.microsoft.com/office/drawing/2014/main" id="{7F0E0EE6-A2BC-4E38-BB1F-E3F88D76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54112"/>
            <a:ext cx="16764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 proof</a:t>
            </a:r>
          </a:p>
        </p:txBody>
      </p:sp>
      <p:sp>
        <p:nvSpPr>
          <p:cNvPr id="12" name="artifacts">
            <a:extLst xmlns:a="http://schemas.openxmlformats.org/drawingml/2006/main">
              <a:ext uri="{FF2B5EF4-FFF2-40B4-BE49-F238E27FC236}">
                <a16:creationId xmlns:a16="http://schemas.microsoft.com/office/drawing/2014/main" id="{D9340E7F-E770-4FF0-914A-98BCD039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19288"/>
            <a:ext cx="16764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artifacts</a:t>
            </a:r>
          </a:p>
        </p:txBody>
      </p:sp>
      <p:sp>
        <p:nvSpPr>
          <p:cNvPr id="13" name="Verification tools">
            <a:extLst xmlns:a="http://schemas.openxmlformats.org/drawingml/2006/main">
              <a:ext uri="{FF2B5EF4-FFF2-40B4-BE49-F238E27FC236}">
                <a16:creationId xmlns:a16="http://schemas.microsoft.com/office/drawing/2014/main" id="{6D906893-BA06-4805-9D2F-E271F08B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476375"/>
            <a:ext cx="23336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4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036D5177-0282-44CC-A91D-4A0B5AAE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1654112"/>
            <a:ext cx="13430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15" name="tools">
            <a:extLst xmlns:a="http://schemas.openxmlformats.org/drawingml/2006/main">
              <a:ext uri="{FF2B5EF4-FFF2-40B4-BE49-F238E27FC236}">
                <a16:creationId xmlns:a16="http://schemas.microsoft.com/office/drawing/2014/main" id="{412BC9BB-7F74-4D56-B62D-940C1BE8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1919288"/>
            <a:ext cx="1343025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tools</a:t>
            </a:r>
          </a:p>
        </p:txBody>
      </p:sp>
      <p:sp>
        <p:nvSpPr>
          <p:cNvPr id="16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30BB9DEF-4073-49FE-B6BA-8E51103F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419100" cy="581025"/>
          </a:xfrm>
          <a:custGeom xmlns:a="http://schemas.openxmlformats.org/drawingml/2006/main">
            <a:pathLst>
              <a:path w="419100" h="581025">
                <a:moveTo>
                  <a:pt x="0" y="0"/>
                </a:moveTo>
                <a:lnTo>
                  <a:pt x="314325" y="0"/>
                </a:lnTo>
                <a:lnTo>
                  <a:pt x="419100" y="104775"/>
                </a:lnTo>
                <a:lnTo>
                  <a:pt x="419100" y="581025"/>
                </a:lnTo>
                <a:lnTo>
                  <a:pt x="0" y="5810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4C3AFD9-943B-4A7D-A3C6-0DA1B4CA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104775" cy="104775"/>
          </a:xfrm>
          <a:custGeom xmlns:a="http://schemas.openxmlformats.org/drawingml/2006/main">
            <a:pathLst>
              <a:path w="104775" h="104775">
                <a:moveTo>
                  <a:pt x="0" y="0"/>
                </a:moveTo>
                <a:lnTo>
                  <a:pt x="0" y="104775"/>
                </a:lnTo>
                <a:lnTo>
                  <a:pt x="104775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6B19BD0-F5E8-442D-8829-2560EA15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" y="2013109"/>
            <a:ext cx="230505" cy="9525"/>
          </a:xfrm>
          <a:custGeom xmlns:a="http://schemas.openxmlformats.org/drawingml/2006/main">
            <a:pathLst>
              <a:path w="230505" h="9525">
                <a:moveTo>
                  <a:pt x="0" y="0"/>
                </a:moveTo>
                <a:lnTo>
                  <a:pt x="2305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E3AC2E8D-A45D-4115-8420-B34AA744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" y="2111883"/>
            <a:ext cx="230505" cy="9525"/>
          </a:xfrm>
          <a:custGeom xmlns:a="http://schemas.openxmlformats.org/drawingml/2006/main">
            <a:pathLst>
              <a:path w="230505" h="9525">
                <a:moveTo>
                  <a:pt x="0" y="0"/>
                </a:moveTo>
                <a:lnTo>
                  <a:pt x="2305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AF0A29D-BD10-457D-8E5C-DF77ED76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" y="2210657"/>
            <a:ext cx="230505" cy="9525"/>
          </a:xfrm>
          <a:custGeom xmlns:a="http://schemas.openxmlformats.org/drawingml/2006/main">
            <a:pathLst>
              <a:path w="230505" h="9525">
                <a:moveTo>
                  <a:pt x="0" y="0"/>
                </a:moveTo>
                <a:lnTo>
                  <a:pt x="2305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1" name="Existing software">
            <a:extLst xmlns:a="http://schemas.openxmlformats.org/drawingml/2006/main">
              <a:ext uri="{FF2B5EF4-FFF2-40B4-BE49-F238E27FC236}">
                <a16:creationId xmlns:a16="http://schemas.microsoft.com/office/drawing/2014/main" id="{CF86483B-65F9-4331-9D57-9E3DEDA8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27173"/>
            <a:ext cx="202882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Existing software</a:t>
            </a:r>
          </a:p>
        </p:txBody>
      </p:sp>
      <p:sp>
        <p:nvSpPr>
          <p:cNvPr id="22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1C1EC4EF-E8C9-478A-9281-543D0CEC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809750"/>
            <a:ext cx="409575" cy="581025"/>
          </a:xfrm>
          <a:custGeom xmlns:a="http://schemas.openxmlformats.org/drawingml/2006/main">
            <a:pathLst>
              <a:path w="409575" h="581025">
                <a:moveTo>
                  <a:pt x="0" y="0"/>
                </a:moveTo>
                <a:lnTo>
                  <a:pt x="307181" y="0"/>
                </a:lnTo>
                <a:lnTo>
                  <a:pt x="409575" y="102394"/>
                </a:lnTo>
                <a:lnTo>
                  <a:pt x="409575" y="581025"/>
                </a:lnTo>
                <a:lnTo>
                  <a:pt x="0" y="5810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6E5F705-84E6-4467-A891-A2BA8D97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6706" y="1809750"/>
            <a:ext cx="102394" cy="102394"/>
          </a:xfrm>
          <a:custGeom xmlns:a="http://schemas.openxmlformats.org/drawingml/2006/main">
            <a:pathLst>
              <a:path w="102394" h="102394">
                <a:moveTo>
                  <a:pt x="0" y="0"/>
                </a:moveTo>
                <a:lnTo>
                  <a:pt x="0" y="102394"/>
                </a:lnTo>
                <a:lnTo>
                  <a:pt x="102394" y="102394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BA6A12F-4B85-40DB-8135-D4BAB8BE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440" y="2013109"/>
            <a:ext cx="225266" cy="9525"/>
          </a:xfrm>
          <a:custGeom xmlns:a="http://schemas.openxmlformats.org/drawingml/2006/main">
            <a:pathLst>
              <a:path w="225266" h="9525">
                <a:moveTo>
                  <a:pt x="0" y="0"/>
                </a:moveTo>
                <a:lnTo>
                  <a:pt x="2252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997EBA1-559C-4366-B673-35A77A1C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440" y="2111883"/>
            <a:ext cx="225266" cy="9525"/>
          </a:xfrm>
          <a:custGeom xmlns:a="http://schemas.openxmlformats.org/drawingml/2006/main">
            <a:pathLst>
              <a:path w="225266" h="9525">
                <a:moveTo>
                  <a:pt x="0" y="0"/>
                </a:moveTo>
                <a:lnTo>
                  <a:pt x="2252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2E937CD-390A-4022-AFCF-92738014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440" y="2210657"/>
            <a:ext cx="225266" cy="9525"/>
          </a:xfrm>
          <a:custGeom xmlns:a="http://schemas.openxmlformats.org/drawingml/2006/main">
            <a:pathLst>
              <a:path w="225266" h="9525">
                <a:moveTo>
                  <a:pt x="0" y="0"/>
                </a:moveTo>
                <a:lnTo>
                  <a:pt x="2252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27" name="Domain and model">
            <a:extLst xmlns:a="http://schemas.openxmlformats.org/drawingml/2006/main">
              <a:ext uri="{FF2B5EF4-FFF2-40B4-BE49-F238E27FC236}">
                <a16:creationId xmlns:a16="http://schemas.microsoft.com/office/drawing/2014/main" id="{4A1403CF-FA76-463B-BD59-00BC1071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27173"/>
            <a:ext cx="21717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Domain and model</a:t>
            </a:r>
          </a:p>
        </p:txBody>
      </p:sp>
      <p:sp>
        <p:nvSpPr>
          <p:cNvPr id="28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168C1C50-2B4D-4557-8C27-06FD52FE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09750"/>
            <a:ext cx="428625" cy="514350"/>
          </a:xfrm>
          <a:custGeom xmlns:a="http://schemas.openxmlformats.org/drawingml/2006/main">
            <a:pathLst>
              <a:path w="428625" h="514350">
                <a:moveTo>
                  <a:pt x="0" y="0"/>
                </a:moveTo>
                <a:lnTo>
                  <a:pt x="321469" y="0"/>
                </a:lnTo>
                <a:lnTo>
                  <a:pt x="428625" y="107156"/>
                </a:lnTo>
                <a:lnTo>
                  <a:pt x="428625" y="514350"/>
                </a:lnTo>
                <a:lnTo>
                  <a:pt x="0" y="5143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2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84F201E-D6E6-4DE4-A089-FA127FFD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019" y="1809750"/>
            <a:ext cx="107156" cy="107156"/>
          </a:xfrm>
          <a:custGeom xmlns:a="http://schemas.openxmlformats.org/drawingml/2006/main">
            <a:pathLst>
              <a:path w="107156" h="107156">
                <a:moveTo>
                  <a:pt x="0" y="0"/>
                </a:moveTo>
                <a:lnTo>
                  <a:pt x="0" y="107156"/>
                </a:lnTo>
                <a:lnTo>
                  <a:pt x="107156" y="107156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22A6A52-0595-41B3-89C1-217FA289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89773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3544404-3E6E-4F6B-B425-56222429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77212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DB52BF1-A7AE-4E6E-8174-B694C1BA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164652"/>
            <a:ext cx="235744" cy="9525"/>
          </a:xfrm>
          <a:custGeom xmlns:a="http://schemas.openxmlformats.org/drawingml/2006/main">
            <a:pathLst>
              <a:path w="235744" h="9525">
                <a:moveTo>
                  <a:pt x="0" y="0"/>
                </a:moveTo>
                <a:lnTo>
                  <a:pt x="2357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3" name="Invariants, contracts,">
            <a:extLst xmlns:a="http://schemas.openxmlformats.org/drawingml/2006/main">
              <a:ext uri="{FF2B5EF4-FFF2-40B4-BE49-F238E27FC236}">
                <a16:creationId xmlns:a16="http://schemas.microsoft.com/office/drawing/2014/main" id="{7290ADCB-1F01-41DD-950D-78D719BF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347722"/>
            <a:ext cx="23812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Invariants, contracts,</a:t>
            </a:r>
          </a:p>
        </p:txBody>
      </p:sp>
      <p:sp>
        <p:nvSpPr>
          <p:cNvPr id="34" name="and lemmas">
            <a:extLst xmlns:a="http://schemas.openxmlformats.org/drawingml/2006/main">
              <a:ext uri="{FF2B5EF4-FFF2-40B4-BE49-F238E27FC236}">
                <a16:creationId xmlns:a16="http://schemas.microsoft.com/office/drawing/2014/main" id="{FC4E962C-B519-4DB9-A664-F664ABCC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590800"/>
            <a:ext cx="23812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lemmas</a:t>
            </a:r>
          </a:p>
        </p:txBody>
      </p:sp>
      <p:sp>
        <p:nvSpPr>
          <p:cNvPr id="35" name="Editable magnifier lens">
            <a:extLst xmlns:a="http://schemas.openxmlformats.org/drawingml/2006/main">
              <a:ext uri="{FF2B5EF4-FFF2-40B4-BE49-F238E27FC236}">
                <a16:creationId xmlns:a16="http://schemas.microsoft.com/office/drawing/2014/main" id="{2B8ED170-7ECA-4641-B13F-61EEB452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1790700"/>
            <a:ext cx="371475" cy="371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111111"/>
            </a:solidFill>
            <a:prstDash val="solid"/>
          </a:ln>
        </p:spPr>
      </p:sp>
      <p:sp>
        <p:nvSpPr>
          <p:cNvPr id="36" name="Editable magnifier handle">
            <a:extLst xmlns:a="http://schemas.openxmlformats.org/drawingml/2006/main">
              <a:ext uri="{FF2B5EF4-FFF2-40B4-BE49-F238E27FC236}">
                <a16:creationId xmlns:a16="http://schemas.microsoft.com/office/drawing/2014/main" id="{6E4A95E9-2E21-4322-8DDE-F762410C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349" y="2099024"/>
            <a:ext cx="193167" cy="193167"/>
          </a:xfrm>
          <a:custGeom xmlns:a="http://schemas.openxmlformats.org/drawingml/2006/main">
            <a:pathLst>
              <a:path w="193167" h="193167">
                <a:moveTo>
                  <a:pt x="0" y="0"/>
                </a:moveTo>
                <a:lnTo>
                  <a:pt x="193167" y="193167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1111"/>
            </a:solidFill>
            <a:prstDash val="solid"/>
          </a:ln>
        </p:spPr>
      </p:sp>
      <p:sp>
        <p:nvSpPr>
          <p:cNvPr id="37" name="Proof checks">
            <a:extLst xmlns:a="http://schemas.openxmlformats.org/drawingml/2006/main">
              <a:ext uri="{FF2B5EF4-FFF2-40B4-BE49-F238E27FC236}">
                <a16:creationId xmlns:a16="http://schemas.microsoft.com/office/drawing/2014/main" id="{F48B8091-0FA4-4515-947F-04F598B2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347722"/>
            <a:ext cx="21145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 checks</a:t>
            </a:r>
          </a:p>
        </p:txBody>
      </p:sp>
      <p:sp>
        <p:nvSpPr>
          <p:cNvPr id="38" name="and diagnostics">
            <a:extLst xmlns:a="http://schemas.openxmlformats.org/drawingml/2006/main">
              <a:ext uri="{FF2B5EF4-FFF2-40B4-BE49-F238E27FC236}">
                <a16:creationId xmlns:a16="http://schemas.microsoft.com/office/drawing/2014/main" id="{B93E5F8D-FFB3-4E5A-A38B-A08A0A36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590800"/>
            <a:ext cx="21145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diagnostics</a:t>
            </a:r>
          </a:p>
        </p:txBody>
      </p:sp>
      <p:sp>
        <p:nvSpPr>
          <p:cNvPr id="3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5BA435FE-D5D4-411E-A34C-6D052EB9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52650"/>
            <a:ext cx="952500" cy="9525"/>
          </a:xfrm>
          <a:custGeom xmlns:a="http://schemas.openxmlformats.org/drawingml/2006/main">
            <a:pathLst>
              <a:path w="952500" h="9525">
                <a:moveTo>
                  <a:pt x="0" y="0"/>
                </a:moveTo>
                <a:lnTo>
                  <a:pt x="952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B5F65F7-AC41-4EED-85D9-CC6D1440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050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518BBAE-B41D-4446-894A-32AA0481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52650"/>
            <a:ext cx="762000" cy="9525"/>
          </a:xfrm>
          <a:custGeom xmlns:a="http://schemas.openxmlformats.org/drawingml/2006/main"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321A324B-F5FA-4A60-B78A-FF7C8604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050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CFBDD76-4B43-40A0-ADC3-29707AB8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52650"/>
            <a:ext cx="762000" cy="9525"/>
          </a:xfrm>
          <a:custGeom xmlns:a="http://schemas.openxmlformats.org/drawingml/2006/main"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ABE0DE39-DCAF-4E6B-8EEA-A496F40D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1050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380BD08-9A6A-46AC-A0F5-75DB955A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2152650"/>
            <a:ext cx="238125" cy="9525"/>
          </a:xfrm>
          <a:custGeom xmlns:a="http://schemas.openxmlformats.org/drawingml/2006/main">
            <a:pathLst>
              <a:path w="238125" h="9525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6" name="Distinct verification outcome">
            <a:extLst xmlns:a="http://schemas.openxmlformats.org/drawingml/2006/main">
              <a:ext uri="{FF2B5EF4-FFF2-40B4-BE49-F238E27FC236}">
                <a16:creationId xmlns:a16="http://schemas.microsoft.com/office/drawing/2014/main" id="{707FF498-A5FE-4915-995C-D435F321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1200150"/>
            <a:ext cx="2428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7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A989E990-9E9B-4F8B-8B2B-71B5C73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1352550"/>
            <a:ext cx="200025" cy="180023"/>
          </a:xfrm>
          <a:custGeom xmlns:a="http://schemas.openxmlformats.org/drawingml/2006/main">
            <a:pathLst>
              <a:path w="200025" h="180023">
                <a:moveTo>
                  <a:pt x="0" y="110014"/>
                </a:moveTo>
                <a:lnTo>
                  <a:pt x="70009" y="180023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48" name="Proof checked">
            <a:extLst xmlns:a="http://schemas.openxmlformats.org/drawingml/2006/main">
              <a:ext uri="{FF2B5EF4-FFF2-40B4-BE49-F238E27FC236}">
                <a16:creationId xmlns:a16="http://schemas.microsoft.com/office/drawing/2014/main" id="{29FE23F5-6BBB-445C-9809-0F60F772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1326261"/>
            <a:ext cx="18478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 checked</a:t>
            </a:r>
          </a:p>
        </p:txBody>
      </p:sp>
      <p:sp>
        <p:nvSpPr>
          <p:cNvPr id="4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352E65D-D937-44FF-8F97-F8423225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1447800"/>
            <a:ext cx="381000" cy="704850"/>
          </a:xfrm>
          <a:custGeom xmlns:a="http://schemas.openxmlformats.org/drawingml/2006/main">
            <a:pathLst>
              <a:path w="381000" h="704850">
                <a:moveTo>
                  <a:pt x="0" y="70485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53FE48AE-6B96-49C1-BF7F-D219365E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450" y="14001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1" name="Distinct verification outcome">
            <a:extLst xmlns:a="http://schemas.openxmlformats.org/drawingml/2006/main">
              <a:ext uri="{FF2B5EF4-FFF2-40B4-BE49-F238E27FC236}">
                <a16:creationId xmlns:a16="http://schemas.microsoft.com/office/drawing/2014/main" id="{65BA8C4B-B7B1-483E-9F21-E5786992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1771650"/>
            <a:ext cx="2428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2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BB172ADB-0ECB-4E4F-AA93-D68DDE60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1924050"/>
            <a:ext cx="190500" cy="190500"/>
          </a:xfrm>
          <a:custGeom xmlns:a="http://schemas.openxmlformats.org/drawingml/2006/main"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3" name="Editable cross">
            <a:extLst xmlns:a="http://schemas.openxmlformats.org/drawingml/2006/main">
              <a:ext uri="{FF2B5EF4-FFF2-40B4-BE49-F238E27FC236}">
                <a16:creationId xmlns:a16="http://schemas.microsoft.com/office/drawing/2014/main" id="{DE7D8F13-ECED-438D-ABA0-DA7C4E2D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1924050"/>
            <a:ext cx="190500" cy="190500"/>
          </a:xfrm>
          <a:custGeom xmlns:a="http://schemas.openxmlformats.org/drawingml/2006/main">
            <a:pathLst>
              <a:path w="190500" h="190500"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54" name="Proof rejected">
            <a:extLst xmlns:a="http://schemas.openxmlformats.org/drawingml/2006/main">
              <a:ext uri="{FF2B5EF4-FFF2-40B4-BE49-F238E27FC236}">
                <a16:creationId xmlns:a16="http://schemas.microsoft.com/office/drawing/2014/main" id="{4765DCBC-B08D-448E-B9BF-4F47794A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1897761"/>
            <a:ext cx="18478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 rejected</a:t>
            </a:r>
          </a:p>
        </p:txBody>
      </p:sp>
      <p:sp>
        <p:nvSpPr>
          <p:cNvPr id="5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F22614F-8D65-481B-B06D-60BC5630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019300"/>
            <a:ext cx="381000" cy="133350"/>
          </a:xfrm>
          <a:custGeom xmlns:a="http://schemas.openxmlformats.org/drawingml/2006/main">
            <a:pathLst>
              <a:path w="381000" h="133350">
                <a:moveTo>
                  <a:pt x="0" y="13335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D52DF20-62B1-4C3D-89C2-6A85D39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450" y="1971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7" name="Distinct verification outcome">
            <a:extLst xmlns:a="http://schemas.openxmlformats.org/drawingml/2006/main">
              <a:ext uri="{FF2B5EF4-FFF2-40B4-BE49-F238E27FC236}">
                <a16:creationId xmlns:a16="http://schemas.microsoft.com/office/drawing/2014/main" id="{1CB660F0-A381-49FA-823E-D1D62D40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2343150"/>
            <a:ext cx="2428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8" name="!">
            <a:extLst xmlns:a="http://schemas.openxmlformats.org/drawingml/2006/main">
              <a:ext uri="{FF2B5EF4-FFF2-40B4-BE49-F238E27FC236}">
                <a16:creationId xmlns:a16="http://schemas.microsoft.com/office/drawing/2014/main" id="{3D039B56-6B58-4759-9433-E16CDCE0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15950" y="2425065"/>
            <a:ext cx="3238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59" name="Valid">
            <a:extLst xmlns:a="http://schemas.openxmlformats.org/drawingml/2006/main">
              <a:ext uri="{FF2B5EF4-FFF2-40B4-BE49-F238E27FC236}">
                <a16:creationId xmlns:a16="http://schemas.microsoft.com/office/drawing/2014/main" id="{5C32601A-AE24-499E-8148-A453D053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358771"/>
            <a:ext cx="18478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Valid</a:t>
            </a:r>
          </a:p>
        </p:txBody>
      </p:sp>
      <p:sp>
        <p:nvSpPr>
          <p:cNvPr id="60" name="counterexample">
            <a:extLst xmlns:a="http://schemas.openxmlformats.org/drawingml/2006/main">
              <a:ext uri="{FF2B5EF4-FFF2-40B4-BE49-F238E27FC236}">
                <a16:creationId xmlns:a16="http://schemas.microsoft.com/office/drawing/2014/main" id="{7300F33C-C50C-4DD0-92E4-4D0E81AD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590800"/>
            <a:ext cx="18478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counterexample</a:t>
            </a:r>
          </a:p>
        </p:txBody>
      </p:sp>
      <p:sp>
        <p:nvSpPr>
          <p:cNvPr id="6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E46307D-6244-41C0-816C-2C54925F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152650"/>
            <a:ext cx="381000" cy="438150"/>
          </a:xfrm>
          <a:custGeom xmlns:a="http://schemas.openxmlformats.org/drawingml/2006/main">
            <a:pathLst>
              <a:path w="381000" h="438150">
                <a:moveTo>
                  <a:pt x="0" y="0"/>
                </a:moveTo>
                <a:lnTo>
                  <a:pt x="0" y="438150"/>
                </a:lnTo>
                <a:lnTo>
                  <a:pt x="381000" y="4381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2F150096-54E3-48DE-838C-890E02E8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450" y="25431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3" name="Distinct verification outcome">
            <a:extLst xmlns:a="http://schemas.openxmlformats.org/drawingml/2006/main">
              <a:ext uri="{FF2B5EF4-FFF2-40B4-BE49-F238E27FC236}">
                <a16:creationId xmlns:a16="http://schemas.microsoft.com/office/drawing/2014/main" id="{ED08D7A0-DE00-4579-800E-5FCD8B27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2914650"/>
            <a:ext cx="2428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4" name="?">
            <a:extLst xmlns:a="http://schemas.openxmlformats.org/drawingml/2006/main">
              <a:ext uri="{FF2B5EF4-FFF2-40B4-BE49-F238E27FC236}">
                <a16:creationId xmlns:a16="http://schemas.microsoft.com/office/drawing/2014/main" id="{58EE4A79-72A6-4B95-B81C-E55A1C27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15950" y="2996565"/>
            <a:ext cx="3238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65" name="Unknown / timeout">
            <a:extLst xmlns:a="http://schemas.openxmlformats.org/drawingml/2006/main">
              <a:ext uri="{FF2B5EF4-FFF2-40B4-BE49-F238E27FC236}">
                <a16:creationId xmlns:a16="http://schemas.microsoft.com/office/drawing/2014/main" id="{E1F0B4A6-C819-4D28-A36A-EBA73080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3040761"/>
            <a:ext cx="18478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Unknown / timeout</a:t>
            </a:r>
          </a:p>
        </p:txBody>
      </p:sp>
      <p:sp>
        <p:nvSpPr>
          <p:cNvPr id="6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163832B-3607-43F2-BAEF-CB8D02C6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152650"/>
            <a:ext cx="381000" cy="1009650"/>
          </a:xfrm>
          <a:custGeom xmlns:a="http://schemas.openxmlformats.org/drawingml/2006/main">
            <a:pathLst>
              <a:path w="381000" h="1009650">
                <a:moveTo>
                  <a:pt x="0" y="0"/>
                </a:moveTo>
                <a:lnTo>
                  <a:pt x="0" y="1009650"/>
                </a:lnTo>
                <a:lnTo>
                  <a:pt x="381000" y="1009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4436C12-142B-48AB-BBD8-34857245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450" y="3114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4A44859-223E-4967-8A23-CDF79F18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52650"/>
            <a:ext cx="4667250" cy="1543050"/>
          </a:xfrm>
          <a:custGeom xmlns:a="http://schemas.openxmlformats.org/drawingml/2006/main">
            <a:pathLst>
              <a:path w="4667250" h="1543050">
                <a:moveTo>
                  <a:pt x="4667250" y="0"/>
                </a:moveTo>
                <a:lnTo>
                  <a:pt x="4667250" y="1543050"/>
                </a:lnTo>
                <a:lnTo>
                  <a:pt x="0" y="1543050"/>
                </a:lnTo>
                <a:lnTo>
                  <a:pt x="0" y="704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6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672B9CE-D1B7-4561-92CF-E763BBE3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85750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0" name="Guide the next proof attempt">
            <a:extLst xmlns:a="http://schemas.openxmlformats.org/drawingml/2006/main">
              <a:ext uri="{FF2B5EF4-FFF2-40B4-BE49-F238E27FC236}">
                <a16:creationId xmlns:a16="http://schemas.microsoft.com/office/drawing/2014/main" id="{15B036A9-A6C2-4BE0-B92C-45FA6C5F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91650"/>
            <a:ext cx="40957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Guide the next proof attempt</a:t>
            </a:r>
          </a:p>
        </p:txBody>
      </p:sp>
      <p:sp>
        <p:nvSpPr>
          <p:cNvPr id="71" name="Compare three mechanisms under matched data, tools, and total cost">
            <a:extLst xmlns:a="http://schemas.openxmlformats.org/drawingml/2006/main">
              <a:ext uri="{FF2B5EF4-FFF2-40B4-BE49-F238E27FC236}">
                <a16:creationId xmlns:a16="http://schemas.microsoft.com/office/drawing/2014/main" id="{2611C0A3-20F0-4B04-B4F6-57201705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1727"/>
            <a:ext cx="147828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Compare three mechanisms under matched data, tools, and total cost</a:t>
            </a:r>
          </a:p>
        </p:txBody>
      </p:sp>
      <p:sp>
        <p:nvSpPr>
          <p:cNvPr id="72" name="Experimental mechanism">
            <a:extLst xmlns:a="http://schemas.openxmlformats.org/drawingml/2006/main">
              <a:ext uri="{FF2B5EF4-FFF2-40B4-BE49-F238E27FC236}">
                <a16:creationId xmlns:a16="http://schemas.microsoft.com/office/drawing/2014/main" id="{BC83AA1B-9D89-4A73-A121-149037ED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29125"/>
            <a:ext cx="47625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3" name="Retrieve">
            <a:extLst xmlns:a="http://schemas.openxmlformats.org/drawingml/2006/main">
              <a:ext uri="{FF2B5EF4-FFF2-40B4-BE49-F238E27FC236}">
                <a16:creationId xmlns:a16="http://schemas.microsoft.com/office/drawing/2014/main" id="{FB0121D3-FFF3-475C-BB0C-5B50DE37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7616"/>
            <a:ext cx="4381500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74" name="Reuse a stored proof artifact.">
            <a:extLst xmlns:a="http://schemas.openxmlformats.org/drawingml/2006/main">
              <a:ext uri="{FF2B5EF4-FFF2-40B4-BE49-F238E27FC236}">
                <a16:creationId xmlns:a16="http://schemas.microsoft.com/office/drawing/2014/main" id="{A8F111B1-9C1B-40C2-AFAB-7CD3E513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96625"/>
            <a:ext cx="43815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Reuse a stored proof artifact.</a:t>
            </a:r>
          </a:p>
        </p:txBody>
      </p:sp>
      <p:sp>
        <p:nvSpPr>
          <p:cNvPr id="75" name="Experimental mechanism">
            <a:extLst xmlns:a="http://schemas.openxmlformats.org/drawingml/2006/main">
              <a:ext uri="{FF2B5EF4-FFF2-40B4-BE49-F238E27FC236}">
                <a16:creationId xmlns:a16="http://schemas.microsoft.com/office/drawing/2014/main" id="{AF92BBEA-C143-49AC-A295-B83F0198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29125"/>
            <a:ext cx="47625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6" name="Refine">
            <a:extLst xmlns:a="http://schemas.openxmlformats.org/drawingml/2006/main">
              <a:ext uri="{FF2B5EF4-FFF2-40B4-BE49-F238E27FC236}">
                <a16:creationId xmlns:a16="http://schemas.microsoft.com/office/drawing/2014/main" id="{FD8676F8-BEE2-4E1E-ABD7-86A8BB5B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547616"/>
            <a:ext cx="4381500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Refine</a:t>
            </a:r>
          </a:p>
        </p:txBody>
      </p:sp>
      <p:sp>
        <p:nvSpPr>
          <p:cNvPr id="77" name="Revise within one task.">
            <a:extLst xmlns:a="http://schemas.openxmlformats.org/drawingml/2006/main">
              <a:ext uri="{FF2B5EF4-FFF2-40B4-BE49-F238E27FC236}">
                <a16:creationId xmlns:a16="http://schemas.microsoft.com/office/drawing/2014/main" id="{73F2EEC8-6279-4F0E-9659-D5283A5B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996625"/>
            <a:ext cx="43815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Revise within one task.</a:t>
            </a:r>
          </a:p>
        </p:txBody>
      </p:sp>
      <p:sp>
        <p:nvSpPr>
          <p:cNvPr id="78" name="Experimental mechanism">
            <a:extLst xmlns:a="http://schemas.openxmlformats.org/drawingml/2006/main">
              <a:ext uri="{FF2B5EF4-FFF2-40B4-BE49-F238E27FC236}">
                <a16:creationId xmlns:a16="http://schemas.microsoft.com/office/drawing/2014/main" id="{B23BCFC9-5C26-439A-927E-875DA12E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429125"/>
            <a:ext cx="47625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9" name="Learn">
            <a:extLst xmlns:a="http://schemas.openxmlformats.org/drawingml/2006/main">
              <a:ext uri="{FF2B5EF4-FFF2-40B4-BE49-F238E27FC236}">
                <a16:creationId xmlns:a16="http://schemas.microsoft.com/office/drawing/2014/main" id="{66E6AD2D-9567-46B4-8DE9-7948A4D0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547616"/>
            <a:ext cx="4381500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80" name="Learn across training tasks.">
            <a:extLst xmlns:a="http://schemas.openxmlformats.org/drawingml/2006/main">
              <a:ext uri="{FF2B5EF4-FFF2-40B4-BE49-F238E27FC236}">
                <a16:creationId xmlns:a16="http://schemas.microsoft.com/office/drawing/2014/main" id="{C3D70978-3D80-420D-AF9E-5F9CA26B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996625"/>
            <a:ext cx="43815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 across training tasks.</a:t>
            </a:r>
          </a:p>
        </p:txBody>
      </p:sp>
      <p:sp>
        <p:nvSpPr>
          <p:cNvPr id="81" name="Editable proof library">
            <a:extLst xmlns:a="http://schemas.openxmlformats.org/drawingml/2006/main">
              <a:ext uri="{FF2B5EF4-FFF2-40B4-BE49-F238E27FC236}">
                <a16:creationId xmlns:a16="http://schemas.microsoft.com/office/drawing/2014/main" id="{E79563AC-475F-4402-8A56-C672CBDC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514975"/>
            <a:ext cx="5524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2" name="Proof library layer">
            <a:extLst xmlns:a="http://schemas.openxmlformats.org/drawingml/2006/main">
              <a:ext uri="{FF2B5EF4-FFF2-40B4-BE49-F238E27FC236}">
                <a16:creationId xmlns:a16="http://schemas.microsoft.com/office/drawing/2014/main" id="{59DB98CE-4CEC-41A5-8AA5-A31CC2A3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429250"/>
            <a:ext cx="552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3" name="Proof library layer">
            <a:extLst xmlns:a="http://schemas.openxmlformats.org/drawingml/2006/main">
              <a:ext uri="{FF2B5EF4-FFF2-40B4-BE49-F238E27FC236}">
                <a16:creationId xmlns:a16="http://schemas.microsoft.com/office/drawing/2014/main" id="{0825A544-7ECC-451B-993E-436045F1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657850"/>
            <a:ext cx="552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4" name="Proof library layer">
            <a:extLst xmlns:a="http://schemas.openxmlformats.org/drawingml/2006/main">
              <a:ext uri="{FF2B5EF4-FFF2-40B4-BE49-F238E27FC236}">
                <a16:creationId xmlns:a16="http://schemas.microsoft.com/office/drawing/2014/main" id="{8F3F381A-1AB0-445B-BE88-F135A042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886450"/>
            <a:ext cx="552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5BDCDAC-59C9-460F-BAC7-D6201604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5753100"/>
            <a:ext cx="876300" cy="9525"/>
          </a:xfrm>
          <a:custGeom xmlns:a="http://schemas.openxmlformats.org/drawingml/2006/main">
            <a:pathLst>
              <a:path w="876300" h="9525">
                <a:moveTo>
                  <a:pt x="0" y="0"/>
                </a:moveTo>
                <a:lnTo>
                  <a:pt x="876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E2932F2-4271-4059-A9D5-5AF8964E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57054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8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30A2AF32-E7FF-4FDE-A7DA-78567D7D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5429250"/>
            <a:ext cx="457200" cy="619125"/>
          </a:xfrm>
          <a:custGeom xmlns:a="http://schemas.openxmlformats.org/drawingml/2006/main">
            <a:pathLst>
              <a:path w="457200" h="619125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619125"/>
                </a:lnTo>
                <a:lnTo>
                  <a:pt x="0" y="6191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8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D50EBC2-62EC-414D-9EEE-914673F6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542925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8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30FE20F-1B95-41F4-9752-6202DADA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465" y="5645944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B9FBC634-B38A-4502-BE1A-9513B916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465" y="5751195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17AA76C-57FE-46B8-8D08-7CA47718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465" y="5856446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2" name="Recheck it for the new obligation.">
            <a:extLst xmlns:a="http://schemas.openxmlformats.org/drawingml/2006/main">
              <a:ext uri="{FF2B5EF4-FFF2-40B4-BE49-F238E27FC236}">
                <a16:creationId xmlns:a16="http://schemas.microsoft.com/office/drawing/2014/main" id="{F9DBC152-745C-460F-86DA-7B9D16EC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197537"/>
            <a:ext cx="43624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Recheck it for the new obligation.</a:t>
            </a:r>
          </a:p>
        </p:txBody>
      </p:sp>
      <p:sp>
        <p:nvSpPr>
          <p:cNvPr id="93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C3290C66-6F4E-4F35-8B4A-F2E71BE4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429250"/>
            <a:ext cx="457200" cy="619125"/>
          </a:xfrm>
          <a:custGeom xmlns:a="http://schemas.openxmlformats.org/drawingml/2006/main">
            <a:pathLst>
              <a:path w="457200" h="619125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619125"/>
                </a:lnTo>
                <a:lnTo>
                  <a:pt x="0" y="6191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9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2FF5B63-CB16-4F65-80A2-11E32900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542925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14AEC3F-7935-4D02-9469-17C7AF1F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0815" y="5645944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6D3A5E72-3FE6-4229-A06B-EC1DBCD3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0815" y="5751195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7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A4D9148-B3D2-42F7-877F-951A3170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0815" y="5856446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B4E6005-A192-4586-A3BA-647365BD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753100"/>
            <a:ext cx="904875" cy="9525"/>
          </a:xfrm>
          <a:custGeom xmlns:a="http://schemas.openxmlformats.org/drawingml/2006/main">
            <a:pathLst>
              <a:path w="904875" h="9525">
                <a:moveTo>
                  <a:pt x="0" y="0"/>
                </a:moveTo>
                <a:lnTo>
                  <a:pt x="904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9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77A920F-4A91-414A-9D0C-3630F41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054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0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92CDDC91-1FA5-4961-B284-7A08E605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429250"/>
            <a:ext cx="457200" cy="619125"/>
          </a:xfrm>
          <a:custGeom xmlns:a="http://schemas.openxmlformats.org/drawingml/2006/main">
            <a:pathLst>
              <a:path w="457200" h="619125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619125"/>
                </a:lnTo>
                <a:lnTo>
                  <a:pt x="0" y="6191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0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FB0F274-A51D-4CA8-A3FB-38E38526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42925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2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44CE1F87-E612-4FB9-9B6D-407E72F6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590" y="5645944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3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26236B3E-18D1-4C3D-A2DD-C6F5987D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590" y="5751195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D5B78A4-AF88-41F2-BB3C-B943EEDE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0590" y="5856446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5" name="Use feedback with model weights fixed.">
            <a:extLst xmlns:a="http://schemas.openxmlformats.org/drawingml/2006/main">
              <a:ext uri="{FF2B5EF4-FFF2-40B4-BE49-F238E27FC236}">
                <a16:creationId xmlns:a16="http://schemas.microsoft.com/office/drawing/2014/main" id="{05DC6365-B722-4E89-8059-36B5A95A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6203061"/>
            <a:ext cx="436245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Use feedback with model weights fixed.</a:t>
            </a:r>
          </a:p>
        </p:txBody>
      </p:sp>
      <p:sp>
        <p:nvSpPr>
          <p:cNvPr id="106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CAE3D1BB-2472-4964-948B-1A4F69CE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5429250"/>
            <a:ext cx="457200" cy="619125"/>
          </a:xfrm>
          <a:custGeom xmlns:a="http://schemas.openxmlformats.org/drawingml/2006/main">
            <a:pathLst>
              <a:path w="457200" h="619125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619125"/>
                </a:lnTo>
                <a:lnTo>
                  <a:pt x="0" y="6191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10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D2549BEC-F2A7-4954-8BEF-A353090C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542925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8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A704BD8F-8416-4FEE-BD58-79808FF9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1940" y="5645944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37E9FCA4-C0C9-416C-B678-C9062E98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1940" y="5751195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CE036115-E866-40CC-B0F0-F5016042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1940" y="5856446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41EE042-34DD-4C46-989D-A753A277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5753100"/>
            <a:ext cx="752475" cy="9525"/>
          </a:xfrm>
          <a:custGeom xmlns:a="http://schemas.openxmlformats.org/drawingml/2006/main">
            <a:pathLst>
              <a:path w="752475" h="9525">
                <a:moveTo>
                  <a:pt x="0" y="0"/>
                </a:moveTo>
                <a:lnTo>
                  <a:pt x="7524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90C67C8-BA96-4D66-8DB4-FEDD469D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3050" y="57054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13" name="Learned model">
            <a:extLst xmlns:a="http://schemas.openxmlformats.org/drawingml/2006/main">
              <a:ext uri="{FF2B5EF4-FFF2-40B4-BE49-F238E27FC236}">
                <a16:creationId xmlns:a16="http://schemas.microsoft.com/office/drawing/2014/main" id="{757B5A22-6F15-4AC2-884C-D5631016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7375" y="547687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4" name="Model">
            <a:extLst xmlns:a="http://schemas.openxmlformats.org/drawingml/2006/main">
              <a:ext uri="{FF2B5EF4-FFF2-40B4-BE49-F238E27FC236}">
                <a16:creationId xmlns:a16="http://schemas.microsoft.com/office/drawing/2014/main" id="{3A25885D-B956-41C8-BB4E-7649C83C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1675" y="5599176"/>
            <a:ext cx="158115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15" name="Compare proofs, checked steps, and revisions.">
            <a:extLst xmlns:a="http://schemas.openxmlformats.org/drawingml/2006/main">
              <a:ext uri="{FF2B5EF4-FFF2-40B4-BE49-F238E27FC236}">
                <a16:creationId xmlns:a16="http://schemas.microsoft.com/office/drawing/2014/main" id="{EF74E817-DDD4-42A3-A1C0-4D05A64E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325" y="6208586"/>
            <a:ext cx="43624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Compare proofs, checked steps, and revisions.</a:t>
            </a:r>
          </a:p>
        </p:txBody>
      </p:sp>
      <p:sp>
        <p:nvSpPr>
          <p:cNvPr id="116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4D524700-107F-4CC1-8D3D-5B9577F8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6600825"/>
            <a:ext cx="9525" cy="390525"/>
          </a:xfrm>
          <a:custGeom xmlns:a="http://schemas.openxmlformats.org/drawingml/2006/main">
            <a:pathLst>
              <a:path w="9525" h="390525">
                <a:moveTo>
                  <a:pt x="0" y="0"/>
                </a:moveTo>
                <a:lnTo>
                  <a:pt x="0" y="3905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7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5DE9D2B7-C38D-4C89-94C7-EBA26D1F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877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1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54C613B-8BBB-433A-8F51-DADD9788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6600825"/>
            <a:ext cx="9525" cy="390525"/>
          </a:xfrm>
          <a:custGeom xmlns:a="http://schemas.openxmlformats.org/drawingml/2006/main">
            <a:pathLst>
              <a:path w="9525" h="390525">
                <a:moveTo>
                  <a:pt x="0" y="0"/>
                </a:moveTo>
                <a:lnTo>
                  <a:pt x="0" y="3905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D3A41E9-C630-445E-8E5F-6EB51A50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6877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BF8C8A0-B986-41D0-B75C-4E8B5D2D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3550" y="6600825"/>
            <a:ext cx="9525" cy="390525"/>
          </a:xfrm>
          <a:custGeom xmlns:a="http://schemas.openxmlformats.org/drawingml/2006/main">
            <a:pathLst>
              <a:path w="9525" h="390525">
                <a:moveTo>
                  <a:pt x="0" y="0"/>
                </a:moveTo>
                <a:lnTo>
                  <a:pt x="0" y="3905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7BEFA04-C8EC-4F2E-84E7-0E58B5C1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5925" y="6877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2" name="Held-out evaluation">
            <a:extLst xmlns:a="http://schemas.openxmlformats.org/drawingml/2006/main">
              <a:ext uri="{FF2B5EF4-FFF2-40B4-BE49-F238E27FC236}">
                <a16:creationId xmlns:a16="http://schemas.microsoft.com/office/drawing/2014/main" id="{B8662957-D293-423F-A716-4D02AF07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000875"/>
            <a:ext cx="15163800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3" name="Held-out evaluation">
            <a:extLst xmlns:a="http://schemas.openxmlformats.org/drawingml/2006/main">
              <a:ext uri="{FF2B5EF4-FFF2-40B4-BE49-F238E27FC236}">
                <a16:creationId xmlns:a16="http://schemas.microsoft.com/office/drawing/2014/main" id="{A44C2EC1-D610-4A72-AD50-16372D40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106603"/>
            <a:ext cx="145923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Held-out evaluation</a:t>
            </a:r>
          </a:p>
        </p:txBody>
      </p:sp>
      <p:sp>
        <p:nvSpPr>
          <p:cNvPr id="124" name="Freeze model weights and the retrieval bank before testing.">
            <a:extLst xmlns:a="http://schemas.openxmlformats.org/drawingml/2006/main">
              <a:ext uri="{FF2B5EF4-FFF2-40B4-BE49-F238E27FC236}">
                <a16:creationId xmlns:a16="http://schemas.microsoft.com/office/drawing/2014/main" id="{5F771A35-DF36-4ADE-BF33-479A3E1F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515987"/>
            <a:ext cx="145923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Freeze model weights and the retrieval bank before testing.</a:t>
            </a:r>
          </a:p>
        </p:txBody>
      </p:sp>
      <p:sp>
        <p:nvSpPr>
          <p:cNvPr id="125" name="Keep related programs in the same split. Report retrieval, refinement, and learn">
            <a:extLst xmlns:a="http://schemas.openxmlformats.org/drawingml/2006/main">
              <a:ext uri="{FF2B5EF4-FFF2-40B4-BE49-F238E27FC236}">
                <a16:creationId xmlns:a16="http://schemas.microsoft.com/office/drawing/2014/main" id="{0110FD3E-3867-43DE-9BDE-E513F918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973949"/>
            <a:ext cx="151638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Keep related programs in the same split. Report retrieval, refinement, and learned transfer separately.</a:t>
            </a:r>
          </a:p>
        </p:txBody>
      </p:sp>
      <p:sp>
        <p:nvSpPr>
          <p:cNvPr id="126" name="Proof rejection does not refute a claim. Validate counterexamples against the st">
            <a:extLst xmlns:a="http://schemas.openxmlformats.org/drawingml/2006/main">
              <a:ext uri="{FF2B5EF4-FFF2-40B4-BE49-F238E27FC236}">
                <a16:creationId xmlns:a16="http://schemas.microsoft.com/office/drawing/2014/main" id="{B0A3169A-8C63-4E06-A8BB-C57ABD02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421434"/>
            <a:ext cx="151638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 rejection does not refute a claim. Validate counterexamples against the stated claim and model.</a:t>
            </a:r>
          </a:p>
        </p:txBody>
      </p:sp>
      <p:sp>
        <p:nvSpPr>
          <p:cNvPr id="127" name="A failed auxiliary invariant need not imply a software bug. Unknown results and ">
            <a:extLst xmlns:a="http://schemas.openxmlformats.org/drawingml/2006/main">
              <a:ext uri="{FF2B5EF4-FFF2-40B4-BE49-F238E27FC236}">
                <a16:creationId xmlns:a16="http://schemas.microsoft.com/office/drawing/2014/main" id="{3B3DF2A1-25D7-4DCD-9CAD-39451F06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653463"/>
            <a:ext cx="151638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failed auxiliary invariant need not imply a software bug. Unknown results and timeouts are inconclusive.</a:t>
            </a:r>
          </a:p>
        </p:txBody>
      </p:sp>
    </p:spTree>
    <p:extLst>
      <p:ext uri="{BB962C8B-B14F-4D97-AF65-F5344CB8AC3E}">
        <p14:creationId xmlns:p14="http://schemas.microsoft.com/office/powerpoint/2010/main" val="17579752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Compositional Verification">
            <a:extLst xmlns:a="http://schemas.openxmlformats.org/drawingml/2006/main">
              <a:ext uri="{FF2B5EF4-FFF2-40B4-BE49-F238E27FC236}">
                <a16:creationId xmlns:a16="http://schemas.microsoft.com/office/drawing/2014/main" id="{4073B784-DAEF-4A0A-81FF-E09EDDC8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7348"/>
            <a:ext cx="13735050" cy="508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Compositional Verification</a:t>
            </a:r>
          </a:p>
        </p:txBody>
      </p:sp>
      <p:sp>
        <p:nvSpPr>
          <p:cNvPr id="2" name="Check local proofs and the argument that connects them">
            <a:extLst xmlns:a="http://schemas.openxmlformats.org/drawingml/2006/main">
              <a:ext uri="{FF2B5EF4-FFF2-40B4-BE49-F238E27FC236}">
                <a16:creationId xmlns:a16="http://schemas.microsoft.com/office/drawing/2014/main" id="{384084F8-DB28-4B61-B80D-471FFA6B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3715"/>
            <a:ext cx="130683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 local proofs and the argument that connects them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FB3881B8-7E76-48CE-B738-16DE2C36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17361"/>
            <a:ext cx="2190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Proposed research</a:t>
            </a:r>
          </a:p>
        </p:txBody>
      </p:sp>
      <p:sp>
        <p:nvSpPr>
          <p:cNvPr id="4" name="Global verification goal">
            <a:extLst xmlns:a="http://schemas.openxmlformats.org/drawingml/2006/main">
              <a:ext uri="{FF2B5EF4-FFF2-40B4-BE49-F238E27FC236}">
                <a16:creationId xmlns:a16="http://schemas.microsoft.com/office/drawing/2014/main" id="{66B1FF8E-609D-4364-9FD5-6AF043D6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190750"/>
            <a:ext cx="1714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Stage 1">
            <a:extLst xmlns:a="http://schemas.openxmlformats.org/drawingml/2006/main">
              <a:ext uri="{FF2B5EF4-FFF2-40B4-BE49-F238E27FC236}">
                <a16:creationId xmlns:a16="http://schemas.microsoft.com/office/drawing/2014/main" id="{43C3E082-D463-4BED-B5E8-CA423470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009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" name="1">
            <a:extLst xmlns:a="http://schemas.openxmlformats.org/drawingml/2006/main">
              <a:ext uri="{FF2B5EF4-FFF2-40B4-BE49-F238E27FC236}">
                <a16:creationId xmlns:a16="http://schemas.microsoft.com/office/drawing/2014/main" id="{7B49E5F1-DDB6-4038-9D7C-1E0C0D7F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054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2C977ADD-8E20-44D3-88AC-3354F33D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457200" cy="647700"/>
          </a:xfrm>
          <a:custGeom xmlns:a="http://schemas.openxmlformats.org/drawingml/2006/main">
            <a:pathLst>
              <a:path w="457200" h="647700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647700"/>
                </a:lnTo>
                <a:lnTo>
                  <a:pt x="0" y="6477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C1D9990-7775-4484-AA26-2B693EDF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38425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F64EF106-533A-4FDA-B402-1166CC50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65120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0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934B0A11-010E-41CD-96AE-60EF7F28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75229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7474D6B3-C1CE-499B-9E95-73ABF671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85338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2" name="Global">
            <a:extLst xmlns:a="http://schemas.openxmlformats.org/drawingml/2006/main">
              <a:ext uri="{FF2B5EF4-FFF2-40B4-BE49-F238E27FC236}">
                <a16:creationId xmlns:a16="http://schemas.microsoft.com/office/drawing/2014/main" id="{CF52DBDD-AD06-41B8-9973-C9F5D743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9127"/>
            <a:ext cx="14478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Global</a:t>
            </a:r>
          </a:p>
        </p:txBody>
      </p:sp>
      <p:sp>
        <p:nvSpPr>
          <p:cNvPr id="13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28E4433D-6924-49ED-A4B6-2C1BD79B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66400"/>
            <a:ext cx="14478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14" name="goal">
            <a:extLst xmlns:a="http://schemas.openxmlformats.org/drawingml/2006/main">
              <a:ext uri="{FF2B5EF4-FFF2-40B4-BE49-F238E27FC236}">
                <a16:creationId xmlns:a16="http://schemas.microsoft.com/office/drawing/2014/main" id="{1CF23F22-0039-4A52-BAE2-E361CA37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53675"/>
            <a:ext cx="14478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goal</a:t>
            </a:r>
          </a:p>
        </p:txBody>
      </p:sp>
      <p:sp>
        <p:nvSpPr>
          <p:cNvPr id="15" name="Proposed decomposition">
            <a:extLst xmlns:a="http://schemas.openxmlformats.org/drawingml/2006/main">
              <a:ext uri="{FF2B5EF4-FFF2-40B4-BE49-F238E27FC236}">
                <a16:creationId xmlns:a16="http://schemas.microsoft.com/office/drawing/2014/main" id="{4E32B80D-7D3D-48F3-BA95-B48A84BD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90750"/>
            <a:ext cx="1905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" name="Stage 2">
            <a:extLst xmlns:a="http://schemas.openxmlformats.org/drawingml/2006/main">
              <a:ext uri="{FF2B5EF4-FFF2-40B4-BE49-F238E27FC236}">
                <a16:creationId xmlns:a16="http://schemas.microsoft.com/office/drawing/2014/main" id="{77D9C413-252D-4B1C-9E29-5892B253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9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7" name="2">
            <a:extLst xmlns:a="http://schemas.openxmlformats.org/drawingml/2006/main">
              <a:ext uri="{FF2B5EF4-FFF2-40B4-BE49-F238E27FC236}">
                <a16:creationId xmlns:a16="http://schemas.microsoft.com/office/drawing/2014/main" id="{6889C7B0-3C38-460E-B267-DCCAF6CC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54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425962C9-5086-46DC-A647-4A303D79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57500"/>
            <a:ext cx="233363" cy="400050"/>
          </a:xfrm>
          <a:custGeom xmlns:a="http://schemas.openxmlformats.org/drawingml/2006/main">
            <a:pathLst>
              <a:path w="233363" h="400050">
                <a:moveTo>
                  <a:pt x="233363" y="0"/>
                </a:moveTo>
                <a:lnTo>
                  <a:pt x="233363" y="129540"/>
                </a:lnTo>
                <a:lnTo>
                  <a:pt x="0" y="400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7577428-29EE-47CE-8A25-C4242FA8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2987040"/>
            <a:ext cx="233363" cy="270510"/>
          </a:xfrm>
          <a:custGeom xmlns:a="http://schemas.openxmlformats.org/drawingml/2006/main">
            <a:pathLst>
              <a:path w="233363" h="270510">
                <a:moveTo>
                  <a:pt x="0" y="0"/>
                </a:moveTo>
                <a:lnTo>
                  <a:pt x="233363" y="27051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0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7D5A9605-0867-45B4-817E-CD349357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0888" y="27241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1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9A47B197-3749-4124-AE75-87A7A8F4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190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2" name="Proof tree node">
            <a:extLst xmlns:a="http://schemas.openxmlformats.org/drawingml/2006/main">
              <a:ext uri="{FF2B5EF4-FFF2-40B4-BE49-F238E27FC236}">
                <a16:creationId xmlns:a16="http://schemas.microsoft.com/office/drawing/2014/main" id="{B34C9567-2B81-4832-B517-D965A303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90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3" name="Propose a">
            <a:extLst xmlns:a="http://schemas.openxmlformats.org/drawingml/2006/main">
              <a:ext uri="{FF2B5EF4-FFF2-40B4-BE49-F238E27FC236}">
                <a16:creationId xmlns:a16="http://schemas.microsoft.com/office/drawing/2014/main" id="{B7C9C729-0AF6-4106-86D6-E774F078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873437"/>
            <a:ext cx="16764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 a</a:t>
            </a:r>
          </a:p>
        </p:txBody>
      </p:sp>
      <p:sp>
        <p:nvSpPr>
          <p:cNvPr id="24" name="decomposition">
            <a:extLst xmlns:a="http://schemas.openxmlformats.org/drawingml/2006/main">
              <a:ext uri="{FF2B5EF4-FFF2-40B4-BE49-F238E27FC236}">
                <a16:creationId xmlns:a16="http://schemas.microsoft.com/office/drawing/2014/main" id="{82CA79C1-7B45-4953-AF29-2E8170B7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38613"/>
            <a:ext cx="16764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decomposition</a:t>
            </a:r>
          </a:p>
        </p:txBody>
      </p:sp>
      <p:sp>
        <p:nvSpPr>
          <p:cNvPr id="2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A36474DE-8326-4C74-A47E-483B91F0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14750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2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39CBF9F-8C9A-4821-96C8-14BC5C84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27" name="Local obligations">
            <a:extLst xmlns:a="http://schemas.openxmlformats.org/drawingml/2006/main">
              <a:ext uri="{FF2B5EF4-FFF2-40B4-BE49-F238E27FC236}">
                <a16:creationId xmlns:a16="http://schemas.microsoft.com/office/drawing/2014/main" id="{A686E801-9C26-4CED-BFE6-21552B68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43125"/>
            <a:ext cx="61912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dash"/>
          </a:ln>
        </p:spPr>
      </p:sp>
      <p:sp>
        <p:nvSpPr>
          <p:cNvPr id="28" name="Stage 3">
            <a:extLst xmlns:a="http://schemas.openxmlformats.org/drawingml/2006/main">
              <a:ext uri="{FF2B5EF4-FFF2-40B4-BE49-F238E27FC236}">
                <a16:creationId xmlns:a16="http://schemas.microsoft.com/office/drawing/2014/main" id="{E6DA4787-56FC-4AC5-9A19-4771E401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9" name="3">
            <a:extLst xmlns:a="http://schemas.openxmlformats.org/drawingml/2006/main">
              <a:ext uri="{FF2B5EF4-FFF2-40B4-BE49-F238E27FC236}">
                <a16:creationId xmlns:a16="http://schemas.microsoft.com/office/drawing/2014/main" id="{4B4A3CED-D9BA-427F-AA03-FFCB17B8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20920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0" name="Check local obligations">
            <a:extLst xmlns:a="http://schemas.openxmlformats.org/drawingml/2006/main">
              <a:ext uri="{FF2B5EF4-FFF2-40B4-BE49-F238E27FC236}">
                <a16:creationId xmlns:a16="http://schemas.microsoft.com/office/drawing/2014/main" id="{036545DC-66BD-4569-9409-D48A9474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92402"/>
            <a:ext cx="51435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 local obligations</a:t>
            </a:r>
          </a:p>
        </p:txBody>
      </p:sp>
      <p:sp>
        <p:nvSpPr>
          <p:cNvPr id="31" name="Software component">
            <a:extLst xmlns:a="http://schemas.openxmlformats.org/drawingml/2006/main">
              <a:ext uri="{FF2B5EF4-FFF2-40B4-BE49-F238E27FC236}">
                <a16:creationId xmlns:a16="http://schemas.microsoft.com/office/drawing/2014/main" id="{4EDCDE68-CEB2-446E-877F-02FA7598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32" name="Library A">
            <a:extLst xmlns:a="http://schemas.openxmlformats.org/drawingml/2006/main">
              <a:ext uri="{FF2B5EF4-FFF2-40B4-BE49-F238E27FC236}">
                <a16:creationId xmlns:a16="http://schemas.microsoft.com/office/drawing/2014/main" id="{341D1827-6082-4547-B695-33E593AC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629662"/>
            <a:ext cx="14859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Library A</a:t>
            </a:r>
          </a:p>
        </p:txBody>
      </p:sp>
      <p:sp>
        <p:nvSpPr>
          <p:cNvPr id="33" name="Contract and local proof">
            <a:extLst xmlns:a="http://schemas.openxmlformats.org/drawingml/2006/main">
              <a:ext uri="{FF2B5EF4-FFF2-40B4-BE49-F238E27FC236}">
                <a16:creationId xmlns:a16="http://schemas.microsoft.com/office/drawing/2014/main" id="{40D43D7B-6670-414D-8201-D3087D2F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381250"/>
            <a:ext cx="2000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34" name="Contract and">
            <a:extLst xmlns:a="http://schemas.openxmlformats.org/drawingml/2006/main">
              <a:ext uri="{FF2B5EF4-FFF2-40B4-BE49-F238E27FC236}">
                <a16:creationId xmlns:a16="http://schemas.microsoft.com/office/drawing/2014/main" id="{3460F0BD-F36A-46C4-AE34-FAE3F650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08123"/>
            <a:ext cx="17716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Contract and</a:t>
            </a:r>
          </a:p>
        </p:txBody>
      </p:sp>
      <p:sp>
        <p:nvSpPr>
          <p:cNvPr id="35" name="local proof">
            <a:extLst xmlns:a="http://schemas.openxmlformats.org/drawingml/2006/main">
              <a:ext uri="{FF2B5EF4-FFF2-40B4-BE49-F238E27FC236}">
                <a16:creationId xmlns:a16="http://schemas.microsoft.com/office/drawing/2014/main" id="{24B13F4B-E591-451D-840D-8685161A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762250"/>
            <a:ext cx="17716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 proof</a:t>
            </a:r>
          </a:p>
        </p:txBody>
      </p:sp>
      <p:sp>
        <p:nvSpPr>
          <p:cNvPr id="36" name="Local proof check">
            <a:extLst xmlns:a="http://schemas.openxmlformats.org/drawingml/2006/main">
              <a:ext uri="{FF2B5EF4-FFF2-40B4-BE49-F238E27FC236}">
                <a16:creationId xmlns:a16="http://schemas.microsoft.com/office/drawing/2014/main" id="{E16F4CBB-068F-403F-9C66-2602EBF8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81250"/>
            <a:ext cx="1428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37" name="Proof">
            <a:extLst xmlns:a="http://schemas.openxmlformats.org/drawingml/2006/main">
              <a:ext uri="{FF2B5EF4-FFF2-40B4-BE49-F238E27FC236}">
                <a16:creationId xmlns:a16="http://schemas.microsoft.com/office/drawing/2014/main" id="{8FA9B386-4EE6-4B35-9958-AEEA313E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97074"/>
            <a:ext cx="12001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</a:t>
            </a:r>
          </a:p>
        </p:txBody>
      </p:sp>
      <p:sp>
        <p:nvSpPr>
          <p:cNvPr id="38" name="check">
            <a:extLst xmlns:a="http://schemas.openxmlformats.org/drawingml/2006/main">
              <a:ext uri="{FF2B5EF4-FFF2-40B4-BE49-F238E27FC236}">
                <a16:creationId xmlns:a16="http://schemas.microsoft.com/office/drawing/2014/main" id="{34F9A223-D5C6-4AC0-AC2F-A1D995E8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62250"/>
            <a:ext cx="12001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23D11B2-9128-4004-8825-A951AF97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762250"/>
            <a:ext cx="619125" cy="952500"/>
          </a:xfrm>
          <a:custGeom xmlns:a="http://schemas.openxmlformats.org/drawingml/2006/main">
            <a:pathLst>
              <a:path w="619125" h="952500">
                <a:moveTo>
                  <a:pt x="0" y="952500"/>
                </a:moveTo>
                <a:lnTo>
                  <a:pt x="209550" y="952500"/>
                </a:lnTo>
                <a:lnTo>
                  <a:pt x="209550" y="0"/>
                </a:ln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6FBD5F2-52E3-449E-9D82-A1F6A252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14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60F5074-D023-4C54-802A-62F0B145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622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46C61CC8-3EA9-497C-8A51-DDE86824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714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EE1F654-FB80-4863-BB1C-118EF400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76225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399C50AE-81D5-41C0-A2B0-E63E60D8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14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4E3926DB-58DA-42EE-B970-18837E47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62250"/>
            <a:ext cx="619125" cy="952500"/>
          </a:xfrm>
          <a:custGeom xmlns:a="http://schemas.openxmlformats.org/drawingml/2006/main">
            <a:pathLst>
              <a:path w="619125" h="952500">
                <a:moveTo>
                  <a:pt x="0" y="0"/>
                </a:moveTo>
                <a:lnTo>
                  <a:pt x="400050" y="0"/>
                </a:lnTo>
                <a:lnTo>
                  <a:pt x="400050" y="952500"/>
                </a:lnTo>
                <a:lnTo>
                  <a:pt x="619125" y="9525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CA567AFC-C3B4-43B4-B1F7-41D16483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47" name="Software component">
            <a:extLst xmlns:a="http://schemas.openxmlformats.org/drawingml/2006/main">
              <a:ext uri="{FF2B5EF4-FFF2-40B4-BE49-F238E27FC236}">
                <a16:creationId xmlns:a16="http://schemas.microsoft.com/office/drawing/2014/main" id="{2C883827-7440-439C-BF0D-D19952E5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48" name="Library B">
            <a:extLst xmlns:a="http://schemas.openxmlformats.org/drawingml/2006/main">
              <a:ext uri="{FF2B5EF4-FFF2-40B4-BE49-F238E27FC236}">
                <a16:creationId xmlns:a16="http://schemas.microsoft.com/office/drawing/2014/main" id="{3887B592-41FF-4B1B-AC07-88CA6539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629787"/>
            <a:ext cx="14859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Library B</a:t>
            </a:r>
          </a:p>
        </p:txBody>
      </p:sp>
      <p:sp>
        <p:nvSpPr>
          <p:cNvPr id="49" name="Contract and local proof">
            <a:extLst xmlns:a="http://schemas.openxmlformats.org/drawingml/2006/main">
              <a:ext uri="{FF2B5EF4-FFF2-40B4-BE49-F238E27FC236}">
                <a16:creationId xmlns:a16="http://schemas.microsoft.com/office/drawing/2014/main" id="{78360448-A067-47D2-AA89-5BAF6622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81375"/>
            <a:ext cx="2000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0" name="Contract and">
            <a:extLst xmlns:a="http://schemas.openxmlformats.org/drawingml/2006/main">
              <a:ext uri="{FF2B5EF4-FFF2-40B4-BE49-F238E27FC236}">
                <a16:creationId xmlns:a16="http://schemas.microsoft.com/office/drawing/2014/main" id="{E108681A-DBC4-4D4E-87A7-DEDE709C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508248"/>
            <a:ext cx="17716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Contract and</a:t>
            </a:r>
          </a:p>
        </p:txBody>
      </p:sp>
      <p:sp>
        <p:nvSpPr>
          <p:cNvPr id="51" name="local proof">
            <a:extLst xmlns:a="http://schemas.openxmlformats.org/drawingml/2006/main">
              <a:ext uri="{FF2B5EF4-FFF2-40B4-BE49-F238E27FC236}">
                <a16:creationId xmlns:a16="http://schemas.microsoft.com/office/drawing/2014/main" id="{1EFE1512-0ACD-442B-887F-6FCAD9B4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762375"/>
            <a:ext cx="17716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 proof</a:t>
            </a:r>
          </a:p>
        </p:txBody>
      </p:sp>
      <p:sp>
        <p:nvSpPr>
          <p:cNvPr id="52" name="Local proof check">
            <a:extLst xmlns:a="http://schemas.openxmlformats.org/drawingml/2006/main">
              <a:ext uri="{FF2B5EF4-FFF2-40B4-BE49-F238E27FC236}">
                <a16:creationId xmlns:a16="http://schemas.microsoft.com/office/drawing/2014/main" id="{4CA764CF-22FB-478A-AE57-85BAF88D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81375"/>
            <a:ext cx="1428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3" name="Proof">
            <a:extLst xmlns:a="http://schemas.openxmlformats.org/drawingml/2006/main">
              <a:ext uri="{FF2B5EF4-FFF2-40B4-BE49-F238E27FC236}">
                <a16:creationId xmlns:a16="http://schemas.microsoft.com/office/drawing/2014/main" id="{8313D5A3-B2F9-40FA-BC08-7CEC7332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97199"/>
            <a:ext cx="12001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</a:t>
            </a:r>
          </a:p>
        </p:txBody>
      </p:sp>
      <p:sp>
        <p:nvSpPr>
          <p:cNvPr id="54" name="check">
            <a:extLst xmlns:a="http://schemas.openxmlformats.org/drawingml/2006/main">
              <a:ext uri="{FF2B5EF4-FFF2-40B4-BE49-F238E27FC236}">
                <a16:creationId xmlns:a16="http://schemas.microsoft.com/office/drawing/2014/main" id="{183B4DC4-208A-4BC6-B9A0-2B787155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762375"/>
            <a:ext cx="12001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F98A4286-70B2-4C49-8639-A1AFE45B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714750"/>
            <a:ext cx="619125" cy="47625"/>
          </a:xfrm>
          <a:custGeom xmlns:a="http://schemas.openxmlformats.org/drawingml/2006/main">
            <a:pathLst>
              <a:path w="619125" h="47625">
                <a:moveTo>
                  <a:pt x="0" y="0"/>
                </a:moveTo>
                <a:lnTo>
                  <a:pt x="209550" y="0"/>
                </a:lnTo>
                <a:lnTo>
                  <a:pt x="209550" y="47625"/>
                </a:lnTo>
                <a:lnTo>
                  <a:pt x="619125" y="47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8C88255D-CB8E-4F00-819F-054371ED2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147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3BD53AC-84F1-460F-AEDE-81585A67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6237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4B6940B-9254-4822-80CD-A64BABFD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7147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6D4CABC9-F941-4449-9231-4A041B35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762375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F164FBC-8F3A-44E0-A05F-0205C878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147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E8CB3729-4B16-4B80-BFAB-316DEAA2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714750"/>
            <a:ext cx="619125" cy="47625"/>
          </a:xfrm>
          <a:custGeom xmlns:a="http://schemas.openxmlformats.org/drawingml/2006/main">
            <a:pathLst>
              <a:path w="619125" h="47625">
                <a:moveTo>
                  <a:pt x="0" y="47625"/>
                </a:moveTo>
                <a:lnTo>
                  <a:pt x="400050" y="47625"/>
                </a:lnTo>
                <a:lnTo>
                  <a:pt x="400050" y="0"/>
                </a:ln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6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B247506A-B1B2-4DBF-B6EF-2DC73A7D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3" name="Software component">
            <a:extLst xmlns:a="http://schemas.openxmlformats.org/drawingml/2006/main">
              <a:ext uri="{FF2B5EF4-FFF2-40B4-BE49-F238E27FC236}">
                <a16:creationId xmlns:a16="http://schemas.microsoft.com/office/drawing/2014/main" id="{3B6048DF-F6AB-40B0-BFBB-FE73E930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1714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4" name="Caller">
            <a:extLst xmlns:a="http://schemas.openxmlformats.org/drawingml/2006/main">
              <a:ext uri="{FF2B5EF4-FFF2-40B4-BE49-F238E27FC236}">
                <a16:creationId xmlns:a16="http://schemas.microsoft.com/office/drawing/2014/main" id="{BD063101-6E40-41C1-89F9-9D176B46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629912"/>
            <a:ext cx="14859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Caller</a:t>
            </a:r>
          </a:p>
        </p:txBody>
      </p:sp>
      <p:sp>
        <p:nvSpPr>
          <p:cNvPr id="65" name="Contract and local proof">
            <a:extLst xmlns:a="http://schemas.openxmlformats.org/drawingml/2006/main">
              <a:ext uri="{FF2B5EF4-FFF2-40B4-BE49-F238E27FC236}">
                <a16:creationId xmlns:a16="http://schemas.microsoft.com/office/drawing/2014/main" id="{07C0253A-DC68-4AA7-9819-08794032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381500"/>
            <a:ext cx="2000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6" name="Contract and">
            <a:extLst xmlns:a="http://schemas.openxmlformats.org/drawingml/2006/main">
              <a:ext uri="{FF2B5EF4-FFF2-40B4-BE49-F238E27FC236}">
                <a16:creationId xmlns:a16="http://schemas.microsoft.com/office/drawing/2014/main" id="{206D0281-6AFA-4DB1-906E-403E0E9C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508373"/>
            <a:ext cx="17716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Contract and</a:t>
            </a:r>
          </a:p>
        </p:txBody>
      </p:sp>
      <p:sp>
        <p:nvSpPr>
          <p:cNvPr id="67" name="local proof">
            <a:extLst xmlns:a="http://schemas.openxmlformats.org/drawingml/2006/main">
              <a:ext uri="{FF2B5EF4-FFF2-40B4-BE49-F238E27FC236}">
                <a16:creationId xmlns:a16="http://schemas.microsoft.com/office/drawing/2014/main" id="{1EABA0D8-761F-4EE2-8AAE-4BDF71CE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762500"/>
            <a:ext cx="177165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local proof</a:t>
            </a:r>
          </a:p>
        </p:txBody>
      </p:sp>
      <p:sp>
        <p:nvSpPr>
          <p:cNvPr id="68" name="Local proof check">
            <a:extLst xmlns:a="http://schemas.openxmlformats.org/drawingml/2006/main">
              <a:ext uri="{FF2B5EF4-FFF2-40B4-BE49-F238E27FC236}">
                <a16:creationId xmlns:a16="http://schemas.microsoft.com/office/drawing/2014/main" id="{10DFB95F-2DF0-4E22-B05E-038E12F5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81500"/>
            <a:ext cx="1428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9" name="Proof">
            <a:extLst xmlns:a="http://schemas.openxmlformats.org/drawingml/2006/main">
              <a:ext uri="{FF2B5EF4-FFF2-40B4-BE49-F238E27FC236}">
                <a16:creationId xmlns:a16="http://schemas.microsoft.com/office/drawing/2014/main" id="{69C895D0-1C98-41ED-8013-33FF0197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97324"/>
            <a:ext cx="12001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Proof</a:t>
            </a:r>
          </a:p>
        </p:txBody>
      </p:sp>
      <p:sp>
        <p:nvSpPr>
          <p:cNvPr id="70" name="check">
            <a:extLst xmlns:a="http://schemas.openxmlformats.org/drawingml/2006/main">
              <a:ext uri="{FF2B5EF4-FFF2-40B4-BE49-F238E27FC236}">
                <a16:creationId xmlns:a16="http://schemas.microsoft.com/office/drawing/2014/main" id="{7AC7B2B8-C652-4FE4-8325-F476937D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762500"/>
            <a:ext cx="12001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7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16069A0-12C1-47C9-B1CB-94E15DEF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714750"/>
            <a:ext cx="619125" cy="1047750"/>
          </a:xfrm>
          <a:custGeom xmlns:a="http://schemas.openxmlformats.org/drawingml/2006/main">
            <a:pathLst>
              <a:path w="619125" h="1047750">
                <a:moveTo>
                  <a:pt x="0" y="0"/>
                </a:moveTo>
                <a:lnTo>
                  <a:pt x="209550" y="0"/>
                </a:lnTo>
                <a:lnTo>
                  <a:pt x="209550" y="1047750"/>
                </a:lnTo>
                <a:lnTo>
                  <a:pt x="619125" y="10477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21EA763-D2BA-4FB4-AA35-1A0AD853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148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6A615666-2C7E-4FB4-B900-B8155AE9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625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4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95F9E10E-40EE-44F4-9F2E-636B7693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7148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3464724B-7F13-4DEB-8827-D78BEDC1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762500"/>
            <a:ext cx="333375" cy="9525"/>
          </a:xfrm>
          <a:custGeom xmlns:a="http://schemas.openxmlformats.org/drawingml/2006/main">
            <a:pathLst>
              <a:path w="333375" h="9525">
                <a:moveTo>
                  <a:pt x="0" y="0"/>
                </a:moveTo>
                <a:lnTo>
                  <a:pt x="333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DD14C23-9422-40D0-8508-573D2146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7148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7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816BB2F6-77BF-4537-981C-578F2A97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714750"/>
            <a:ext cx="619125" cy="1047750"/>
          </a:xfrm>
          <a:custGeom xmlns:a="http://schemas.openxmlformats.org/drawingml/2006/main">
            <a:pathLst>
              <a:path w="619125" h="1047750">
                <a:moveTo>
                  <a:pt x="0" y="1047750"/>
                </a:moveTo>
                <a:lnTo>
                  <a:pt x="400050" y="1047750"/>
                </a:lnTo>
                <a:lnTo>
                  <a:pt x="400050" y="0"/>
                </a:ln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8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6B385192-68C3-4FE7-A0B0-213B2070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79" name="Composition argument check">
            <a:extLst xmlns:a="http://schemas.openxmlformats.org/drawingml/2006/main">
              <a:ext uri="{FF2B5EF4-FFF2-40B4-BE49-F238E27FC236}">
                <a16:creationId xmlns:a16="http://schemas.microsoft.com/office/drawing/2014/main" id="{F134AD4F-8EE2-45F6-8D3B-5C20116F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2190750"/>
            <a:ext cx="23812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0" name="Stage 4">
            <a:extLst xmlns:a="http://schemas.openxmlformats.org/drawingml/2006/main">
              <a:ext uri="{FF2B5EF4-FFF2-40B4-BE49-F238E27FC236}">
                <a16:creationId xmlns:a16="http://schemas.microsoft.com/office/drawing/2014/main" id="{4B426073-88AD-4E5D-95FF-5689E86D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92025" y="2009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81" name="4">
            <a:extLst xmlns:a="http://schemas.openxmlformats.org/drawingml/2006/main">
              <a:ext uri="{FF2B5EF4-FFF2-40B4-BE49-F238E27FC236}">
                <a16:creationId xmlns:a16="http://schemas.microsoft.com/office/drawing/2014/main" id="{A7DD9A06-9BA7-4FE5-97F5-589FFA24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92025" y="2054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2" name="Check">
            <a:extLst xmlns:a="http://schemas.openxmlformats.org/drawingml/2006/main">
              <a:ext uri="{FF2B5EF4-FFF2-40B4-BE49-F238E27FC236}">
                <a16:creationId xmlns:a16="http://schemas.microsoft.com/office/drawing/2014/main" id="{65C6504E-E531-469B-AECF-8C0FB384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2403539"/>
            <a:ext cx="21526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83" name="composition">
            <a:extLst xmlns:a="http://schemas.openxmlformats.org/drawingml/2006/main">
              <a:ext uri="{FF2B5EF4-FFF2-40B4-BE49-F238E27FC236}">
                <a16:creationId xmlns:a16="http://schemas.microsoft.com/office/drawing/2014/main" id="{8B01FF13-EFB4-4E7C-9596-14A31FD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2690813"/>
            <a:ext cx="21526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composition</a:t>
            </a:r>
          </a:p>
        </p:txBody>
      </p:sp>
      <p:sp>
        <p:nvSpPr>
          <p:cNvPr id="84" name="Caller preconditions">
            <a:extLst xmlns:a="http://schemas.openxmlformats.org/drawingml/2006/main">
              <a:ext uri="{FF2B5EF4-FFF2-40B4-BE49-F238E27FC236}">
                <a16:creationId xmlns:a16="http://schemas.microsoft.com/office/drawing/2014/main" id="{14269184-2356-4FA9-ABD8-312B4DAE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3323844"/>
            <a:ext cx="21526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Caller preconditions</a:t>
            </a:r>
          </a:p>
        </p:txBody>
      </p:sp>
      <p:sp>
        <p:nvSpPr>
          <p:cNvPr id="85" name="Shared state / frames">
            <a:extLst xmlns:a="http://schemas.openxmlformats.org/drawingml/2006/main">
              <a:ext uri="{FF2B5EF4-FFF2-40B4-BE49-F238E27FC236}">
                <a16:creationId xmlns:a16="http://schemas.microsoft.com/office/drawing/2014/main" id="{385077D9-611B-4A18-AE9A-DE064052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3555873"/>
            <a:ext cx="21526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Shared state / frames</a:t>
            </a:r>
          </a:p>
        </p:txBody>
      </p:sp>
      <p:sp>
        <p:nvSpPr>
          <p:cNvPr id="86" name="Model and assumptions">
            <a:extLst xmlns:a="http://schemas.openxmlformats.org/drawingml/2006/main">
              <a:ext uri="{FF2B5EF4-FFF2-40B4-BE49-F238E27FC236}">
                <a16:creationId xmlns:a16="http://schemas.microsoft.com/office/drawing/2014/main" id="{5BBF49D5-C867-494A-9A15-1F3F5EDD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3787902"/>
            <a:ext cx="21526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 and assumptions</a:t>
            </a:r>
          </a:p>
        </p:txBody>
      </p:sp>
      <p:sp>
        <p:nvSpPr>
          <p:cNvPr id="87" name="Do these local claims">
            <a:extLst xmlns:a="http://schemas.openxmlformats.org/drawingml/2006/main">
              <a:ext uri="{FF2B5EF4-FFF2-40B4-BE49-F238E27FC236}">
                <a16:creationId xmlns:a16="http://schemas.microsoft.com/office/drawing/2014/main" id="{B3687968-E1CF-4C46-8850-0745AFBB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4525709"/>
            <a:ext cx="21526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 these local claims</a:t>
            </a:r>
          </a:p>
        </p:txBody>
      </p:sp>
      <p:sp>
        <p:nvSpPr>
          <p:cNvPr id="88" name="imply the global goal?">
            <a:extLst xmlns:a="http://schemas.openxmlformats.org/drawingml/2006/main">
              <a:ext uri="{FF2B5EF4-FFF2-40B4-BE49-F238E27FC236}">
                <a16:creationId xmlns:a16="http://schemas.microsoft.com/office/drawing/2014/main" id="{2EE91F55-A826-43FE-9FF3-AA169E69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4757738"/>
            <a:ext cx="21526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imply the global goal?</a:t>
            </a:r>
          </a:p>
        </p:txBody>
      </p:sp>
      <p:sp>
        <p:nvSpPr>
          <p:cNvPr id="89" name="Checked global claim">
            <a:extLst xmlns:a="http://schemas.openxmlformats.org/drawingml/2006/main">
              <a:ext uri="{FF2B5EF4-FFF2-40B4-BE49-F238E27FC236}">
                <a16:creationId xmlns:a16="http://schemas.microsoft.com/office/drawing/2014/main" id="{932E643B-F7AB-4B6B-80BF-C6B2E715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2190750"/>
            <a:ext cx="1428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0" name="Stage 5">
            <a:extLst xmlns:a="http://schemas.openxmlformats.org/drawingml/2006/main">
              <a:ext uri="{FF2B5EF4-FFF2-40B4-BE49-F238E27FC236}">
                <a16:creationId xmlns:a16="http://schemas.microsoft.com/office/drawing/2014/main" id="{C4E6B785-DBFE-4F19-912C-B3BDC601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2009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91" name="5">
            <a:extLst xmlns:a="http://schemas.openxmlformats.org/drawingml/2006/main">
              <a:ext uri="{FF2B5EF4-FFF2-40B4-BE49-F238E27FC236}">
                <a16:creationId xmlns:a16="http://schemas.microsoft.com/office/drawing/2014/main" id="{4AC197D6-015E-4B30-A37E-C552F3EB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2054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92" name="Editable proof document">
            <a:extLst xmlns:a="http://schemas.openxmlformats.org/drawingml/2006/main">
              <a:ext uri="{FF2B5EF4-FFF2-40B4-BE49-F238E27FC236}">
                <a16:creationId xmlns:a16="http://schemas.microsoft.com/office/drawing/2014/main" id="{03F5FB1C-D52D-41E3-BA89-C9BA1540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8025" y="2686050"/>
            <a:ext cx="457200" cy="647700"/>
          </a:xfrm>
          <a:custGeom xmlns:a="http://schemas.openxmlformats.org/drawingml/2006/main">
            <a:pathLst>
              <a:path w="457200" h="647700">
                <a:moveTo>
                  <a:pt x="0" y="0"/>
                </a:moveTo>
                <a:lnTo>
                  <a:pt x="342900" y="0"/>
                </a:lnTo>
                <a:lnTo>
                  <a:pt x="457200" y="114300"/>
                </a:lnTo>
                <a:lnTo>
                  <a:pt x="457200" y="647700"/>
                </a:lnTo>
                <a:lnTo>
                  <a:pt x="0" y="6477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145">
            <a:solidFill>
              <a:srgbClr val="111111"/>
            </a:solidFill>
            <a:prstDash val="solid"/>
          </a:ln>
        </p:spPr>
      </p:sp>
      <p:sp>
        <p:nvSpPr>
          <p:cNvPr id="93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23CA916E-305D-4983-B9CD-49BBA0A5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0925" y="2686050"/>
            <a:ext cx="114300" cy="114300"/>
          </a:xfrm>
          <a:custGeom xmlns:a="http://schemas.openxmlformats.org/drawingml/2006/main">
            <a:pathLst>
              <a:path w="114300" h="114300">
                <a:moveTo>
                  <a:pt x="0" y="0"/>
                </a:moveTo>
                <a:lnTo>
                  <a:pt x="0" y="114300"/>
                </a:lnTo>
                <a:lnTo>
                  <a:pt x="11430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4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03FDB02C-39F3-49C0-B8CF-39AACE59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9465" y="2912745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5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DC47B088-C9D6-44D5-BB1C-E239B8B2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9465" y="3022854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6" name="Editable rule">
            <a:extLst xmlns:a="http://schemas.openxmlformats.org/drawingml/2006/main">
              <a:ext uri="{FF2B5EF4-FFF2-40B4-BE49-F238E27FC236}">
                <a16:creationId xmlns:a16="http://schemas.microsoft.com/office/drawing/2014/main" id="{168AE3AD-AFA0-4008-8844-51D10458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9465" y="3132963"/>
            <a:ext cx="251460" cy="9525"/>
          </a:xfrm>
          <a:custGeom xmlns:a="http://schemas.openxmlformats.org/drawingml/2006/main">
            <a:pathLst>
              <a:path w="251460" h="9525">
                <a:moveTo>
                  <a:pt x="0" y="0"/>
                </a:moveTo>
                <a:lnTo>
                  <a:pt x="2514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97" name="Checked">
            <a:extLst xmlns:a="http://schemas.openxmlformats.org/drawingml/2006/main">
              <a:ext uri="{FF2B5EF4-FFF2-40B4-BE49-F238E27FC236}">
                <a16:creationId xmlns:a16="http://schemas.microsoft.com/office/drawing/2014/main" id="{10CD011C-4DFF-40D1-A322-2CB59381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77975" y="3857435"/>
            <a:ext cx="12573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Checked</a:t>
            </a:r>
          </a:p>
        </p:txBody>
      </p:sp>
      <p:sp>
        <p:nvSpPr>
          <p:cNvPr id="98" name="global claim">
            <a:extLst xmlns:a="http://schemas.openxmlformats.org/drawingml/2006/main">
              <a:ext uri="{FF2B5EF4-FFF2-40B4-BE49-F238E27FC236}">
                <a16:creationId xmlns:a16="http://schemas.microsoft.com/office/drawing/2014/main" id="{35E93529-5ADA-41A4-9E1F-D19375D7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77975" y="4100513"/>
            <a:ext cx="12573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global claim</a:t>
            </a:r>
          </a:p>
        </p:txBody>
      </p:sp>
      <p:sp>
        <p:nvSpPr>
          <p:cNvPr id="99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D3F62F5-5EB6-4F37-B884-AD91CAD0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3714750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0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F7939E16-4353-43ED-9BD3-6A5E07EC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042E56DB-CC26-4583-85E0-6AA888CB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238750"/>
            <a:ext cx="9191625" cy="581025"/>
          </a:xfrm>
          <a:custGeom xmlns:a="http://schemas.openxmlformats.org/drawingml/2006/main">
            <a:pathLst>
              <a:path w="9191625" h="581025">
                <a:moveTo>
                  <a:pt x="9191625" y="0"/>
                </a:moveTo>
                <a:lnTo>
                  <a:pt x="9191625" y="581025"/>
                </a:lnTo>
                <a:lnTo>
                  <a:pt x="0" y="58102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dash"/>
          </a:ln>
        </p:spPr>
      </p:sp>
      <p:sp>
        <p:nvSpPr>
          <p:cNvPr id="10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D8FAC22F-10DC-471F-9AFB-FCE75C84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387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95250" y="11430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03" name="Revise unproved obligations">
            <a:extLst xmlns:a="http://schemas.openxmlformats.org/drawingml/2006/main">
              <a:ext uri="{FF2B5EF4-FFF2-40B4-BE49-F238E27FC236}">
                <a16:creationId xmlns:a16="http://schemas.microsoft.com/office/drawing/2014/main" id="{FC421371-5512-42BA-94E2-B40AD726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899976"/>
            <a:ext cx="533400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Revise unproved obligations</a:t>
            </a:r>
          </a:p>
        </p:txBody>
      </p:sp>
      <p:sp>
        <p:nvSpPr>
          <p:cNvPr id="104" name="Proof reuse across callers">
            <a:extLst xmlns:a="http://schemas.openxmlformats.org/drawingml/2006/main">
              <a:ext uri="{FF2B5EF4-FFF2-40B4-BE49-F238E27FC236}">
                <a16:creationId xmlns:a16="http://schemas.microsoft.com/office/drawing/2014/main" id="{0707BC93-C2A1-4FFB-B89A-81699736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2391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5" name="Reuse requires each caller to meet the library contract">
            <a:extLst xmlns:a="http://schemas.openxmlformats.org/drawingml/2006/main">
              <a:ext uri="{FF2B5EF4-FFF2-40B4-BE49-F238E27FC236}">
                <a16:creationId xmlns:a16="http://schemas.microsoft.com/office/drawing/2014/main" id="{0D616A34-4121-4ED6-BE2C-C0EECD27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623876"/>
            <a:ext cx="785812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Reuse requires each caller to meet the library contract</a:t>
            </a:r>
          </a:p>
        </p:txBody>
      </p:sp>
      <p:sp>
        <p:nvSpPr>
          <p:cNvPr id="106" name="Checked dependency">
            <a:extLst xmlns:a="http://schemas.openxmlformats.org/drawingml/2006/main">
              <a:ext uri="{FF2B5EF4-FFF2-40B4-BE49-F238E27FC236}">
                <a16:creationId xmlns:a16="http://schemas.microsoft.com/office/drawing/2014/main" id="{50A31636-A82C-4951-8D97-619292B9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05650"/>
            <a:ext cx="24765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7" name="Shared library proof">
            <a:extLst xmlns:a="http://schemas.openxmlformats.org/drawingml/2006/main">
              <a:ext uri="{FF2B5EF4-FFF2-40B4-BE49-F238E27FC236}">
                <a16:creationId xmlns:a16="http://schemas.microsoft.com/office/drawing/2014/main" id="{E4DE6468-92F0-4F9E-8B63-47B088EB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261098"/>
            <a:ext cx="22479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Shared library proof</a:t>
            </a:r>
          </a:p>
        </p:txBody>
      </p:sp>
      <p:sp>
        <p:nvSpPr>
          <p:cNvPr id="108" name="and contract">
            <a:extLst xmlns:a="http://schemas.openxmlformats.org/drawingml/2006/main">
              <a:ext uri="{FF2B5EF4-FFF2-40B4-BE49-F238E27FC236}">
                <a16:creationId xmlns:a16="http://schemas.microsoft.com/office/drawing/2014/main" id="{1955F1AD-D6A4-4DB5-B172-FD39A40D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515225"/>
            <a:ext cx="2247900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contract</a:t>
            </a:r>
          </a:p>
        </p:txBody>
      </p:sp>
      <p:sp>
        <p:nvSpPr>
          <p:cNvPr id="109" name="Caller obligations">
            <a:extLst xmlns:a="http://schemas.openxmlformats.org/drawingml/2006/main">
              <a:ext uri="{FF2B5EF4-FFF2-40B4-BE49-F238E27FC236}">
                <a16:creationId xmlns:a16="http://schemas.microsoft.com/office/drawing/2014/main" id="{92E9945E-6DE3-4309-926A-18C6726D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7038975"/>
            <a:ext cx="3476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0" name="Caller 1: prove preconditions">
            <a:extLst xmlns:a="http://schemas.openxmlformats.org/drawingml/2006/main">
              <a:ext uri="{FF2B5EF4-FFF2-40B4-BE49-F238E27FC236}">
                <a16:creationId xmlns:a16="http://schemas.microsoft.com/office/drawing/2014/main" id="{3AE8BAAB-55A4-4676-8C0B-1AFFE3E2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7131749"/>
            <a:ext cx="32480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Caller 1: prove preconditions</a:t>
            </a:r>
          </a:p>
        </p:txBody>
      </p:sp>
      <p:sp>
        <p:nvSpPr>
          <p:cNvPr id="111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0800461-CE9A-4334-9942-9BCA1C16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7258050"/>
            <a:ext cx="1857375" cy="247650"/>
          </a:xfrm>
          <a:custGeom xmlns:a="http://schemas.openxmlformats.org/drawingml/2006/main">
            <a:pathLst>
              <a:path w="1857375" h="247650">
                <a:moveTo>
                  <a:pt x="0" y="247650"/>
                </a:moveTo>
                <a:lnTo>
                  <a:pt x="1390650" y="247650"/>
                </a:lnTo>
                <a:lnTo>
                  <a:pt x="1390650" y="0"/>
                </a:lnTo>
                <a:lnTo>
                  <a:pt x="1857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2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5FD3715F-BC75-4966-9089-044F0752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72104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13" name="Caller obligations">
            <a:extLst xmlns:a="http://schemas.openxmlformats.org/drawingml/2006/main">
              <a:ext uri="{FF2B5EF4-FFF2-40B4-BE49-F238E27FC236}">
                <a16:creationId xmlns:a16="http://schemas.microsoft.com/office/drawing/2014/main" id="{C69177EA-85FD-4858-96FF-E806FE6E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7639050"/>
            <a:ext cx="3476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4" name="Caller 2: prove preconditions">
            <a:extLst xmlns:a="http://schemas.openxmlformats.org/drawingml/2006/main">
              <a:ext uri="{FF2B5EF4-FFF2-40B4-BE49-F238E27FC236}">
                <a16:creationId xmlns:a16="http://schemas.microsoft.com/office/drawing/2014/main" id="{F87B6CEF-C3A8-4C96-B9E5-EB3C96B0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7731824"/>
            <a:ext cx="324802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Caller 2: prove preconditions</a:t>
            </a:r>
          </a:p>
        </p:txBody>
      </p:sp>
      <p:sp>
        <p:nvSpPr>
          <p:cNvPr id="11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4B00E8B5-DCA6-40A5-9706-A03561D8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7505700"/>
            <a:ext cx="1857375" cy="352425"/>
          </a:xfrm>
          <a:custGeom xmlns:a="http://schemas.openxmlformats.org/drawingml/2006/main">
            <a:pathLst>
              <a:path w="1857375" h="352425">
                <a:moveTo>
                  <a:pt x="0" y="0"/>
                </a:moveTo>
                <a:lnTo>
                  <a:pt x="1390650" y="0"/>
                </a:lnTo>
                <a:lnTo>
                  <a:pt x="1390650" y="352425"/>
                </a:lnTo>
                <a:lnTo>
                  <a:pt x="1857375" y="3524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1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8D70304D-960C-4113-BFD5-BC17D96C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78105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17" name="Revalidation after changes">
            <a:extLst xmlns:a="http://schemas.openxmlformats.org/drawingml/2006/main">
              <a:ext uri="{FF2B5EF4-FFF2-40B4-BE49-F238E27FC236}">
                <a16:creationId xmlns:a16="http://schemas.microsoft.com/office/drawing/2014/main" id="{797596BB-B8B1-4168-AC74-8F96A294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77000"/>
            <a:ext cx="6762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8" name="After any relevant change">
            <a:extLst xmlns:a="http://schemas.openxmlformats.org/drawingml/2006/main">
              <a:ext uri="{FF2B5EF4-FFF2-40B4-BE49-F238E27FC236}">
                <a16:creationId xmlns:a16="http://schemas.microsoft.com/office/drawing/2014/main" id="{30CD3898-56EE-4EDB-A4A4-5F007CA8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6618351"/>
            <a:ext cx="6362700" cy="298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After any relevant change</a:t>
            </a:r>
          </a:p>
        </p:txBody>
      </p:sp>
      <p:sp>
        <p:nvSpPr>
          <p:cNvPr id="119" name="Relevant change">
            <a:extLst xmlns:a="http://schemas.openxmlformats.org/drawingml/2006/main">
              <a:ext uri="{FF2B5EF4-FFF2-40B4-BE49-F238E27FC236}">
                <a16:creationId xmlns:a16="http://schemas.microsoft.com/office/drawing/2014/main" id="{58D1B96A-A34B-4470-8960-BD91C69B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7105650"/>
            <a:ext cx="28575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0" name="Code, contract, property,">
            <a:extLst xmlns:a="http://schemas.openxmlformats.org/drawingml/2006/main">
              <a:ext uri="{FF2B5EF4-FFF2-40B4-BE49-F238E27FC236}">
                <a16:creationId xmlns:a16="http://schemas.microsoft.com/office/drawing/2014/main" id="{3243F6FC-C0B6-49AF-A0A6-08AC44D1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7273671"/>
            <a:ext cx="26289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Code, contract, property,</a:t>
            </a:r>
          </a:p>
        </p:txBody>
      </p:sp>
      <p:sp>
        <p:nvSpPr>
          <p:cNvPr id="121" name="model, or assumptions">
            <a:extLst xmlns:a="http://schemas.openxmlformats.org/drawingml/2006/main">
              <a:ext uri="{FF2B5EF4-FFF2-40B4-BE49-F238E27FC236}">
                <a16:creationId xmlns:a16="http://schemas.microsoft.com/office/drawing/2014/main" id="{D12673A9-23B7-4B0A-9378-A25A4B84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7505700"/>
            <a:ext cx="26289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model, or assumptions</a:t>
            </a:r>
          </a:p>
        </p:txBody>
      </p:sp>
      <p:sp>
        <p:nvSpPr>
          <p:cNvPr id="122" name="Affected obligation revalidation">
            <a:extLst xmlns:a="http://schemas.openxmlformats.org/drawingml/2006/main">
              <a:ext uri="{FF2B5EF4-FFF2-40B4-BE49-F238E27FC236}">
                <a16:creationId xmlns:a16="http://schemas.microsoft.com/office/drawing/2014/main" id="{A43B4094-F152-4B53-A082-31BC83F0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7105650"/>
            <a:ext cx="3000375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23" name="Recheck affected local">
            <a:extLst xmlns:a="http://schemas.openxmlformats.org/drawingml/2006/main">
              <a:ext uri="{FF2B5EF4-FFF2-40B4-BE49-F238E27FC236}">
                <a16:creationId xmlns:a16="http://schemas.microsoft.com/office/drawing/2014/main" id="{BA45F15C-E9EE-44BA-A511-3A79384D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7273671"/>
            <a:ext cx="27717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Recheck affected local</a:t>
            </a:r>
          </a:p>
        </p:txBody>
      </p:sp>
      <p:sp>
        <p:nvSpPr>
          <p:cNvPr id="124" name="and composition obligations">
            <a:extLst xmlns:a="http://schemas.openxmlformats.org/drawingml/2006/main">
              <a:ext uri="{FF2B5EF4-FFF2-40B4-BE49-F238E27FC236}">
                <a16:creationId xmlns:a16="http://schemas.microsoft.com/office/drawing/2014/main" id="{618326C9-5E66-4F52-8A99-91C477DA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4425" y="7505700"/>
            <a:ext cx="2771775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composition obligations</a:t>
            </a:r>
          </a:p>
        </p:txBody>
      </p:sp>
      <p:sp>
        <p:nvSpPr>
          <p:cNvPr id="125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95144489-2C3D-4FC2-B17C-F98B9DE3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7505700"/>
            <a:ext cx="523875" cy="9525"/>
          </a:xfrm>
          <a:custGeom xmlns:a="http://schemas.openxmlformats.org/drawingml/2006/main">
            <a:pathLst>
              <a:path w="523875" h="9525">
                <a:moveTo>
                  <a:pt x="0" y="0"/>
                </a:moveTo>
                <a:lnTo>
                  <a:pt x="523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26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74B9ACFE-D4B4-4796-A229-A54B9199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5825" y="7458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127" name="Composition requires discharged caller obligations and a checked argument from l">
            <a:extLst xmlns:a="http://schemas.openxmlformats.org/drawingml/2006/main">
              <a:ext uri="{FF2B5EF4-FFF2-40B4-BE49-F238E27FC236}">
                <a16:creationId xmlns:a16="http://schemas.microsoft.com/office/drawing/2014/main" id="{9C3B2A54-F3CF-4AA3-805E-64439E95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542211"/>
            <a:ext cx="151638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Composition requires discharged caller obligations and a checked argument from local claims to the global property.</a:t>
            </a:r>
          </a:p>
        </p:txBody>
      </p:sp>
    </p:spTree>
    <p:extLst>
      <p:ext uri="{BB962C8B-B14F-4D97-AF65-F5344CB8AC3E}">
        <p14:creationId xmlns:p14="http://schemas.microsoft.com/office/powerpoint/2010/main" val="14000931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Trustworthy Verification Feedback">
            <a:extLst xmlns:a="http://schemas.openxmlformats.org/drawingml/2006/main">
              <a:ext uri="{FF2B5EF4-FFF2-40B4-BE49-F238E27FC236}">
                <a16:creationId xmlns:a16="http://schemas.microsoft.com/office/drawing/2014/main" id="{665598FB-752F-4178-85A1-66523975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7348"/>
            <a:ext cx="13735050" cy="5082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4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Trustworthy Verification Feedback</a:t>
            </a:r>
          </a:p>
        </p:txBody>
      </p:sp>
      <p:sp>
        <p:nvSpPr>
          <p:cNvPr id="2" name="A checked theorem still needs a review of its scope and intended use">
            <a:extLst xmlns:a="http://schemas.openxmlformats.org/drawingml/2006/main">
              <a:ext uri="{FF2B5EF4-FFF2-40B4-BE49-F238E27FC236}">
                <a16:creationId xmlns:a16="http://schemas.microsoft.com/office/drawing/2014/main" id="{BAE96F8F-88C5-4332-B5C0-454C95FB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3715"/>
            <a:ext cx="13068300" cy="320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checked theorem still needs a review of its scope and intended use</a:t>
            </a:r>
          </a:p>
        </p:txBody>
      </p:sp>
      <p:sp>
        <p:nvSpPr>
          <p:cNvPr id="3" name="Proposed research">
            <a:extLst xmlns:a="http://schemas.openxmlformats.org/drawingml/2006/main">
              <a:ext uri="{FF2B5EF4-FFF2-40B4-BE49-F238E27FC236}">
                <a16:creationId xmlns:a16="http://schemas.microsoft.com/office/drawing/2014/main" id="{112154A1-090F-400D-99AB-5CD82C39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17361"/>
            <a:ext cx="2190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Proposed research</a:t>
            </a:r>
          </a:p>
        </p:txBody>
      </p:sp>
      <p:sp>
        <p:nvSpPr>
          <p:cNvPr id="4" name="Evidence review stage">
            <a:extLst xmlns:a="http://schemas.openxmlformats.org/drawingml/2006/main">
              <a:ext uri="{FF2B5EF4-FFF2-40B4-BE49-F238E27FC236}">
                <a16:creationId xmlns:a16="http://schemas.microsoft.com/office/drawing/2014/main" id="{3138C336-5071-4150-99C5-64D85537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809750"/>
            <a:ext cx="31432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5" name="Stage 1">
            <a:extLst xmlns:a="http://schemas.openxmlformats.org/drawingml/2006/main">
              <a:ext uri="{FF2B5EF4-FFF2-40B4-BE49-F238E27FC236}">
                <a16:creationId xmlns:a16="http://schemas.microsoft.com/office/drawing/2014/main" id="{F0D5C07F-49C5-4AFF-A90E-50F3993D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628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" name="1">
            <a:extLst xmlns:a="http://schemas.openxmlformats.org/drawingml/2006/main">
              <a:ext uri="{FF2B5EF4-FFF2-40B4-BE49-F238E27FC236}">
                <a16:creationId xmlns:a16="http://schemas.microsoft.com/office/drawing/2014/main" id="{19AB69B8-A688-4E86-8A39-FF6856A6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673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Fix the">
            <a:extLst xmlns:a="http://schemas.openxmlformats.org/drawingml/2006/main">
              <a:ext uri="{FF2B5EF4-FFF2-40B4-BE49-F238E27FC236}">
                <a16:creationId xmlns:a16="http://schemas.microsoft.com/office/drawing/2014/main" id="{75BBCC13-5D8A-4E34-8A57-75BDEC68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043303"/>
            <a:ext cx="283845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Fix the</a:t>
            </a:r>
          </a:p>
        </p:txBody>
      </p:sp>
      <p:sp>
        <p:nvSpPr>
          <p:cNvPr id="8" name="verification target">
            <a:extLst xmlns:a="http://schemas.openxmlformats.org/drawingml/2006/main">
              <a:ext uri="{FF2B5EF4-FFF2-40B4-BE49-F238E27FC236}">
                <a16:creationId xmlns:a16="http://schemas.microsoft.com/office/drawing/2014/main" id="{CA8E442D-A957-42E8-9238-76F082BC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52675"/>
            <a:ext cx="283845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verification target</a:t>
            </a:r>
          </a:p>
        </p:txBody>
      </p:sp>
      <p:sp>
        <p:nvSpPr>
          <p:cNvPr id="9" name="Evidence review stage">
            <a:extLst xmlns:a="http://schemas.openxmlformats.org/drawingml/2006/main">
              <a:ext uri="{FF2B5EF4-FFF2-40B4-BE49-F238E27FC236}">
                <a16:creationId xmlns:a16="http://schemas.microsoft.com/office/drawing/2014/main" id="{23F4DFEA-E387-4832-8DDD-A5B2A28C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809750"/>
            <a:ext cx="2667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0" name="Stage 2">
            <a:extLst xmlns:a="http://schemas.openxmlformats.org/drawingml/2006/main">
              <a:ext uri="{FF2B5EF4-FFF2-40B4-BE49-F238E27FC236}">
                <a16:creationId xmlns:a16="http://schemas.microsoft.com/office/drawing/2014/main" id="{008D2CB0-45E9-42E3-B4F7-02693DC6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628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1" name="2">
            <a:extLst xmlns:a="http://schemas.openxmlformats.org/drawingml/2006/main">
              <a:ext uri="{FF2B5EF4-FFF2-40B4-BE49-F238E27FC236}">
                <a16:creationId xmlns:a16="http://schemas.microsoft.com/office/drawing/2014/main" id="{E9E75198-F9A8-4498-BCF7-941609B4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673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Check the">
            <a:extLst xmlns:a="http://schemas.openxmlformats.org/drawingml/2006/main">
              <a:ext uri="{FF2B5EF4-FFF2-40B4-BE49-F238E27FC236}">
                <a16:creationId xmlns:a16="http://schemas.microsoft.com/office/drawing/2014/main" id="{0AB8AF46-ED1A-4610-B458-F54ADA85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043303"/>
            <a:ext cx="236220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Check the</a:t>
            </a:r>
          </a:p>
        </p:txBody>
      </p:sp>
      <p:sp>
        <p:nvSpPr>
          <p:cNvPr id="13" name="formal claim">
            <a:extLst xmlns:a="http://schemas.openxmlformats.org/drawingml/2006/main">
              <a:ext uri="{FF2B5EF4-FFF2-40B4-BE49-F238E27FC236}">
                <a16:creationId xmlns:a16="http://schemas.microsoft.com/office/drawing/2014/main" id="{16EE5D54-7F27-4967-B25E-809D8BF9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352675"/>
            <a:ext cx="236220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formal claim</a:t>
            </a:r>
          </a:p>
        </p:txBody>
      </p:sp>
      <p:sp>
        <p:nvSpPr>
          <p:cNvPr id="14" name="Evidence review stage">
            <a:extLst xmlns:a="http://schemas.openxmlformats.org/drawingml/2006/main">
              <a:ext uri="{FF2B5EF4-FFF2-40B4-BE49-F238E27FC236}">
                <a16:creationId xmlns:a16="http://schemas.microsoft.com/office/drawing/2014/main" id="{6DE5CAC6-E54A-4E03-BA5D-0DCFF6ED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09750"/>
            <a:ext cx="48577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5" name="Stage 3">
            <a:extLst xmlns:a="http://schemas.openxmlformats.org/drawingml/2006/main">
              <a:ext uri="{FF2B5EF4-FFF2-40B4-BE49-F238E27FC236}">
                <a16:creationId xmlns:a16="http://schemas.microsoft.com/office/drawing/2014/main" id="{89064713-8B17-4CAE-AF65-6F52281A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28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2154281B-4C74-4A1C-A78E-4F8BCD12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73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Assess the evidence">
            <a:extLst xmlns:a="http://schemas.openxmlformats.org/drawingml/2006/main">
              <a:ext uri="{FF2B5EF4-FFF2-40B4-BE49-F238E27FC236}">
                <a16:creationId xmlns:a16="http://schemas.microsoft.com/office/drawing/2014/main" id="{69A033C0-73CE-4FDB-A4A0-1F4947E5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97989"/>
            <a:ext cx="4552950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Assess the evidence</a:t>
            </a:r>
          </a:p>
        </p:txBody>
      </p:sp>
      <p:sp>
        <p:nvSpPr>
          <p:cNvPr id="18" name="Evidence review stage">
            <a:extLst xmlns:a="http://schemas.openxmlformats.org/drawingml/2006/main">
              <a:ext uri="{FF2B5EF4-FFF2-40B4-BE49-F238E27FC236}">
                <a16:creationId xmlns:a16="http://schemas.microsoft.com/office/drawing/2014/main" id="{6DDCE536-3C8E-44A9-A1CC-0139EA09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1809750"/>
            <a:ext cx="3381375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19" name="Stage 4">
            <a:extLst xmlns:a="http://schemas.openxmlformats.org/drawingml/2006/main">
              <a:ext uri="{FF2B5EF4-FFF2-40B4-BE49-F238E27FC236}">
                <a16:creationId xmlns:a16="http://schemas.microsoft.com/office/drawing/2014/main" id="{4F2F8290-A5B1-432F-8450-75DAF615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338" y="1628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3F8E997C-1F8D-4A85-B5BA-63976F3E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338" y="1673295"/>
            <a:ext cx="361950" cy="27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52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ord the">
            <a:extLst xmlns:a="http://schemas.openxmlformats.org/drawingml/2006/main">
              <a:ext uri="{FF2B5EF4-FFF2-40B4-BE49-F238E27FC236}">
                <a16:creationId xmlns:a16="http://schemas.microsoft.com/office/drawing/2014/main" id="{47870BEB-DDE0-4745-B8BB-2415CA06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92025" y="2043303"/>
            <a:ext cx="3076575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Record the</a:t>
            </a:r>
          </a:p>
        </p:txBody>
      </p:sp>
      <p:sp>
        <p:nvSpPr>
          <p:cNvPr id="22" name="allowed use">
            <a:extLst xmlns:a="http://schemas.openxmlformats.org/drawingml/2006/main">
              <a:ext uri="{FF2B5EF4-FFF2-40B4-BE49-F238E27FC236}">
                <a16:creationId xmlns:a16="http://schemas.microsoft.com/office/drawing/2014/main" id="{2F445389-69B6-4A09-8D57-24823518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92025" y="2352675"/>
            <a:ext cx="3076575" cy="309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allowed use</a:t>
            </a:r>
          </a:p>
        </p:txBody>
      </p:sp>
      <p:sp>
        <p:nvSpPr>
          <p:cNvPr id="23" name="Approved property">
            <a:extLst xmlns:a="http://schemas.openxmlformats.org/drawingml/2006/main">
              <a:ext uri="{FF2B5EF4-FFF2-40B4-BE49-F238E27FC236}">
                <a16:creationId xmlns:a16="http://schemas.microsoft.com/office/drawing/2014/main" id="{ADD83123-FC24-459E-80A2-9FDE288B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924937"/>
            <a:ext cx="27813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Approved property</a:t>
            </a:r>
          </a:p>
        </p:txBody>
      </p:sp>
      <p:sp>
        <p:nvSpPr>
          <p:cNvPr id="24" name="Exact code version">
            <a:extLst xmlns:a="http://schemas.openxmlformats.org/drawingml/2006/main">
              <a:ext uri="{FF2B5EF4-FFF2-40B4-BE49-F238E27FC236}">
                <a16:creationId xmlns:a16="http://schemas.microsoft.com/office/drawing/2014/main" id="{9B8744FB-3F52-4260-9094-2A85B724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391662"/>
            <a:ext cx="27813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Exact code version</a:t>
            </a:r>
          </a:p>
        </p:txBody>
      </p:sp>
      <p:sp>
        <p:nvSpPr>
          <p:cNvPr id="25" name="Input domain and model">
            <a:extLst xmlns:a="http://schemas.openxmlformats.org/drawingml/2006/main">
              <a:ext uri="{FF2B5EF4-FFF2-40B4-BE49-F238E27FC236}">
                <a16:creationId xmlns:a16="http://schemas.microsoft.com/office/drawing/2014/main" id="{711EF2CB-5D3A-41D9-8211-35222DA2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869436"/>
            <a:ext cx="2781300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Input domain and model</a:t>
            </a:r>
          </a:p>
        </p:txBody>
      </p:sp>
      <p:sp>
        <p:nvSpPr>
          <p:cNvPr id="26" name="Stated assumptions">
            <a:extLst xmlns:a="http://schemas.openxmlformats.org/drawingml/2006/main">
              <a:ext uri="{FF2B5EF4-FFF2-40B4-BE49-F238E27FC236}">
                <a16:creationId xmlns:a16="http://schemas.microsoft.com/office/drawing/2014/main" id="{9E143CD9-6FC9-4377-BE51-B214CCD8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325112"/>
            <a:ext cx="27813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Stated assumptions</a:t>
            </a:r>
          </a:p>
        </p:txBody>
      </p:sp>
      <p:sp>
        <p:nvSpPr>
          <p:cNvPr id="27" name="Candidate proof">
            <a:extLst xmlns:a="http://schemas.openxmlformats.org/drawingml/2006/main">
              <a:ext uri="{FF2B5EF4-FFF2-40B4-BE49-F238E27FC236}">
                <a16:creationId xmlns:a16="http://schemas.microsoft.com/office/drawing/2014/main" id="{557CCA6A-A0BD-4651-812D-385B330C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791837"/>
            <a:ext cx="27813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Candidate proof</a:t>
            </a:r>
          </a:p>
        </p:txBody>
      </p:sp>
      <p:sp>
        <p:nvSpPr>
          <p:cNvPr id="28" name="Editable check mark">
            <a:extLst xmlns:a="http://schemas.openxmlformats.org/drawingml/2006/main">
              <a:ext uri="{FF2B5EF4-FFF2-40B4-BE49-F238E27FC236}">
                <a16:creationId xmlns:a16="http://schemas.microsoft.com/office/drawing/2014/main" id="{8B54E896-7598-475D-B252-018220C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76550"/>
            <a:ext cx="447675" cy="402908"/>
          </a:xfrm>
          <a:custGeom xmlns:a="http://schemas.openxmlformats.org/drawingml/2006/main">
            <a:pathLst>
              <a:path w="447675" h="402908">
                <a:moveTo>
                  <a:pt x="0" y="246221"/>
                </a:moveTo>
                <a:lnTo>
                  <a:pt x="156686" y="402908"/>
                </a:lnTo>
                <a:lnTo>
                  <a:pt x="447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  <a:prstDash val="solid"/>
          </a:ln>
        </p:spPr>
      </p:sp>
      <p:sp>
        <p:nvSpPr>
          <p:cNvPr id="29" name="Accepted proof">
            <a:extLst xmlns:a="http://schemas.openxmlformats.org/drawingml/2006/main">
              <a:ext uri="{FF2B5EF4-FFF2-40B4-BE49-F238E27FC236}">
                <a16:creationId xmlns:a16="http://schemas.microsoft.com/office/drawing/2014/main" id="{45CE2CB3-C571-45B8-A21A-C835740E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602736"/>
            <a:ext cx="23241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Accepted proof</a:t>
            </a:r>
          </a:p>
        </p:txBody>
      </p:sp>
      <p:sp>
        <p:nvSpPr>
          <p:cNvPr id="30" name="establishes the">
            <a:extLst xmlns:a="http://schemas.openxmlformats.org/drawingml/2006/main">
              <a:ext uri="{FF2B5EF4-FFF2-40B4-BE49-F238E27FC236}">
                <a16:creationId xmlns:a16="http://schemas.microsoft.com/office/drawing/2014/main" id="{048F408E-2AB7-452F-9F48-6AFABE15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867912"/>
            <a:ext cx="23241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establishes the</a:t>
            </a:r>
          </a:p>
        </p:txBody>
      </p:sp>
      <p:sp>
        <p:nvSpPr>
          <p:cNvPr id="31" name="stated theorem.">
            <a:extLst xmlns:a="http://schemas.openxmlformats.org/drawingml/2006/main">
              <a:ext uri="{FF2B5EF4-FFF2-40B4-BE49-F238E27FC236}">
                <a16:creationId xmlns:a16="http://schemas.microsoft.com/office/drawing/2014/main" id="{6CFC9611-E573-4283-9971-C1203853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133088"/>
            <a:ext cx="23241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stated theorem.</a:t>
            </a:r>
          </a:p>
        </p:txBody>
      </p:sp>
      <p:sp>
        <p:nvSpPr>
          <p:cNvPr id="32" name="Rejected or unknown:">
            <a:extLst xmlns:a="http://schemas.openxmlformats.org/drawingml/2006/main">
              <a:ext uri="{FF2B5EF4-FFF2-40B4-BE49-F238E27FC236}">
                <a16:creationId xmlns:a16="http://schemas.microsoft.com/office/drawing/2014/main" id="{797C9C44-80A6-40B2-860F-E5448CAD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887659"/>
            <a:ext cx="23431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Rejected or unknown:</a:t>
            </a:r>
          </a:p>
        </p:txBody>
      </p:sp>
      <p:sp>
        <p:nvSpPr>
          <p:cNvPr id="33" name="claim remains unproved.">
            <a:extLst xmlns:a="http://schemas.openxmlformats.org/drawingml/2006/main">
              <a:ext uri="{FF2B5EF4-FFF2-40B4-BE49-F238E27FC236}">
                <a16:creationId xmlns:a16="http://schemas.microsoft.com/office/drawing/2014/main" id="{39E98BA8-565D-4698-93C9-67BBFB73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19688"/>
            <a:ext cx="23431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claim remains unproved.</a:t>
            </a:r>
          </a:p>
        </p:txBody>
      </p:sp>
      <p:sp>
        <p:nvSpPr>
          <p:cNvPr id="34" name="Requirement coverage">
            <a:extLst xmlns:a="http://schemas.openxmlformats.org/drawingml/2006/main">
              <a:ext uri="{FF2B5EF4-FFF2-40B4-BE49-F238E27FC236}">
                <a16:creationId xmlns:a16="http://schemas.microsoft.com/office/drawing/2014/main" id="{6E1FD6F6-30FE-4E0E-8C9D-F0F8C515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6825"/>
            <a:ext cx="44767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Requirement coverage</a:t>
            </a:r>
          </a:p>
        </p:txBody>
      </p:sp>
      <p:sp>
        <p:nvSpPr>
          <p:cNvPr id="35" name="Does the claim address the intended goal?">
            <a:extLst xmlns:a="http://schemas.openxmlformats.org/drawingml/2006/main">
              <a:ext uri="{FF2B5EF4-FFF2-40B4-BE49-F238E27FC236}">
                <a16:creationId xmlns:a16="http://schemas.microsoft.com/office/drawing/2014/main" id="{BB6217E2-8064-40FB-A1A8-82FC606F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27248"/>
            <a:ext cx="4476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Does the claim address the intended goal?</a:t>
            </a:r>
          </a:p>
        </p:txBody>
      </p:sp>
      <p:sp>
        <p:nvSpPr>
          <p:cNvPr id="36" name="Artifact match">
            <a:extLst xmlns:a="http://schemas.openxmlformats.org/drawingml/2006/main">
              <a:ext uri="{FF2B5EF4-FFF2-40B4-BE49-F238E27FC236}">
                <a16:creationId xmlns:a16="http://schemas.microsoft.com/office/drawing/2014/main" id="{8ED4EAD8-2E85-4F75-BCEA-0253FB43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63100"/>
            <a:ext cx="44767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Artifact match</a:t>
            </a:r>
          </a:p>
        </p:txBody>
      </p:sp>
      <p:sp>
        <p:nvSpPr>
          <p:cNvPr id="37" name="Same code, property, model, and assumptions?">
            <a:extLst xmlns:a="http://schemas.openxmlformats.org/drawingml/2006/main">
              <a:ext uri="{FF2B5EF4-FFF2-40B4-BE49-F238E27FC236}">
                <a16:creationId xmlns:a16="http://schemas.microsoft.com/office/drawing/2014/main" id="{7C2E8D37-56AB-41E4-BE3A-0C50DAE9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03523"/>
            <a:ext cx="4476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Same code, property, model, and assumptions?</a:t>
            </a:r>
          </a:p>
        </p:txBody>
      </p:sp>
      <p:sp>
        <p:nvSpPr>
          <p:cNvPr id="38" name="Assumption validity">
            <a:extLst xmlns:a="http://schemas.openxmlformats.org/drawingml/2006/main">
              <a:ext uri="{FF2B5EF4-FFF2-40B4-BE49-F238E27FC236}">
                <a16:creationId xmlns:a16="http://schemas.microsoft.com/office/drawing/2014/main" id="{25A6B550-7A5B-492F-B941-3DD4917F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39375"/>
            <a:ext cx="44767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Assumption validity</a:t>
            </a:r>
          </a:p>
        </p:txBody>
      </p:sp>
      <p:sp>
        <p:nvSpPr>
          <p:cNvPr id="39" name="Consistent, feasible, and justified?">
            <a:extLst xmlns:a="http://schemas.openxmlformats.org/drawingml/2006/main">
              <a:ext uri="{FF2B5EF4-FFF2-40B4-BE49-F238E27FC236}">
                <a16:creationId xmlns:a16="http://schemas.microsoft.com/office/drawing/2014/main" id="{463A2514-F44C-47ED-AE0E-48DA431B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79798"/>
            <a:ext cx="4476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Consistent, feasible, and justified?</a:t>
            </a:r>
          </a:p>
        </p:txBody>
      </p:sp>
      <p:sp>
        <p:nvSpPr>
          <p:cNvPr id="40" name="Behavior preservation">
            <a:extLst xmlns:a="http://schemas.openxmlformats.org/drawingml/2006/main">
              <a:ext uri="{FF2B5EF4-FFF2-40B4-BE49-F238E27FC236}">
                <a16:creationId xmlns:a16="http://schemas.microsoft.com/office/drawing/2014/main" id="{D0B97CA9-09C7-4796-A5FF-FF29D121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5650"/>
            <a:ext cx="447675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Behavior preservation</a:t>
            </a:r>
          </a:p>
        </p:txBody>
      </p:sp>
      <p:sp>
        <p:nvSpPr>
          <p:cNvPr id="41" name="Evidence that required behavior is preserved?">
            <a:extLst xmlns:a="http://schemas.openxmlformats.org/drawingml/2006/main">
              <a:ext uri="{FF2B5EF4-FFF2-40B4-BE49-F238E27FC236}">
                <a16:creationId xmlns:a16="http://schemas.microsoft.com/office/drawing/2014/main" id="{B5C3B903-5986-48F4-9323-69B012B1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56073"/>
            <a:ext cx="4476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Evidence that required behavior is preserved?</a:t>
            </a:r>
          </a:p>
        </p:txBody>
      </p:sp>
      <p:sp>
        <p:nvSpPr>
          <p:cNvPr id="42" name="Under declared criteria">
            <a:extLst xmlns:a="http://schemas.openxmlformats.org/drawingml/2006/main">
              <a:ext uri="{FF2B5EF4-FFF2-40B4-BE49-F238E27FC236}">
                <a16:creationId xmlns:a16="http://schemas.microsoft.com/office/drawing/2014/main" id="{4AF13A4C-0A18-4A4F-B7CD-2177317B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2926461"/>
            <a:ext cx="30384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Under declared criteria</a:t>
            </a:r>
          </a:p>
        </p:txBody>
      </p:sp>
      <p:sp>
        <p:nvSpPr>
          <p:cNvPr id="43" name="Eligible evidence">
            <a:extLst xmlns:a="http://schemas.openxmlformats.org/drawingml/2006/main">
              <a:ext uri="{FF2B5EF4-FFF2-40B4-BE49-F238E27FC236}">
                <a16:creationId xmlns:a16="http://schemas.microsoft.com/office/drawing/2014/main" id="{8516D6A0-CFC2-46E2-8545-BB52A489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3564827"/>
            <a:ext cx="30384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Eligible evidence</a:t>
            </a:r>
          </a:p>
        </p:txBody>
      </p:sp>
      <p:sp>
        <p:nvSpPr>
          <p:cNvPr id="44" name="for learning or">
            <a:extLst xmlns:a="http://schemas.openxmlformats.org/drawingml/2006/main">
              <a:ext uri="{FF2B5EF4-FFF2-40B4-BE49-F238E27FC236}">
                <a16:creationId xmlns:a16="http://schemas.microsoft.com/office/drawing/2014/main" id="{492BAFE0-EA9E-4222-AA1C-A5AF4FB5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3852100"/>
            <a:ext cx="30384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 learning or</a:t>
            </a:r>
          </a:p>
        </p:txBody>
      </p:sp>
      <p:sp>
        <p:nvSpPr>
          <p:cNvPr id="45" name="change review">
            <a:extLst xmlns:a="http://schemas.openxmlformats.org/drawingml/2006/main">
              <a:ext uri="{FF2B5EF4-FFF2-40B4-BE49-F238E27FC236}">
                <a16:creationId xmlns:a16="http://schemas.microsoft.com/office/drawing/2014/main" id="{955DAC92-6C41-4007-826C-86389020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4139375"/>
            <a:ext cx="3038475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change review</a:t>
            </a:r>
          </a:p>
        </p:txBody>
      </p:sp>
      <p:sp>
        <p:nvSpPr>
          <p:cNvPr id="46" name="Record scope, limitations,">
            <a:extLst xmlns:a="http://schemas.openxmlformats.org/drawingml/2006/main">
              <a:ext uri="{FF2B5EF4-FFF2-40B4-BE49-F238E27FC236}">
                <a16:creationId xmlns:a16="http://schemas.microsoft.com/office/drawing/2014/main" id="{8DDBA9C3-EF61-45E1-88C8-EC9307CD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4909947"/>
            <a:ext cx="30384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Record scope, limitations,</a:t>
            </a:r>
          </a:p>
        </p:txBody>
      </p:sp>
      <p:sp>
        <p:nvSpPr>
          <p:cNvPr id="47" name="and approval conditions.">
            <a:extLst xmlns:a="http://schemas.openxmlformats.org/drawingml/2006/main">
              <a:ext uri="{FF2B5EF4-FFF2-40B4-BE49-F238E27FC236}">
                <a16:creationId xmlns:a16="http://schemas.microsoft.com/office/drawing/2014/main" id="{596B621A-DC6F-475C-8967-ED9A5A0C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5153025"/>
            <a:ext cx="3038475" cy="243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approval conditions.</a:t>
            </a:r>
          </a:p>
        </p:txBody>
      </p:sp>
      <p:sp>
        <p:nvSpPr>
          <p:cNvPr id="4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50D7640-9DC1-49A9-87E3-D9E3412B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14750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4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E661A03B-82AC-49A2-828F-2E430CD0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0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150D544-78A4-4561-8C52-891D4805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714750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1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F840147-AD07-4CE5-8EBE-9B91108E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2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B1648E90-E42A-4AAC-92D7-4F4857C7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3714750"/>
            <a:ext cx="428625" cy="9525"/>
          </a:xfrm>
          <a:custGeom xmlns:a="http://schemas.openxmlformats.org/drawingml/2006/main"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3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0159F7DA-FA9D-4436-9D83-7CA24F28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36671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4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C19F0E72-9CDB-446C-BAC8-9BFAE802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619750"/>
            <a:ext cx="9525" cy="609600"/>
          </a:xfrm>
          <a:custGeom xmlns:a="http://schemas.openxmlformats.org/drawingml/2006/main">
            <a:pathLst>
              <a:path w="9525" h="609600">
                <a:moveTo>
                  <a:pt x="0" y="0"/>
                </a:moveTo>
                <a:lnTo>
                  <a:pt x="0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5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1BD7DA75-408F-487D-9EFE-7E08A81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115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56" name="Not">
            <a:extLst xmlns:a="http://schemas.openxmlformats.org/drawingml/2006/main">
              <a:ext uri="{FF2B5EF4-FFF2-40B4-BE49-F238E27FC236}">
                <a16:creationId xmlns:a16="http://schemas.microsoft.com/office/drawing/2014/main" id="{8A76319C-E65F-4F8A-B490-0E1F04DB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711571"/>
            <a:ext cx="14668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Not</a:t>
            </a:r>
          </a:p>
        </p:txBody>
      </p:sp>
      <p:sp>
        <p:nvSpPr>
          <p:cNvPr id="57" name="established">
            <a:extLst xmlns:a="http://schemas.openxmlformats.org/drawingml/2006/main">
              <a:ext uri="{FF2B5EF4-FFF2-40B4-BE49-F238E27FC236}">
                <a16:creationId xmlns:a16="http://schemas.microsoft.com/office/drawing/2014/main" id="{D238A4C9-FE74-4E9F-BF95-295B5AC6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943600"/>
            <a:ext cx="14668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established</a:t>
            </a:r>
          </a:p>
        </p:txBody>
      </p:sp>
      <p:sp>
        <p:nvSpPr>
          <p:cNvPr id="58" name="Editable flow path">
            <a:extLst xmlns:a="http://schemas.openxmlformats.org/drawingml/2006/main">
              <a:ext uri="{FF2B5EF4-FFF2-40B4-BE49-F238E27FC236}">
                <a16:creationId xmlns:a16="http://schemas.microsoft.com/office/drawing/2014/main" id="{74046BDC-3E53-4C04-BEAB-6850414B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619750"/>
            <a:ext cx="9525" cy="609600"/>
          </a:xfrm>
          <a:custGeom xmlns:a="http://schemas.openxmlformats.org/drawingml/2006/main">
            <a:pathLst>
              <a:path w="9525" h="609600">
                <a:moveTo>
                  <a:pt x="0" y="0"/>
                </a:moveTo>
                <a:lnTo>
                  <a:pt x="0" y="6096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59" name="Editable arrowhead">
            <a:extLst xmlns:a="http://schemas.openxmlformats.org/drawingml/2006/main">
              <a:ext uri="{FF2B5EF4-FFF2-40B4-BE49-F238E27FC236}">
                <a16:creationId xmlns:a16="http://schemas.microsoft.com/office/drawing/2014/main" id="{5BA4D0B8-B16C-4B8C-9994-05D04FEF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150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0" y="0"/>
                </a:lnTo>
                <a:lnTo>
                  <a:pt x="95250" y="0"/>
                </a:lnTo>
                <a:close/>
              </a:path>
            </a:pathLst>
          </a:cu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0" name="Failed or">
            <a:extLst xmlns:a="http://schemas.openxmlformats.org/drawingml/2006/main">
              <a:ext uri="{FF2B5EF4-FFF2-40B4-BE49-F238E27FC236}">
                <a16:creationId xmlns:a16="http://schemas.microsoft.com/office/drawing/2014/main" id="{298BCA65-3C71-40D4-8809-E7D947CC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711571"/>
            <a:ext cx="22098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Failed or</a:t>
            </a:r>
          </a:p>
        </p:txBody>
      </p:sp>
      <p:sp>
        <p:nvSpPr>
          <p:cNvPr id="61" name="inconclusive">
            <a:extLst xmlns:a="http://schemas.openxmlformats.org/drawingml/2006/main">
              <a:ext uri="{FF2B5EF4-FFF2-40B4-BE49-F238E27FC236}">
                <a16:creationId xmlns:a16="http://schemas.microsoft.com/office/drawing/2014/main" id="{5F69BEDE-6939-4F69-A69E-4A603ACB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943600"/>
            <a:ext cx="22098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inconclusive</a:t>
            </a:r>
          </a:p>
        </p:txBody>
      </p:sp>
      <p:sp>
        <p:nvSpPr>
          <p:cNvPr id="62" name="Protected requirements">
            <a:extLst xmlns:a="http://schemas.openxmlformats.org/drawingml/2006/main">
              <a:ext uri="{FF2B5EF4-FFF2-40B4-BE49-F238E27FC236}">
                <a16:creationId xmlns:a16="http://schemas.microsoft.com/office/drawing/2014/main" id="{85E16426-BD2B-4DA8-92AB-98B097E5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23887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3" name="Protect requirements">
            <a:extLst xmlns:a="http://schemas.openxmlformats.org/drawingml/2006/main">
              <a:ext uri="{FF2B5EF4-FFF2-40B4-BE49-F238E27FC236}">
                <a16:creationId xmlns:a16="http://schemas.microsoft.com/office/drawing/2014/main" id="{B8483B34-09FF-4870-8F8A-6136C41A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426137"/>
            <a:ext cx="28194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Protect requirements</a:t>
            </a:r>
          </a:p>
        </p:txBody>
      </p:sp>
      <p:sp>
        <p:nvSpPr>
          <p:cNvPr id="64" name="and acceptance rules">
            <a:extLst xmlns:a="http://schemas.openxmlformats.org/drawingml/2006/main">
              <a:ext uri="{FF2B5EF4-FFF2-40B4-BE49-F238E27FC236}">
                <a16:creationId xmlns:a16="http://schemas.microsoft.com/office/drawing/2014/main" id="{F3CDDEFD-D401-4A35-B27F-630B8D92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691313"/>
            <a:ext cx="2819400" cy="265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and acceptance rules</a:t>
            </a:r>
          </a:p>
        </p:txBody>
      </p:sp>
      <p:sp>
        <p:nvSpPr>
          <p:cNvPr id="65" name="Investigation and review">
            <a:extLst xmlns:a="http://schemas.openxmlformats.org/drawingml/2006/main">
              <a:ext uri="{FF2B5EF4-FFF2-40B4-BE49-F238E27FC236}">
                <a16:creationId xmlns:a16="http://schemas.microsoft.com/office/drawing/2014/main" id="{856E9E60-5185-41D6-9FFF-95F11413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6238875"/>
            <a:ext cx="11763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66" name="Investigate, revise, or request review">
            <a:extLst xmlns:a="http://schemas.openxmlformats.org/drawingml/2006/main">
              <a:ext uri="{FF2B5EF4-FFF2-40B4-BE49-F238E27FC236}">
                <a16:creationId xmlns:a16="http://schemas.microsoft.com/office/drawing/2014/main" id="{F05283E5-44A2-45AC-B311-8C560A7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354128"/>
            <a:ext cx="11287125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Investigate, revise, or request review</a:t>
            </a:r>
          </a:p>
        </p:txBody>
      </p:sp>
      <p:sp>
        <p:nvSpPr>
          <p:cNvPr id="67" name="Keep rejected proofs, valid counterexamples, and unknown results separate.">
            <a:extLst xmlns:a="http://schemas.openxmlformats.org/drawingml/2006/main">
              <a:ext uri="{FF2B5EF4-FFF2-40B4-BE49-F238E27FC236}">
                <a16:creationId xmlns:a16="http://schemas.microsoft.com/office/drawing/2014/main" id="{134B1630-1FD9-4993-8308-110B0038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769037"/>
            <a:ext cx="11287125" cy="2541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Keep rejected proofs, valid counterexamples, and unknown results separate.</a:t>
            </a:r>
          </a:p>
        </p:txBody>
      </p:sp>
      <p:sp>
        <p:nvSpPr>
          <p:cNvPr id="68" name="Failure cases to audit">
            <a:extLst xmlns:a="http://schemas.openxmlformats.org/drawingml/2006/main">
              <a:ext uri="{FF2B5EF4-FFF2-40B4-BE49-F238E27FC236}">
                <a16:creationId xmlns:a16="http://schemas.microsoft.com/office/drawing/2014/main" id="{B1B6E35B-576D-4F1E-990A-EE4ADC2D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385876"/>
            <a:ext cx="1533525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Failure cases to audit</a:t>
            </a:r>
          </a:p>
        </p:txBody>
      </p:sp>
      <p:sp>
        <p:nvSpPr>
          <p:cNvPr id="69" name="Failure case">
            <a:extLst xmlns:a="http://schemas.openxmlformats.org/drawingml/2006/main">
              <a:ext uri="{FF2B5EF4-FFF2-40B4-BE49-F238E27FC236}">
                <a16:creationId xmlns:a16="http://schemas.microsoft.com/office/drawing/2014/main" id="{00184425-1CB3-450F-A641-750A5290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810500"/>
            <a:ext cx="476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0" name="Weak property">
            <a:extLst xmlns:a="http://schemas.openxmlformats.org/drawingml/2006/main">
              <a:ext uri="{FF2B5EF4-FFF2-40B4-BE49-F238E27FC236}">
                <a16:creationId xmlns:a16="http://schemas.microsoft.com/office/drawing/2014/main" id="{EC64376D-D052-4C2E-85BB-9103500C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7862888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Weak property</a:t>
            </a:r>
          </a:p>
        </p:txBody>
      </p:sp>
      <p:sp>
        <p:nvSpPr>
          <p:cNvPr id="71" name="Important requirements are left unspecified.">
            <a:extLst xmlns:a="http://schemas.openxmlformats.org/drawingml/2006/main">
              <a:ext uri="{FF2B5EF4-FFF2-40B4-BE49-F238E27FC236}">
                <a16:creationId xmlns:a16="http://schemas.microsoft.com/office/drawing/2014/main" id="{F0FE2EA8-5388-4EF1-AC4A-D97E9E8D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8189786"/>
            <a:ext cx="4476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Important requirements are left unspecified.</a:t>
            </a:r>
          </a:p>
        </p:txBody>
      </p:sp>
      <p:sp>
        <p:nvSpPr>
          <p:cNvPr id="72" name="Failure case">
            <a:extLst xmlns:a="http://schemas.openxmlformats.org/drawingml/2006/main">
              <a:ext uri="{FF2B5EF4-FFF2-40B4-BE49-F238E27FC236}">
                <a16:creationId xmlns:a16="http://schemas.microsoft.com/office/drawing/2014/main" id="{F1A4FC0B-321C-40F6-BBF9-78E7C673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810500"/>
            <a:ext cx="476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3" name="Unrealistic assumptions">
            <a:extLst xmlns:a="http://schemas.openxmlformats.org/drawingml/2006/main">
              <a:ext uri="{FF2B5EF4-FFF2-40B4-BE49-F238E27FC236}">
                <a16:creationId xmlns:a16="http://schemas.microsoft.com/office/drawing/2014/main" id="{910209AD-19A6-418A-84B1-9FE41E56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7862888"/>
            <a:ext cx="447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Unrealistic assumptions</a:t>
            </a:r>
          </a:p>
        </p:txBody>
      </p:sp>
      <p:sp>
        <p:nvSpPr>
          <p:cNvPr id="74" name="Conditions are inconsistent or never feasible.">
            <a:extLst xmlns:a="http://schemas.openxmlformats.org/drawingml/2006/main">
              <a:ext uri="{FF2B5EF4-FFF2-40B4-BE49-F238E27FC236}">
                <a16:creationId xmlns:a16="http://schemas.microsoft.com/office/drawing/2014/main" id="{700916BE-7A74-4193-8F89-79A7A009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8189786"/>
            <a:ext cx="447675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Conditions are inconsistent or never feasible.</a:t>
            </a:r>
          </a:p>
        </p:txBody>
      </p:sp>
      <p:sp>
        <p:nvSpPr>
          <p:cNvPr id="75" name="Failure case">
            <a:extLst xmlns:a="http://schemas.openxmlformats.org/drawingml/2006/main">
              <a:ext uri="{FF2B5EF4-FFF2-40B4-BE49-F238E27FC236}">
                <a16:creationId xmlns:a16="http://schemas.microsoft.com/office/drawing/2014/main" id="{B73E22D9-390D-4C88-86DF-8E5F802A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7810500"/>
            <a:ext cx="4933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11111"/>
            </a:solidFill>
            <a:prstDash val="solid"/>
          </a:ln>
        </p:spPr>
      </p:sp>
      <p:sp>
        <p:nvSpPr>
          <p:cNvPr id="76" name="Behavior removed">
            <a:extLst xmlns:a="http://schemas.openxmlformats.org/drawingml/2006/main">
              <a:ext uri="{FF2B5EF4-FFF2-40B4-BE49-F238E27FC236}">
                <a16:creationId xmlns:a16="http://schemas.microsoft.com/office/drawing/2014/main" id="{86B86CBF-BD24-4EDC-96A5-2377FFC2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7862888"/>
            <a:ext cx="464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Behavior removed</a:t>
            </a:r>
          </a:p>
        </p:txBody>
      </p:sp>
      <p:sp>
        <p:nvSpPr>
          <p:cNvPr id="77" name="The patch disables required functionality.">
            <a:extLst xmlns:a="http://schemas.openxmlformats.org/drawingml/2006/main">
              <a:ext uri="{FF2B5EF4-FFF2-40B4-BE49-F238E27FC236}">
                <a16:creationId xmlns:a16="http://schemas.microsoft.com/office/drawing/2014/main" id="{CC7971F7-0596-48E5-A045-66D393BF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8189786"/>
            <a:ext cx="4648200" cy="232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patch disables required functionality.</a:t>
            </a:r>
          </a:p>
        </p:txBody>
      </p:sp>
      <p:sp>
        <p:nvSpPr>
          <p:cNvPr id="78" name="A checked proof establishes its theorem. Requirement tests can still miss requir">
            <a:extLst xmlns:a="http://schemas.openxmlformats.org/drawingml/2006/main">
              <a:ext uri="{FF2B5EF4-FFF2-40B4-BE49-F238E27FC236}">
                <a16:creationId xmlns:a16="http://schemas.microsoft.com/office/drawing/2014/main" id="{AB25D974-285B-4A42-B2A1-2A037DC2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666798"/>
            <a:ext cx="151638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checked proof establishes its theorem. Requirement tests can still miss required behavior.</a:t>
            </a:r>
          </a:p>
        </p:txBody>
      </p:sp>
    </p:spTree>
    <p:extLst>
      <p:ext uri="{BB962C8B-B14F-4D97-AF65-F5344CB8AC3E}">
        <p14:creationId xmlns:p14="http://schemas.microsoft.com/office/powerpoint/2010/main" val="15096314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2026-10-25T19:53:06.2190000Z</dcterms:created>
  <dcterms:modified xsi:type="dcterms:W3CDTF">2026-10-25T19:53:06.2190000Z</dcterms:modified>
</coreProperties>
</file>