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084771d4fd4839" /><Relationship Type="http://schemas.openxmlformats.org/officeDocument/2006/relationships/extended-properties" Target="/docProps/app.xml" Id="R6469654164ca4d33" /><Relationship Type="http://schemas.openxmlformats.org/officeDocument/2006/relationships/officeDocument" Target="/ppt/presentation.xml" Id="Re7ce86a4bf284f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b68e06861e4dfd"/>
  </p:sldMasterIdLst>
  <p:notesMasterIdLst>
    <p:notesMasterId xmlns:r="http://schemas.openxmlformats.org/officeDocument/2006/relationships" r:id="R9f0a3deac93142b6"/>
  </p:notesMasterIdLst>
  <p:sldIdLst>
    <p:sldId xmlns:r="http://schemas.openxmlformats.org/officeDocument/2006/relationships" id="256" r:id="R5937f7ee9b6c4e92"/>
    <p:sldId xmlns:r="http://schemas.openxmlformats.org/officeDocument/2006/relationships" id="257" r:id="Rc2f5c2a2e6c047a9"/>
    <p:sldId xmlns:r="http://schemas.openxmlformats.org/officeDocument/2006/relationships" id="258" r:id="Rb05e8c7430ef4cbf"/>
    <p:sldId xmlns:r="http://schemas.openxmlformats.org/officeDocument/2006/relationships" id="259" r:id="Rd2030e91504a4d53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4c24807b5a44ac" /><Relationship Type="http://schemas.openxmlformats.org/officeDocument/2006/relationships/slideMaster" Target="/ppt/slideMasters/slideMaster1.xml" Id="Rc2b68e06861e4dfd" /><Relationship Type="http://schemas.openxmlformats.org/officeDocument/2006/relationships/notesMaster" Target="/ppt/notesMasters/notesMaster1.xml" Id="R9f0a3deac93142b6" /><Relationship Type="http://schemas.openxmlformats.org/officeDocument/2006/relationships/presProps" Target="/ppt/presProps.xml" Id="R7c9b6389d78b4c08" /><Relationship Type="http://schemas.openxmlformats.org/officeDocument/2006/relationships/tableStyles" Target="/ppt/tableStyles.xml" Id="R6202f457b652426a" /><Relationship Type="http://schemas.openxmlformats.org/officeDocument/2006/relationships/slide" Target="/ppt/slides/slide1.xml" Id="R5937f7ee9b6c4e92" /><Relationship Type="http://schemas.openxmlformats.org/officeDocument/2006/relationships/slide" Target="/ppt/slides/slide2.xml" Id="Rc2f5c2a2e6c047a9" /><Relationship Type="http://schemas.openxmlformats.org/officeDocument/2006/relationships/slide" Target="/ppt/slides/slide3.xml" Id="Rb05e8c7430ef4cbf" /><Relationship Type="http://schemas.openxmlformats.org/officeDocument/2006/relationships/slide" Target="/ppt/slides/slide4.xml" Id="Rd2030e91504a4d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51ba4ac7a14b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844de8b8c74522" /><Relationship Type="http://schemas.openxmlformats.org/officeDocument/2006/relationships/notesMaster" Target="/ppt/notesMasters/notesMaster1.xml" Id="R299678d1d42a40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04f7843369475a" /><Relationship Type="http://schemas.openxmlformats.org/officeDocument/2006/relationships/notesMaster" Target="/ppt/notesMasters/notesMaster1.xml" Id="R999b21044c0642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0d7d9391464b7d" /><Relationship Type="http://schemas.openxmlformats.org/officeDocument/2006/relationships/notesMaster" Target="/ppt/notesMasters/notesMaster1.xml" Id="Ra4320583ff2f4b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6149eaa26745bf" /><Relationship Type="http://schemas.openxmlformats.org/officeDocument/2006/relationships/notesMaster" Target="/ppt/notesMasters/notesMaster1.xml" Id="R0c6eceeefc6345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Jian Wang's proposed research agenda. This diagram is a conceptual proposal, not a report of completed experiments.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Context sources:</a:t>
            </a:r>
          </a:p>
          <a:p xmlns:a="http://schemas.openxmlformats.org/drawingml/2006/main">
            <a:r>
              <a:t>[1] Anthropic and Theorem. LLMs are making formal software verification feasible at a much larger scale. 22 October 2026. https://www.anthropic.com/research/formal-verification</a:t>
            </a:r>
          </a:p>
          <a:p xmlns:a="http://schemas.openxmlformats.org/drawingml/2006/main">
            <a:r>
              <a:t>[2] Margaret von Ebers et al. Bootstrapping the Verified Software Stack. Theorem, 29 September 2026. https://theorem.dev/blog/verified-software-stack/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Formal guarantees remain conditional on the stated property, input domain, execution semantics, explicit assumptions, and trusted checking.</a:t>
            </a:r>
          </a:p>
          <a:p xmlns:a="http://schemas.openxmlformats.org/drawingml/2006/main">
            <a:r>
              <a:t>Research statement: https://www.wj2ai.com/statement/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Jian Wang's proposed research agenda. This diagram is a conceptual proposal, not a report of completed experiments.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Context sources:</a:t>
            </a:r>
          </a:p>
          <a:p xmlns:a="http://schemas.openxmlformats.org/drawingml/2006/main">
            <a:r>
              <a:t>[1] Anthropic and Theorem. LLMs are making formal software verification feasible at a much larger scale. 22 October 2026. https://www.anthropic.com/research/formal-verification</a:t>
            </a:r>
          </a:p>
          <a:p xmlns:a="http://schemas.openxmlformats.org/drawingml/2006/main">
            <a:r>
              <a:t>[2] Margaret von Ebers et al. Bootstrapping the Verified Software Stack. Theorem, 29 September 2026. https://theorem.dev/blog/verified-software-stack/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Formal guarantees remain conditional on the stated property, input domain, execution semantics, explicit assumptions, and trusted checking.</a:t>
            </a:r>
          </a:p>
          <a:p xmlns:a="http://schemas.openxmlformats.org/drawingml/2006/main">
            <a:r>
              <a:t>Research statement: https://www.wj2ai.com/statement/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Jian Wang's proposed research agenda. This diagram is a conceptual proposal, not a report of completed experiments.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Context sources:</a:t>
            </a:r>
          </a:p>
          <a:p xmlns:a="http://schemas.openxmlformats.org/drawingml/2006/main">
            <a:r>
              <a:t>[1] Anthropic and Theorem. LLMs are making formal software verification feasible at a much larger scale. 22 October 2026. https://www.anthropic.com/research/formal-verification</a:t>
            </a:r>
          </a:p>
          <a:p xmlns:a="http://schemas.openxmlformats.org/drawingml/2006/main">
            <a:r>
              <a:t>[2] Margaret von Ebers et al. Bootstrapping the Verified Software Stack. Theorem, 29 September 2026. https://theorem.dev/blog/verified-software-stack/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Formal guarantees remain conditional on the stated property, input domain, execution semantics, explicit assumptions, and trusted checking.</a:t>
            </a:r>
          </a:p>
          <a:p xmlns:a="http://schemas.openxmlformats.org/drawingml/2006/main">
            <a:r>
              <a:t>Research statement: https://www.wj2ai.com/statement/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Jian Wang's proposed research agenda. This diagram is a conceptual proposal, not a report of completed experiments.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Context sources:</a:t>
            </a:r>
          </a:p>
          <a:p xmlns:a="http://schemas.openxmlformats.org/drawingml/2006/main">
            <a:r>
              <a:t>[1] Anthropic and Theorem. LLMs are making formal software verification feasible at a much larger scale. 22 October 2026. https://www.anthropic.com/research/formal-verification</a:t>
            </a:r>
          </a:p>
          <a:p xmlns:a="http://schemas.openxmlformats.org/drawingml/2006/main">
            <a:r>
              <a:t>[2] Margaret von Ebers et al. Bootstrapping the Verified Software Stack. Theorem, 29 September 2026. https://theorem.dev/blog/verified-software-stack/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Formal guarantees remain conditional on the stated property, input domain, execution semantics, explicit assumptions, and trusted checking.</a:t>
            </a:r>
          </a:p>
          <a:p xmlns:a="http://schemas.openxmlformats.org/drawingml/2006/main">
            <a:r>
              <a:t>Research statement: https://www.wj2ai.com/statement/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7dcedc30ce4d8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89fe19100f49d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fc155e72f343b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907f06837b45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a2d97befad46c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d3c7bebfa84f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5DE2F6-0F02-4443-8BBF-E63907252A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2580" y="3386032"/>
            <a:ext cx="12740640" cy="1294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30C2286-8028-45F8-9EB0-4BD22C1DDE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88870" y="4929664"/>
            <a:ext cx="11148060" cy="995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C29E380-BB96-4A52-86A2-2C9BF8987E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2580" y="3734594"/>
            <a:ext cx="12740640" cy="1493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BAEE1B-8C9C-47C1-A515-56F9920ED1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B077DE9-109D-470F-A801-D0BB4B8233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14134147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9675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9489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9304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9118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933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68747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8562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8376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B43C684-7E2A-447F-9741-09338944FD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F6C671-04B6-4D9A-BB57-6FA70AF4E2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9675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9489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9304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9118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933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68747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8562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8376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E3F0FDE-543A-44C6-B0B6-6F9043ED81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60581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9675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9489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9304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9118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933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68747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8562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8376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991957-53CB-4DA9-91BA-48851DA0E2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082105-86F6-47E0-86EB-A753CD8016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9675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9489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9304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9118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933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68747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8562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8376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6021cbbf9c4228" /><Relationship Type="http://schemas.openxmlformats.org/officeDocument/2006/relationships/slideLayout" Target="/ppt/slideLayouts/slideLayout1.xml" Id="R665e8be38dd34e58" /><Relationship Type="http://schemas.openxmlformats.org/officeDocument/2006/relationships/slideLayout" Target="/ppt/slideLayouts/slideLayout2.xml" Id="R47ced6668a394b5c" /><Relationship Type="http://schemas.openxmlformats.org/officeDocument/2006/relationships/slideLayout" Target="/ppt/slideLayouts/slideLayout3.xml" Id="Rf713cae1c5cd47af" /><Relationship Type="http://schemas.openxmlformats.org/officeDocument/2006/relationships/slideLayout" Target="/ppt/slideLayouts/slideLayout4.xml" Id="R331df5f806ba46fa" /><Relationship Type="http://schemas.openxmlformats.org/officeDocument/2006/relationships/slideLayout" Target="/ppt/slideLayouts/slideLayout5.xml" Id="R6ee58367323d49ee" /><Relationship Type="http://schemas.openxmlformats.org/officeDocument/2006/relationships/slideLayout" Target="/ppt/slideLayouts/slideLayout6.xml" Id="R8d19c0a6da6942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5e8be38dd34e58"/>
    <p:sldLayoutId xmlns:r="http://schemas.openxmlformats.org/officeDocument/2006/relationships" id="2147483650" r:id="R47ced6668a394b5c"/>
    <p:sldLayoutId xmlns:r="http://schemas.openxmlformats.org/officeDocument/2006/relationships" id="2147483651" r:id="Rf713cae1c5cd47af"/>
    <p:sldLayoutId xmlns:r="http://schemas.openxmlformats.org/officeDocument/2006/relationships" id="2147483652" r:id="R331df5f806ba46fa"/>
    <p:sldLayoutId xmlns:r="http://schemas.openxmlformats.org/officeDocument/2006/relationships" id="2147483653" r:id="R6ee58367323d49ee"/>
    <p:sldLayoutId xmlns:r="http://schemas.openxmlformats.org/officeDocument/2006/relationships" id="2147483654" r:id="R8d19c0a6da6942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88872528224785" /><Relationship Type="http://schemas.openxmlformats.org/officeDocument/2006/relationships/hyperlink" Target="https://www.wj2ai.com/statement#learning-reusable-proof-strategies" TargetMode="External" Id="R76bb14dce4444f40" /><Relationship Type="http://schemas.openxmlformats.org/officeDocument/2006/relationships/hyperlink" Target="https://www.wj2ai.com/statement#compositional-verification" TargetMode="External" Id="Rdefdfdc7e05146fe" /><Relationship Type="http://schemas.openxmlformats.org/officeDocument/2006/relationships/hyperlink" Target="https://www.wj2ai.com/statement#trustworthy-verification-feedback" TargetMode="External" Id="R00ce1bac0cdd41ff" /><Relationship Type="http://schemas.openxmlformats.org/officeDocument/2006/relationships/notesSlide" Target="/ppt/notesSlides/notesSlide1.xml" Id="R42f9a27331c44d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0263a6d372423c" /><Relationship Type="http://schemas.openxmlformats.org/officeDocument/2006/relationships/notesSlide" Target="/ppt/notesSlides/notesSlide2.xml" Id="R44ee9647ad154d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bb0122c7064637" /><Relationship Type="http://schemas.openxmlformats.org/officeDocument/2006/relationships/notesSlide" Target="/ppt/notesSlides/notesSlide3.xml" Id="R6e1ff60b8a564f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f2c234eeed4f9e" /><Relationship Type="http://schemas.openxmlformats.org/officeDocument/2006/relationships/notesSlide" Target="/ppt/notesSlides/notesSlide4.xml" Id="R935ddf06831244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9" name="Learning Reusable Formal Reasoning">
            <a:extLst xmlns:a="http://schemas.openxmlformats.org/drawingml/2006/main">
              <a:ext uri="{FF2B5EF4-FFF2-40B4-BE49-F238E27FC236}">
                <a16:creationId xmlns:a16="http://schemas.microsoft.com/office/drawing/2014/main" id="{D91F2BCD-F997-44D9-8C15-B511C901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2200"/>
            <a:ext cx="13735050" cy="541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Learning Reusable Formal Reasoning</a:t>
            </a:r>
          </a:p>
        </p:txBody>
      </p:sp>
      <p:sp>
        <p:nvSpPr>
          <p:cNvPr id="2" name="From expensive proofs to transferable reasoning">
            <a:extLst xmlns:a="http://schemas.openxmlformats.org/drawingml/2006/main">
              <a:ext uri="{FF2B5EF4-FFF2-40B4-BE49-F238E27FC236}">
                <a16:creationId xmlns:a16="http://schemas.microsoft.com/office/drawing/2014/main" id="{651660FC-976C-48C5-9607-53138DF5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93230"/>
            <a:ext cx="130683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From expensive proofs to transferable reasoning</a:t>
            </a:r>
          </a:p>
        </p:txBody>
      </p:sp>
      <p:sp>
        <p:nvSpPr>
          <p:cNvPr id="3" name="Proposed research">
            <a:extLst xmlns:a="http://schemas.openxmlformats.org/drawingml/2006/main">
              <a:ext uri="{FF2B5EF4-FFF2-40B4-BE49-F238E27FC236}">
                <a16:creationId xmlns:a16="http://schemas.microsoft.com/office/drawing/2014/main" id="{EFE5A842-943F-4794-AFCC-17F680A3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194310"/>
            <a:ext cx="20478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Proposed research</a:t>
            </a:r>
          </a:p>
        </p:txBody>
      </p:sp>
      <p:sp>
        <p:nvSpPr>
          <p:cNvPr id="4" name="Research mechanism">
            <a:extLst xmlns:a="http://schemas.openxmlformats.org/drawingml/2006/main">
              <a:ext uri="{FF2B5EF4-FFF2-40B4-BE49-F238E27FC236}">
                <a16:creationId xmlns:a16="http://schemas.microsoft.com/office/drawing/2014/main" id="{F01F7486-8837-4DDD-B8E7-2C4A4F1B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371600"/>
            <a:ext cx="2619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5" name="Stage 1">
            <a:extLst xmlns:a="http://schemas.openxmlformats.org/drawingml/2006/main">
              <a:ext uri="{FF2B5EF4-FFF2-40B4-BE49-F238E27FC236}">
                <a16:creationId xmlns:a16="http://schemas.microsoft.com/office/drawing/2014/main" id="{AA2F0814-651D-4F4A-8F6A-B8A22A5D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8" y="1190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6" name="1">
            <a:extLst xmlns:a="http://schemas.openxmlformats.org/drawingml/2006/main">
              <a:ext uri="{FF2B5EF4-FFF2-40B4-BE49-F238E27FC236}">
                <a16:creationId xmlns:a16="http://schemas.microsoft.com/office/drawing/2014/main" id="{3176AB61-6E63-4189-A6A6-5CEF1994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8" y="1235145"/>
            <a:ext cx="361950" cy="27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1</a:t>
            </a:r>
          </a:p>
        </p:txBody>
      </p:sp>
      <p:sp>
        <p:nvSpPr>
          <p:cNvPr id="7" name="Research mechanism">
            <a:extLst xmlns:a="http://schemas.openxmlformats.org/drawingml/2006/main">
              <a:ext uri="{FF2B5EF4-FFF2-40B4-BE49-F238E27FC236}">
                <a16:creationId xmlns:a16="http://schemas.microsoft.com/office/drawing/2014/main" id="{74806712-DB0B-4A8B-AD8F-EFC6A2EC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371600"/>
            <a:ext cx="25336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8" name="Stage 2">
            <a:extLst xmlns:a="http://schemas.openxmlformats.org/drawingml/2006/main">
              <a:ext uri="{FF2B5EF4-FFF2-40B4-BE49-F238E27FC236}">
                <a16:creationId xmlns:a16="http://schemas.microsoft.com/office/drawing/2014/main" id="{7A112FBC-AA84-4E9A-845B-72EE0082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190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9" name="2">
            <a:extLst xmlns:a="http://schemas.openxmlformats.org/drawingml/2006/main">
              <a:ext uri="{FF2B5EF4-FFF2-40B4-BE49-F238E27FC236}">
                <a16:creationId xmlns:a16="http://schemas.microsoft.com/office/drawing/2014/main" id="{081027FF-336D-4F7D-A450-474F00AA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235145"/>
            <a:ext cx="361950" cy="27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2</a:t>
            </a:r>
          </a:p>
        </p:txBody>
      </p:sp>
      <p:sp>
        <p:nvSpPr>
          <p:cNvPr id="10" name="Research mechanism">
            <a:extLst xmlns:a="http://schemas.openxmlformats.org/drawingml/2006/main">
              <a:ext uri="{FF2B5EF4-FFF2-40B4-BE49-F238E27FC236}">
                <a16:creationId xmlns:a16="http://schemas.microsoft.com/office/drawing/2014/main" id="{0A821665-E0B6-4199-8534-2BCD610E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371600"/>
            <a:ext cx="2933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1" name="Stage 3">
            <a:extLst xmlns:a="http://schemas.openxmlformats.org/drawingml/2006/main">
              <a:ext uri="{FF2B5EF4-FFF2-40B4-BE49-F238E27FC236}">
                <a16:creationId xmlns:a16="http://schemas.microsoft.com/office/drawing/2014/main" id="{08E5F5A3-EEFD-42F1-A3DC-B7881EC2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190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2" name="3">
            <a:extLst xmlns:a="http://schemas.openxmlformats.org/drawingml/2006/main">
              <a:ext uri="{FF2B5EF4-FFF2-40B4-BE49-F238E27FC236}">
                <a16:creationId xmlns:a16="http://schemas.microsoft.com/office/drawing/2014/main" id="{C4E8350B-599E-4AB0-B2DF-A5568EC7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235145"/>
            <a:ext cx="361950" cy="27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3</a:t>
            </a:r>
          </a:p>
        </p:txBody>
      </p:sp>
      <p:sp>
        <p:nvSpPr>
          <p:cNvPr id="13" name="Research mechanism">
            <a:extLst xmlns:a="http://schemas.openxmlformats.org/drawingml/2006/main">
              <a:ext uri="{FF2B5EF4-FFF2-40B4-BE49-F238E27FC236}">
                <a16:creationId xmlns:a16="http://schemas.microsoft.com/office/drawing/2014/main" id="{7A21CBB9-718A-4D9D-B1D7-6207E03E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371600"/>
            <a:ext cx="24384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4" name="Stage 4">
            <a:extLst xmlns:a="http://schemas.openxmlformats.org/drawingml/2006/main">
              <a:ext uri="{FF2B5EF4-FFF2-40B4-BE49-F238E27FC236}">
                <a16:creationId xmlns:a16="http://schemas.microsoft.com/office/drawing/2014/main" id="{6E320A6B-FB03-4E8D-88D2-19AC7B46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190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5" name="4">
            <a:extLst xmlns:a="http://schemas.openxmlformats.org/drawingml/2006/main">
              <a:ext uri="{FF2B5EF4-FFF2-40B4-BE49-F238E27FC236}">
                <a16:creationId xmlns:a16="http://schemas.microsoft.com/office/drawing/2014/main" id="{6383B094-86E2-4B16-B0E7-DAC5371B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235145"/>
            <a:ext cx="361950" cy="27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4</a:t>
            </a:r>
          </a:p>
        </p:txBody>
      </p:sp>
      <p:sp>
        <p:nvSpPr>
          <p:cNvPr id="16" name="Research mechanism">
            <a:extLst xmlns:a="http://schemas.openxmlformats.org/drawingml/2006/main">
              <a:ext uri="{FF2B5EF4-FFF2-40B4-BE49-F238E27FC236}">
                <a16:creationId xmlns:a16="http://schemas.microsoft.com/office/drawing/2014/main" id="{C88176FF-FBD7-4223-9E36-3DE6524B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1371600"/>
            <a:ext cx="30384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7" name="Stage 5">
            <a:extLst xmlns:a="http://schemas.openxmlformats.org/drawingml/2006/main">
              <a:ext uri="{FF2B5EF4-FFF2-40B4-BE49-F238E27FC236}">
                <a16:creationId xmlns:a16="http://schemas.microsoft.com/office/drawing/2014/main" id="{2E2F7D45-D195-4620-ABE1-8C238433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363" y="1190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8" name="5">
            <a:extLst xmlns:a="http://schemas.openxmlformats.org/drawingml/2006/main">
              <a:ext uri="{FF2B5EF4-FFF2-40B4-BE49-F238E27FC236}">
                <a16:creationId xmlns:a16="http://schemas.microsoft.com/office/drawing/2014/main" id="{ABD19A9D-1EFD-49AD-89CC-2EA15615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9363" y="1235145"/>
            <a:ext cx="361950" cy="27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5</a:t>
            </a:r>
          </a:p>
        </p:txBody>
      </p:sp>
      <p:sp>
        <p:nvSpPr>
          <p:cNvPr id="19" name="Code + test harness">
            <a:extLst xmlns:a="http://schemas.openxmlformats.org/drawingml/2006/main">
              <a:ext uri="{FF2B5EF4-FFF2-40B4-BE49-F238E27FC236}">
                <a16:creationId xmlns:a16="http://schemas.microsoft.com/office/drawing/2014/main" id="{6B916AD7-1660-4D5A-A354-DF7DB8A2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646301"/>
            <a:ext cx="2314575" cy="29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Code + test harness</a:t>
            </a:r>
          </a:p>
        </p:txBody>
      </p:sp>
      <p:sp>
        <p:nvSpPr>
          <p:cNvPr id="20" name="Existing software">
            <a:extLst xmlns:a="http://schemas.openxmlformats.org/drawingml/2006/main">
              <a:ext uri="{FF2B5EF4-FFF2-40B4-BE49-F238E27FC236}">
                <a16:creationId xmlns:a16="http://schemas.microsoft.com/office/drawing/2014/main" id="{F95AC71A-CB53-496F-A11B-3D34A3D4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8150"/>
            <a:ext cx="2295525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Existing software</a:t>
            </a:r>
          </a:p>
        </p:txBody>
      </p:sp>
      <p:sp>
        <p:nvSpPr>
          <p:cNvPr id="21" name="Editable program window">
            <a:extLst xmlns:a="http://schemas.openxmlformats.org/drawingml/2006/main">
              <a:ext uri="{FF2B5EF4-FFF2-40B4-BE49-F238E27FC236}">
                <a16:creationId xmlns:a16="http://schemas.microsoft.com/office/drawing/2014/main" id="{D88D2D62-6F73-4470-87B2-92EA4845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819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22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C2C9C66C-1C35-4F24-97C3-475F6DB3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47925"/>
            <a:ext cx="819150" cy="9525"/>
          </a:xfrm>
          <a:custGeom xmlns:a="http://schemas.openxmlformats.org/drawingml/2006/main">
            <a:pathLst>
              <a:path w="819150" h="9525">
                <a:moveTo>
                  <a:pt x="0" y="0"/>
                </a:moveTo>
                <a:lnTo>
                  <a:pt x="819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3" name="Window control">
            <a:extLst xmlns:a="http://schemas.openxmlformats.org/drawingml/2006/main">
              <a:ext uri="{FF2B5EF4-FFF2-40B4-BE49-F238E27FC236}">
                <a16:creationId xmlns:a16="http://schemas.microsoft.com/office/drawing/2014/main" id="{2422F04B-33C2-4970-B613-E7799915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336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4" name="Window control">
            <a:extLst xmlns:a="http://schemas.openxmlformats.org/drawingml/2006/main">
              <a:ext uri="{FF2B5EF4-FFF2-40B4-BE49-F238E27FC236}">
                <a16:creationId xmlns:a16="http://schemas.microsoft.com/office/drawing/2014/main" id="{2EB388A6-33B1-432F-A5C4-2FCE9976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5" name="Window control">
            <a:extLst xmlns:a="http://schemas.openxmlformats.org/drawingml/2006/main">
              <a:ext uri="{FF2B5EF4-FFF2-40B4-BE49-F238E27FC236}">
                <a16:creationId xmlns:a16="http://schemas.microsoft.com/office/drawing/2014/main" id="{1406A6B2-78DF-4EB2-A9D8-B7A0F992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336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6" name="&lt;/&gt;">
            <a:extLst xmlns:a="http://schemas.openxmlformats.org/drawingml/2006/main">
              <a:ext uri="{FF2B5EF4-FFF2-40B4-BE49-F238E27FC236}">
                <a16:creationId xmlns:a16="http://schemas.microsoft.com/office/drawing/2014/main" id="{34A7DC79-5230-4A4C-9083-93F0A5EA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18232"/>
            <a:ext cx="666750" cy="430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9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9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9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9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9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9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9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9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9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9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&lt;/&gt;</a:t>
            </a:r>
          </a:p>
        </p:txBody>
      </p:sp>
      <p:sp>
        <p:nvSpPr>
          <p:cNvPr id="27" name="Editable program window">
            <a:extLst xmlns:a="http://schemas.openxmlformats.org/drawingml/2006/main">
              <a:ext uri="{FF2B5EF4-FFF2-40B4-BE49-F238E27FC236}">
                <a16:creationId xmlns:a16="http://schemas.microsoft.com/office/drawing/2014/main" id="{200AF670-4CCB-4C8B-B1C6-C075B28A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76475"/>
            <a:ext cx="8858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28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2FD2EEE0-A961-4CB5-A8A7-93234089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47925"/>
            <a:ext cx="885825" cy="9525"/>
          </a:xfrm>
          <a:custGeom xmlns:a="http://schemas.openxmlformats.org/drawingml/2006/main">
            <a:pathLst>
              <a:path w="885825" h="9525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9" name="Window control">
            <a:extLst xmlns:a="http://schemas.openxmlformats.org/drawingml/2006/main">
              <a:ext uri="{FF2B5EF4-FFF2-40B4-BE49-F238E27FC236}">
                <a16:creationId xmlns:a16="http://schemas.microsoft.com/office/drawing/2014/main" id="{3BC6ACA5-B317-48CB-BECA-ABA84E5E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3336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0" name="Window control">
            <a:extLst xmlns:a="http://schemas.openxmlformats.org/drawingml/2006/main">
              <a:ext uri="{FF2B5EF4-FFF2-40B4-BE49-F238E27FC236}">
                <a16:creationId xmlns:a16="http://schemas.microsoft.com/office/drawing/2014/main" id="{E9D03111-CE8B-4FB5-A2D4-280B36AF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3336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1" name="Window control">
            <a:extLst xmlns:a="http://schemas.openxmlformats.org/drawingml/2006/main">
              <a:ext uri="{FF2B5EF4-FFF2-40B4-BE49-F238E27FC236}">
                <a16:creationId xmlns:a16="http://schemas.microsoft.com/office/drawing/2014/main" id="{6C4DD7FA-EC76-4B16-A8AD-038F971A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3336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2" name="Editable check mark">
            <a:extLst xmlns:a="http://schemas.openxmlformats.org/drawingml/2006/main">
              <a:ext uri="{FF2B5EF4-FFF2-40B4-BE49-F238E27FC236}">
                <a16:creationId xmlns:a16="http://schemas.microsoft.com/office/drawing/2014/main" id="{CC1764FE-1CD1-4484-8B1E-D56E4208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562225"/>
            <a:ext cx="104775" cy="94297"/>
          </a:xfrm>
          <a:custGeom xmlns:a="http://schemas.openxmlformats.org/drawingml/2006/main">
            <a:pathLst>
              <a:path w="104775" h="94297">
                <a:moveTo>
                  <a:pt x="0" y="57626"/>
                </a:moveTo>
                <a:lnTo>
                  <a:pt x="36671" y="94297"/>
                </a:ln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33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F07045BD-B0FA-40DD-BE43-D2160455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619375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34" name="Editable check mark">
            <a:extLst xmlns:a="http://schemas.openxmlformats.org/drawingml/2006/main">
              <a:ext uri="{FF2B5EF4-FFF2-40B4-BE49-F238E27FC236}">
                <a16:creationId xmlns:a16="http://schemas.microsoft.com/office/drawing/2014/main" id="{7FC4C15F-C8D0-4482-AC58-5E7BF4D4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752725"/>
            <a:ext cx="104775" cy="94297"/>
          </a:xfrm>
          <a:custGeom xmlns:a="http://schemas.openxmlformats.org/drawingml/2006/main">
            <a:pathLst>
              <a:path w="104775" h="94297">
                <a:moveTo>
                  <a:pt x="0" y="57626"/>
                </a:moveTo>
                <a:lnTo>
                  <a:pt x="36671" y="94297"/>
                </a:ln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35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9EB198A8-C13C-4D3D-A43A-D7BE7531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809875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36" name="Editable check mark">
            <a:extLst xmlns:a="http://schemas.openxmlformats.org/drawingml/2006/main">
              <a:ext uri="{FF2B5EF4-FFF2-40B4-BE49-F238E27FC236}">
                <a16:creationId xmlns:a16="http://schemas.microsoft.com/office/drawing/2014/main" id="{33E2B62D-3507-44C5-86A4-C11EE5EF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43225"/>
            <a:ext cx="104775" cy="94297"/>
          </a:xfrm>
          <a:custGeom xmlns:a="http://schemas.openxmlformats.org/drawingml/2006/main">
            <a:pathLst>
              <a:path w="104775" h="94297">
                <a:moveTo>
                  <a:pt x="0" y="57626"/>
                </a:moveTo>
                <a:lnTo>
                  <a:pt x="36671" y="94297"/>
                </a:ln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37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709D9BD9-552F-45B6-B7C0-DA09847B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000375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38" name="Program">
            <a:extLst xmlns:a="http://schemas.openxmlformats.org/drawingml/2006/main">
              <a:ext uri="{FF2B5EF4-FFF2-40B4-BE49-F238E27FC236}">
                <a16:creationId xmlns:a16="http://schemas.microsoft.com/office/drawing/2014/main" id="{7833F0C9-CBDC-487A-A19B-F6CE9726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236024"/>
            <a:ext cx="1066800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Program</a:t>
            </a:r>
          </a:p>
        </p:txBody>
      </p:sp>
      <p:sp>
        <p:nvSpPr>
          <p:cNvPr id="39" name="Test harness">
            <a:extLst xmlns:a="http://schemas.openxmlformats.org/drawingml/2006/main">
              <a:ext uri="{FF2B5EF4-FFF2-40B4-BE49-F238E27FC236}">
                <a16:creationId xmlns:a16="http://schemas.microsoft.com/office/drawing/2014/main" id="{2B3F7205-174A-4590-B883-9006CE80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236024"/>
            <a:ext cx="1181100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Test harness</a:t>
            </a:r>
          </a:p>
        </p:txBody>
      </p:sp>
      <p:sp>
        <p:nvSpPr>
          <p:cNvPr id="40" name="Explicit property">
            <a:extLst xmlns:a="http://schemas.openxmlformats.org/drawingml/2006/main">
              <a:ext uri="{FF2B5EF4-FFF2-40B4-BE49-F238E27FC236}">
                <a16:creationId xmlns:a16="http://schemas.microsoft.com/office/drawing/2014/main" id="{A8E8E5EE-7B2C-47CB-B69E-1DD9D86E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640777"/>
            <a:ext cx="2305050" cy="309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Explicit property</a:t>
            </a:r>
          </a:p>
        </p:txBody>
      </p:sp>
      <p:sp>
        <p:nvSpPr>
          <p:cNvPr id="41" name="Input domain + execution model">
            <a:extLst xmlns:a="http://schemas.openxmlformats.org/drawingml/2006/main">
              <a:ext uri="{FF2B5EF4-FFF2-40B4-BE49-F238E27FC236}">
                <a16:creationId xmlns:a16="http://schemas.microsoft.com/office/drawing/2014/main" id="{D75D5E5A-5D5C-4D2B-83AE-78CF1F5D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992535"/>
            <a:ext cx="2343150" cy="215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4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4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4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4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4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4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4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4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4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4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4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Input domain + execution model</a:t>
            </a:r>
          </a:p>
        </p:txBody>
      </p:sp>
      <p:sp>
        <p:nvSpPr>
          <p:cNvPr id="42" name="Explicit property details">
            <a:extLst xmlns:a="http://schemas.openxmlformats.org/drawingml/2006/main">
              <a:ext uri="{FF2B5EF4-FFF2-40B4-BE49-F238E27FC236}">
                <a16:creationId xmlns:a16="http://schemas.microsoft.com/office/drawing/2014/main" id="{CB80D1F3-60C6-4CBE-9950-EC629BD1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286000"/>
            <a:ext cx="20097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43" name="Input domain">
            <a:extLst xmlns:a="http://schemas.openxmlformats.org/drawingml/2006/main">
              <a:ext uri="{FF2B5EF4-FFF2-40B4-BE49-F238E27FC236}">
                <a16:creationId xmlns:a16="http://schemas.microsoft.com/office/drawing/2014/main" id="{D2E0AC55-9090-49AD-9E9A-6A1651A5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352294"/>
            <a:ext cx="1695450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Input domain</a:t>
            </a:r>
          </a:p>
        </p:txBody>
      </p:sp>
      <p:sp>
        <p:nvSpPr>
          <p:cNvPr id="44" name="Execution model">
            <a:extLst xmlns:a="http://schemas.openxmlformats.org/drawingml/2006/main">
              <a:ext uri="{FF2B5EF4-FFF2-40B4-BE49-F238E27FC236}">
                <a16:creationId xmlns:a16="http://schemas.microsoft.com/office/drawing/2014/main" id="{A9F281C1-83F3-40D9-AB91-86FD19F2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595372"/>
            <a:ext cx="1695450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Execution model</a:t>
            </a:r>
          </a:p>
        </p:txBody>
      </p:sp>
      <p:sp>
        <p:nvSpPr>
          <p:cNvPr id="45" name="Safety / functional">
            <a:extLst xmlns:a="http://schemas.openxmlformats.org/drawingml/2006/main">
              <a:ext uri="{FF2B5EF4-FFF2-40B4-BE49-F238E27FC236}">
                <a16:creationId xmlns:a16="http://schemas.microsoft.com/office/drawing/2014/main" id="{459CD96A-3FBE-456F-819C-C070FA96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838450"/>
            <a:ext cx="1695450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Safety / functional</a:t>
            </a:r>
          </a:p>
        </p:txBody>
      </p:sp>
      <p:sp>
        <p:nvSpPr>
          <p:cNvPr id="46" name="property">
            <a:extLst xmlns:a="http://schemas.openxmlformats.org/drawingml/2006/main">
              <a:ext uri="{FF2B5EF4-FFF2-40B4-BE49-F238E27FC236}">
                <a16:creationId xmlns:a16="http://schemas.microsoft.com/office/drawing/2014/main" id="{BA9AA5BD-061E-4C8F-9A9C-18F4BB3E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081528"/>
            <a:ext cx="1695450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property</a:t>
            </a:r>
          </a:p>
        </p:txBody>
      </p:sp>
      <p:sp>
        <p:nvSpPr>
          <p:cNvPr id="47" name="Agent proposes proofs">
            <a:extLst xmlns:a="http://schemas.openxmlformats.org/drawingml/2006/main">
              <a:ext uri="{FF2B5EF4-FFF2-40B4-BE49-F238E27FC236}">
                <a16:creationId xmlns:a16="http://schemas.microsoft.com/office/drawing/2014/main" id="{09D58360-3E73-4373-9C52-E9C188E7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646301"/>
            <a:ext cx="2667000" cy="29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Agent proposes proofs</a:t>
            </a:r>
          </a:p>
        </p:txBody>
      </p:sp>
      <p:sp>
        <p:nvSpPr>
          <p:cNvPr id="48" name="Invariants · Contracts · Lemmas">
            <a:extLst xmlns:a="http://schemas.openxmlformats.org/drawingml/2006/main">
              <a:ext uri="{FF2B5EF4-FFF2-40B4-BE49-F238E27FC236}">
                <a16:creationId xmlns:a16="http://schemas.microsoft.com/office/drawing/2014/main" id="{FDA61EFA-BB39-4305-9E42-26A18AD9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978724"/>
            <a:ext cx="2628900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Invariants · Contracts · Lemmas</a:t>
            </a:r>
          </a:p>
        </p:txBody>
      </p:sp>
      <p:sp>
        <p:nvSpPr>
          <p:cNvPr id="49" name="Proof artifact">
            <a:extLst xmlns:a="http://schemas.openxmlformats.org/drawingml/2006/main">
              <a:ext uri="{FF2B5EF4-FFF2-40B4-BE49-F238E27FC236}">
                <a16:creationId xmlns:a16="http://schemas.microsoft.com/office/drawing/2014/main" id="{667F8A65-6B4F-443E-9359-C152C66A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276475"/>
            <a:ext cx="781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50" name="Invariant">
            <a:extLst xmlns:a="http://schemas.openxmlformats.org/drawingml/2006/main">
              <a:ext uri="{FF2B5EF4-FFF2-40B4-BE49-F238E27FC236}">
                <a16:creationId xmlns:a16="http://schemas.microsoft.com/office/drawing/2014/main" id="{24E9503B-7D79-4050-AE8E-3F419CD7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61248"/>
            <a:ext cx="7048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Invariant</a:t>
            </a:r>
          </a:p>
        </p:txBody>
      </p:sp>
      <p:sp>
        <p:nvSpPr>
          <p:cNvPr id="51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3218C502-17E6-49AF-BFE2-EE97D05E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24150"/>
            <a:ext cx="485775" cy="9525"/>
          </a:xfrm>
          <a:custGeom xmlns:a="http://schemas.openxmlformats.org/drawingml/2006/main">
            <a:pathLst>
              <a:path w="485775" h="9525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52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534BE15F-9F7A-421F-B616-66079501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57500"/>
            <a:ext cx="485775" cy="9525"/>
          </a:xfrm>
          <a:custGeom xmlns:a="http://schemas.openxmlformats.org/drawingml/2006/main">
            <a:pathLst>
              <a:path w="485775" h="9525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53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9359D389-11D6-4F9F-A138-56D4C08B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90850"/>
            <a:ext cx="485775" cy="9525"/>
          </a:xfrm>
          <a:custGeom xmlns:a="http://schemas.openxmlformats.org/drawingml/2006/main">
            <a:pathLst>
              <a:path w="485775" h="9525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54" name="Proof artifact">
            <a:extLst xmlns:a="http://schemas.openxmlformats.org/drawingml/2006/main">
              <a:ext uri="{FF2B5EF4-FFF2-40B4-BE49-F238E27FC236}">
                <a16:creationId xmlns:a16="http://schemas.microsoft.com/office/drawing/2014/main" id="{624E93D5-D4DF-4E3A-B375-4CABB6B6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76475"/>
            <a:ext cx="781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55" name="Contract">
            <a:extLst xmlns:a="http://schemas.openxmlformats.org/drawingml/2006/main">
              <a:ext uri="{FF2B5EF4-FFF2-40B4-BE49-F238E27FC236}">
                <a16:creationId xmlns:a16="http://schemas.microsoft.com/office/drawing/2014/main" id="{4E045909-87C1-4BC0-BBAF-86E460A7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61248"/>
            <a:ext cx="7048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Contract</a:t>
            </a:r>
          </a:p>
        </p:txBody>
      </p:sp>
      <p:sp>
        <p:nvSpPr>
          <p:cNvPr id="56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E142EFC1-BD85-4523-A705-3B7B92EE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724150"/>
            <a:ext cx="485775" cy="9525"/>
          </a:xfrm>
          <a:custGeom xmlns:a="http://schemas.openxmlformats.org/drawingml/2006/main">
            <a:pathLst>
              <a:path w="485775" h="9525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57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5F3B597B-2EB1-4EC0-9598-0CC59015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857500"/>
            <a:ext cx="485775" cy="9525"/>
          </a:xfrm>
          <a:custGeom xmlns:a="http://schemas.openxmlformats.org/drawingml/2006/main">
            <a:pathLst>
              <a:path w="485775" h="9525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58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FC86CD2C-1FE1-4CD6-8A8A-7B1DD785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990850"/>
            <a:ext cx="485775" cy="9525"/>
          </a:xfrm>
          <a:custGeom xmlns:a="http://schemas.openxmlformats.org/drawingml/2006/main">
            <a:pathLst>
              <a:path w="485775" h="9525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59" name="Proof artifact">
            <a:extLst xmlns:a="http://schemas.openxmlformats.org/drawingml/2006/main">
              <a:ext uri="{FF2B5EF4-FFF2-40B4-BE49-F238E27FC236}">
                <a16:creationId xmlns:a16="http://schemas.microsoft.com/office/drawing/2014/main" id="{FCC6F9D8-8317-4761-B807-BB887D68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276475"/>
            <a:ext cx="781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60" name="Lemma">
            <a:extLst xmlns:a="http://schemas.openxmlformats.org/drawingml/2006/main">
              <a:ext uri="{FF2B5EF4-FFF2-40B4-BE49-F238E27FC236}">
                <a16:creationId xmlns:a16="http://schemas.microsoft.com/office/drawing/2014/main" id="{11263165-EE32-44F4-84A7-03593E47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361248"/>
            <a:ext cx="7048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Lemma</a:t>
            </a:r>
          </a:p>
        </p:txBody>
      </p:sp>
      <p:sp>
        <p:nvSpPr>
          <p:cNvPr id="61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32CD0B64-C64B-4059-9223-4C1A1903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24150"/>
            <a:ext cx="485775" cy="9525"/>
          </a:xfrm>
          <a:custGeom xmlns:a="http://schemas.openxmlformats.org/drawingml/2006/main">
            <a:pathLst>
              <a:path w="485775" h="9525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2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4C01F9F1-EAA9-40B7-9C0C-35DD256A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57500"/>
            <a:ext cx="485775" cy="9525"/>
          </a:xfrm>
          <a:custGeom xmlns:a="http://schemas.openxmlformats.org/drawingml/2006/main">
            <a:pathLst>
              <a:path w="485775" h="9525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3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A1DAD37F-298E-42F7-A688-23A4CB8D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90850"/>
            <a:ext cx="485775" cy="9525"/>
          </a:xfrm>
          <a:custGeom xmlns:a="http://schemas.openxmlformats.org/drawingml/2006/main">
            <a:pathLst>
              <a:path w="485775" h="9525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4" name="Independent checker">
            <a:extLst xmlns:a="http://schemas.openxmlformats.org/drawingml/2006/main">
              <a:ext uri="{FF2B5EF4-FFF2-40B4-BE49-F238E27FC236}">
                <a16:creationId xmlns:a16="http://schemas.microsoft.com/office/drawing/2014/main" id="{64BF6519-E05C-4FD9-8B64-D0F37411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51064"/>
            <a:ext cx="2228850" cy="29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Independent checker</a:t>
            </a:r>
          </a:p>
        </p:txBody>
      </p:sp>
      <p:sp>
        <p:nvSpPr>
          <p:cNvPr id="65" name="Editable program window">
            <a:extLst xmlns:a="http://schemas.openxmlformats.org/drawingml/2006/main">
              <a:ext uri="{FF2B5EF4-FFF2-40B4-BE49-F238E27FC236}">
                <a16:creationId xmlns:a16="http://schemas.microsoft.com/office/drawing/2014/main" id="{DD6C28A2-81F9-42C6-AC4D-C665551C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209800"/>
            <a:ext cx="16859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66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48829F4F-A21B-4E9D-A3B2-F8D3776B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381250"/>
            <a:ext cx="1685925" cy="9525"/>
          </a:xfrm>
          <a:custGeom xmlns:a="http://schemas.openxmlformats.org/drawingml/2006/main">
            <a:pathLst>
              <a:path w="1685925" h="9525">
                <a:moveTo>
                  <a:pt x="0" y="0"/>
                </a:moveTo>
                <a:lnTo>
                  <a:pt x="1685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7" name="Window control">
            <a:extLst xmlns:a="http://schemas.openxmlformats.org/drawingml/2006/main">
              <a:ext uri="{FF2B5EF4-FFF2-40B4-BE49-F238E27FC236}">
                <a16:creationId xmlns:a16="http://schemas.microsoft.com/office/drawing/2014/main" id="{158AE60E-5EA3-4E2C-9200-05876F13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266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8" name="Window control">
            <a:extLst xmlns:a="http://schemas.openxmlformats.org/drawingml/2006/main">
              <a:ext uri="{FF2B5EF4-FFF2-40B4-BE49-F238E27FC236}">
                <a16:creationId xmlns:a16="http://schemas.microsoft.com/office/drawing/2014/main" id="{30FE1422-B027-4937-A01F-67632CC8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266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9" name="Window control">
            <a:extLst xmlns:a="http://schemas.openxmlformats.org/drawingml/2006/main">
              <a:ext uri="{FF2B5EF4-FFF2-40B4-BE49-F238E27FC236}">
                <a16:creationId xmlns:a16="http://schemas.microsoft.com/office/drawing/2014/main" id="{F11BF3FA-954A-4ECC-B42A-73481168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2669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0" name="Editable check mark">
            <a:extLst xmlns:a="http://schemas.openxmlformats.org/drawingml/2006/main">
              <a:ext uri="{FF2B5EF4-FFF2-40B4-BE49-F238E27FC236}">
                <a16:creationId xmlns:a16="http://schemas.microsoft.com/office/drawing/2014/main" id="{2BCAE906-38AB-4EA2-B20A-7F55335B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609850"/>
            <a:ext cx="381000" cy="342900"/>
          </a:xfrm>
          <a:custGeom xmlns:a="http://schemas.openxmlformats.org/drawingml/2006/main">
            <a:pathLst>
              <a:path w="381000" h="342900">
                <a:moveTo>
                  <a:pt x="0" y="209550"/>
                </a:moveTo>
                <a:lnTo>
                  <a:pt x="133350" y="342900"/>
                </a:ln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71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43D4DB7B-DEED-457E-B87B-7AEE3212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28900"/>
            <a:ext cx="657225" cy="9525"/>
          </a:xfrm>
          <a:custGeom xmlns:a="http://schemas.openxmlformats.org/drawingml/2006/main">
            <a:pathLst>
              <a:path w="657225" h="9525">
                <a:moveTo>
                  <a:pt x="0" y="0"/>
                </a:moveTo>
                <a:lnTo>
                  <a:pt x="657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72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15ED0B8B-60F6-41D7-BC38-9BA51FBB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800350"/>
            <a:ext cx="657225" cy="9525"/>
          </a:xfrm>
          <a:custGeom xmlns:a="http://schemas.openxmlformats.org/drawingml/2006/main">
            <a:pathLst>
              <a:path w="657225" h="9525">
                <a:moveTo>
                  <a:pt x="0" y="0"/>
                </a:moveTo>
                <a:lnTo>
                  <a:pt x="657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73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1EB1457A-54D9-4103-9AE0-55F4EB55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971800"/>
            <a:ext cx="657225" cy="9525"/>
          </a:xfrm>
          <a:custGeom xmlns:a="http://schemas.openxmlformats.org/drawingml/2006/main">
            <a:pathLst>
              <a:path w="657225" h="9525">
                <a:moveTo>
                  <a:pt x="0" y="0"/>
                </a:moveTo>
                <a:lnTo>
                  <a:pt x="657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74" name="Verification feedback">
            <a:extLst xmlns:a="http://schemas.openxmlformats.org/drawingml/2006/main">
              <a:ext uri="{FF2B5EF4-FFF2-40B4-BE49-F238E27FC236}">
                <a16:creationId xmlns:a16="http://schemas.microsoft.com/office/drawing/2014/main" id="{7D39ED20-E318-4ECD-BDC7-C36986D1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1645539"/>
            <a:ext cx="2809875" cy="309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Verification feedback</a:t>
            </a:r>
          </a:p>
        </p:txBody>
      </p:sp>
      <p:sp>
        <p:nvSpPr>
          <p:cNvPr id="75" name="Verification outcome">
            <a:extLst xmlns:a="http://schemas.openxmlformats.org/drawingml/2006/main">
              <a:ext uri="{FF2B5EF4-FFF2-40B4-BE49-F238E27FC236}">
                <a16:creationId xmlns:a16="http://schemas.microsoft.com/office/drawing/2014/main" id="{AEB5F923-B3C9-417B-A86F-E68F2FCC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190750"/>
            <a:ext cx="933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76" name="Editable check mark">
            <a:extLst xmlns:a="http://schemas.openxmlformats.org/drawingml/2006/main">
              <a:ext uri="{FF2B5EF4-FFF2-40B4-BE49-F238E27FC236}">
                <a16:creationId xmlns:a16="http://schemas.microsoft.com/office/drawing/2014/main" id="{D2F9023E-EDB4-4CDC-B894-6F94FC44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2409825"/>
            <a:ext cx="276225" cy="248603"/>
          </a:xfrm>
          <a:custGeom xmlns:a="http://schemas.openxmlformats.org/drawingml/2006/main">
            <a:pathLst>
              <a:path w="276225" h="248603">
                <a:moveTo>
                  <a:pt x="0" y="151924"/>
                </a:moveTo>
                <a:lnTo>
                  <a:pt x="96679" y="248603"/>
                </a:ln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77" name="Checked">
            <a:extLst xmlns:a="http://schemas.openxmlformats.org/drawingml/2006/main">
              <a:ext uri="{FF2B5EF4-FFF2-40B4-BE49-F238E27FC236}">
                <a16:creationId xmlns:a16="http://schemas.microsoft.com/office/drawing/2014/main" id="{5958238D-512E-4788-A38D-0E802F48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2794635"/>
            <a:ext cx="8763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Checked</a:t>
            </a:r>
          </a:p>
        </p:txBody>
      </p:sp>
      <p:sp>
        <p:nvSpPr>
          <p:cNvPr id="78" name="Verification outcome">
            <a:extLst xmlns:a="http://schemas.openxmlformats.org/drawingml/2006/main">
              <a:ext uri="{FF2B5EF4-FFF2-40B4-BE49-F238E27FC236}">
                <a16:creationId xmlns:a16="http://schemas.microsoft.com/office/drawing/2014/main" id="{3358164A-C7D8-48E8-A1C4-71ED3EC3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2190750"/>
            <a:ext cx="933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79" name="Editable cross">
            <a:extLst xmlns:a="http://schemas.openxmlformats.org/drawingml/2006/main">
              <a:ext uri="{FF2B5EF4-FFF2-40B4-BE49-F238E27FC236}">
                <a16:creationId xmlns:a16="http://schemas.microsoft.com/office/drawing/2014/main" id="{552826AD-769A-4F55-A645-C2250F18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2225" y="2400300"/>
            <a:ext cx="238125" cy="238125"/>
          </a:xfrm>
          <a:custGeom xmlns:a="http://schemas.openxmlformats.org/drawingml/2006/main">
            <a:pathLst>
              <a:path w="238125" h="238125">
                <a:moveTo>
                  <a:pt x="0" y="0"/>
                </a:moveTo>
                <a:lnTo>
                  <a:pt x="238125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80" name="Editable cross">
            <a:extLst xmlns:a="http://schemas.openxmlformats.org/drawingml/2006/main">
              <a:ext uri="{FF2B5EF4-FFF2-40B4-BE49-F238E27FC236}">
                <a16:creationId xmlns:a16="http://schemas.microsoft.com/office/drawing/2014/main" id="{1497FB4D-CA6B-4318-A5BF-78FF3081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2225" y="2400300"/>
            <a:ext cx="238125" cy="238125"/>
          </a:xfrm>
          <a:custGeom xmlns:a="http://schemas.openxmlformats.org/drawingml/2006/main">
            <a:pathLst>
              <a:path w="238125" h="238125">
                <a:moveTo>
                  <a:pt x="238125" y="0"/>
                </a:move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81" name="Counterexample">
            <a:extLst xmlns:a="http://schemas.openxmlformats.org/drawingml/2006/main">
              <a:ext uri="{FF2B5EF4-FFF2-40B4-BE49-F238E27FC236}">
                <a16:creationId xmlns:a16="http://schemas.microsoft.com/office/drawing/2014/main" id="{9D423768-5BAB-4D17-AD03-C05CCAB7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7425" y="2822258"/>
            <a:ext cx="876300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1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1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1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1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1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1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1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1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1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Counterexample</a:t>
            </a:r>
          </a:p>
        </p:txBody>
      </p:sp>
      <p:sp>
        <p:nvSpPr>
          <p:cNvPr id="82" name="Verification outcome">
            <a:extLst xmlns:a="http://schemas.openxmlformats.org/drawingml/2006/main">
              <a:ext uri="{FF2B5EF4-FFF2-40B4-BE49-F238E27FC236}">
                <a16:creationId xmlns:a16="http://schemas.microsoft.com/office/drawing/2014/main" id="{64EF72FC-9C4B-40B9-AC62-77C34DCF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2190750"/>
            <a:ext cx="933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83" name="?">
            <a:extLst xmlns:a="http://schemas.openxmlformats.org/drawingml/2006/main">
              <a:ext uri="{FF2B5EF4-FFF2-40B4-BE49-F238E27FC236}">
                <a16:creationId xmlns:a16="http://schemas.microsoft.com/office/drawing/2014/main" id="{0D279638-42F1-4C03-B47C-A9DA390C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2307908"/>
            <a:ext cx="3810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30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30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30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30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30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30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30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30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30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30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?</a:t>
            </a:r>
          </a:p>
        </p:txBody>
      </p:sp>
      <p:sp>
        <p:nvSpPr>
          <p:cNvPr id="84" name="Unresolved">
            <a:extLst xmlns:a="http://schemas.openxmlformats.org/drawingml/2006/main">
              <a:ext uri="{FF2B5EF4-FFF2-40B4-BE49-F238E27FC236}">
                <a16:creationId xmlns:a16="http://schemas.microsoft.com/office/drawing/2014/main" id="{52B0FAF4-74DC-49C0-A88E-11694F5F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2794635"/>
            <a:ext cx="8763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Unresolved</a:t>
            </a:r>
          </a:p>
        </p:txBody>
      </p:sp>
      <p:sp>
        <p:nvSpPr>
          <p:cNvPr id="85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F07D4B2E-5E19-4E35-A875-32ECA0A2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05075"/>
            <a:ext cx="504825" cy="9525"/>
          </a:xfrm>
          <a:custGeom xmlns:a="http://schemas.openxmlformats.org/drawingml/2006/main">
            <a:pathLst>
              <a:path w="504825" h="952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6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4144164A-C525-4487-BEFD-AC59CDC2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4574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87" name="Formalize">
            <a:extLst xmlns:a="http://schemas.openxmlformats.org/drawingml/2006/main">
              <a:ext uri="{FF2B5EF4-FFF2-40B4-BE49-F238E27FC236}">
                <a16:creationId xmlns:a16="http://schemas.microsoft.com/office/drawing/2014/main" id="{D0552386-D7B5-4C97-B16B-677F5A75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90369"/>
            <a:ext cx="466725" cy="143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9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9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9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9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9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9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9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9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9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Formalize</a:t>
            </a:r>
          </a:p>
        </p:txBody>
      </p:sp>
      <p:sp>
        <p:nvSpPr>
          <p:cNvPr id="88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493E425C-B4E6-479F-A4E1-0BFDDF16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05075"/>
            <a:ext cx="533400" cy="9525"/>
          </a:xfrm>
          <a:custGeom xmlns:a="http://schemas.openxmlformats.org/drawingml/2006/main">
            <a:pathLst>
              <a:path w="533400" h="952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9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41624AE0-2F10-456E-B63A-DE0B496B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574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90" name="Propose">
            <a:extLst xmlns:a="http://schemas.openxmlformats.org/drawingml/2006/main">
              <a:ext uri="{FF2B5EF4-FFF2-40B4-BE49-F238E27FC236}">
                <a16:creationId xmlns:a16="http://schemas.microsoft.com/office/drawing/2014/main" id="{AE4DBF50-D665-41D7-9355-1F87813C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168271"/>
            <a:ext cx="495300" cy="187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2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2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2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2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2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2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2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2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2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Propose</a:t>
            </a:r>
          </a:p>
        </p:txBody>
      </p:sp>
      <p:sp>
        <p:nvSpPr>
          <p:cNvPr id="91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829F8113-8F85-4EA4-BDB6-CFD83A80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505075"/>
            <a:ext cx="457200" cy="9525"/>
          </a:xfrm>
          <a:custGeom xmlns:a="http://schemas.openxmlformats.org/drawingml/2006/main"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92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CDBB1BD9-4FB9-46D5-9381-D03EFF0E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574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93" name="Check">
            <a:extLst xmlns:a="http://schemas.openxmlformats.org/drawingml/2006/main">
              <a:ext uri="{FF2B5EF4-FFF2-40B4-BE49-F238E27FC236}">
                <a16:creationId xmlns:a16="http://schemas.microsoft.com/office/drawing/2014/main" id="{16DF05F4-DB31-430D-9DE5-3056E681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157222"/>
            <a:ext cx="419100" cy="209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Check</a:t>
            </a:r>
          </a:p>
        </p:txBody>
      </p:sp>
      <p:sp>
        <p:nvSpPr>
          <p:cNvPr id="94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FF93C213-5B99-415A-9F60-4B9E4899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2505075"/>
            <a:ext cx="295275" cy="9525"/>
          </a:xfrm>
          <a:custGeom xmlns:a="http://schemas.openxmlformats.org/drawingml/2006/main">
            <a:pathLst>
              <a:path w="295275" h="952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95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ECC54D4A-177A-46F7-8532-5107F7AE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24574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96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1E0DF7EA-88DB-4F58-B07A-D8884B47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562350"/>
            <a:ext cx="6067425" cy="400050"/>
          </a:xfrm>
          <a:custGeom xmlns:a="http://schemas.openxmlformats.org/drawingml/2006/main">
            <a:pathLst>
              <a:path w="6067425" h="400050">
                <a:moveTo>
                  <a:pt x="6067425" y="0"/>
                </a:moveTo>
                <a:lnTo>
                  <a:pt x="6067425" y="400050"/>
                </a:lnTo>
                <a:lnTo>
                  <a:pt x="0" y="4000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dash"/>
          </a:ln>
        </p:spPr>
      </p:sp>
      <p:sp>
        <p:nvSpPr>
          <p:cNvPr id="97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F0601E48-3B5D-4FC4-96C3-67D8AC35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6235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0"/>
                </a:moveTo>
                <a:lnTo>
                  <a:pt x="95250" y="11430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98" name="Refine and learn">
            <a:extLst xmlns:a="http://schemas.openxmlformats.org/drawingml/2006/main">
              <a:ext uri="{FF2B5EF4-FFF2-40B4-BE49-F238E27FC236}">
                <a16:creationId xmlns:a16="http://schemas.microsoft.com/office/drawing/2014/main" id="{046A8573-A11F-46D6-9A31-4656528F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27501"/>
            <a:ext cx="2476500" cy="29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Refine and learn</a:t>
            </a:r>
          </a:p>
        </p:txBody>
      </p:sp>
      <p:sp>
        <p:nvSpPr>
          <p:cNvPr id="99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1F191FF8-4450-478D-8A82-B026AAA3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962400"/>
            <a:ext cx="4933950" cy="742950"/>
          </a:xfrm>
          <a:custGeom xmlns:a="http://schemas.openxmlformats.org/drawingml/2006/main">
            <a:pathLst>
              <a:path w="4933950" h="742950">
                <a:moveTo>
                  <a:pt x="4933950" y="0"/>
                </a:moveTo>
                <a:lnTo>
                  <a:pt x="4933950" y="209550"/>
                </a:lnTo>
                <a:lnTo>
                  <a:pt x="0" y="209550"/>
                </a:lnTo>
                <a:lnTo>
                  <a:pt x="0" y="7429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dash"/>
          </a:ln>
        </p:spPr>
      </p:sp>
      <p:sp>
        <p:nvSpPr>
          <p:cNvPr id="100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68594F11-8653-4989-8D6F-7FA16E5E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59105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01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52B1A49D-BFAC-4009-84CE-3AF6D64F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71950"/>
            <a:ext cx="1038225" cy="533400"/>
          </a:xfrm>
          <a:custGeom xmlns:a="http://schemas.openxmlformats.org/drawingml/2006/main">
            <a:pathLst>
              <a:path w="1038225" h="533400">
                <a:moveTo>
                  <a:pt x="1038225" y="0"/>
                </a:moveTo>
                <a:lnTo>
                  <a:pt x="0" y="0"/>
                </a:ln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dash"/>
          </a:ln>
        </p:spPr>
      </p:sp>
      <p:sp>
        <p:nvSpPr>
          <p:cNvPr id="102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B7FFDEE1-E120-44C4-BB97-EECD4D28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9105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03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C0A287E0-B392-411F-AA09-2A4406DF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171950"/>
            <a:ext cx="4943475" cy="533400"/>
          </a:xfrm>
          <a:custGeom xmlns:a="http://schemas.openxmlformats.org/drawingml/2006/main">
            <a:pathLst>
              <a:path w="4943475" h="533400">
                <a:moveTo>
                  <a:pt x="0" y="0"/>
                </a:moveTo>
                <a:lnTo>
                  <a:pt x="4943475" y="0"/>
                </a:lnTo>
                <a:lnTo>
                  <a:pt x="4943475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dash"/>
          </a:ln>
        </p:spPr>
      </p:sp>
      <p:sp>
        <p:nvSpPr>
          <p:cNvPr id="104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AC2E7A96-2D18-4BC6-AC1D-763AAC26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8275" y="459105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05" name="Learn from proof feedback">
            <a:extLst xmlns:a="http://schemas.openxmlformats.org/drawingml/2006/main">
              <a:ext uri="{FF2B5EF4-FFF2-40B4-BE49-F238E27FC236}">
                <a16:creationId xmlns:a16="http://schemas.microsoft.com/office/drawing/2014/main" id="{B0096271-3AE3-4DFD-9E0C-96573078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59199"/>
            <a:ext cx="2676525" cy="254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Learn from proof feedback</a:t>
            </a:r>
          </a:p>
        </p:txBody>
      </p:sp>
      <p:sp>
        <p:nvSpPr>
          <p:cNvPr id="106" name="Reuse through checked interfaces">
            <a:extLst xmlns:a="http://schemas.openxmlformats.org/drawingml/2006/main">
              <a:ext uri="{FF2B5EF4-FFF2-40B4-BE49-F238E27FC236}">
                <a16:creationId xmlns:a16="http://schemas.microsoft.com/office/drawing/2014/main" id="{94FD6BEB-666A-49FB-B044-19B4664E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259199"/>
            <a:ext cx="3086100" cy="254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Reuse through checked interfaces</a:t>
            </a:r>
          </a:p>
        </p:txBody>
      </p:sp>
      <p:sp>
        <p:nvSpPr>
          <p:cNvPr id="107" name="Audit requirements">
            <a:extLst xmlns:a="http://schemas.openxmlformats.org/drawingml/2006/main">
              <a:ext uri="{FF2B5EF4-FFF2-40B4-BE49-F238E27FC236}">
                <a16:creationId xmlns:a16="http://schemas.microsoft.com/office/drawing/2014/main" id="{D939E615-B1D7-41CD-B2F9-4D07DAAE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253675"/>
            <a:ext cx="2381250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Audit requirements</a:t>
            </a:r>
          </a:p>
        </p:txBody>
      </p:sp>
      <p:sp>
        <p:nvSpPr>
          <p:cNvPr id="108" name="Learn reusable strategies panel">
            <a:extLst xmlns:a="http://schemas.openxmlformats.org/drawingml/2006/main">
              <a:ext uri="{FF2B5EF4-FFF2-40B4-BE49-F238E27FC236}">
                <a16:creationId xmlns:a16="http://schemas.microsoft.com/office/drawing/2014/main" id="{968883CE-B600-4F92-8456-48D67012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714875"/>
            <a:ext cx="53244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09" name="Stage A">
            <a:extLst xmlns:a="http://schemas.openxmlformats.org/drawingml/2006/main">
              <a:ext uri="{FF2B5EF4-FFF2-40B4-BE49-F238E27FC236}">
                <a16:creationId xmlns:a16="http://schemas.microsoft.com/office/drawing/2014/main" id="{EAEB913E-A755-4E11-B39F-0D7A8473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819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10" name="A">
            <a:extLst xmlns:a="http://schemas.openxmlformats.org/drawingml/2006/main">
              <a:ext uri="{FF2B5EF4-FFF2-40B4-BE49-F238E27FC236}">
                <a16:creationId xmlns:a16="http://schemas.microsoft.com/office/drawing/2014/main" id="{54A10837-D426-4EBE-AB1A-335F7E81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871199"/>
            <a:ext cx="419100" cy="31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A</a:t>
            </a:r>
          </a:p>
        </p:txBody>
      </p:sp>
      <p:sp>
        <p:nvSpPr>
          <p:cNvPr id="111" name="Learn reusable strategies">
            <a:extLst xmlns:a="http://schemas.openxmlformats.org/drawingml/2006/main">
              <a:ext uri="{FF2B5EF4-FFF2-40B4-BE49-F238E27FC236}">
                <a16:creationId xmlns:a16="http://schemas.microsoft.com/office/drawing/2014/main" id="{F63AE297-E06F-47E0-A1D4-C0DBBA81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815840"/>
            <a:ext cx="4448175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76bb14dce4444f40"/>
              </a:rPr>
              <a:t>Learn reusable strategies</a:t>
            </a:r>
          </a:p>
        </p:txBody>
      </p:sp>
      <p:sp>
        <p:nvSpPr>
          <p:cNvPr id="112" name="What transfers beyond one proof?">
            <a:extLst xmlns:a="http://schemas.openxmlformats.org/drawingml/2006/main">
              <a:ext uri="{FF2B5EF4-FFF2-40B4-BE49-F238E27FC236}">
                <a16:creationId xmlns:a16="http://schemas.microsoft.com/office/drawing/2014/main" id="{0238314F-5C74-4D38-AFCE-CCBD4260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178362"/>
            <a:ext cx="4448175" cy="254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What transfers beyond one proof?</a:t>
            </a:r>
          </a:p>
        </p:txBody>
      </p:sp>
      <p:sp>
        <p:nvSpPr>
          <p:cNvPr id="113" name="Editable proof artifact">
            <a:extLst xmlns:a="http://schemas.openxmlformats.org/drawingml/2006/main">
              <a:ext uri="{FF2B5EF4-FFF2-40B4-BE49-F238E27FC236}">
                <a16:creationId xmlns:a16="http://schemas.microsoft.com/office/drawing/2014/main" id="{A52BC064-FE7B-49FA-87AA-A982FA14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00725"/>
            <a:ext cx="5048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14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D6F50BB9-D76B-4A27-AD02-139E60DB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981700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15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E98068B4-C646-4536-BB86-4EEDA156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105525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16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C7DFDC08-6AD2-40CC-922B-0346968D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229350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17" name="Editable proof artifact">
            <a:extLst xmlns:a="http://schemas.openxmlformats.org/drawingml/2006/main">
              <a:ext uri="{FF2B5EF4-FFF2-40B4-BE49-F238E27FC236}">
                <a16:creationId xmlns:a16="http://schemas.microsoft.com/office/drawing/2014/main" id="{AC4759B5-36E3-4B57-A326-77FEC50E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905500"/>
            <a:ext cx="5048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18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425B841A-6AB4-45B6-B1AA-3A5F2798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19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F5EC2928-F8FA-4D79-B398-054F4437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20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6748C170-BA57-4A05-BA74-419A099A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21" name="Editable proof artifact">
            <a:extLst xmlns:a="http://schemas.openxmlformats.org/drawingml/2006/main">
              <a:ext uri="{FF2B5EF4-FFF2-40B4-BE49-F238E27FC236}">
                <a16:creationId xmlns:a16="http://schemas.microsoft.com/office/drawing/2014/main" id="{7D78D0B4-53B7-4CF5-BC4C-6C20187D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10275"/>
            <a:ext cx="5048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22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FCF186D5-502F-45C9-9A97-29DE5C44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191250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23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0E176E93-F051-4FB2-8DF7-62936FB3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15075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24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7ECB1107-6A81-47A7-BBCD-F09720BF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438900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25" name="Checked">
            <a:extLst xmlns:a="http://schemas.openxmlformats.org/drawingml/2006/main">
              <a:ext uri="{FF2B5EF4-FFF2-40B4-BE49-F238E27FC236}">
                <a16:creationId xmlns:a16="http://schemas.microsoft.com/office/drawing/2014/main" id="{1D894D0F-94D0-4F04-8F05-D5A0C6F7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62572"/>
            <a:ext cx="1000125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Checked</a:t>
            </a:r>
          </a:p>
        </p:txBody>
      </p:sp>
      <p:sp>
        <p:nvSpPr>
          <p:cNvPr id="126" name="derivations">
            <a:extLst xmlns:a="http://schemas.openxmlformats.org/drawingml/2006/main">
              <a:ext uri="{FF2B5EF4-FFF2-40B4-BE49-F238E27FC236}">
                <a16:creationId xmlns:a16="http://schemas.microsoft.com/office/drawing/2014/main" id="{0F562381-5C93-4A9D-A1D2-F77342A1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05650"/>
            <a:ext cx="1000125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derivations</a:t>
            </a:r>
          </a:p>
        </p:txBody>
      </p:sp>
      <p:sp>
        <p:nvSpPr>
          <p:cNvPr id="127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A1C7DE5F-37A0-45FB-976C-961E65AD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6276975"/>
            <a:ext cx="609600" cy="9525"/>
          </a:xfrm>
          <a:custGeom xmlns:a="http://schemas.openxmlformats.org/drawingml/2006/main"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28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2528E4C2-7C95-480C-9D8E-207DC410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62293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29" name="Learned strategy">
            <a:extLst xmlns:a="http://schemas.openxmlformats.org/drawingml/2006/main">
              <a:ext uri="{FF2B5EF4-FFF2-40B4-BE49-F238E27FC236}">
                <a16:creationId xmlns:a16="http://schemas.microsoft.com/office/drawing/2014/main" id="{07A35454-4FE6-43F3-A849-CC36EEC9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524500"/>
            <a:ext cx="22574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30" name="Learned strategy">
            <a:extLst xmlns:a="http://schemas.openxmlformats.org/drawingml/2006/main">
              <a:ext uri="{FF2B5EF4-FFF2-40B4-BE49-F238E27FC236}">
                <a16:creationId xmlns:a16="http://schemas.microsoft.com/office/drawing/2014/main" id="{2B287687-656D-461E-A576-1A64F582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600700"/>
            <a:ext cx="2028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Learned strategy</a:t>
            </a:r>
          </a:p>
        </p:txBody>
      </p:sp>
      <p:sp>
        <p:nvSpPr>
          <p:cNvPr id="131" name="Strategy component">
            <a:extLst xmlns:a="http://schemas.openxmlformats.org/drawingml/2006/main">
              <a:ext uri="{FF2B5EF4-FFF2-40B4-BE49-F238E27FC236}">
                <a16:creationId xmlns:a16="http://schemas.microsoft.com/office/drawing/2014/main" id="{C4A0EB8E-0D3B-4B40-9BC4-B32AB591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905500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32" name="Abstract patterns">
            <a:extLst xmlns:a="http://schemas.openxmlformats.org/drawingml/2006/main">
              <a:ext uri="{FF2B5EF4-FFF2-40B4-BE49-F238E27FC236}">
                <a16:creationId xmlns:a16="http://schemas.microsoft.com/office/drawing/2014/main" id="{A13FC7F2-4107-41D9-80AA-3E3C91AE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947410"/>
            <a:ext cx="17907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Abstract patterns</a:t>
            </a:r>
          </a:p>
        </p:txBody>
      </p:sp>
      <p:sp>
        <p:nvSpPr>
          <p:cNvPr id="133" name="Strategy component">
            <a:extLst xmlns:a="http://schemas.openxmlformats.org/drawingml/2006/main">
              <a:ext uri="{FF2B5EF4-FFF2-40B4-BE49-F238E27FC236}">
                <a16:creationId xmlns:a16="http://schemas.microsoft.com/office/drawing/2014/main" id="{17AEDECD-A285-4F57-A0E1-D5353CA9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62769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34" name="Proof heuristics">
            <a:extLst xmlns:a="http://schemas.openxmlformats.org/drawingml/2006/main">
              <a:ext uri="{FF2B5EF4-FFF2-40B4-BE49-F238E27FC236}">
                <a16:creationId xmlns:a16="http://schemas.microsoft.com/office/drawing/2014/main" id="{08A0A7AF-B94F-4190-812C-709BFD5B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318885"/>
            <a:ext cx="17907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Proof heuristics</a:t>
            </a:r>
          </a:p>
        </p:txBody>
      </p:sp>
      <p:sp>
        <p:nvSpPr>
          <p:cNvPr id="135" name="Strategy component">
            <a:extLst xmlns:a="http://schemas.openxmlformats.org/drawingml/2006/main">
              <a:ext uri="{FF2B5EF4-FFF2-40B4-BE49-F238E27FC236}">
                <a16:creationId xmlns:a16="http://schemas.microsoft.com/office/drawing/2014/main" id="{F78A82B8-A24A-485B-9B87-C0507A46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6648450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36" name="Reusable templates">
            <a:extLst xmlns:a="http://schemas.openxmlformats.org/drawingml/2006/main">
              <a:ext uri="{FF2B5EF4-FFF2-40B4-BE49-F238E27FC236}">
                <a16:creationId xmlns:a16="http://schemas.microsoft.com/office/drawing/2014/main" id="{AC39557F-4567-4DAF-83AF-4A0BB2F5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690360"/>
            <a:ext cx="17907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Reusable templates</a:t>
            </a:r>
          </a:p>
        </p:txBody>
      </p:sp>
      <p:sp>
        <p:nvSpPr>
          <p:cNvPr id="137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F6566537-DA43-4CAD-92CE-DD08A01B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276975"/>
            <a:ext cx="428625" cy="9525"/>
          </a:xfrm>
          <a:custGeom xmlns:a="http://schemas.openxmlformats.org/drawingml/2006/main">
            <a:pathLst>
              <a:path w="428625" h="952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38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E04C1217-1410-4EF9-A900-D7CDD8C1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2293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39" name="Editable proof artifact">
            <a:extLst xmlns:a="http://schemas.openxmlformats.org/drawingml/2006/main">
              <a:ext uri="{FF2B5EF4-FFF2-40B4-BE49-F238E27FC236}">
                <a16:creationId xmlns:a16="http://schemas.microsoft.com/office/drawing/2014/main" id="{008B51B6-1BF3-4934-B2D4-63852840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762625"/>
            <a:ext cx="5048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40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6FB88902-F3FB-4169-9349-A5B9E591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943600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41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3B44BE1E-9298-4011-9A3D-1BF59292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67425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42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712A7AF1-584D-45E2-994D-D55864DB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191250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43" name="Editable proof artifact">
            <a:extLst xmlns:a="http://schemas.openxmlformats.org/drawingml/2006/main">
              <a:ext uri="{FF2B5EF4-FFF2-40B4-BE49-F238E27FC236}">
                <a16:creationId xmlns:a16="http://schemas.microsoft.com/office/drawing/2014/main" id="{71128B51-1ADC-4992-94D7-D2856345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867400"/>
            <a:ext cx="5048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44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8020FD52-6A0F-40A1-B7B7-90914B5D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048375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45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F6BB6B74-B861-4582-BD3D-88DF0AA5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172200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46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7DEF2250-55B2-474B-A3E0-52BFB8FD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296025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47" name="Editable proof artifact">
            <a:extLst xmlns:a="http://schemas.openxmlformats.org/drawingml/2006/main">
              <a:ext uri="{FF2B5EF4-FFF2-40B4-BE49-F238E27FC236}">
                <a16:creationId xmlns:a16="http://schemas.microsoft.com/office/drawing/2014/main" id="{D47039D1-3755-4AEF-A3A0-FEB01842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972175"/>
            <a:ext cx="5048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48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F50B425D-7DB5-41B3-8FC0-3BC43B1F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153150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49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1A59B7C7-2A6D-46B0-A3D8-225B6EC4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276975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50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19448128-0B32-4F8E-B341-FEC5940E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400800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51" name="Unfamiliar">
            <a:extLst xmlns:a="http://schemas.openxmlformats.org/drawingml/2006/main">
              <a:ext uri="{FF2B5EF4-FFF2-40B4-BE49-F238E27FC236}">
                <a16:creationId xmlns:a16="http://schemas.microsoft.com/office/drawing/2014/main" id="{A4988D17-5F14-44B2-A2E6-0A51B346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703695"/>
            <a:ext cx="10001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Unfamiliar</a:t>
            </a:r>
          </a:p>
        </p:txBody>
      </p:sp>
      <p:sp>
        <p:nvSpPr>
          <p:cNvPr id="152" name="programs">
            <a:extLst xmlns:a="http://schemas.openxmlformats.org/drawingml/2006/main">
              <a:ext uri="{FF2B5EF4-FFF2-40B4-BE49-F238E27FC236}">
                <a16:creationId xmlns:a16="http://schemas.microsoft.com/office/drawing/2014/main" id="{EB082CFD-A729-4901-8112-2D32E24A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924675"/>
            <a:ext cx="10001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programs</a:t>
            </a:r>
          </a:p>
        </p:txBody>
      </p:sp>
      <p:sp>
        <p:nvSpPr>
          <p:cNvPr id="153" name="Retrieval and search comparison">
            <a:extLst xmlns:a="http://schemas.openxmlformats.org/drawingml/2006/main">
              <a:ext uri="{FF2B5EF4-FFF2-40B4-BE49-F238E27FC236}">
                <a16:creationId xmlns:a16="http://schemas.microsoft.com/office/drawing/2014/main" id="{A13100AA-18DC-45F9-A2B1-FFC1665B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7219950"/>
            <a:ext cx="390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dash"/>
          </a:ln>
        </p:spPr>
      </p:sp>
      <p:sp>
        <p:nvSpPr>
          <p:cNvPr id="154" name="Editable magnifier lens">
            <a:extLst xmlns:a="http://schemas.openxmlformats.org/drawingml/2006/main">
              <a:ext uri="{FF2B5EF4-FFF2-40B4-BE49-F238E27FC236}">
                <a16:creationId xmlns:a16="http://schemas.microsoft.com/office/drawing/2014/main" id="{2932EBC5-2AFA-451B-81C1-0ABC8C19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315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155" name="Editable magnifier handle">
            <a:extLst xmlns:a="http://schemas.openxmlformats.org/drawingml/2006/main">
              <a:ext uri="{FF2B5EF4-FFF2-40B4-BE49-F238E27FC236}">
                <a16:creationId xmlns:a16="http://schemas.microsoft.com/office/drawing/2014/main" id="{6AADEC29-0148-497F-B0CB-AD1701B2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804" y="7457504"/>
            <a:ext cx="89154" cy="89154"/>
          </a:xfrm>
          <a:custGeom xmlns:a="http://schemas.openxmlformats.org/drawingml/2006/main">
            <a:pathLst>
              <a:path w="89154" h="89154">
                <a:moveTo>
                  <a:pt x="0" y="0"/>
                </a:moveTo>
                <a:lnTo>
                  <a:pt x="89154" y="8915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11111"/>
            </a:solidFill>
            <a:prstDash val="solid"/>
          </a:ln>
        </p:spPr>
      </p:sp>
      <p:sp>
        <p:nvSpPr>
          <p:cNvPr id="156" name="Compare with retrieval + search">
            <a:extLst xmlns:a="http://schemas.openxmlformats.org/drawingml/2006/main">
              <a:ext uri="{FF2B5EF4-FFF2-40B4-BE49-F238E27FC236}">
                <a16:creationId xmlns:a16="http://schemas.microsoft.com/office/drawing/2014/main" id="{F266E44C-D507-4728-A4FC-0EA9959D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7302437"/>
            <a:ext cx="3238500" cy="254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Compare with retrieval + search</a:t>
            </a:r>
          </a:p>
        </p:txBody>
      </p:sp>
      <p:sp>
        <p:nvSpPr>
          <p:cNvPr id="157" name="Compose verification evidence panel">
            <a:extLst xmlns:a="http://schemas.openxmlformats.org/drawingml/2006/main">
              <a:ext uri="{FF2B5EF4-FFF2-40B4-BE49-F238E27FC236}">
                <a16:creationId xmlns:a16="http://schemas.microsoft.com/office/drawing/2014/main" id="{B06158F7-00A1-429B-8C96-72E7D769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714875"/>
            <a:ext cx="45339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58" name="Stage B">
            <a:extLst xmlns:a="http://schemas.openxmlformats.org/drawingml/2006/main">
              <a:ext uri="{FF2B5EF4-FFF2-40B4-BE49-F238E27FC236}">
                <a16:creationId xmlns:a16="http://schemas.microsoft.com/office/drawing/2014/main" id="{F5393966-78E4-486F-A270-1539C371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819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59" name="B">
            <a:extLst xmlns:a="http://schemas.openxmlformats.org/drawingml/2006/main">
              <a:ext uri="{FF2B5EF4-FFF2-40B4-BE49-F238E27FC236}">
                <a16:creationId xmlns:a16="http://schemas.microsoft.com/office/drawing/2014/main" id="{21756DC7-2DF7-4255-9884-57F422B8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871199"/>
            <a:ext cx="419100" cy="31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B</a:t>
            </a:r>
          </a:p>
        </p:txBody>
      </p:sp>
      <p:sp>
        <p:nvSpPr>
          <p:cNvPr id="160" name="Compose verification evidence">
            <a:extLst xmlns:a="http://schemas.openxmlformats.org/drawingml/2006/main">
              <a:ext uri="{FF2B5EF4-FFF2-40B4-BE49-F238E27FC236}">
                <a16:creationId xmlns:a16="http://schemas.microsoft.com/office/drawing/2014/main" id="{89FC378F-E4F0-42FA-93BE-50543CB1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815840"/>
            <a:ext cx="36576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defdfdc7e05146fe"/>
              </a:rPr>
              <a:t>Compose verification evidence</a:t>
            </a:r>
          </a:p>
        </p:txBody>
      </p:sp>
      <p:sp>
        <p:nvSpPr>
          <p:cNvPr id="161" name="Can checked dependencies support callers?">
            <a:extLst xmlns:a="http://schemas.openxmlformats.org/drawingml/2006/main">
              <a:ext uri="{FF2B5EF4-FFF2-40B4-BE49-F238E27FC236}">
                <a16:creationId xmlns:a16="http://schemas.microsoft.com/office/drawing/2014/main" id="{FD08E4FE-61BC-46FF-AD16-D6787DD7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178362"/>
            <a:ext cx="3657600" cy="254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Can checked dependencies support callers?</a:t>
            </a:r>
          </a:p>
        </p:txBody>
      </p:sp>
      <p:sp>
        <p:nvSpPr>
          <p:cNvPr id="162" name="Local checked evidence">
            <a:extLst xmlns:a="http://schemas.openxmlformats.org/drawingml/2006/main">
              <a:ext uri="{FF2B5EF4-FFF2-40B4-BE49-F238E27FC236}">
                <a16:creationId xmlns:a16="http://schemas.microsoft.com/office/drawing/2014/main" id="{4A2B8407-4DD7-417E-957A-F6A09A35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553075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63" name="Library A proof">
            <a:extLst xmlns:a="http://schemas.openxmlformats.org/drawingml/2006/main">
              <a:ext uri="{FF2B5EF4-FFF2-40B4-BE49-F238E27FC236}">
                <a16:creationId xmlns:a16="http://schemas.microsoft.com/office/drawing/2014/main" id="{6B136E05-CF27-4C1B-8EB2-5F388851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574411"/>
            <a:ext cx="1504950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Library A proof</a:t>
            </a:r>
          </a:p>
        </p:txBody>
      </p:sp>
      <p:sp>
        <p:nvSpPr>
          <p:cNvPr id="164" name="(e.g., memory safety)">
            <a:extLst xmlns:a="http://schemas.openxmlformats.org/drawingml/2006/main">
              <a:ext uri="{FF2B5EF4-FFF2-40B4-BE49-F238E27FC236}">
                <a16:creationId xmlns:a16="http://schemas.microsoft.com/office/drawing/2014/main" id="{1915275F-0386-4FA6-9E0C-99D9956B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815584"/>
            <a:ext cx="1543050" cy="198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(e.g., memory safety)</a:t>
            </a:r>
          </a:p>
        </p:txBody>
      </p:sp>
      <p:sp>
        <p:nvSpPr>
          <p:cNvPr id="165" name="Local checked evidence">
            <a:extLst xmlns:a="http://schemas.openxmlformats.org/drawingml/2006/main">
              <a:ext uri="{FF2B5EF4-FFF2-40B4-BE49-F238E27FC236}">
                <a16:creationId xmlns:a16="http://schemas.microsoft.com/office/drawing/2014/main" id="{E3D7E5F8-56F8-4866-BE1A-BC01A10A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17220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66" name="Library B proof">
            <a:extLst xmlns:a="http://schemas.openxmlformats.org/drawingml/2006/main">
              <a:ext uri="{FF2B5EF4-FFF2-40B4-BE49-F238E27FC236}">
                <a16:creationId xmlns:a16="http://schemas.microsoft.com/office/drawing/2014/main" id="{D53D2122-0976-41AA-BBFE-38A586AB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193536"/>
            <a:ext cx="1504950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Library B proof</a:t>
            </a:r>
          </a:p>
        </p:txBody>
      </p:sp>
      <p:sp>
        <p:nvSpPr>
          <p:cNvPr id="167" name="(e.g., API contract)">
            <a:extLst xmlns:a="http://schemas.openxmlformats.org/drawingml/2006/main">
              <a:ext uri="{FF2B5EF4-FFF2-40B4-BE49-F238E27FC236}">
                <a16:creationId xmlns:a16="http://schemas.microsoft.com/office/drawing/2014/main" id="{467BC028-9EFC-44AB-B213-A3B2253F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434709"/>
            <a:ext cx="1543050" cy="198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(e.g., API contract)</a:t>
            </a:r>
          </a:p>
        </p:txBody>
      </p:sp>
      <p:sp>
        <p:nvSpPr>
          <p:cNvPr id="168" name="Local checked evidence">
            <a:extLst xmlns:a="http://schemas.openxmlformats.org/drawingml/2006/main">
              <a:ext uri="{FF2B5EF4-FFF2-40B4-BE49-F238E27FC236}">
                <a16:creationId xmlns:a16="http://schemas.microsoft.com/office/drawing/2014/main" id="{22B510F4-54D5-4D38-9A54-8924DC9E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791325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69" name="Caller obligations">
            <a:extLst xmlns:a="http://schemas.openxmlformats.org/drawingml/2006/main">
              <a:ext uri="{FF2B5EF4-FFF2-40B4-BE49-F238E27FC236}">
                <a16:creationId xmlns:a16="http://schemas.microsoft.com/office/drawing/2014/main" id="{A4602616-B613-4835-B059-DFA01938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812661"/>
            <a:ext cx="1504950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Caller obligations</a:t>
            </a:r>
          </a:p>
        </p:txBody>
      </p:sp>
      <p:sp>
        <p:nvSpPr>
          <p:cNvPr id="170" name="(e.g., correct usage)">
            <a:extLst xmlns:a="http://schemas.openxmlformats.org/drawingml/2006/main">
              <a:ext uri="{FF2B5EF4-FFF2-40B4-BE49-F238E27FC236}">
                <a16:creationId xmlns:a16="http://schemas.microsoft.com/office/drawing/2014/main" id="{72D06C41-F867-4B97-AAF7-78F44E72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7053834"/>
            <a:ext cx="1543050" cy="198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(e.g., correct usage)</a:t>
            </a:r>
          </a:p>
        </p:txBody>
      </p:sp>
      <p:sp>
        <p:nvSpPr>
          <p:cNvPr id="171" name="Checked interfaces">
            <a:extLst xmlns:a="http://schemas.openxmlformats.org/drawingml/2006/main">
              <a:ext uri="{FF2B5EF4-FFF2-40B4-BE49-F238E27FC236}">
                <a16:creationId xmlns:a16="http://schemas.microsoft.com/office/drawing/2014/main" id="{67AE3B5D-17CB-41B6-A399-F82BA44E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753100"/>
            <a:ext cx="1038225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72" name="Checked">
            <a:extLst xmlns:a="http://schemas.openxmlformats.org/drawingml/2006/main">
              <a:ext uri="{FF2B5EF4-FFF2-40B4-BE49-F238E27FC236}">
                <a16:creationId xmlns:a16="http://schemas.microsoft.com/office/drawing/2014/main" id="{4EB67C02-274A-4629-B512-113968B8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876735"/>
            <a:ext cx="942975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Checked</a:t>
            </a:r>
          </a:p>
        </p:txBody>
      </p:sp>
      <p:sp>
        <p:nvSpPr>
          <p:cNvPr id="173" name="interfaces">
            <a:extLst xmlns:a="http://schemas.openxmlformats.org/drawingml/2006/main">
              <a:ext uri="{FF2B5EF4-FFF2-40B4-BE49-F238E27FC236}">
                <a16:creationId xmlns:a16="http://schemas.microsoft.com/office/drawing/2014/main" id="{057BD98D-0E33-433A-9D90-4C8454DA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119813"/>
            <a:ext cx="942975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interfaces</a:t>
            </a:r>
          </a:p>
        </p:txBody>
      </p:sp>
      <p:sp>
        <p:nvSpPr>
          <p:cNvPr id="174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65534EC1-D09B-4CCB-85B9-C3153A92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600825"/>
            <a:ext cx="223838" cy="238125"/>
          </a:xfrm>
          <a:custGeom xmlns:a="http://schemas.openxmlformats.org/drawingml/2006/main">
            <a:pathLst>
              <a:path w="223838" h="238125">
                <a:moveTo>
                  <a:pt x="223838" y="0"/>
                </a:moveTo>
                <a:lnTo>
                  <a:pt x="223838" y="58293"/>
                </a:ln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75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D82579EC-1A6C-4DDF-8379-192FA2EF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288" y="6659118"/>
            <a:ext cx="223838" cy="179832"/>
          </a:xfrm>
          <a:custGeom xmlns:a="http://schemas.openxmlformats.org/drawingml/2006/main">
            <a:pathLst>
              <a:path w="223838" h="179832">
                <a:moveTo>
                  <a:pt x="0" y="0"/>
                </a:moveTo>
                <a:lnTo>
                  <a:pt x="223838" y="17983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76" name="Proof tree node">
            <a:extLst xmlns:a="http://schemas.openxmlformats.org/drawingml/2006/main">
              <a:ext uri="{FF2B5EF4-FFF2-40B4-BE49-F238E27FC236}">
                <a16:creationId xmlns:a16="http://schemas.microsoft.com/office/drawing/2014/main" id="{16C44CBA-C35B-4B2A-82B6-C3488659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9613" y="6467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77" name="Proof tree node">
            <a:extLst xmlns:a="http://schemas.openxmlformats.org/drawingml/2006/main">
              <a:ext uri="{FF2B5EF4-FFF2-40B4-BE49-F238E27FC236}">
                <a16:creationId xmlns:a16="http://schemas.microsoft.com/office/drawing/2014/main" id="{A901B6FF-FB34-49B3-9035-BC5562CA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6772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78" name="Proof tree node">
            <a:extLst xmlns:a="http://schemas.openxmlformats.org/drawingml/2006/main">
              <a:ext uri="{FF2B5EF4-FFF2-40B4-BE49-F238E27FC236}">
                <a16:creationId xmlns:a16="http://schemas.microsoft.com/office/drawing/2014/main" id="{C0094840-A787-4D04-BF74-A80E37DC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6772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79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B8BC085D-1A05-42A9-B758-C9E94FA7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810250"/>
            <a:ext cx="238125" cy="323850"/>
          </a:xfrm>
          <a:custGeom xmlns:a="http://schemas.openxmlformats.org/drawingml/2006/main">
            <a:pathLst>
              <a:path w="238125" h="323850">
                <a:moveTo>
                  <a:pt x="0" y="0"/>
                </a:moveTo>
                <a:lnTo>
                  <a:pt x="123825" y="0"/>
                </a:lnTo>
                <a:lnTo>
                  <a:pt x="123825" y="323850"/>
                </a:lnTo>
                <a:lnTo>
                  <a:pt x="238125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80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A0C795B8-66EB-4C34-B335-2173651B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0864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81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8127F3A4-73C7-4D65-81B7-FD577FD6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6381750"/>
            <a:ext cx="238125" cy="47625"/>
          </a:xfrm>
          <a:custGeom xmlns:a="http://schemas.openxmlformats.org/drawingml/2006/main">
            <a:pathLst>
              <a:path w="238125" h="47625">
                <a:moveTo>
                  <a:pt x="0" y="47625"/>
                </a:moveTo>
                <a:lnTo>
                  <a:pt x="123825" y="47625"/>
                </a:lnTo>
                <a:lnTo>
                  <a:pt x="123825" y="0"/>
                </a:ln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82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122D1AE1-CF8B-4E1E-8211-8682D56A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3341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83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AE5631FB-90BF-4CF7-9F88-1B1FC5A1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6772275"/>
            <a:ext cx="238125" cy="276225"/>
          </a:xfrm>
          <a:custGeom xmlns:a="http://schemas.openxmlformats.org/drawingml/2006/main">
            <a:pathLst>
              <a:path w="238125" h="276225">
                <a:moveTo>
                  <a:pt x="0" y="276225"/>
                </a:moveTo>
                <a:lnTo>
                  <a:pt x="123825" y="276225"/>
                </a:lnTo>
                <a:lnTo>
                  <a:pt x="123825" y="0"/>
                </a:ln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84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3BE94183-F7C0-4F15-AE9B-0CA20FD9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7246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85" name="Larger stated property">
            <a:extLst xmlns:a="http://schemas.openxmlformats.org/drawingml/2006/main">
              <a:ext uri="{FF2B5EF4-FFF2-40B4-BE49-F238E27FC236}">
                <a16:creationId xmlns:a16="http://schemas.microsoft.com/office/drawing/2014/main" id="{825BB458-8676-4141-B3A7-33D5A18C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581650"/>
            <a:ext cx="1200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86" name="Larger stated">
            <a:extLst xmlns:a="http://schemas.openxmlformats.org/drawingml/2006/main">
              <a:ext uri="{FF2B5EF4-FFF2-40B4-BE49-F238E27FC236}">
                <a16:creationId xmlns:a16="http://schemas.microsoft.com/office/drawing/2014/main" id="{6ACCF829-74D3-41B7-849B-69D90CC6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706046"/>
            <a:ext cx="1066800" cy="237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6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6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6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6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6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6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6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6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6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6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Larger stated</a:t>
            </a:r>
          </a:p>
        </p:txBody>
      </p:sp>
      <p:sp>
        <p:nvSpPr>
          <p:cNvPr id="187" name="property">
            <a:extLst xmlns:a="http://schemas.openxmlformats.org/drawingml/2006/main">
              <a:ext uri="{FF2B5EF4-FFF2-40B4-BE49-F238E27FC236}">
                <a16:creationId xmlns:a16="http://schemas.microsoft.com/office/drawing/2014/main" id="{4BFC063C-D848-4404-847A-10117CBC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43600"/>
            <a:ext cx="1066800" cy="237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6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6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6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6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6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6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6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6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6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6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property</a:t>
            </a:r>
          </a:p>
        </p:txBody>
      </p:sp>
      <p:sp>
        <p:nvSpPr>
          <p:cNvPr id="188" name="(e.g., caller">
            <a:extLst xmlns:a="http://schemas.openxmlformats.org/drawingml/2006/main">
              <a:ext uri="{FF2B5EF4-FFF2-40B4-BE49-F238E27FC236}">
                <a16:creationId xmlns:a16="http://schemas.microsoft.com/office/drawing/2014/main" id="{98FE972D-5FB8-4916-8824-43449B26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252782"/>
            <a:ext cx="1085850" cy="209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(e.g., caller</a:t>
            </a:r>
          </a:p>
        </p:txBody>
      </p:sp>
      <p:sp>
        <p:nvSpPr>
          <p:cNvPr id="189" name="functionality)">
            <a:extLst xmlns:a="http://schemas.openxmlformats.org/drawingml/2006/main">
              <a:ext uri="{FF2B5EF4-FFF2-40B4-BE49-F238E27FC236}">
                <a16:creationId xmlns:a16="http://schemas.microsoft.com/office/drawing/2014/main" id="{A1C12108-DD40-4766-80A9-B4F4805A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462713"/>
            <a:ext cx="1085850" cy="209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functionality)</a:t>
            </a:r>
          </a:p>
        </p:txBody>
      </p:sp>
      <p:sp>
        <p:nvSpPr>
          <p:cNvPr id="190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85583212-E477-46DA-9D2F-73CCB977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781800"/>
            <a:ext cx="457200" cy="409575"/>
          </a:xfrm>
          <a:custGeom xmlns:a="http://schemas.openxmlformats.org/drawingml/2006/main">
            <a:pathLst>
              <a:path w="457200" h="409575">
                <a:moveTo>
                  <a:pt x="0" y="0"/>
                </a:moveTo>
                <a:lnTo>
                  <a:pt x="342900" y="0"/>
                </a:lnTo>
                <a:lnTo>
                  <a:pt x="457200" y="114300"/>
                </a:lnTo>
                <a:lnTo>
                  <a:pt x="457200" y="409575"/>
                </a:lnTo>
                <a:lnTo>
                  <a:pt x="0" y="40957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91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D0E0E763-DE6D-439D-958E-0ACA631E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67818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0" y="0"/>
                </a:moveTo>
                <a:lnTo>
                  <a:pt x="0" y="114300"/>
                </a:lnTo>
                <a:lnTo>
                  <a:pt x="11430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92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1844FD32-B8AE-4C5A-A777-5AFEADEC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565" y="6925151"/>
            <a:ext cx="251460" cy="9525"/>
          </a:xfrm>
          <a:custGeom xmlns:a="http://schemas.openxmlformats.org/drawingml/2006/main">
            <a:pathLst>
              <a:path w="251460" h="9525">
                <a:moveTo>
                  <a:pt x="0" y="0"/>
                </a:moveTo>
                <a:lnTo>
                  <a:pt x="2514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93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9F5E63F7-D0F7-42E8-B8B5-3E22004F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565" y="6994779"/>
            <a:ext cx="251460" cy="9525"/>
          </a:xfrm>
          <a:custGeom xmlns:a="http://schemas.openxmlformats.org/drawingml/2006/main">
            <a:pathLst>
              <a:path w="251460" h="9525">
                <a:moveTo>
                  <a:pt x="0" y="0"/>
                </a:moveTo>
                <a:lnTo>
                  <a:pt x="2514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94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6D613C74-4FCB-4629-8089-EBF69669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565" y="7064407"/>
            <a:ext cx="251460" cy="9525"/>
          </a:xfrm>
          <a:custGeom xmlns:a="http://schemas.openxmlformats.org/drawingml/2006/main">
            <a:pathLst>
              <a:path w="251460" h="9525">
                <a:moveTo>
                  <a:pt x="0" y="0"/>
                </a:moveTo>
                <a:lnTo>
                  <a:pt x="2514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95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125D6AE2-233D-4A99-A96F-7641FE4A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429375"/>
            <a:ext cx="104775" cy="9525"/>
          </a:xfrm>
          <a:custGeom xmlns:a="http://schemas.openxmlformats.org/drawingml/2006/main">
            <a:pathLst>
              <a:path w="104775" h="952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96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DB73CAB9-281D-463D-A13B-AC6AE6D3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3817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97" name="Audit verification feedback panel">
            <a:extLst xmlns:a="http://schemas.openxmlformats.org/drawingml/2006/main">
              <a:ext uri="{FF2B5EF4-FFF2-40B4-BE49-F238E27FC236}">
                <a16:creationId xmlns:a16="http://schemas.microsoft.com/office/drawing/2014/main" id="{2116B9FF-8DC1-4267-B44B-7B0B607B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14875"/>
            <a:ext cx="50673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98" name="Stage C">
            <a:extLst xmlns:a="http://schemas.openxmlformats.org/drawingml/2006/main">
              <a:ext uri="{FF2B5EF4-FFF2-40B4-BE49-F238E27FC236}">
                <a16:creationId xmlns:a16="http://schemas.microsoft.com/office/drawing/2014/main" id="{A3C3AE48-A62C-4FB5-B6E4-77211A90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819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99" name="C">
            <a:extLst xmlns:a="http://schemas.openxmlformats.org/drawingml/2006/main">
              <a:ext uri="{FF2B5EF4-FFF2-40B4-BE49-F238E27FC236}">
                <a16:creationId xmlns:a16="http://schemas.microsoft.com/office/drawing/2014/main" id="{83EA37F2-B4F1-4F05-ACDA-9886D8EA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871199"/>
            <a:ext cx="419100" cy="31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14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</a:t>
            </a:r>
          </a:p>
        </p:txBody>
      </p:sp>
      <p:sp>
        <p:nvSpPr>
          <p:cNvPr id="200" name="Audit verification feedback">
            <a:extLst xmlns:a="http://schemas.openxmlformats.org/drawingml/2006/main">
              <a:ext uri="{FF2B5EF4-FFF2-40B4-BE49-F238E27FC236}">
                <a16:creationId xmlns:a16="http://schemas.microsoft.com/office/drawing/2014/main" id="{CAC68BAB-79D4-4805-92D2-CED43242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815840"/>
            <a:ext cx="41910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00ce1bac0cdd41ff"/>
              </a:rPr>
              <a:t>Audit verification feedback</a:t>
            </a:r>
          </a:p>
        </p:txBody>
      </p:sp>
      <p:sp>
        <p:nvSpPr>
          <p:cNvPr id="201" name="Does the theorem capture the requirement?">
            <a:extLst xmlns:a="http://schemas.openxmlformats.org/drawingml/2006/main">
              <a:ext uri="{FF2B5EF4-FFF2-40B4-BE49-F238E27FC236}">
                <a16:creationId xmlns:a16="http://schemas.microsoft.com/office/drawing/2014/main" id="{EFE65435-6328-4156-8ABC-7331DB68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178362"/>
            <a:ext cx="4191000" cy="254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Does the theorem capture the requirement?</a:t>
            </a:r>
          </a:p>
        </p:txBody>
      </p:sp>
      <p:sp>
        <p:nvSpPr>
          <p:cNvPr id="202" name="Evidence assessment input">
            <a:extLst xmlns:a="http://schemas.openxmlformats.org/drawingml/2006/main">
              <a:ext uri="{FF2B5EF4-FFF2-40B4-BE49-F238E27FC236}">
                <a16:creationId xmlns:a16="http://schemas.microsoft.com/office/drawing/2014/main" id="{2D67BA1D-A6B6-4CD1-B327-A11FE602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5562600"/>
            <a:ext cx="1381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203" name="Intended">
            <a:extLst xmlns:a="http://schemas.openxmlformats.org/drawingml/2006/main">
              <a:ext uri="{FF2B5EF4-FFF2-40B4-BE49-F238E27FC236}">
                <a16:creationId xmlns:a16="http://schemas.microsoft.com/office/drawing/2014/main" id="{D06AC530-141B-4084-A365-B4D71273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586222"/>
            <a:ext cx="1285875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Intended</a:t>
            </a:r>
          </a:p>
        </p:txBody>
      </p:sp>
      <p:sp>
        <p:nvSpPr>
          <p:cNvPr id="204" name="requirements">
            <a:extLst xmlns:a="http://schemas.openxmlformats.org/drawingml/2006/main">
              <a:ext uri="{FF2B5EF4-FFF2-40B4-BE49-F238E27FC236}">
                <a16:creationId xmlns:a16="http://schemas.microsoft.com/office/drawing/2014/main" id="{074FF947-57B6-4723-9918-EA60AD81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829300"/>
            <a:ext cx="1285875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requirements</a:t>
            </a:r>
          </a:p>
        </p:txBody>
      </p:sp>
      <p:sp>
        <p:nvSpPr>
          <p:cNvPr id="205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C8306124-3F0C-4B4A-80C3-57733893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738" y="6143625"/>
            <a:ext cx="381000" cy="419100"/>
          </a:xfrm>
          <a:custGeom xmlns:a="http://schemas.openxmlformats.org/drawingml/2006/main">
            <a:pathLst>
              <a:path w="381000" h="419100">
                <a:moveTo>
                  <a:pt x="0" y="0"/>
                </a:moveTo>
                <a:lnTo>
                  <a:pt x="285750" y="0"/>
                </a:lnTo>
                <a:lnTo>
                  <a:pt x="381000" y="95250"/>
                </a:lnTo>
                <a:lnTo>
                  <a:pt x="381000" y="419100"/>
                </a:lnTo>
                <a:lnTo>
                  <a:pt x="0" y="4191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06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CFF71CF2-AE5E-42B0-B2D4-10A06F6C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0488" y="61436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07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6EA19D45-E993-43FB-8884-932CF4A0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938" y="6290310"/>
            <a:ext cx="209550" cy="9525"/>
          </a:xfrm>
          <a:custGeom xmlns:a="http://schemas.openxmlformats.org/drawingml/2006/main">
            <a:pathLst>
              <a:path w="209550" h="952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08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29CEFF39-1924-4BFA-9AC8-33C22F29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938" y="6361557"/>
            <a:ext cx="209550" cy="9525"/>
          </a:xfrm>
          <a:custGeom xmlns:a="http://schemas.openxmlformats.org/drawingml/2006/main">
            <a:pathLst>
              <a:path w="209550" h="952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09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3CF9B1CF-B394-48B6-B69D-A91A2B67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938" y="6432804"/>
            <a:ext cx="209550" cy="9525"/>
          </a:xfrm>
          <a:custGeom xmlns:a="http://schemas.openxmlformats.org/drawingml/2006/main">
            <a:pathLst>
              <a:path w="209550" h="952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10" name="Evidence assessment input">
            <a:extLst xmlns:a="http://schemas.openxmlformats.org/drawingml/2006/main">
              <a:ext uri="{FF2B5EF4-FFF2-40B4-BE49-F238E27FC236}">
                <a16:creationId xmlns:a16="http://schemas.microsoft.com/office/drawing/2014/main" id="{F32DB490-0C63-448A-9926-2E7C6395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5562600"/>
            <a:ext cx="16859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211" name="Exact artifacts">
            <a:extLst xmlns:a="http://schemas.openxmlformats.org/drawingml/2006/main">
              <a:ext uri="{FF2B5EF4-FFF2-40B4-BE49-F238E27FC236}">
                <a16:creationId xmlns:a16="http://schemas.microsoft.com/office/drawing/2014/main" id="{FB7BB157-EE89-4300-8DE4-2B912FFB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5707761"/>
            <a:ext cx="1590675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Exact artifacts</a:t>
            </a:r>
          </a:p>
        </p:txBody>
      </p:sp>
      <p:sp>
        <p:nvSpPr>
          <p:cNvPr id="212" name="(proofs, counterexamples,">
            <a:extLst xmlns:a="http://schemas.openxmlformats.org/drawingml/2006/main">
              <a:ext uri="{FF2B5EF4-FFF2-40B4-BE49-F238E27FC236}">
                <a16:creationId xmlns:a16="http://schemas.microsoft.com/office/drawing/2014/main" id="{8F2C08F9-B828-4F12-9120-9899198C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5991416"/>
            <a:ext cx="1590675" cy="171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(proofs, counterexamples,</a:t>
            </a:r>
          </a:p>
        </p:txBody>
      </p:sp>
      <p:sp>
        <p:nvSpPr>
          <p:cNvPr id="213" name="traces)">
            <a:extLst xmlns:a="http://schemas.openxmlformats.org/drawingml/2006/main">
              <a:ext uri="{FF2B5EF4-FFF2-40B4-BE49-F238E27FC236}">
                <a16:creationId xmlns:a16="http://schemas.microsoft.com/office/drawing/2014/main" id="{E258A91B-8465-4535-8A96-DEA15D12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6162675"/>
            <a:ext cx="1590675" cy="171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traces)</a:t>
            </a:r>
          </a:p>
        </p:txBody>
      </p:sp>
      <p:sp>
        <p:nvSpPr>
          <p:cNvPr id="214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FBC2A432-297B-4734-B203-551A5093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1138" y="6400800"/>
            <a:ext cx="381000" cy="200025"/>
          </a:xfrm>
          <a:custGeom xmlns:a="http://schemas.openxmlformats.org/drawingml/2006/main">
            <a:pathLst>
              <a:path w="381000" h="200025">
                <a:moveTo>
                  <a:pt x="0" y="0"/>
                </a:moveTo>
                <a:lnTo>
                  <a:pt x="285750" y="0"/>
                </a:lnTo>
                <a:lnTo>
                  <a:pt x="381000" y="95250"/>
                </a:lnTo>
                <a:lnTo>
                  <a:pt x="381000" y="200025"/>
                </a:lnTo>
                <a:lnTo>
                  <a:pt x="0" y="2000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15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229834A6-1FB6-4668-B2F7-74496346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6888" y="640080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16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5E14955F-A5CC-40A4-9B81-9EC25240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7338" y="6470809"/>
            <a:ext cx="209550" cy="9525"/>
          </a:xfrm>
          <a:custGeom xmlns:a="http://schemas.openxmlformats.org/drawingml/2006/main">
            <a:pathLst>
              <a:path w="209550" h="952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17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4D8E8885-0919-4D47-A138-9DABCB12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7338" y="6504813"/>
            <a:ext cx="209550" cy="9525"/>
          </a:xfrm>
          <a:custGeom xmlns:a="http://schemas.openxmlformats.org/drawingml/2006/main">
            <a:pathLst>
              <a:path w="209550" h="952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18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99F71F3B-A5A8-4BED-A3E0-ED627EB8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7338" y="6538817"/>
            <a:ext cx="209550" cy="9525"/>
          </a:xfrm>
          <a:custGeom xmlns:a="http://schemas.openxmlformats.org/drawingml/2006/main">
            <a:pathLst>
              <a:path w="209550" h="952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19" name="Evidence assessment input">
            <a:extLst xmlns:a="http://schemas.openxmlformats.org/drawingml/2006/main">
              <a:ext uri="{FF2B5EF4-FFF2-40B4-BE49-F238E27FC236}">
                <a16:creationId xmlns:a16="http://schemas.microsoft.com/office/drawing/2014/main" id="{51EFF617-FDD7-4679-9D69-6C64E9E7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5562600"/>
            <a:ext cx="14192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220" name="Assumptions">
            <a:extLst xmlns:a="http://schemas.openxmlformats.org/drawingml/2006/main">
              <a:ext uri="{FF2B5EF4-FFF2-40B4-BE49-F238E27FC236}">
                <a16:creationId xmlns:a16="http://schemas.microsoft.com/office/drawing/2014/main" id="{5E7F2227-82E4-4EE2-A4F9-46FE8EA6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5707761"/>
            <a:ext cx="1323975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Assumptions</a:t>
            </a:r>
          </a:p>
        </p:txBody>
      </p:sp>
      <p:sp>
        <p:nvSpPr>
          <p:cNvPr id="221" name="(environment, model,">
            <a:extLst xmlns:a="http://schemas.openxmlformats.org/drawingml/2006/main">
              <a:ext uri="{FF2B5EF4-FFF2-40B4-BE49-F238E27FC236}">
                <a16:creationId xmlns:a16="http://schemas.microsoft.com/office/drawing/2014/main" id="{04ACAE40-05F2-4E85-A5E1-AB03E814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5991416"/>
            <a:ext cx="1323975" cy="171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(environment, model,</a:t>
            </a:r>
          </a:p>
        </p:txBody>
      </p:sp>
      <p:sp>
        <p:nvSpPr>
          <p:cNvPr id="222" name="trusted components)">
            <a:extLst xmlns:a="http://schemas.openxmlformats.org/drawingml/2006/main">
              <a:ext uri="{FF2B5EF4-FFF2-40B4-BE49-F238E27FC236}">
                <a16:creationId xmlns:a16="http://schemas.microsoft.com/office/drawing/2014/main" id="{A38514EF-26AF-4C70-9394-E3B683A0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6162675"/>
            <a:ext cx="1323975" cy="171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163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trusted components)</a:t>
            </a:r>
          </a:p>
        </p:txBody>
      </p:sp>
      <p:sp>
        <p:nvSpPr>
          <p:cNvPr id="223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AD8C088F-B7BA-4BDE-B616-1BB9A5C4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6113" y="6400800"/>
            <a:ext cx="381000" cy="200025"/>
          </a:xfrm>
          <a:custGeom xmlns:a="http://schemas.openxmlformats.org/drawingml/2006/main">
            <a:pathLst>
              <a:path w="381000" h="200025">
                <a:moveTo>
                  <a:pt x="0" y="0"/>
                </a:moveTo>
                <a:lnTo>
                  <a:pt x="285750" y="0"/>
                </a:lnTo>
                <a:lnTo>
                  <a:pt x="381000" y="95250"/>
                </a:lnTo>
                <a:lnTo>
                  <a:pt x="381000" y="200025"/>
                </a:lnTo>
                <a:lnTo>
                  <a:pt x="0" y="2000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24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1F9A2424-2BCF-459C-93AD-5E743FF1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1863" y="640080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25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997A6421-35F9-459B-BC37-008572D9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2313" y="6470809"/>
            <a:ext cx="209550" cy="9525"/>
          </a:xfrm>
          <a:custGeom xmlns:a="http://schemas.openxmlformats.org/drawingml/2006/main">
            <a:pathLst>
              <a:path w="209550" h="952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26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A32757D7-553D-433E-874E-9F0AF84C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2313" y="6504813"/>
            <a:ext cx="209550" cy="9525"/>
          </a:xfrm>
          <a:custGeom xmlns:a="http://schemas.openxmlformats.org/drawingml/2006/main">
            <a:pathLst>
              <a:path w="209550" h="952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27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27B96E87-8761-47A8-B42C-F62A2D96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2313" y="6538817"/>
            <a:ext cx="209550" cy="9525"/>
          </a:xfrm>
          <a:custGeom xmlns:a="http://schemas.openxmlformats.org/drawingml/2006/main">
            <a:pathLst>
              <a:path w="209550" h="952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28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5A3BDF4B-4D8A-4F5C-8B1B-E2FC4D92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667500"/>
            <a:ext cx="3390900" cy="142875"/>
          </a:xfrm>
          <a:custGeom xmlns:a="http://schemas.openxmlformats.org/drawingml/2006/main">
            <a:pathLst>
              <a:path w="3390900" h="142875">
                <a:moveTo>
                  <a:pt x="0" y="0"/>
                </a:moveTo>
                <a:lnTo>
                  <a:pt x="0" y="142875"/>
                </a:lnTo>
                <a:lnTo>
                  <a:pt x="3390900" y="142875"/>
                </a:lnTo>
                <a:lnTo>
                  <a:pt x="3390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29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4A768708-2735-453B-A843-E5515CBE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6810375"/>
            <a:ext cx="9525" cy="171450"/>
          </a:xfrm>
          <a:custGeom xmlns:a="http://schemas.openxmlformats.org/drawingml/2006/main"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30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FB09828A-C969-4134-859C-048FA147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86752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31" name="Assess feedback">
            <a:extLst xmlns:a="http://schemas.openxmlformats.org/drawingml/2006/main">
              <a:ext uri="{FF2B5EF4-FFF2-40B4-BE49-F238E27FC236}">
                <a16:creationId xmlns:a16="http://schemas.microsoft.com/office/drawing/2014/main" id="{EA4FA324-074F-4141-8286-0B5C04F9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6991350"/>
            <a:ext cx="2524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232" name="Editable magnifier lens">
            <a:extLst xmlns:a="http://schemas.openxmlformats.org/drawingml/2006/main">
              <a:ext uri="{FF2B5EF4-FFF2-40B4-BE49-F238E27FC236}">
                <a16:creationId xmlns:a16="http://schemas.microsoft.com/office/drawing/2014/main" id="{8FDC649E-FA85-4121-AF40-86A35340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7134225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233" name="Editable magnifier handle">
            <a:extLst xmlns:a="http://schemas.openxmlformats.org/drawingml/2006/main">
              <a:ext uri="{FF2B5EF4-FFF2-40B4-BE49-F238E27FC236}">
                <a16:creationId xmlns:a16="http://schemas.microsoft.com/office/drawing/2014/main" id="{7800097D-8435-4375-9CFC-979F81E1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292" y="7363492"/>
            <a:ext cx="143637" cy="143637"/>
          </a:xfrm>
          <a:custGeom xmlns:a="http://schemas.openxmlformats.org/drawingml/2006/main">
            <a:pathLst>
              <a:path w="143637" h="143637">
                <a:moveTo>
                  <a:pt x="0" y="0"/>
                </a:moveTo>
                <a:lnTo>
                  <a:pt x="143637" y="14363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11111"/>
            </a:solidFill>
            <a:prstDash val="solid"/>
          </a:ln>
        </p:spPr>
      </p:sp>
      <p:sp>
        <p:nvSpPr>
          <p:cNvPr id="234" name="Assess feedback">
            <a:extLst xmlns:a="http://schemas.openxmlformats.org/drawingml/2006/main">
              <a:ext uri="{FF2B5EF4-FFF2-40B4-BE49-F238E27FC236}">
                <a16:creationId xmlns:a16="http://schemas.microsoft.com/office/drawing/2014/main" id="{0FAC50E7-6A6F-4888-9BC4-A496C2D8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275" y="7100888"/>
            <a:ext cx="1724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Assess feedback</a:t>
            </a:r>
          </a:p>
        </p:txBody>
      </p:sp>
      <p:sp>
        <p:nvSpPr>
          <p:cNvPr id="235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2E38A31C-79B3-43F3-9A6E-B41950DC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458075"/>
            <a:ext cx="1114425" cy="9525"/>
          </a:xfrm>
          <a:custGeom xmlns:a="http://schemas.openxmlformats.org/drawingml/2006/main">
            <a:pathLst>
              <a:path w="1114425" h="9525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36" name="Verification goal">
            <a:extLst xmlns:a="http://schemas.openxmlformats.org/drawingml/2006/main">
              <a:ext uri="{FF2B5EF4-FFF2-40B4-BE49-F238E27FC236}">
                <a16:creationId xmlns:a16="http://schemas.microsoft.com/office/drawing/2014/main" id="{11050E84-F523-43D9-B74D-0F2D1F74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7953375"/>
            <a:ext cx="12325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237" name="Efficient, reusable, independently checkable verification">
            <a:extLst xmlns:a="http://schemas.openxmlformats.org/drawingml/2006/main">
              <a:ext uri="{FF2B5EF4-FFF2-40B4-BE49-F238E27FC236}">
                <a16:creationId xmlns:a16="http://schemas.microsoft.com/office/drawing/2014/main" id="{925EBE08-A4A8-43F8-AE96-7BFCF678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024241"/>
            <a:ext cx="12020550" cy="353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4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4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4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4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4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4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4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4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4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Efficient, reusable, independently checkable verification</a:t>
            </a:r>
          </a:p>
        </p:txBody>
      </p:sp>
      <p:sp>
        <p:nvSpPr>
          <p:cNvPr id="238" name="Guarantees depend on the property, input domain, execution semantics, and truste">
            <a:extLst xmlns:a="http://schemas.openxmlformats.org/drawingml/2006/main">
              <a:ext uri="{FF2B5EF4-FFF2-40B4-BE49-F238E27FC236}">
                <a16:creationId xmlns:a16="http://schemas.microsoft.com/office/drawing/2014/main" id="{85AB1CCD-0478-42D4-9226-764E486C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476298"/>
            <a:ext cx="142113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Guarantees depend on the property, input domain, execution semantics, and trusted checking.</a:t>
            </a:r>
          </a:p>
        </p:txBody>
      </p:sp>
    </p:spTree>
    <p:extLst>
      <p:ext uri="{BB962C8B-B14F-4D97-AF65-F5344CB8AC3E}">
        <p14:creationId xmlns:p14="http://schemas.microsoft.com/office/powerpoint/2010/main" val="8578106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Learning Reusable Proof Strategies">
            <a:extLst xmlns:a="http://schemas.openxmlformats.org/drawingml/2006/main">
              <a:ext uri="{FF2B5EF4-FFF2-40B4-BE49-F238E27FC236}">
                <a16:creationId xmlns:a16="http://schemas.microsoft.com/office/drawing/2014/main" id="{7FAC9B2A-E3B8-478C-814D-43927DF8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2200"/>
            <a:ext cx="13735050" cy="541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Learning Reusable Proof Strategies</a:t>
            </a:r>
          </a:p>
        </p:txBody>
      </p:sp>
      <p:sp>
        <p:nvSpPr>
          <p:cNvPr id="2" name="Which verification evidence teaches transfer?">
            <a:extLst xmlns:a="http://schemas.openxmlformats.org/drawingml/2006/main">
              <a:ext uri="{FF2B5EF4-FFF2-40B4-BE49-F238E27FC236}">
                <a16:creationId xmlns:a16="http://schemas.microsoft.com/office/drawing/2014/main" id="{7114912F-00CB-4308-9BEF-252E8074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93230"/>
            <a:ext cx="130683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Which verification evidence teaches transfer?</a:t>
            </a:r>
          </a:p>
        </p:txBody>
      </p:sp>
      <p:sp>
        <p:nvSpPr>
          <p:cNvPr id="3" name="Proposed research">
            <a:extLst xmlns:a="http://schemas.openxmlformats.org/drawingml/2006/main">
              <a:ext uri="{FF2B5EF4-FFF2-40B4-BE49-F238E27FC236}">
                <a16:creationId xmlns:a16="http://schemas.microsoft.com/office/drawing/2014/main" id="{88DC23A0-3A6C-4157-A621-2BE7B06C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194310"/>
            <a:ext cx="20478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Proposed research</a:t>
            </a:r>
          </a:p>
        </p:txBody>
      </p:sp>
      <p:sp>
        <p:nvSpPr>
          <p:cNvPr id="4" name="Code + test harness">
            <a:extLst xmlns:a="http://schemas.openxmlformats.org/drawingml/2006/main">
              <a:ext uri="{FF2B5EF4-FFF2-40B4-BE49-F238E27FC236}">
                <a16:creationId xmlns:a16="http://schemas.microsoft.com/office/drawing/2014/main" id="{66DCC4BB-9B08-4739-8B86-563353B4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47800"/>
            <a:ext cx="24479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5" name="Code +">
            <a:extLst xmlns:a="http://schemas.openxmlformats.org/drawingml/2006/main">
              <a:ext uri="{FF2B5EF4-FFF2-40B4-BE49-F238E27FC236}">
                <a16:creationId xmlns:a16="http://schemas.microsoft.com/office/drawing/2014/main" id="{A385BBB8-67D1-441B-8760-33598400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33538"/>
            <a:ext cx="1419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Code +</a:t>
            </a:r>
          </a:p>
        </p:txBody>
      </p:sp>
      <p:sp>
        <p:nvSpPr>
          <p:cNvPr id="6" name="test harness">
            <a:extLst xmlns:a="http://schemas.openxmlformats.org/drawingml/2006/main">
              <a:ext uri="{FF2B5EF4-FFF2-40B4-BE49-F238E27FC236}">
                <a16:creationId xmlns:a16="http://schemas.microsoft.com/office/drawing/2014/main" id="{CD91F49F-174B-438F-98E5-0088CE5A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09763"/>
            <a:ext cx="1419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test harness</a:t>
            </a:r>
          </a:p>
        </p:txBody>
      </p:sp>
      <p:sp>
        <p:nvSpPr>
          <p:cNvPr id="7" name="Explicit property">
            <a:extLst xmlns:a="http://schemas.openxmlformats.org/drawingml/2006/main">
              <a:ext uri="{FF2B5EF4-FFF2-40B4-BE49-F238E27FC236}">
                <a16:creationId xmlns:a16="http://schemas.microsoft.com/office/drawing/2014/main" id="{CAFF4DF9-8360-425D-932C-6E6D8497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447800"/>
            <a:ext cx="23717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8" name="Explicit">
            <a:extLst xmlns:a="http://schemas.openxmlformats.org/drawingml/2006/main">
              <a:ext uri="{FF2B5EF4-FFF2-40B4-BE49-F238E27FC236}">
                <a16:creationId xmlns:a16="http://schemas.microsoft.com/office/drawing/2014/main" id="{0F4D9F9F-EFA8-4AB8-AF51-85C1D61B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633538"/>
            <a:ext cx="1343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Explicit</a:t>
            </a:r>
          </a:p>
        </p:txBody>
      </p:sp>
      <p:sp>
        <p:nvSpPr>
          <p:cNvPr id="9" name="property">
            <a:extLst xmlns:a="http://schemas.openxmlformats.org/drawingml/2006/main">
              <a:ext uri="{FF2B5EF4-FFF2-40B4-BE49-F238E27FC236}">
                <a16:creationId xmlns:a16="http://schemas.microsoft.com/office/drawing/2014/main" id="{C53323B0-533A-4DF7-BCE3-F2F51EFE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909763"/>
            <a:ext cx="1343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property</a:t>
            </a:r>
          </a:p>
        </p:txBody>
      </p:sp>
      <p:sp>
        <p:nvSpPr>
          <p:cNvPr id="10" name="Agent proposes proofs">
            <a:extLst xmlns:a="http://schemas.openxmlformats.org/drawingml/2006/main">
              <a:ext uri="{FF2B5EF4-FFF2-40B4-BE49-F238E27FC236}">
                <a16:creationId xmlns:a16="http://schemas.microsoft.com/office/drawing/2014/main" id="{50F56287-8A12-4CE7-8896-8C32D5B0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1447800"/>
            <a:ext cx="2571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1" name="Agent">
            <a:extLst xmlns:a="http://schemas.openxmlformats.org/drawingml/2006/main">
              <a:ext uri="{FF2B5EF4-FFF2-40B4-BE49-F238E27FC236}">
                <a16:creationId xmlns:a16="http://schemas.microsoft.com/office/drawing/2014/main" id="{240797FF-DF66-4FFC-9E4F-70FD3300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633538"/>
            <a:ext cx="1543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Agent</a:t>
            </a:r>
          </a:p>
        </p:txBody>
      </p:sp>
      <p:sp>
        <p:nvSpPr>
          <p:cNvPr id="12" name="proposes proofs">
            <a:extLst xmlns:a="http://schemas.openxmlformats.org/drawingml/2006/main">
              <a:ext uri="{FF2B5EF4-FFF2-40B4-BE49-F238E27FC236}">
                <a16:creationId xmlns:a16="http://schemas.microsoft.com/office/drawing/2014/main" id="{C052F1A7-27D0-4F62-86B9-921809D5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909763"/>
            <a:ext cx="1543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proposes proofs</a:t>
            </a:r>
          </a:p>
        </p:txBody>
      </p:sp>
      <p:sp>
        <p:nvSpPr>
          <p:cNvPr id="13" name="Independent checker">
            <a:extLst xmlns:a="http://schemas.openxmlformats.org/drawingml/2006/main">
              <a:ext uri="{FF2B5EF4-FFF2-40B4-BE49-F238E27FC236}">
                <a16:creationId xmlns:a16="http://schemas.microsoft.com/office/drawing/2014/main" id="{B6FB7931-ACAB-4593-9F74-ED0D5844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47800"/>
            <a:ext cx="22574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4" name="Independent">
            <a:extLst xmlns:a="http://schemas.openxmlformats.org/drawingml/2006/main">
              <a:ext uri="{FF2B5EF4-FFF2-40B4-BE49-F238E27FC236}">
                <a16:creationId xmlns:a16="http://schemas.microsoft.com/office/drawing/2014/main" id="{63E0C061-9B96-4CD7-925C-B9C8C2B4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1633538"/>
            <a:ext cx="12287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Independent</a:t>
            </a:r>
          </a:p>
        </p:txBody>
      </p:sp>
      <p:sp>
        <p:nvSpPr>
          <p:cNvPr id="15" name="checker">
            <a:extLst xmlns:a="http://schemas.openxmlformats.org/drawingml/2006/main">
              <a:ext uri="{FF2B5EF4-FFF2-40B4-BE49-F238E27FC236}">
                <a16:creationId xmlns:a16="http://schemas.microsoft.com/office/drawing/2014/main" id="{797CBA4B-A45C-4984-90FE-01E5B160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1909763"/>
            <a:ext cx="12287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checker</a:t>
            </a:r>
          </a:p>
        </p:txBody>
      </p:sp>
      <p:sp>
        <p:nvSpPr>
          <p:cNvPr id="16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71E32EEE-53D7-4FBC-B3F8-FE0E926E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95450"/>
            <a:ext cx="485775" cy="657225"/>
          </a:xfrm>
          <a:custGeom xmlns:a="http://schemas.openxmlformats.org/drawingml/2006/main">
            <a:pathLst>
              <a:path w="485775" h="657225">
                <a:moveTo>
                  <a:pt x="0" y="0"/>
                </a:moveTo>
                <a:lnTo>
                  <a:pt x="364331" y="0"/>
                </a:lnTo>
                <a:lnTo>
                  <a:pt x="485775" y="121444"/>
                </a:lnTo>
                <a:lnTo>
                  <a:pt x="485775" y="657225"/>
                </a:lnTo>
                <a:lnTo>
                  <a:pt x="0" y="6572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7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AE4BBE1B-1311-44C5-A4EE-16F55DA9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56" y="1695450"/>
            <a:ext cx="121444" cy="121444"/>
          </a:xfrm>
          <a:custGeom xmlns:a="http://schemas.openxmlformats.org/drawingml/2006/main">
            <a:pathLst>
              <a:path w="121444" h="121444">
                <a:moveTo>
                  <a:pt x="0" y="0"/>
                </a:moveTo>
                <a:lnTo>
                  <a:pt x="0" y="121444"/>
                </a:lnTo>
                <a:lnTo>
                  <a:pt x="121444" y="12144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8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A6C15A8E-99AB-45D8-97BE-06946824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" y="1925479"/>
            <a:ext cx="267176" cy="9525"/>
          </a:xfrm>
          <a:custGeom xmlns:a="http://schemas.openxmlformats.org/drawingml/2006/main">
            <a:pathLst>
              <a:path w="267176" h="9525">
                <a:moveTo>
                  <a:pt x="0" y="0"/>
                </a:moveTo>
                <a:lnTo>
                  <a:pt x="2671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9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102A9C31-A431-4A86-9F1B-DB36F22F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" y="2037207"/>
            <a:ext cx="267176" cy="9525"/>
          </a:xfrm>
          <a:custGeom xmlns:a="http://schemas.openxmlformats.org/drawingml/2006/main">
            <a:pathLst>
              <a:path w="267176" h="9525">
                <a:moveTo>
                  <a:pt x="0" y="0"/>
                </a:moveTo>
                <a:lnTo>
                  <a:pt x="2671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0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56EF225C-4128-4847-92BE-B1342328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" y="2148935"/>
            <a:ext cx="267176" cy="9525"/>
          </a:xfrm>
          <a:custGeom xmlns:a="http://schemas.openxmlformats.org/drawingml/2006/main">
            <a:pathLst>
              <a:path w="267176" h="9525">
                <a:moveTo>
                  <a:pt x="0" y="0"/>
                </a:moveTo>
                <a:lnTo>
                  <a:pt x="2671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1" name="Existing software">
            <a:extLst xmlns:a="http://schemas.openxmlformats.org/drawingml/2006/main">
              <a:ext uri="{FF2B5EF4-FFF2-40B4-BE49-F238E27FC236}">
                <a16:creationId xmlns:a16="http://schemas.microsoft.com/office/drawing/2014/main" id="{EBD720C0-195B-4290-BAE5-6D872944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21624"/>
            <a:ext cx="1314450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Existing software</a:t>
            </a:r>
          </a:p>
        </p:txBody>
      </p:sp>
      <p:sp>
        <p:nvSpPr>
          <p:cNvPr id="22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B1AE9FDF-682F-400A-B488-CCA1F2EE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695450"/>
            <a:ext cx="628650" cy="695325"/>
          </a:xfrm>
          <a:custGeom xmlns:a="http://schemas.openxmlformats.org/drawingml/2006/main">
            <a:pathLst>
              <a:path w="628650" h="695325">
                <a:moveTo>
                  <a:pt x="0" y="0"/>
                </a:moveTo>
                <a:lnTo>
                  <a:pt x="471488" y="0"/>
                </a:lnTo>
                <a:lnTo>
                  <a:pt x="628650" y="157163"/>
                </a:lnTo>
                <a:lnTo>
                  <a:pt x="628650" y="695325"/>
                </a:lnTo>
                <a:lnTo>
                  <a:pt x="0" y="6953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3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DC3F3CAF-F165-480A-83E7-5FD3260B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213" y="1695450"/>
            <a:ext cx="157163" cy="157163"/>
          </a:xfrm>
          <a:custGeom xmlns:a="http://schemas.openxmlformats.org/drawingml/2006/main">
            <a:pathLst>
              <a:path w="157163" h="157163">
                <a:moveTo>
                  <a:pt x="0" y="0"/>
                </a:moveTo>
                <a:lnTo>
                  <a:pt x="0" y="157163"/>
                </a:lnTo>
                <a:lnTo>
                  <a:pt x="157163" y="157163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4" name="&lt;/&gt;">
            <a:extLst xmlns:a="http://schemas.openxmlformats.org/drawingml/2006/main">
              <a:ext uri="{FF2B5EF4-FFF2-40B4-BE49-F238E27FC236}">
                <a16:creationId xmlns:a16="http://schemas.microsoft.com/office/drawing/2014/main" id="{C945805B-552E-4FCB-B1C8-D6949879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86327"/>
            <a:ext cx="571500" cy="313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29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129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129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129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129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129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129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129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129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129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129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129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&lt;/&gt;</a:t>
            </a:r>
          </a:p>
        </p:txBody>
      </p:sp>
      <p:sp>
        <p:nvSpPr>
          <p:cNvPr id="25" name="Input domain +">
            <a:extLst xmlns:a="http://schemas.openxmlformats.org/drawingml/2006/main">
              <a:ext uri="{FF2B5EF4-FFF2-40B4-BE49-F238E27FC236}">
                <a16:creationId xmlns:a16="http://schemas.microsoft.com/office/drawing/2014/main" id="{D60F28A9-A7A6-47B3-A6BE-244B3EE2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93608"/>
            <a:ext cx="11715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Input domain +</a:t>
            </a:r>
          </a:p>
        </p:txBody>
      </p:sp>
      <p:sp>
        <p:nvSpPr>
          <p:cNvPr id="26" name="execution model">
            <a:extLst xmlns:a="http://schemas.openxmlformats.org/drawingml/2006/main">
              <a:ext uri="{FF2B5EF4-FFF2-40B4-BE49-F238E27FC236}">
                <a16:creationId xmlns:a16="http://schemas.microsoft.com/office/drawing/2014/main" id="{A955A463-90B1-4B77-AE1D-C269237D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14588"/>
            <a:ext cx="11715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execution model</a:t>
            </a:r>
          </a:p>
        </p:txBody>
      </p:sp>
      <p:sp>
        <p:nvSpPr>
          <p:cNvPr id="27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5DE125C8-8B1B-4750-8B8E-77D8BBB4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04975"/>
            <a:ext cx="457200" cy="628650"/>
          </a:xfrm>
          <a:custGeom xmlns:a="http://schemas.openxmlformats.org/drawingml/2006/main">
            <a:pathLst>
              <a:path w="457200" h="628650">
                <a:moveTo>
                  <a:pt x="0" y="0"/>
                </a:moveTo>
                <a:lnTo>
                  <a:pt x="342900" y="0"/>
                </a:lnTo>
                <a:lnTo>
                  <a:pt x="457200" y="114300"/>
                </a:lnTo>
                <a:lnTo>
                  <a:pt x="457200" y="628650"/>
                </a:lnTo>
                <a:lnTo>
                  <a:pt x="0" y="6286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8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6476D861-17B2-4720-AE62-AEA6BA39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0497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0" y="0"/>
                </a:moveTo>
                <a:lnTo>
                  <a:pt x="0" y="114300"/>
                </a:lnTo>
                <a:lnTo>
                  <a:pt x="11430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9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EBF834AA-8141-4B88-847C-75055CB5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3290" y="1925003"/>
            <a:ext cx="251460" cy="9525"/>
          </a:xfrm>
          <a:custGeom xmlns:a="http://schemas.openxmlformats.org/drawingml/2006/main">
            <a:pathLst>
              <a:path w="251460" h="9525">
                <a:moveTo>
                  <a:pt x="0" y="0"/>
                </a:moveTo>
                <a:lnTo>
                  <a:pt x="2514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30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D094706C-0B78-4A97-9B71-0D11F78D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3290" y="2031873"/>
            <a:ext cx="251460" cy="9525"/>
          </a:xfrm>
          <a:custGeom xmlns:a="http://schemas.openxmlformats.org/drawingml/2006/main">
            <a:pathLst>
              <a:path w="251460" h="9525">
                <a:moveTo>
                  <a:pt x="0" y="0"/>
                </a:moveTo>
                <a:lnTo>
                  <a:pt x="2514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31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C2E00BB2-AEB0-4137-9699-8DF0B7D4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3290" y="2138744"/>
            <a:ext cx="251460" cy="9525"/>
          </a:xfrm>
          <a:custGeom xmlns:a="http://schemas.openxmlformats.org/drawingml/2006/main">
            <a:pathLst>
              <a:path w="251460" h="9525">
                <a:moveTo>
                  <a:pt x="0" y="0"/>
                </a:moveTo>
                <a:lnTo>
                  <a:pt x="2514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32" name="Invariants · Contracts ·">
            <a:extLst xmlns:a="http://schemas.openxmlformats.org/drawingml/2006/main">
              <a:ext uri="{FF2B5EF4-FFF2-40B4-BE49-F238E27FC236}">
                <a16:creationId xmlns:a16="http://schemas.microsoft.com/office/drawing/2014/main" id="{7F14B39A-D843-45FA-9180-000547DD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14182"/>
            <a:ext cx="1533525" cy="209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Invariants · Contracts ·</a:t>
            </a:r>
          </a:p>
        </p:txBody>
      </p:sp>
      <p:sp>
        <p:nvSpPr>
          <p:cNvPr id="33" name="Lemmas">
            <a:extLst xmlns:a="http://schemas.openxmlformats.org/drawingml/2006/main">
              <a:ext uri="{FF2B5EF4-FFF2-40B4-BE49-F238E27FC236}">
                <a16:creationId xmlns:a16="http://schemas.microsoft.com/office/drawing/2014/main" id="{1F7CBFC0-5DF9-4D8D-9460-0D103DE8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24113"/>
            <a:ext cx="1533525" cy="209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Lemmas</a:t>
            </a:r>
          </a:p>
        </p:txBody>
      </p:sp>
      <p:sp>
        <p:nvSpPr>
          <p:cNvPr id="34" name="Editable magnifier lens">
            <a:extLst xmlns:a="http://schemas.openxmlformats.org/drawingml/2006/main">
              <a:ext uri="{FF2B5EF4-FFF2-40B4-BE49-F238E27FC236}">
                <a16:creationId xmlns:a16="http://schemas.microsoft.com/office/drawing/2014/main" id="{DD048776-5EDC-43C1-96CC-6181B0B0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714500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35" name="Editable magnifier handle">
            <a:extLst xmlns:a="http://schemas.openxmlformats.org/drawingml/2006/main">
              <a:ext uri="{FF2B5EF4-FFF2-40B4-BE49-F238E27FC236}">
                <a16:creationId xmlns:a16="http://schemas.microsoft.com/office/drawing/2014/main" id="{85F51448-6D1C-4ACB-B7BC-BAAB8CD6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072" y="2054447"/>
            <a:ext cx="212979" cy="212979"/>
          </a:xfrm>
          <a:custGeom xmlns:a="http://schemas.openxmlformats.org/drawingml/2006/main">
            <a:pathLst>
              <a:path w="212979" h="212979">
                <a:moveTo>
                  <a:pt x="0" y="0"/>
                </a:moveTo>
                <a:lnTo>
                  <a:pt x="212979" y="21297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11111"/>
            </a:solidFill>
            <a:prstDash val="solid"/>
          </a:ln>
        </p:spPr>
      </p:sp>
      <p:sp>
        <p:nvSpPr>
          <p:cNvPr id="36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305D9525-D318-4E47-8B1B-A05B40EE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057400"/>
            <a:ext cx="971550" cy="9525"/>
          </a:xfrm>
          <a:custGeom xmlns:a="http://schemas.openxmlformats.org/drawingml/2006/main">
            <a:pathLst>
              <a:path w="971550" h="952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7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7BD76645-74D7-4E4D-91BD-572928A5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097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38" name="Formalize">
            <a:extLst xmlns:a="http://schemas.openxmlformats.org/drawingml/2006/main">
              <a:ext uri="{FF2B5EF4-FFF2-40B4-BE49-F238E27FC236}">
                <a16:creationId xmlns:a16="http://schemas.microsoft.com/office/drawing/2014/main" id="{A6555F33-23B7-41E2-A20E-D3ECB89F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39075"/>
            <a:ext cx="952500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Formalize</a:t>
            </a:r>
          </a:p>
        </p:txBody>
      </p:sp>
      <p:sp>
        <p:nvSpPr>
          <p:cNvPr id="39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A36D4D90-E3D4-4E2C-8F60-DE68CFB4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57400"/>
            <a:ext cx="866775" cy="9525"/>
          </a:xfrm>
          <a:custGeom xmlns:a="http://schemas.openxmlformats.org/drawingml/2006/main">
            <a:pathLst>
              <a:path w="866775" h="9525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40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C38845F0-B5F4-4E7C-BDDE-FAE60EFF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0097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41" name="Propose">
            <a:extLst xmlns:a="http://schemas.openxmlformats.org/drawingml/2006/main">
              <a:ext uri="{FF2B5EF4-FFF2-40B4-BE49-F238E27FC236}">
                <a16:creationId xmlns:a16="http://schemas.microsoft.com/office/drawing/2014/main" id="{C915E9F4-953E-41BC-A6A8-FD586244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739075"/>
            <a:ext cx="847725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Propose</a:t>
            </a:r>
          </a:p>
        </p:txBody>
      </p:sp>
      <p:sp>
        <p:nvSpPr>
          <p:cNvPr id="42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6FD4CE59-4EC9-4098-A84D-F38BB5E3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057400"/>
            <a:ext cx="771525" cy="9525"/>
          </a:xfrm>
          <a:custGeom xmlns:a="http://schemas.openxmlformats.org/drawingml/2006/main">
            <a:pathLst>
              <a:path w="771525" h="9525">
                <a:moveTo>
                  <a:pt x="0" y="0"/>
                </a:moveTo>
                <a:lnTo>
                  <a:pt x="771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43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E2C3EBAB-FCE1-419A-B5CB-1E917A34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0097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44" name="Check">
            <a:extLst xmlns:a="http://schemas.openxmlformats.org/drawingml/2006/main">
              <a:ext uri="{FF2B5EF4-FFF2-40B4-BE49-F238E27FC236}">
                <a16:creationId xmlns:a16="http://schemas.microsoft.com/office/drawing/2014/main" id="{F7250819-636D-455F-8475-CB402B3B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39075"/>
            <a:ext cx="752475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Check</a:t>
            </a:r>
          </a:p>
        </p:txBody>
      </p:sp>
      <p:sp>
        <p:nvSpPr>
          <p:cNvPr id="45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B561D0A4-9185-4085-B9B8-CE399036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2057400"/>
            <a:ext cx="161925" cy="9525"/>
          </a:xfrm>
          <a:custGeom xmlns:a="http://schemas.openxmlformats.org/drawingml/2006/main">
            <a:pathLst>
              <a:path w="161925" h="9525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46" name="Distinct proof outcome">
            <a:extLst xmlns:a="http://schemas.openxmlformats.org/drawingml/2006/main">
              <a:ext uri="{FF2B5EF4-FFF2-40B4-BE49-F238E27FC236}">
                <a16:creationId xmlns:a16="http://schemas.microsoft.com/office/drawing/2014/main" id="{9D8BD880-B20A-4853-B4D2-F33F7DCB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990600"/>
            <a:ext cx="24098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47" name="Editable check mark">
            <a:extLst xmlns:a="http://schemas.openxmlformats.org/drawingml/2006/main">
              <a:ext uri="{FF2B5EF4-FFF2-40B4-BE49-F238E27FC236}">
                <a16:creationId xmlns:a16="http://schemas.microsoft.com/office/drawing/2014/main" id="{FAF995FF-7B99-495C-814C-601E8B1C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1162050"/>
            <a:ext cx="285750" cy="257175"/>
          </a:xfrm>
          <a:custGeom xmlns:a="http://schemas.openxmlformats.org/drawingml/2006/main">
            <a:pathLst>
              <a:path w="285750" h="257175">
                <a:moveTo>
                  <a:pt x="0" y="157163"/>
                </a:moveTo>
                <a:lnTo>
                  <a:pt x="100013" y="257175"/>
                </a:ln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48" name="Checked step">
            <a:extLst xmlns:a="http://schemas.openxmlformats.org/drawingml/2006/main">
              <a:ext uri="{FF2B5EF4-FFF2-40B4-BE49-F238E27FC236}">
                <a16:creationId xmlns:a16="http://schemas.microsoft.com/office/drawing/2014/main" id="{6F3139A3-92CE-43CD-9598-B5038337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1138238"/>
            <a:ext cx="161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Checked step</a:t>
            </a:r>
          </a:p>
        </p:txBody>
      </p:sp>
      <p:sp>
        <p:nvSpPr>
          <p:cNvPr id="49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4210DCF3-0DE0-46CE-963A-895B543D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1276350"/>
            <a:ext cx="552450" cy="781050"/>
          </a:xfrm>
          <a:custGeom xmlns:a="http://schemas.openxmlformats.org/drawingml/2006/main">
            <a:pathLst>
              <a:path w="552450" h="781050">
                <a:moveTo>
                  <a:pt x="0" y="781050"/>
                </a:moveTo>
                <a:lnTo>
                  <a:pt x="0" y="0"/>
                </a:lnTo>
                <a:lnTo>
                  <a:pt x="552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0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87DAFC56-671A-4996-8BDE-40FCBE1A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12287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51" name="Distinct proof outcome">
            <a:extLst xmlns:a="http://schemas.openxmlformats.org/drawingml/2006/main">
              <a:ext uri="{FF2B5EF4-FFF2-40B4-BE49-F238E27FC236}">
                <a16:creationId xmlns:a16="http://schemas.microsoft.com/office/drawing/2014/main" id="{0A33C392-691A-4C45-B205-7AF4EFA8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1666875"/>
            <a:ext cx="24098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52" name="Editable cross">
            <a:extLst xmlns:a="http://schemas.openxmlformats.org/drawingml/2006/main">
              <a:ext uri="{FF2B5EF4-FFF2-40B4-BE49-F238E27FC236}">
                <a16:creationId xmlns:a16="http://schemas.microsoft.com/office/drawing/2014/main" id="{31DB9E6B-D09C-4401-AEF1-718C4213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1828800"/>
            <a:ext cx="257175" cy="257175"/>
          </a:xfrm>
          <a:custGeom xmlns:a="http://schemas.openxmlformats.org/drawingml/2006/main">
            <a:pathLst>
              <a:path w="257175" h="257175">
                <a:moveTo>
                  <a:pt x="0" y="0"/>
                </a:moveTo>
                <a:lnTo>
                  <a:pt x="257175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53" name="Editable cross">
            <a:extLst xmlns:a="http://schemas.openxmlformats.org/drawingml/2006/main">
              <a:ext uri="{FF2B5EF4-FFF2-40B4-BE49-F238E27FC236}">
                <a16:creationId xmlns:a16="http://schemas.microsoft.com/office/drawing/2014/main" id="{937F197B-852A-4DD4-8FD1-16B6BD1D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1828800"/>
            <a:ext cx="257175" cy="257175"/>
          </a:xfrm>
          <a:custGeom xmlns:a="http://schemas.openxmlformats.org/drawingml/2006/main">
            <a:pathLst>
              <a:path w="257175" h="257175">
                <a:moveTo>
                  <a:pt x="257175" y="0"/>
                </a:moveTo>
                <a:lnTo>
                  <a:pt x="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54" name="Counterexample">
            <a:extLst xmlns:a="http://schemas.openxmlformats.org/drawingml/2006/main">
              <a:ext uri="{FF2B5EF4-FFF2-40B4-BE49-F238E27FC236}">
                <a16:creationId xmlns:a16="http://schemas.microsoft.com/office/drawing/2014/main" id="{770BA3DD-9DFC-49D5-8C09-494AFE0C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1814513"/>
            <a:ext cx="161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Counterexample</a:t>
            </a:r>
          </a:p>
        </p:txBody>
      </p:sp>
      <p:sp>
        <p:nvSpPr>
          <p:cNvPr id="55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AD200011-87D2-4F84-AACC-4792EFE2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1952625"/>
            <a:ext cx="552450" cy="104775"/>
          </a:xfrm>
          <a:custGeom xmlns:a="http://schemas.openxmlformats.org/drawingml/2006/main">
            <a:pathLst>
              <a:path w="552450" h="104775">
                <a:moveTo>
                  <a:pt x="0" y="104775"/>
                </a:moveTo>
                <a:lnTo>
                  <a:pt x="0" y="0"/>
                </a:lnTo>
                <a:lnTo>
                  <a:pt x="552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6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4021FDC1-0A69-469D-8166-4642D5F4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19050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57" name="Distinct proof outcome">
            <a:extLst xmlns:a="http://schemas.openxmlformats.org/drawingml/2006/main">
              <a:ext uri="{FF2B5EF4-FFF2-40B4-BE49-F238E27FC236}">
                <a16:creationId xmlns:a16="http://schemas.microsoft.com/office/drawing/2014/main" id="{544896B9-0F3D-4D12-9AC5-F0A1E34C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343150"/>
            <a:ext cx="24098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58" name="?">
            <a:extLst xmlns:a="http://schemas.openxmlformats.org/drawingml/2006/main">
              <a:ext uri="{FF2B5EF4-FFF2-40B4-BE49-F238E27FC236}">
                <a16:creationId xmlns:a16="http://schemas.microsoft.com/office/drawing/2014/main" id="{BDCB4F8E-6A99-457D-A3B2-143E63D9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0725" y="2407920"/>
            <a:ext cx="419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30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30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30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30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30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30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30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30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30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30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?</a:t>
            </a:r>
          </a:p>
        </p:txBody>
      </p:sp>
      <p:sp>
        <p:nvSpPr>
          <p:cNvPr id="59" name="Unresolved /">
            <a:extLst xmlns:a="http://schemas.openxmlformats.org/drawingml/2006/main">
              <a:ext uri="{FF2B5EF4-FFF2-40B4-BE49-F238E27FC236}">
                <a16:creationId xmlns:a16="http://schemas.microsoft.com/office/drawing/2014/main" id="{EABE3904-1549-4A35-8B70-EB261FE0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2352675"/>
            <a:ext cx="161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Unresolved /</a:t>
            </a:r>
          </a:p>
        </p:txBody>
      </p:sp>
      <p:sp>
        <p:nvSpPr>
          <p:cNvPr id="60" name="resource limit">
            <a:extLst xmlns:a="http://schemas.openxmlformats.org/drawingml/2006/main">
              <a:ext uri="{FF2B5EF4-FFF2-40B4-BE49-F238E27FC236}">
                <a16:creationId xmlns:a16="http://schemas.microsoft.com/office/drawing/2014/main" id="{F2E9640B-7DC8-4C82-B284-DFE314EE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2628900"/>
            <a:ext cx="161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resource limit</a:t>
            </a:r>
          </a:p>
        </p:txBody>
      </p:sp>
      <p:sp>
        <p:nvSpPr>
          <p:cNvPr id="61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82DCB8B5-5A3A-41FD-AD46-2AA0B3B3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057400"/>
            <a:ext cx="552450" cy="571500"/>
          </a:xfrm>
          <a:custGeom xmlns:a="http://schemas.openxmlformats.org/drawingml/2006/main">
            <a:pathLst>
              <a:path w="552450" h="571500">
                <a:moveTo>
                  <a:pt x="0" y="0"/>
                </a:moveTo>
                <a:lnTo>
                  <a:pt x="0" y="571500"/>
                </a:lnTo>
                <a:lnTo>
                  <a:pt x="552450" y="571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2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A6BD5A67-4C2E-49FB-B9A7-54667034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5812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63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C7A46314-2B97-4C7B-B4E4-8964DBCC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57400"/>
            <a:ext cx="4676775" cy="1200150"/>
          </a:xfrm>
          <a:custGeom xmlns:a="http://schemas.openxmlformats.org/drawingml/2006/main">
            <a:pathLst>
              <a:path w="4676775" h="1200150">
                <a:moveTo>
                  <a:pt x="4676775" y="0"/>
                </a:moveTo>
                <a:lnTo>
                  <a:pt x="4676775" y="1200150"/>
                </a:lnTo>
                <a:lnTo>
                  <a:pt x="0" y="1200150"/>
                </a:lnTo>
                <a:lnTo>
                  <a:pt x="0" y="638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dash"/>
          </a:ln>
        </p:spPr>
      </p:sp>
      <p:sp>
        <p:nvSpPr>
          <p:cNvPr id="64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41EEF5C8-B978-43DD-8A05-33334E9D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95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0"/>
                </a:moveTo>
                <a:lnTo>
                  <a:pt x="95250" y="11430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65" name="Any outcome: investigate and refine the proof">
            <a:extLst xmlns:a="http://schemas.openxmlformats.org/drawingml/2006/main">
              <a:ext uri="{FF2B5EF4-FFF2-40B4-BE49-F238E27FC236}">
                <a16:creationId xmlns:a16="http://schemas.microsoft.com/office/drawing/2014/main" id="{01F03D37-3DCF-4692-A5B1-CC8AB471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10650"/>
            <a:ext cx="4257675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Any outcome: investigate and refine the proof</a:t>
            </a:r>
          </a:p>
        </p:txBody>
      </p:sp>
      <p:sp>
        <p:nvSpPr>
          <p:cNvPr id="66" name="Alternative mechanisms comparison">
            <a:extLst xmlns:a="http://schemas.openxmlformats.org/drawingml/2006/main">
              <a:ext uri="{FF2B5EF4-FFF2-40B4-BE49-F238E27FC236}">
                <a16:creationId xmlns:a16="http://schemas.microsoft.com/office/drawing/2014/main" id="{08F81086-E548-4FDD-93DB-18D19E34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76625"/>
            <a:ext cx="15382875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dash"/>
          </a:ln>
        </p:spPr>
      </p:sp>
      <p:sp>
        <p:nvSpPr>
          <p:cNvPr id="67" name="Compare three experimental mechanisms">
            <a:extLst xmlns:a="http://schemas.openxmlformats.org/drawingml/2006/main">
              <a:ext uri="{FF2B5EF4-FFF2-40B4-BE49-F238E27FC236}">
                <a16:creationId xmlns:a16="http://schemas.microsoft.com/office/drawing/2014/main" id="{75907F83-D78D-4CFA-B60B-0CB7CC1B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22154"/>
            <a:ext cx="96393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5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5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5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5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5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5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5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5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5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Compare three experimental mechanisms</a:t>
            </a:r>
          </a:p>
        </p:txBody>
      </p:sp>
      <p:sp>
        <p:nvSpPr>
          <p:cNvPr id="68" name="Alternative mechanism: Retrieve">
            <a:extLst xmlns:a="http://schemas.openxmlformats.org/drawingml/2006/main">
              <a:ext uri="{FF2B5EF4-FFF2-40B4-BE49-F238E27FC236}">
                <a16:creationId xmlns:a16="http://schemas.microsoft.com/office/drawing/2014/main" id="{59AA0628-F17D-4C70-8469-0CAC08E3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4600575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69" name="Stage 1">
            <a:extLst xmlns:a="http://schemas.openxmlformats.org/drawingml/2006/main">
              <a:ext uri="{FF2B5EF4-FFF2-40B4-BE49-F238E27FC236}">
                <a16:creationId xmlns:a16="http://schemas.microsoft.com/office/drawing/2014/main" id="{DA73419C-8DA3-434A-AA80-0D3E0BE1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29075"/>
            <a:ext cx="504825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70" name="1">
            <a:extLst xmlns:a="http://schemas.openxmlformats.org/drawingml/2006/main">
              <a:ext uri="{FF2B5EF4-FFF2-40B4-BE49-F238E27FC236}">
                <a16:creationId xmlns:a16="http://schemas.microsoft.com/office/drawing/2014/main" id="{B2EE4EFA-9353-46E6-BC8F-442E64FC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1168"/>
            <a:ext cx="504825" cy="380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1</a:t>
            </a:r>
          </a:p>
        </p:txBody>
      </p:sp>
      <p:sp>
        <p:nvSpPr>
          <p:cNvPr id="71" name="Retrieve">
            <a:extLst xmlns:a="http://schemas.openxmlformats.org/drawingml/2006/main">
              <a:ext uri="{FF2B5EF4-FFF2-40B4-BE49-F238E27FC236}">
                <a16:creationId xmlns:a16="http://schemas.microsoft.com/office/drawing/2014/main" id="{CD0105B9-223D-4A07-BCB2-228F87AB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015931"/>
            <a:ext cx="3333750" cy="397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Retrieve</a:t>
            </a:r>
          </a:p>
        </p:txBody>
      </p:sp>
      <p:sp>
        <p:nvSpPr>
          <p:cNvPr id="72" name="Reuse checked proof artifacts">
            <a:extLst xmlns:a="http://schemas.openxmlformats.org/drawingml/2006/main">
              <a:ext uri="{FF2B5EF4-FFF2-40B4-BE49-F238E27FC236}">
                <a16:creationId xmlns:a16="http://schemas.microsoft.com/office/drawing/2014/main" id="{C75F040A-6DDA-4BD2-93BC-A2453BFE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27601"/>
            <a:ext cx="3352800" cy="29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Reuse checked proof artifacts</a:t>
            </a:r>
          </a:p>
        </p:txBody>
      </p:sp>
      <p:sp>
        <p:nvSpPr>
          <p:cNvPr id="73" name="Alternative mechanism: Refine">
            <a:extLst xmlns:a="http://schemas.openxmlformats.org/drawingml/2006/main">
              <a:ext uri="{FF2B5EF4-FFF2-40B4-BE49-F238E27FC236}">
                <a16:creationId xmlns:a16="http://schemas.microsoft.com/office/drawing/2014/main" id="{BE68E736-A14C-4BDF-9C44-67FDF158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933825"/>
            <a:ext cx="4600575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74" name="Stage 2">
            <a:extLst xmlns:a="http://schemas.openxmlformats.org/drawingml/2006/main">
              <a:ext uri="{FF2B5EF4-FFF2-40B4-BE49-F238E27FC236}">
                <a16:creationId xmlns:a16="http://schemas.microsoft.com/office/drawing/2014/main" id="{01D68AD9-F8FD-4830-B81D-287524B8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029075"/>
            <a:ext cx="504825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75" name="2">
            <a:extLst xmlns:a="http://schemas.openxmlformats.org/drawingml/2006/main">
              <a:ext uri="{FF2B5EF4-FFF2-40B4-BE49-F238E27FC236}">
                <a16:creationId xmlns:a16="http://schemas.microsoft.com/office/drawing/2014/main" id="{16FA9092-D20A-410F-990B-1C9E324F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091168"/>
            <a:ext cx="504825" cy="380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2</a:t>
            </a:r>
          </a:p>
        </p:txBody>
      </p:sp>
      <p:sp>
        <p:nvSpPr>
          <p:cNvPr id="76" name="Refine">
            <a:extLst xmlns:a="http://schemas.openxmlformats.org/drawingml/2006/main">
              <a:ext uri="{FF2B5EF4-FFF2-40B4-BE49-F238E27FC236}">
                <a16:creationId xmlns:a16="http://schemas.microsoft.com/office/drawing/2014/main" id="{5AE15ABC-BBA5-4109-9FA2-42969B70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015931"/>
            <a:ext cx="3333750" cy="397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Refine</a:t>
            </a:r>
          </a:p>
        </p:txBody>
      </p:sp>
      <p:sp>
        <p:nvSpPr>
          <p:cNvPr id="77" name="Adapt during one task">
            <a:extLst xmlns:a="http://schemas.openxmlformats.org/drawingml/2006/main">
              <a:ext uri="{FF2B5EF4-FFF2-40B4-BE49-F238E27FC236}">
                <a16:creationId xmlns:a16="http://schemas.microsoft.com/office/drawing/2014/main" id="{C0D3EB2D-4C72-444A-B6B7-3509A6E6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27601"/>
            <a:ext cx="3352800" cy="29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Adapt during one task</a:t>
            </a:r>
          </a:p>
        </p:txBody>
      </p:sp>
      <p:sp>
        <p:nvSpPr>
          <p:cNvPr id="78" name="Alternative mechanism: Learn">
            <a:extLst xmlns:a="http://schemas.openxmlformats.org/drawingml/2006/main">
              <a:ext uri="{FF2B5EF4-FFF2-40B4-BE49-F238E27FC236}">
                <a16:creationId xmlns:a16="http://schemas.microsoft.com/office/drawing/2014/main" id="{53B2EF63-9772-4494-B381-8D77D053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933825"/>
            <a:ext cx="4600575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79" name="Stage 3">
            <a:extLst xmlns:a="http://schemas.openxmlformats.org/drawingml/2006/main">
              <a:ext uri="{FF2B5EF4-FFF2-40B4-BE49-F238E27FC236}">
                <a16:creationId xmlns:a16="http://schemas.microsoft.com/office/drawing/2014/main" id="{1A2CFC48-6B00-4425-958E-02C4780F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029075"/>
            <a:ext cx="504825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80" name="3">
            <a:extLst xmlns:a="http://schemas.openxmlformats.org/drawingml/2006/main">
              <a:ext uri="{FF2B5EF4-FFF2-40B4-BE49-F238E27FC236}">
                <a16:creationId xmlns:a16="http://schemas.microsoft.com/office/drawing/2014/main" id="{180A63D5-4A98-43D0-A40C-8F784D8F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091168"/>
            <a:ext cx="504825" cy="380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584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3</a:t>
            </a:r>
          </a:p>
        </p:txBody>
      </p:sp>
      <p:sp>
        <p:nvSpPr>
          <p:cNvPr id="81" name="Learn">
            <a:extLst xmlns:a="http://schemas.openxmlformats.org/drawingml/2006/main">
              <a:ext uri="{FF2B5EF4-FFF2-40B4-BE49-F238E27FC236}">
                <a16:creationId xmlns:a16="http://schemas.microsoft.com/office/drawing/2014/main" id="{B859B6C5-7032-4046-8139-379414D3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4015931"/>
            <a:ext cx="3333750" cy="397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Learn</a:t>
            </a:r>
          </a:p>
        </p:txBody>
      </p:sp>
      <p:sp>
        <p:nvSpPr>
          <p:cNvPr id="82" name="Train reusable proof strategies">
            <a:extLst xmlns:a="http://schemas.openxmlformats.org/drawingml/2006/main">
              <a:ext uri="{FF2B5EF4-FFF2-40B4-BE49-F238E27FC236}">
                <a16:creationId xmlns:a16="http://schemas.microsoft.com/office/drawing/2014/main" id="{2A691890-3979-4069-9354-C5CEFC41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427601"/>
            <a:ext cx="3352800" cy="29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Train reusable proof strategies</a:t>
            </a:r>
          </a:p>
        </p:txBody>
      </p:sp>
      <p:sp>
        <p:nvSpPr>
          <p:cNvPr id="83" name="Editable proof library">
            <a:extLst xmlns:a="http://schemas.openxmlformats.org/drawingml/2006/main">
              <a:ext uri="{FF2B5EF4-FFF2-40B4-BE49-F238E27FC236}">
                <a16:creationId xmlns:a16="http://schemas.microsoft.com/office/drawing/2014/main" id="{32FF26BE-9572-4B24-80DC-96498915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972050"/>
            <a:ext cx="609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84" name="Proof library layer">
            <a:extLst xmlns:a="http://schemas.openxmlformats.org/drawingml/2006/main">
              <a:ext uri="{FF2B5EF4-FFF2-40B4-BE49-F238E27FC236}">
                <a16:creationId xmlns:a16="http://schemas.microsoft.com/office/drawing/2014/main" id="{78C2EBD3-9ADA-44A1-8977-15429331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886325"/>
            <a:ext cx="60960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85" name="Proof library layer">
            <a:extLst xmlns:a="http://schemas.openxmlformats.org/drawingml/2006/main">
              <a:ext uri="{FF2B5EF4-FFF2-40B4-BE49-F238E27FC236}">
                <a16:creationId xmlns:a16="http://schemas.microsoft.com/office/drawing/2014/main" id="{615FB689-55ED-4FF7-A37E-16311BC2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114925"/>
            <a:ext cx="60960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86" name="Proof library layer">
            <a:extLst xmlns:a="http://schemas.openxmlformats.org/drawingml/2006/main">
              <a:ext uri="{FF2B5EF4-FFF2-40B4-BE49-F238E27FC236}">
                <a16:creationId xmlns:a16="http://schemas.microsoft.com/office/drawing/2014/main" id="{0937C2C0-DEC6-4755-8057-335152BA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343525"/>
            <a:ext cx="60960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87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89CB0AE9-FC82-4DA1-A54D-8D78A57E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238750"/>
            <a:ext cx="647700" cy="9525"/>
          </a:xfrm>
          <a:custGeom xmlns:a="http://schemas.openxmlformats.org/drawingml/2006/main">
            <a:pathLst>
              <a:path w="647700" h="9525">
                <a:moveTo>
                  <a:pt x="0" y="0"/>
                </a:moveTo>
                <a:lnTo>
                  <a:pt x="647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8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7F6DA786-8542-46CD-B962-5E4102CE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911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89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3F985C05-5551-44A4-9B1E-0035C2A8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95850"/>
            <a:ext cx="542925" cy="685800"/>
          </a:xfrm>
          <a:custGeom xmlns:a="http://schemas.openxmlformats.org/drawingml/2006/main">
            <a:pathLst>
              <a:path w="542925" h="685800">
                <a:moveTo>
                  <a:pt x="0" y="0"/>
                </a:moveTo>
                <a:lnTo>
                  <a:pt x="407194" y="0"/>
                </a:lnTo>
                <a:lnTo>
                  <a:pt x="542925" y="135731"/>
                </a:lnTo>
                <a:lnTo>
                  <a:pt x="542925" y="685800"/>
                </a:lnTo>
                <a:lnTo>
                  <a:pt x="0" y="6858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90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BD3486E1-B7C2-475D-80E5-BBB1AA91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819" y="4895850"/>
            <a:ext cx="135731" cy="135731"/>
          </a:xfrm>
          <a:custGeom xmlns:a="http://schemas.openxmlformats.org/drawingml/2006/main">
            <a:pathLst>
              <a:path w="135731" h="135731">
                <a:moveTo>
                  <a:pt x="0" y="0"/>
                </a:moveTo>
                <a:lnTo>
                  <a:pt x="0" y="135731"/>
                </a:lnTo>
                <a:lnTo>
                  <a:pt x="135731" y="135731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91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E26E2F45-97DC-48AF-A2F9-4054B11F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210" y="5135880"/>
            <a:ext cx="298609" cy="9525"/>
          </a:xfrm>
          <a:custGeom xmlns:a="http://schemas.openxmlformats.org/drawingml/2006/main">
            <a:pathLst>
              <a:path w="298609" h="9525">
                <a:moveTo>
                  <a:pt x="0" y="0"/>
                </a:moveTo>
                <a:lnTo>
                  <a:pt x="2986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92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21BBFCAC-55C3-40AD-811B-0F330D4D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210" y="5252466"/>
            <a:ext cx="298609" cy="9525"/>
          </a:xfrm>
          <a:custGeom xmlns:a="http://schemas.openxmlformats.org/drawingml/2006/main">
            <a:pathLst>
              <a:path w="298609" h="9525">
                <a:moveTo>
                  <a:pt x="0" y="0"/>
                </a:moveTo>
                <a:lnTo>
                  <a:pt x="2986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93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6B264321-39D9-4E02-9EDA-DBF786BF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210" y="5369052"/>
            <a:ext cx="298609" cy="9525"/>
          </a:xfrm>
          <a:custGeom xmlns:a="http://schemas.openxmlformats.org/drawingml/2006/main">
            <a:pathLst>
              <a:path w="298609" h="9525">
                <a:moveTo>
                  <a:pt x="0" y="0"/>
                </a:moveTo>
                <a:lnTo>
                  <a:pt x="2986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94" name="Search and reuse from">
            <a:extLst xmlns:a="http://schemas.openxmlformats.org/drawingml/2006/main">
              <a:ext uri="{FF2B5EF4-FFF2-40B4-BE49-F238E27FC236}">
                <a16:creationId xmlns:a16="http://schemas.microsoft.com/office/drawing/2014/main" id="{2E37DDF3-58B3-4EDF-A8CF-BA995464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1952"/>
            <a:ext cx="3781425" cy="29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Search and reuse from</a:t>
            </a:r>
          </a:p>
        </p:txBody>
      </p:sp>
      <p:sp>
        <p:nvSpPr>
          <p:cNvPr id="95" name="existing invariants, lemmas, etc.">
            <a:extLst xmlns:a="http://schemas.openxmlformats.org/drawingml/2006/main">
              <a:ext uri="{FF2B5EF4-FFF2-40B4-BE49-F238E27FC236}">
                <a16:creationId xmlns:a16="http://schemas.microsoft.com/office/drawing/2014/main" id="{7B62D4A9-57C6-4A42-A9F3-4E28DD64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010275"/>
            <a:ext cx="3781425" cy="29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existing invariants, lemmas, etc.</a:t>
            </a:r>
          </a:p>
        </p:txBody>
      </p:sp>
      <p:sp>
        <p:nvSpPr>
          <p:cNvPr id="96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5366267D-7E96-4EA9-8602-B89E6329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905375"/>
            <a:ext cx="504825" cy="666750"/>
          </a:xfrm>
          <a:custGeom xmlns:a="http://schemas.openxmlformats.org/drawingml/2006/main">
            <a:pathLst>
              <a:path w="504825" h="666750">
                <a:moveTo>
                  <a:pt x="0" y="0"/>
                </a:moveTo>
                <a:lnTo>
                  <a:pt x="378619" y="0"/>
                </a:lnTo>
                <a:lnTo>
                  <a:pt x="504825" y="126206"/>
                </a:lnTo>
                <a:lnTo>
                  <a:pt x="504825" y="666750"/>
                </a:lnTo>
                <a:lnTo>
                  <a:pt x="0" y="6667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97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4DB59A25-997C-419A-9EB5-8B0F825C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144" y="4905375"/>
            <a:ext cx="126206" cy="126206"/>
          </a:xfrm>
          <a:custGeom xmlns:a="http://schemas.openxmlformats.org/drawingml/2006/main">
            <a:pathLst>
              <a:path w="126206" h="126206">
                <a:moveTo>
                  <a:pt x="0" y="0"/>
                </a:moveTo>
                <a:lnTo>
                  <a:pt x="0" y="126206"/>
                </a:lnTo>
                <a:lnTo>
                  <a:pt x="126206" y="126206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98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731E45F9-31A2-44C3-B7AF-303E5D1D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5138738"/>
            <a:ext cx="277654" cy="9525"/>
          </a:xfrm>
          <a:custGeom xmlns:a="http://schemas.openxmlformats.org/drawingml/2006/main">
            <a:pathLst>
              <a:path w="277654" h="9525">
                <a:moveTo>
                  <a:pt x="0" y="0"/>
                </a:moveTo>
                <a:lnTo>
                  <a:pt x="2776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99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EB3C4B9D-984A-4E2B-8C2E-47A6366E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5252085"/>
            <a:ext cx="277654" cy="9525"/>
          </a:xfrm>
          <a:custGeom xmlns:a="http://schemas.openxmlformats.org/drawingml/2006/main">
            <a:pathLst>
              <a:path w="277654" h="9525">
                <a:moveTo>
                  <a:pt x="0" y="0"/>
                </a:moveTo>
                <a:lnTo>
                  <a:pt x="2776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00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CA57D9DC-99B1-4F3F-A596-CB273FB8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5365433"/>
            <a:ext cx="277654" cy="9525"/>
          </a:xfrm>
          <a:custGeom xmlns:a="http://schemas.openxmlformats.org/drawingml/2006/main">
            <a:pathLst>
              <a:path w="277654" h="9525">
                <a:moveTo>
                  <a:pt x="0" y="0"/>
                </a:moveTo>
                <a:lnTo>
                  <a:pt x="2776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01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A78FDC1B-EF91-4C56-9965-1F6DE8BD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238750"/>
            <a:ext cx="647700" cy="9525"/>
          </a:xfrm>
          <a:custGeom xmlns:a="http://schemas.openxmlformats.org/drawingml/2006/main">
            <a:pathLst>
              <a:path w="647700" h="9525">
                <a:moveTo>
                  <a:pt x="0" y="0"/>
                </a:moveTo>
                <a:lnTo>
                  <a:pt x="647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02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528F6F7D-6E27-4ACA-9701-E999A6C0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911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03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17872817-FEFF-4B21-BAFE-D9A9EC83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905375"/>
            <a:ext cx="514350" cy="666750"/>
          </a:xfrm>
          <a:custGeom xmlns:a="http://schemas.openxmlformats.org/drawingml/2006/main">
            <a:pathLst>
              <a:path w="514350" h="666750">
                <a:moveTo>
                  <a:pt x="0" y="0"/>
                </a:moveTo>
                <a:lnTo>
                  <a:pt x="385763" y="0"/>
                </a:lnTo>
                <a:lnTo>
                  <a:pt x="514350" y="128588"/>
                </a:lnTo>
                <a:lnTo>
                  <a:pt x="514350" y="666750"/>
                </a:lnTo>
                <a:lnTo>
                  <a:pt x="0" y="6667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04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419F92E5-2A6A-4EB8-9A8E-B93E4F88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38" y="4905375"/>
            <a:ext cx="128588" cy="128588"/>
          </a:xfrm>
          <a:custGeom xmlns:a="http://schemas.openxmlformats.org/drawingml/2006/main">
            <a:pathLst>
              <a:path w="128588" h="128588">
                <a:moveTo>
                  <a:pt x="0" y="0"/>
                </a:moveTo>
                <a:lnTo>
                  <a:pt x="0" y="128588"/>
                </a:lnTo>
                <a:lnTo>
                  <a:pt x="128588" y="12858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05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72524F62-A345-4860-A45F-86323E41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545" y="5138738"/>
            <a:ext cx="282893" cy="9525"/>
          </a:xfrm>
          <a:custGeom xmlns:a="http://schemas.openxmlformats.org/drawingml/2006/main">
            <a:pathLst>
              <a:path w="282893" h="9525">
                <a:moveTo>
                  <a:pt x="0" y="0"/>
                </a:moveTo>
                <a:lnTo>
                  <a:pt x="2828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06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D6BB363F-3260-4852-9CBE-12AE858E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545" y="5252085"/>
            <a:ext cx="282893" cy="9525"/>
          </a:xfrm>
          <a:custGeom xmlns:a="http://schemas.openxmlformats.org/drawingml/2006/main">
            <a:pathLst>
              <a:path w="282893" h="9525">
                <a:moveTo>
                  <a:pt x="0" y="0"/>
                </a:moveTo>
                <a:lnTo>
                  <a:pt x="2828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07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8F41115C-263A-45EA-ADF1-8748553B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545" y="5365433"/>
            <a:ext cx="282893" cy="9525"/>
          </a:xfrm>
          <a:custGeom xmlns:a="http://schemas.openxmlformats.org/drawingml/2006/main">
            <a:pathLst>
              <a:path w="282893" h="9525">
                <a:moveTo>
                  <a:pt x="0" y="0"/>
                </a:moveTo>
                <a:lnTo>
                  <a:pt x="2828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08" name="Iteratively improve using">
            <a:extLst xmlns:a="http://schemas.openxmlformats.org/drawingml/2006/main">
              <a:ext uri="{FF2B5EF4-FFF2-40B4-BE49-F238E27FC236}">
                <a16:creationId xmlns:a16="http://schemas.microsoft.com/office/drawing/2014/main" id="{77FCD6CF-5F11-49C5-B6C8-4A0551CC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723001"/>
            <a:ext cx="3914775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Iteratively improve using</a:t>
            </a:r>
          </a:p>
        </p:txBody>
      </p:sp>
      <p:sp>
        <p:nvSpPr>
          <p:cNvPr id="109" name="checker feedback on the same task.">
            <a:extLst xmlns:a="http://schemas.openxmlformats.org/drawingml/2006/main">
              <a:ext uri="{FF2B5EF4-FFF2-40B4-BE49-F238E27FC236}">
                <a16:creationId xmlns:a16="http://schemas.microsoft.com/office/drawing/2014/main" id="{8B81A1CA-E787-48B8-B283-B0F08771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6010275"/>
            <a:ext cx="3914775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checker feedback on the same task.</a:t>
            </a:r>
          </a:p>
        </p:txBody>
      </p:sp>
      <p:sp>
        <p:nvSpPr>
          <p:cNvPr id="110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2F708762-24B9-4217-A973-340E07F1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905375"/>
            <a:ext cx="495300" cy="666750"/>
          </a:xfrm>
          <a:custGeom xmlns:a="http://schemas.openxmlformats.org/drawingml/2006/main">
            <a:pathLst>
              <a:path w="495300" h="666750">
                <a:moveTo>
                  <a:pt x="0" y="0"/>
                </a:moveTo>
                <a:lnTo>
                  <a:pt x="371475" y="0"/>
                </a:lnTo>
                <a:lnTo>
                  <a:pt x="495300" y="123825"/>
                </a:lnTo>
                <a:lnTo>
                  <a:pt x="495300" y="666750"/>
                </a:lnTo>
                <a:lnTo>
                  <a:pt x="0" y="6667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11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EFEAFA63-FDF0-4783-98A5-EA7591AC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49053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0" y="123825"/>
                </a:lnTo>
                <a:lnTo>
                  <a:pt x="123825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12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DA6F0110-AC1B-45E3-8C69-DFBA3D07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6735" y="5138738"/>
            <a:ext cx="272415" cy="9525"/>
          </a:xfrm>
          <a:custGeom xmlns:a="http://schemas.openxmlformats.org/drawingml/2006/main">
            <a:pathLst>
              <a:path w="272415" h="9525">
                <a:moveTo>
                  <a:pt x="0" y="0"/>
                </a:moveTo>
                <a:lnTo>
                  <a:pt x="2724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13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CCB9B041-113C-4F0A-8B74-7AB9BCF3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6735" y="5252085"/>
            <a:ext cx="272415" cy="9525"/>
          </a:xfrm>
          <a:custGeom xmlns:a="http://schemas.openxmlformats.org/drawingml/2006/main">
            <a:pathLst>
              <a:path w="272415" h="9525">
                <a:moveTo>
                  <a:pt x="0" y="0"/>
                </a:moveTo>
                <a:lnTo>
                  <a:pt x="2724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14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4ABE394A-6BE7-4F43-879D-AF71262C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6735" y="5365433"/>
            <a:ext cx="272415" cy="9525"/>
          </a:xfrm>
          <a:custGeom xmlns:a="http://schemas.openxmlformats.org/drawingml/2006/main">
            <a:pathLst>
              <a:path w="272415" h="9525">
                <a:moveTo>
                  <a:pt x="0" y="0"/>
                </a:moveTo>
                <a:lnTo>
                  <a:pt x="2724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15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A7F9C01F-2843-40C0-88D6-8B78413A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5238750"/>
            <a:ext cx="657225" cy="9525"/>
          </a:xfrm>
          <a:custGeom xmlns:a="http://schemas.openxmlformats.org/drawingml/2006/main">
            <a:pathLst>
              <a:path w="657225" h="9525">
                <a:moveTo>
                  <a:pt x="0" y="0"/>
                </a:moveTo>
                <a:lnTo>
                  <a:pt x="657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16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38AEFC6D-8B4B-4C52-A890-AA023F64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4025" y="51911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17" name="Strategy">
            <a:extLst xmlns:a="http://schemas.openxmlformats.org/drawingml/2006/main">
              <a:ext uri="{FF2B5EF4-FFF2-40B4-BE49-F238E27FC236}">
                <a16:creationId xmlns:a16="http://schemas.microsoft.com/office/drawing/2014/main" id="{9F607399-20FE-4DC4-B429-2E8001B7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5024628"/>
            <a:ext cx="1285875" cy="34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Strategy</a:t>
            </a:r>
          </a:p>
        </p:txBody>
      </p:sp>
      <p:sp>
        <p:nvSpPr>
          <p:cNvPr id="118" name="Compare final proofs,">
            <a:extLst xmlns:a="http://schemas.openxmlformats.org/drawingml/2006/main">
              <a:ext uri="{FF2B5EF4-FFF2-40B4-BE49-F238E27FC236}">
                <a16:creationId xmlns:a16="http://schemas.microsoft.com/office/drawing/2014/main" id="{3B25E434-3405-41FC-9A68-93C0BE09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711952"/>
            <a:ext cx="3914775" cy="29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Compare final proofs,</a:t>
            </a:r>
          </a:p>
        </p:txBody>
      </p:sp>
      <p:sp>
        <p:nvSpPr>
          <p:cNvPr id="119" name="derivations, and revisions.">
            <a:extLst xmlns:a="http://schemas.openxmlformats.org/drawingml/2006/main">
              <a:ext uri="{FF2B5EF4-FFF2-40B4-BE49-F238E27FC236}">
                <a16:creationId xmlns:a16="http://schemas.microsoft.com/office/drawing/2014/main" id="{FF47626B-9BDF-4603-A197-DA8387E5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010275"/>
            <a:ext cx="3914775" cy="29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derivations, and revisions.</a:t>
            </a:r>
          </a:p>
        </p:txBody>
      </p:sp>
      <p:sp>
        <p:nvSpPr>
          <p:cNvPr id="120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EC45C8A1-8501-4197-B0A4-33276CCC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37222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21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4C5A3B2F-B31D-4DB1-93BD-3BB62F6A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68655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22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FF598AA5-C5FC-4FD0-B07C-13ED1BCF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637222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23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B37763E8-DA57-4465-B99E-9FE1423B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668655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24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7DBCEBEE-085C-4FBF-B0FD-0D4EC179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637222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25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E8BE8E59-BE89-4A4A-BC47-2044A76D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668655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26" name="Held-out transfer test">
            <a:extLst xmlns:a="http://schemas.openxmlformats.org/drawingml/2006/main">
              <a:ext uri="{FF2B5EF4-FFF2-40B4-BE49-F238E27FC236}">
                <a16:creationId xmlns:a16="http://schemas.microsoft.com/office/drawing/2014/main" id="{FCC3686A-9225-462A-BE6A-F94289CF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810375"/>
            <a:ext cx="11734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27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07E8A493-4FCB-43EF-873D-48AE5AD2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6953250"/>
            <a:ext cx="428625" cy="504825"/>
          </a:xfrm>
          <a:custGeom xmlns:a="http://schemas.openxmlformats.org/drawingml/2006/main">
            <a:pathLst>
              <a:path w="428625" h="504825">
                <a:moveTo>
                  <a:pt x="0" y="0"/>
                </a:moveTo>
                <a:lnTo>
                  <a:pt x="321469" y="0"/>
                </a:lnTo>
                <a:lnTo>
                  <a:pt x="428625" y="107156"/>
                </a:lnTo>
                <a:lnTo>
                  <a:pt x="428625" y="504825"/>
                </a:lnTo>
                <a:lnTo>
                  <a:pt x="0" y="5048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28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9BA34723-3855-4106-8F70-D2609C14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144" y="6953250"/>
            <a:ext cx="107156" cy="107156"/>
          </a:xfrm>
          <a:custGeom xmlns:a="http://schemas.openxmlformats.org/drawingml/2006/main">
            <a:pathLst>
              <a:path w="107156" h="107156">
                <a:moveTo>
                  <a:pt x="0" y="0"/>
                </a:moveTo>
                <a:lnTo>
                  <a:pt x="0" y="107156"/>
                </a:lnTo>
                <a:lnTo>
                  <a:pt x="107156" y="107156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29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6241F4E4-6866-4B88-AB19-B75D3F60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7129939"/>
            <a:ext cx="235744" cy="9525"/>
          </a:xfrm>
          <a:custGeom xmlns:a="http://schemas.openxmlformats.org/drawingml/2006/main">
            <a:pathLst>
              <a:path w="235744" h="9525">
                <a:moveTo>
                  <a:pt x="0" y="0"/>
                </a:moveTo>
                <a:lnTo>
                  <a:pt x="2357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30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254B493F-ED08-463F-A8D1-FD2C012E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7215759"/>
            <a:ext cx="235744" cy="9525"/>
          </a:xfrm>
          <a:custGeom xmlns:a="http://schemas.openxmlformats.org/drawingml/2006/main">
            <a:pathLst>
              <a:path w="235744" h="9525">
                <a:moveTo>
                  <a:pt x="0" y="0"/>
                </a:moveTo>
                <a:lnTo>
                  <a:pt x="2357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31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28CD18E2-A2C1-414E-9881-4F2AEB45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7301579"/>
            <a:ext cx="235744" cy="9525"/>
          </a:xfrm>
          <a:custGeom xmlns:a="http://schemas.openxmlformats.org/drawingml/2006/main">
            <a:pathLst>
              <a:path w="235744" h="9525">
                <a:moveTo>
                  <a:pt x="0" y="0"/>
                </a:moveTo>
                <a:lnTo>
                  <a:pt x="2357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32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FBC4366A-2D93-45F2-AD80-748FE986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953250"/>
            <a:ext cx="428625" cy="504825"/>
          </a:xfrm>
          <a:custGeom xmlns:a="http://schemas.openxmlformats.org/drawingml/2006/main">
            <a:pathLst>
              <a:path w="428625" h="504825">
                <a:moveTo>
                  <a:pt x="0" y="0"/>
                </a:moveTo>
                <a:lnTo>
                  <a:pt x="321469" y="0"/>
                </a:lnTo>
                <a:lnTo>
                  <a:pt x="428625" y="107156"/>
                </a:lnTo>
                <a:lnTo>
                  <a:pt x="428625" y="504825"/>
                </a:lnTo>
                <a:lnTo>
                  <a:pt x="0" y="5048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33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5F117145-EF1D-4779-89A7-FB963245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169" y="6953250"/>
            <a:ext cx="107156" cy="107156"/>
          </a:xfrm>
          <a:custGeom xmlns:a="http://schemas.openxmlformats.org/drawingml/2006/main">
            <a:pathLst>
              <a:path w="107156" h="107156">
                <a:moveTo>
                  <a:pt x="0" y="0"/>
                </a:moveTo>
                <a:lnTo>
                  <a:pt x="0" y="107156"/>
                </a:lnTo>
                <a:lnTo>
                  <a:pt x="107156" y="107156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34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E18F00E0-98D4-4BA1-9441-AEB0154D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7129939"/>
            <a:ext cx="235744" cy="9525"/>
          </a:xfrm>
          <a:custGeom xmlns:a="http://schemas.openxmlformats.org/drawingml/2006/main">
            <a:pathLst>
              <a:path w="235744" h="9525">
                <a:moveTo>
                  <a:pt x="0" y="0"/>
                </a:moveTo>
                <a:lnTo>
                  <a:pt x="2357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35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F788DE2C-1037-4045-982F-FA1F16F3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7215759"/>
            <a:ext cx="235744" cy="9525"/>
          </a:xfrm>
          <a:custGeom xmlns:a="http://schemas.openxmlformats.org/drawingml/2006/main">
            <a:pathLst>
              <a:path w="235744" h="9525">
                <a:moveTo>
                  <a:pt x="0" y="0"/>
                </a:moveTo>
                <a:lnTo>
                  <a:pt x="2357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36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B1516B1C-6EAA-430C-9A5A-2F57FF87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7301579"/>
            <a:ext cx="235744" cy="9525"/>
          </a:xfrm>
          <a:custGeom xmlns:a="http://schemas.openxmlformats.org/drawingml/2006/main">
            <a:pathLst>
              <a:path w="235744" h="9525">
                <a:moveTo>
                  <a:pt x="0" y="0"/>
                </a:moveTo>
                <a:lnTo>
                  <a:pt x="2357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37" name="Held-out transfer test">
            <a:extLst xmlns:a="http://schemas.openxmlformats.org/drawingml/2006/main">
              <a:ext uri="{FF2B5EF4-FFF2-40B4-BE49-F238E27FC236}">
                <a16:creationId xmlns:a16="http://schemas.microsoft.com/office/drawing/2014/main" id="{3EBF3758-1E19-4FA0-BE03-F1807F71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911340"/>
            <a:ext cx="6029325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Held-out transfer test</a:t>
            </a:r>
          </a:p>
        </p:txBody>
      </p:sp>
      <p:sp>
        <p:nvSpPr>
          <p:cNvPr id="138" name="Unfamiliar programs + changed obligations">
            <a:extLst xmlns:a="http://schemas.openxmlformats.org/drawingml/2006/main">
              <a:ext uri="{FF2B5EF4-FFF2-40B4-BE49-F238E27FC236}">
                <a16:creationId xmlns:a16="http://schemas.microsoft.com/office/drawing/2014/main" id="{A93D675B-CE2B-4260-8F42-131FFD81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254050"/>
            <a:ext cx="6029325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Unfamiliar programs + changed obligations</a:t>
            </a:r>
          </a:p>
        </p:txBody>
      </p:sp>
      <p:sp>
        <p:nvSpPr>
          <p:cNvPr id="139" name="Matched evaluation budgets">
            <a:extLst xmlns:a="http://schemas.openxmlformats.org/drawingml/2006/main">
              <a:ext uri="{FF2B5EF4-FFF2-40B4-BE49-F238E27FC236}">
                <a16:creationId xmlns:a16="http://schemas.microsoft.com/office/drawing/2014/main" id="{A666EE73-5A14-408B-88D3-1A0CC949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648575"/>
            <a:ext cx="151257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40" name="Matched data, tools, and total cost">
            <a:extLst xmlns:a="http://schemas.openxmlformats.org/drawingml/2006/main">
              <a:ext uri="{FF2B5EF4-FFF2-40B4-BE49-F238E27FC236}">
                <a16:creationId xmlns:a16="http://schemas.microsoft.com/office/drawing/2014/main" id="{1D45FF99-9553-4646-A96A-146F30AB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90676"/>
            <a:ext cx="14039850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Matched data, tools, and total cost</a:t>
            </a:r>
          </a:p>
        </p:txBody>
      </p:sp>
      <p:sp>
        <p:nvSpPr>
          <p:cNvPr id="141" name="Learning versus artifact reuse">
            <a:extLst xmlns:a="http://schemas.openxmlformats.org/drawingml/2006/main">
              <a:ext uri="{FF2B5EF4-FFF2-40B4-BE49-F238E27FC236}">
                <a16:creationId xmlns:a16="http://schemas.microsoft.com/office/drawing/2014/main" id="{D6B64FCC-73D7-4B95-9D00-C92AD992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162925"/>
            <a:ext cx="15382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42" name="Sharing a proof and learning a strategy are evaluated separately.">
            <a:extLst xmlns:a="http://schemas.openxmlformats.org/drawingml/2006/main">
              <a:ext uri="{FF2B5EF4-FFF2-40B4-BE49-F238E27FC236}">
                <a16:creationId xmlns:a16="http://schemas.microsoft.com/office/drawing/2014/main" id="{9C2FA467-72FC-42AB-AF60-7EBEE51E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641"/>
            <a:ext cx="14811375" cy="34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Sharing a proof and learning a strategy are evaluated separately.</a:t>
            </a:r>
          </a:p>
        </p:txBody>
      </p:sp>
      <p:sp>
        <p:nvSpPr>
          <p:cNvPr id="143" name="Checked success does not establish generalization.">
            <a:extLst xmlns:a="http://schemas.openxmlformats.org/drawingml/2006/main">
              <a:ext uri="{FF2B5EF4-FFF2-40B4-BE49-F238E27FC236}">
                <a16:creationId xmlns:a16="http://schemas.microsoft.com/office/drawing/2014/main" id="{8CCB1A67-2A9B-4EF7-A052-701BFF43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476298"/>
            <a:ext cx="142113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Checked success does not establish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15932471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2" name="Compositional Verification">
            <a:extLst xmlns:a="http://schemas.openxmlformats.org/drawingml/2006/main">
              <a:ext uri="{FF2B5EF4-FFF2-40B4-BE49-F238E27FC236}">
                <a16:creationId xmlns:a16="http://schemas.microsoft.com/office/drawing/2014/main" id="{A933EE4E-A24E-420B-BC5B-B9A33AEA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2200"/>
            <a:ext cx="13735050" cy="541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Compositional Verification</a:t>
            </a:r>
          </a:p>
        </p:txBody>
      </p:sp>
      <p:sp>
        <p:nvSpPr>
          <p:cNvPr id="2" name="Reuse checked components through verified interfaces">
            <a:extLst xmlns:a="http://schemas.openxmlformats.org/drawingml/2006/main">
              <a:ext uri="{FF2B5EF4-FFF2-40B4-BE49-F238E27FC236}">
                <a16:creationId xmlns:a16="http://schemas.microsoft.com/office/drawing/2014/main" id="{B82A117C-65D1-4D2A-9262-B69600B4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93230"/>
            <a:ext cx="130683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Reuse checked components through verified interfaces</a:t>
            </a:r>
          </a:p>
        </p:txBody>
      </p:sp>
      <p:sp>
        <p:nvSpPr>
          <p:cNvPr id="3" name="Proposed research">
            <a:extLst xmlns:a="http://schemas.openxmlformats.org/drawingml/2006/main">
              <a:ext uri="{FF2B5EF4-FFF2-40B4-BE49-F238E27FC236}">
                <a16:creationId xmlns:a16="http://schemas.microsoft.com/office/drawing/2014/main" id="{5020335C-F08D-4365-AA75-CDFA3877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194310"/>
            <a:ext cx="20478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Proposed research</a:t>
            </a:r>
          </a:p>
        </p:txBody>
      </p:sp>
      <p:sp>
        <p:nvSpPr>
          <p:cNvPr id="4" name="Global software property">
            <a:extLst xmlns:a="http://schemas.openxmlformats.org/drawingml/2006/main">
              <a:ext uri="{FF2B5EF4-FFF2-40B4-BE49-F238E27FC236}">
                <a16:creationId xmlns:a16="http://schemas.microsoft.com/office/drawing/2014/main" id="{7E7F3060-5C09-4A4C-86F2-A1C511FE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219325"/>
            <a:ext cx="14478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5" name="Stage 1">
            <a:extLst xmlns:a="http://schemas.openxmlformats.org/drawingml/2006/main">
              <a:ext uri="{FF2B5EF4-FFF2-40B4-BE49-F238E27FC236}">
                <a16:creationId xmlns:a16="http://schemas.microsoft.com/office/drawing/2014/main" id="{749101FF-4CCE-4A91-901A-0C1ECD18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6" name="1">
            <a:extLst xmlns:a="http://schemas.openxmlformats.org/drawingml/2006/main">
              <a:ext uri="{FF2B5EF4-FFF2-40B4-BE49-F238E27FC236}">
                <a16:creationId xmlns:a16="http://schemas.microsoft.com/office/drawing/2014/main" id="{621A2BB9-46AD-47C4-8046-80A6D631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2870"/>
            <a:ext cx="361950" cy="27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1</a:t>
            </a:r>
          </a:p>
        </p:txBody>
      </p:sp>
      <p:sp>
        <p:nvSpPr>
          <p:cNvPr id="7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8CCD5CFD-4457-4E59-A780-614F37BE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86050"/>
            <a:ext cx="638175" cy="895350"/>
          </a:xfrm>
          <a:custGeom xmlns:a="http://schemas.openxmlformats.org/drawingml/2006/main">
            <a:pathLst>
              <a:path w="638175" h="895350">
                <a:moveTo>
                  <a:pt x="0" y="0"/>
                </a:moveTo>
                <a:lnTo>
                  <a:pt x="478631" y="0"/>
                </a:lnTo>
                <a:lnTo>
                  <a:pt x="638175" y="159544"/>
                </a:lnTo>
                <a:lnTo>
                  <a:pt x="638175" y="895350"/>
                </a:lnTo>
                <a:lnTo>
                  <a:pt x="0" y="8953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8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AD0F224B-1DA3-45D2-BF62-8BE46550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006" y="2686050"/>
            <a:ext cx="159544" cy="159544"/>
          </a:xfrm>
          <a:custGeom xmlns:a="http://schemas.openxmlformats.org/drawingml/2006/main">
            <a:pathLst>
              <a:path w="159544" h="159544">
                <a:moveTo>
                  <a:pt x="0" y="0"/>
                </a:moveTo>
                <a:lnTo>
                  <a:pt x="0" y="159544"/>
                </a:lnTo>
                <a:lnTo>
                  <a:pt x="159544" y="15954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9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A0BE556A-F44B-4D17-BA5E-EBC05B5F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" y="2999423"/>
            <a:ext cx="350996" cy="9525"/>
          </a:xfrm>
          <a:custGeom xmlns:a="http://schemas.openxmlformats.org/drawingml/2006/main">
            <a:pathLst>
              <a:path w="350996" h="9525">
                <a:moveTo>
                  <a:pt x="0" y="0"/>
                </a:moveTo>
                <a:lnTo>
                  <a:pt x="3509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0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A36545CF-BFEC-4AD1-86D2-DCBE9CE9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" y="3151632"/>
            <a:ext cx="350996" cy="9525"/>
          </a:xfrm>
          <a:custGeom xmlns:a="http://schemas.openxmlformats.org/drawingml/2006/main">
            <a:pathLst>
              <a:path w="350996" h="9525">
                <a:moveTo>
                  <a:pt x="0" y="0"/>
                </a:moveTo>
                <a:lnTo>
                  <a:pt x="3509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1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D981E54A-7D86-4DF4-A25B-6C932320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" y="3303842"/>
            <a:ext cx="350996" cy="9525"/>
          </a:xfrm>
          <a:custGeom xmlns:a="http://schemas.openxmlformats.org/drawingml/2006/main">
            <a:pathLst>
              <a:path w="350996" h="9525">
                <a:moveTo>
                  <a:pt x="0" y="0"/>
                </a:moveTo>
                <a:lnTo>
                  <a:pt x="3509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2" name="Global">
            <a:extLst xmlns:a="http://schemas.openxmlformats.org/drawingml/2006/main">
              <a:ext uri="{FF2B5EF4-FFF2-40B4-BE49-F238E27FC236}">
                <a16:creationId xmlns:a16="http://schemas.microsoft.com/office/drawing/2014/main" id="{5939FCBF-32BD-4C62-8BBD-59C9E13D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624644"/>
            <a:ext cx="1257300" cy="320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Global</a:t>
            </a:r>
          </a:p>
        </p:txBody>
      </p:sp>
      <p:sp>
        <p:nvSpPr>
          <p:cNvPr id="13" name="software">
            <a:extLst xmlns:a="http://schemas.openxmlformats.org/drawingml/2006/main">
              <a:ext uri="{FF2B5EF4-FFF2-40B4-BE49-F238E27FC236}">
                <a16:creationId xmlns:a16="http://schemas.microsoft.com/office/drawing/2014/main" id="{25676937-349B-4F95-B24B-3C0E8E50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945065"/>
            <a:ext cx="1257300" cy="320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software</a:t>
            </a:r>
          </a:p>
        </p:txBody>
      </p:sp>
      <p:sp>
        <p:nvSpPr>
          <p:cNvPr id="14" name="property">
            <a:extLst xmlns:a="http://schemas.openxmlformats.org/drawingml/2006/main">
              <a:ext uri="{FF2B5EF4-FFF2-40B4-BE49-F238E27FC236}">
                <a16:creationId xmlns:a16="http://schemas.microsoft.com/office/drawing/2014/main" id="{AE599BC5-7136-4D4A-A001-1397BF3F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265486"/>
            <a:ext cx="1257300" cy="320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property</a:t>
            </a:r>
          </a:p>
        </p:txBody>
      </p:sp>
      <p:sp>
        <p:nvSpPr>
          <p:cNvPr id="15" name="Agent proposes decomposition">
            <a:extLst xmlns:a="http://schemas.openxmlformats.org/drawingml/2006/main">
              <a:ext uri="{FF2B5EF4-FFF2-40B4-BE49-F238E27FC236}">
                <a16:creationId xmlns:a16="http://schemas.microsoft.com/office/drawing/2014/main" id="{2B1BC932-370F-44E8-A3DF-3E9C6125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19325"/>
            <a:ext cx="18288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6" name="Stage 2">
            <a:extLst xmlns:a="http://schemas.openxmlformats.org/drawingml/2006/main">
              <a:ext uri="{FF2B5EF4-FFF2-40B4-BE49-F238E27FC236}">
                <a16:creationId xmlns:a16="http://schemas.microsoft.com/office/drawing/2014/main" id="{60126E62-DE4B-4DD6-9DF1-94C76E70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7" name="2">
            <a:extLst xmlns:a="http://schemas.openxmlformats.org/drawingml/2006/main">
              <a:ext uri="{FF2B5EF4-FFF2-40B4-BE49-F238E27FC236}">
                <a16:creationId xmlns:a16="http://schemas.microsoft.com/office/drawing/2014/main" id="{E18A5C08-0276-4684-A59E-353FBE2D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82870"/>
            <a:ext cx="361950" cy="27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2</a:t>
            </a:r>
          </a:p>
        </p:txBody>
      </p:sp>
      <p:sp>
        <p:nvSpPr>
          <p:cNvPr id="18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6C97362E-35B3-4B86-A016-6C40A4CC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86075"/>
            <a:ext cx="242888" cy="504825"/>
          </a:xfrm>
          <a:custGeom xmlns:a="http://schemas.openxmlformats.org/drawingml/2006/main">
            <a:pathLst>
              <a:path w="242888" h="504825">
                <a:moveTo>
                  <a:pt x="242888" y="0"/>
                </a:moveTo>
                <a:lnTo>
                  <a:pt x="242888" y="175641"/>
                </a:lnTo>
                <a:lnTo>
                  <a:pt x="0" y="5048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9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57E39F99-AA73-4D9B-AE04-6D36927B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438" y="3061716"/>
            <a:ext cx="242888" cy="329184"/>
          </a:xfrm>
          <a:custGeom xmlns:a="http://schemas.openxmlformats.org/drawingml/2006/main">
            <a:pathLst>
              <a:path w="242888" h="329184">
                <a:moveTo>
                  <a:pt x="0" y="0"/>
                </a:moveTo>
                <a:lnTo>
                  <a:pt x="242888" y="32918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0" name="Proof tree node">
            <a:extLst xmlns:a="http://schemas.openxmlformats.org/drawingml/2006/main">
              <a:ext uri="{FF2B5EF4-FFF2-40B4-BE49-F238E27FC236}">
                <a16:creationId xmlns:a16="http://schemas.microsoft.com/office/drawing/2014/main" id="{E2F63D55-3FF8-4F00-8CAB-52A83E40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763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1" name="Proof tree node">
            <a:extLst xmlns:a="http://schemas.openxmlformats.org/drawingml/2006/main">
              <a:ext uri="{FF2B5EF4-FFF2-40B4-BE49-F238E27FC236}">
                <a16:creationId xmlns:a16="http://schemas.microsoft.com/office/drawing/2014/main" id="{DEF77C74-A8B5-4549-93EA-69985750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324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2" name="Proof tree node">
            <a:extLst xmlns:a="http://schemas.openxmlformats.org/drawingml/2006/main">
              <a:ext uri="{FF2B5EF4-FFF2-40B4-BE49-F238E27FC236}">
                <a16:creationId xmlns:a16="http://schemas.microsoft.com/office/drawing/2014/main" id="{C0C123DB-A428-4CCD-925F-318A4BA1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24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3" name="Agent proposes">
            <a:extLst xmlns:a="http://schemas.openxmlformats.org/drawingml/2006/main">
              <a:ext uri="{FF2B5EF4-FFF2-40B4-BE49-F238E27FC236}">
                <a16:creationId xmlns:a16="http://schemas.microsoft.com/office/drawing/2014/main" id="{513BFC1B-1CED-4784-A8D8-5C34B336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759327"/>
            <a:ext cx="1619250" cy="29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Agent proposes</a:t>
            </a:r>
          </a:p>
        </p:txBody>
      </p:sp>
      <p:sp>
        <p:nvSpPr>
          <p:cNvPr id="24" name="decomposition">
            <a:extLst xmlns:a="http://schemas.openxmlformats.org/drawingml/2006/main">
              <a:ext uri="{FF2B5EF4-FFF2-40B4-BE49-F238E27FC236}">
                <a16:creationId xmlns:a16="http://schemas.microsoft.com/office/drawing/2014/main" id="{818B4E99-2257-45E7-A0B0-60DAEAB4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057650"/>
            <a:ext cx="1619250" cy="29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decomposition</a:t>
            </a:r>
          </a:p>
        </p:txBody>
      </p:sp>
      <p:sp>
        <p:nvSpPr>
          <p:cNvPr id="25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E3D5F667-2C2C-4286-ACDC-F71A25AC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43275"/>
            <a:ext cx="428625" cy="9525"/>
          </a:xfrm>
          <a:custGeom xmlns:a="http://schemas.openxmlformats.org/drawingml/2006/main">
            <a:pathLst>
              <a:path w="428625" h="952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6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77D83B26-98A5-427C-8DB4-B996BC31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956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7" name="Component verification">
            <a:extLst xmlns:a="http://schemas.openxmlformats.org/drawingml/2006/main">
              <a:ext uri="{FF2B5EF4-FFF2-40B4-BE49-F238E27FC236}">
                <a16:creationId xmlns:a16="http://schemas.microsoft.com/office/drawing/2014/main" id="{5C518BC8-FD64-44EA-A3ED-945339D6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847850"/>
            <a:ext cx="6391275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dash"/>
          </a:ln>
        </p:spPr>
      </p:sp>
      <p:sp>
        <p:nvSpPr>
          <p:cNvPr id="28" name="Check each component">
            <a:extLst xmlns:a="http://schemas.openxmlformats.org/drawingml/2006/main">
              <a:ext uri="{FF2B5EF4-FFF2-40B4-BE49-F238E27FC236}">
                <a16:creationId xmlns:a16="http://schemas.microsoft.com/office/drawing/2014/main" id="{8FA22B5F-71C9-43E5-B02E-F01AD2DF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486091"/>
            <a:ext cx="3724275" cy="34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Check each component</a:t>
            </a:r>
          </a:p>
        </p:txBody>
      </p:sp>
      <p:sp>
        <p:nvSpPr>
          <p:cNvPr id="29" name="Software component">
            <a:extLst xmlns:a="http://schemas.openxmlformats.org/drawingml/2006/main">
              <a:ext uri="{FF2B5EF4-FFF2-40B4-BE49-F238E27FC236}">
                <a16:creationId xmlns:a16="http://schemas.microsoft.com/office/drawing/2014/main" id="{FEEF44A6-255C-420C-851E-27BF1E8F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28825"/>
            <a:ext cx="1914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30" name="Editable library layer">
            <a:extLst xmlns:a="http://schemas.openxmlformats.org/drawingml/2006/main">
              <a:ext uri="{FF2B5EF4-FFF2-40B4-BE49-F238E27FC236}">
                <a16:creationId xmlns:a16="http://schemas.microsoft.com/office/drawing/2014/main" id="{B1B7A49D-CC63-4A46-BAEE-C8581DBF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90775"/>
            <a:ext cx="438150" cy="257175"/>
          </a:xfrm>
          <a:custGeom xmlns:a="http://schemas.openxmlformats.org/drawingml/2006/main">
            <a:pathLst>
              <a:path w="438150" h="257175">
                <a:moveTo>
                  <a:pt x="219075" y="0"/>
                </a:moveTo>
                <a:lnTo>
                  <a:pt x="438150" y="123825"/>
                </a:lnTo>
                <a:lnTo>
                  <a:pt x="219075" y="257175"/>
                </a:lnTo>
                <a:lnTo>
                  <a:pt x="0" y="123825"/>
                </a:ln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1" name="Editable library layer">
            <a:extLst xmlns:a="http://schemas.openxmlformats.org/drawingml/2006/main">
              <a:ext uri="{FF2B5EF4-FFF2-40B4-BE49-F238E27FC236}">
                <a16:creationId xmlns:a16="http://schemas.microsoft.com/office/drawing/2014/main" id="{8819CF63-3F64-444F-8959-55A53920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76475"/>
            <a:ext cx="438150" cy="257175"/>
          </a:xfrm>
          <a:custGeom xmlns:a="http://schemas.openxmlformats.org/drawingml/2006/main">
            <a:pathLst>
              <a:path w="438150" h="257175">
                <a:moveTo>
                  <a:pt x="219075" y="0"/>
                </a:moveTo>
                <a:lnTo>
                  <a:pt x="438150" y="123825"/>
                </a:lnTo>
                <a:lnTo>
                  <a:pt x="219075" y="257175"/>
                </a:lnTo>
                <a:lnTo>
                  <a:pt x="0" y="123825"/>
                </a:ln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2" name="Editable library layer">
            <a:extLst xmlns:a="http://schemas.openxmlformats.org/drawingml/2006/main">
              <a:ext uri="{FF2B5EF4-FFF2-40B4-BE49-F238E27FC236}">
                <a16:creationId xmlns:a16="http://schemas.microsoft.com/office/drawing/2014/main" id="{04297969-9759-4ED4-BE00-AC72E3DB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62175"/>
            <a:ext cx="438150" cy="257175"/>
          </a:xfrm>
          <a:custGeom xmlns:a="http://schemas.openxmlformats.org/drawingml/2006/main">
            <a:pathLst>
              <a:path w="438150" h="257175">
                <a:moveTo>
                  <a:pt x="219075" y="0"/>
                </a:moveTo>
                <a:lnTo>
                  <a:pt x="438150" y="123825"/>
                </a:lnTo>
                <a:lnTo>
                  <a:pt x="219075" y="257175"/>
                </a:lnTo>
                <a:lnTo>
                  <a:pt x="0" y="123825"/>
                </a:ln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3" name="Shared">
            <a:extLst xmlns:a="http://schemas.openxmlformats.org/drawingml/2006/main">
              <a:ext uri="{FF2B5EF4-FFF2-40B4-BE49-F238E27FC236}">
                <a16:creationId xmlns:a16="http://schemas.microsoft.com/office/drawing/2014/main" id="{E684A843-73C4-44D7-9D7F-8F932CE4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146173"/>
            <a:ext cx="981075" cy="254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Shared</a:t>
            </a:r>
          </a:p>
        </p:txBody>
      </p:sp>
      <p:sp>
        <p:nvSpPr>
          <p:cNvPr id="34" name="library A">
            <a:extLst xmlns:a="http://schemas.openxmlformats.org/drawingml/2006/main">
              <a:ext uri="{FF2B5EF4-FFF2-40B4-BE49-F238E27FC236}">
                <a16:creationId xmlns:a16="http://schemas.microsoft.com/office/drawing/2014/main" id="{B3604D67-7008-4668-8979-15625009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400300"/>
            <a:ext cx="981075" cy="254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library A</a:t>
            </a:r>
          </a:p>
        </p:txBody>
      </p:sp>
      <p:sp>
        <p:nvSpPr>
          <p:cNvPr id="35" name="Contract and local proof">
            <a:extLst xmlns:a="http://schemas.openxmlformats.org/drawingml/2006/main">
              <a:ext uri="{FF2B5EF4-FFF2-40B4-BE49-F238E27FC236}">
                <a16:creationId xmlns:a16="http://schemas.microsoft.com/office/drawing/2014/main" id="{8E0C3302-4293-42AF-83F7-676B952A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028825"/>
            <a:ext cx="17240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36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6FC8240F-A1E9-47F5-950B-A8CA8DA5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190750"/>
            <a:ext cx="333375" cy="419100"/>
          </a:xfrm>
          <a:custGeom xmlns:a="http://schemas.openxmlformats.org/drawingml/2006/main">
            <a:pathLst>
              <a:path w="333375" h="419100">
                <a:moveTo>
                  <a:pt x="0" y="0"/>
                </a:moveTo>
                <a:lnTo>
                  <a:pt x="250031" y="0"/>
                </a:lnTo>
                <a:lnTo>
                  <a:pt x="333375" y="83344"/>
                </a:lnTo>
                <a:lnTo>
                  <a:pt x="333375" y="419100"/>
                </a:lnTo>
                <a:lnTo>
                  <a:pt x="0" y="4191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37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D57AF9F1-1EAE-4E90-BCF3-C326B202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956" y="2190750"/>
            <a:ext cx="83344" cy="83344"/>
          </a:xfrm>
          <a:custGeom xmlns:a="http://schemas.openxmlformats.org/drawingml/2006/main">
            <a:pathLst>
              <a:path w="83344" h="83344">
                <a:moveTo>
                  <a:pt x="0" y="0"/>
                </a:moveTo>
                <a:lnTo>
                  <a:pt x="0" y="83344"/>
                </a:lnTo>
                <a:lnTo>
                  <a:pt x="83344" y="8334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38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6B368D57-98A8-4578-8A02-8B50D03A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37435"/>
            <a:ext cx="183356" cy="9525"/>
          </a:xfrm>
          <a:custGeom xmlns:a="http://schemas.openxmlformats.org/drawingml/2006/main">
            <a:pathLst>
              <a:path w="183356" h="9525">
                <a:moveTo>
                  <a:pt x="0" y="0"/>
                </a:moveTo>
                <a:lnTo>
                  <a:pt x="1833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39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14D9B474-EC41-4027-B30E-CDE79717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08682"/>
            <a:ext cx="183356" cy="9525"/>
          </a:xfrm>
          <a:custGeom xmlns:a="http://schemas.openxmlformats.org/drawingml/2006/main">
            <a:pathLst>
              <a:path w="183356" h="9525">
                <a:moveTo>
                  <a:pt x="0" y="0"/>
                </a:moveTo>
                <a:lnTo>
                  <a:pt x="1833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40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DE33C5C2-EE17-4CFE-BD80-7BEB3C75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79929"/>
            <a:ext cx="183356" cy="9525"/>
          </a:xfrm>
          <a:custGeom xmlns:a="http://schemas.openxmlformats.org/drawingml/2006/main">
            <a:pathLst>
              <a:path w="183356" h="9525">
                <a:moveTo>
                  <a:pt x="0" y="0"/>
                </a:moveTo>
                <a:lnTo>
                  <a:pt x="1833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41" name="Contract +">
            <a:extLst xmlns:a="http://schemas.openxmlformats.org/drawingml/2006/main">
              <a:ext uri="{FF2B5EF4-FFF2-40B4-BE49-F238E27FC236}">
                <a16:creationId xmlns:a16="http://schemas.microsoft.com/office/drawing/2014/main" id="{4E320A48-7685-4564-9F54-7976388F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35124"/>
            <a:ext cx="990600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Contract +</a:t>
            </a:r>
          </a:p>
        </p:txBody>
      </p:sp>
      <p:sp>
        <p:nvSpPr>
          <p:cNvPr id="42" name="local proof">
            <a:extLst xmlns:a="http://schemas.openxmlformats.org/drawingml/2006/main">
              <a:ext uri="{FF2B5EF4-FFF2-40B4-BE49-F238E27FC236}">
                <a16:creationId xmlns:a16="http://schemas.microsoft.com/office/drawing/2014/main" id="{5F54F6C5-3CF6-4A15-9905-E2327386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00300"/>
            <a:ext cx="990600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local proof</a:t>
            </a:r>
          </a:p>
        </p:txBody>
      </p:sp>
      <p:sp>
        <p:nvSpPr>
          <p:cNvPr id="43" name="Independent check">
            <a:extLst xmlns:a="http://schemas.openxmlformats.org/drawingml/2006/main">
              <a:ext uri="{FF2B5EF4-FFF2-40B4-BE49-F238E27FC236}">
                <a16:creationId xmlns:a16="http://schemas.microsoft.com/office/drawing/2014/main" id="{2FA18B43-43AE-444F-BE74-2472C3DC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28825"/>
            <a:ext cx="18383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44" name="Check result">
            <a:extLst xmlns:a="http://schemas.openxmlformats.org/drawingml/2006/main">
              <a:ext uri="{FF2B5EF4-FFF2-40B4-BE49-F238E27FC236}">
                <a16:creationId xmlns:a16="http://schemas.microsoft.com/office/drawing/2014/main" id="{DC1EC40A-2FA7-408C-9089-98A763D6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90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45" name="Editable check mark">
            <a:extLst xmlns:a="http://schemas.openxmlformats.org/drawingml/2006/main">
              <a:ext uri="{FF2B5EF4-FFF2-40B4-BE49-F238E27FC236}">
                <a16:creationId xmlns:a16="http://schemas.microsoft.com/office/drawing/2014/main" id="{7CEE6B6A-74C7-4EAC-82F8-8A90F7EF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286000"/>
            <a:ext cx="228600" cy="205740"/>
          </a:xfrm>
          <a:custGeom xmlns:a="http://schemas.openxmlformats.org/drawingml/2006/main">
            <a:pathLst>
              <a:path w="228600" h="205740">
                <a:moveTo>
                  <a:pt x="0" y="125730"/>
                </a:moveTo>
                <a:lnTo>
                  <a:pt x="80010" y="205740"/>
                </a:ln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46" name="Independent">
            <a:extLst xmlns:a="http://schemas.openxmlformats.org/drawingml/2006/main">
              <a:ext uri="{FF2B5EF4-FFF2-40B4-BE49-F238E27FC236}">
                <a16:creationId xmlns:a16="http://schemas.microsoft.com/office/drawing/2014/main" id="{2646F1CF-DAB7-4398-9295-4187ECC7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124075"/>
            <a:ext cx="1104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Independent</a:t>
            </a:r>
          </a:p>
        </p:txBody>
      </p:sp>
      <p:sp>
        <p:nvSpPr>
          <p:cNvPr id="47" name="check">
            <a:extLst xmlns:a="http://schemas.openxmlformats.org/drawingml/2006/main">
              <a:ext uri="{FF2B5EF4-FFF2-40B4-BE49-F238E27FC236}">
                <a16:creationId xmlns:a16="http://schemas.microsoft.com/office/drawing/2014/main" id="{CACAA321-2BC4-4E56-95FA-0292BB83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400300"/>
            <a:ext cx="1104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check</a:t>
            </a:r>
          </a:p>
        </p:txBody>
      </p:sp>
      <p:sp>
        <p:nvSpPr>
          <p:cNvPr id="48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D7D1618C-FFC4-4721-B866-CCD963C5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400300"/>
            <a:ext cx="323850" cy="9525"/>
          </a:xfrm>
          <a:custGeom xmlns:a="http://schemas.openxmlformats.org/drawingml/2006/main">
            <a:pathLst>
              <a:path w="323850" h="952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49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CE56F639-C56A-4972-8988-C2EB0A83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3526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50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59EF8D63-0206-45F2-9805-BD968523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304800" cy="9525"/>
          </a:xfrm>
          <a:custGeom xmlns:a="http://schemas.openxmlformats.org/drawingml/2006/main"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1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3D75829F-61D6-4988-8ACD-D810A224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526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52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865CA877-AFF8-4DAE-B3D2-AE4D11E4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00300"/>
            <a:ext cx="952500" cy="942975"/>
          </a:xfrm>
          <a:custGeom xmlns:a="http://schemas.openxmlformats.org/drawingml/2006/main">
            <a:pathLst>
              <a:path w="952500" h="942975">
                <a:moveTo>
                  <a:pt x="0" y="942975"/>
                </a:moveTo>
                <a:lnTo>
                  <a:pt x="314325" y="942975"/>
                </a:lnTo>
                <a:lnTo>
                  <a:pt x="314325" y="0"/>
                </a:ln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3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5E8D7B5B-5B0C-4501-9C77-87EC4C3E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526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54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B8F64ADD-E844-4EC6-9BC1-968BE0DF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400300"/>
            <a:ext cx="638175" cy="971550"/>
          </a:xfrm>
          <a:custGeom xmlns:a="http://schemas.openxmlformats.org/drawingml/2006/main">
            <a:pathLst>
              <a:path w="638175" h="971550">
                <a:moveTo>
                  <a:pt x="0" y="0"/>
                </a:moveTo>
                <a:lnTo>
                  <a:pt x="323850" y="0"/>
                </a:lnTo>
                <a:lnTo>
                  <a:pt x="323850" y="971550"/>
                </a:lnTo>
                <a:lnTo>
                  <a:pt x="638175" y="971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5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EF4C52A3-688B-4053-B672-772EE495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3242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56" name="Software component">
            <a:extLst xmlns:a="http://schemas.openxmlformats.org/drawingml/2006/main">
              <a:ext uri="{FF2B5EF4-FFF2-40B4-BE49-F238E27FC236}">
                <a16:creationId xmlns:a16="http://schemas.microsoft.com/office/drawing/2014/main" id="{F8B6861D-9875-40C5-AC0F-0B973FB3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48000"/>
            <a:ext cx="1914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57" name="Editable library layer">
            <a:extLst xmlns:a="http://schemas.openxmlformats.org/drawingml/2006/main">
              <a:ext uri="{FF2B5EF4-FFF2-40B4-BE49-F238E27FC236}">
                <a16:creationId xmlns:a16="http://schemas.microsoft.com/office/drawing/2014/main" id="{E8019CD1-1E1A-4919-AB52-8C1A14EB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09950"/>
            <a:ext cx="438150" cy="257175"/>
          </a:xfrm>
          <a:custGeom xmlns:a="http://schemas.openxmlformats.org/drawingml/2006/main">
            <a:pathLst>
              <a:path w="438150" h="257175">
                <a:moveTo>
                  <a:pt x="219075" y="0"/>
                </a:moveTo>
                <a:lnTo>
                  <a:pt x="438150" y="123825"/>
                </a:lnTo>
                <a:lnTo>
                  <a:pt x="219075" y="257175"/>
                </a:lnTo>
                <a:lnTo>
                  <a:pt x="0" y="123825"/>
                </a:ln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8" name="Editable library layer">
            <a:extLst xmlns:a="http://schemas.openxmlformats.org/drawingml/2006/main">
              <a:ext uri="{FF2B5EF4-FFF2-40B4-BE49-F238E27FC236}">
                <a16:creationId xmlns:a16="http://schemas.microsoft.com/office/drawing/2014/main" id="{3F52C2D7-0235-4E5A-AAC1-21F828F5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95650"/>
            <a:ext cx="438150" cy="257175"/>
          </a:xfrm>
          <a:custGeom xmlns:a="http://schemas.openxmlformats.org/drawingml/2006/main">
            <a:pathLst>
              <a:path w="438150" h="257175">
                <a:moveTo>
                  <a:pt x="219075" y="0"/>
                </a:moveTo>
                <a:lnTo>
                  <a:pt x="438150" y="123825"/>
                </a:lnTo>
                <a:lnTo>
                  <a:pt x="219075" y="257175"/>
                </a:lnTo>
                <a:lnTo>
                  <a:pt x="0" y="123825"/>
                </a:ln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9" name="Editable library layer">
            <a:extLst xmlns:a="http://schemas.openxmlformats.org/drawingml/2006/main">
              <a:ext uri="{FF2B5EF4-FFF2-40B4-BE49-F238E27FC236}">
                <a16:creationId xmlns:a16="http://schemas.microsoft.com/office/drawing/2014/main" id="{2FD8A3E0-00F4-4718-A95C-34CF5447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81350"/>
            <a:ext cx="438150" cy="257175"/>
          </a:xfrm>
          <a:custGeom xmlns:a="http://schemas.openxmlformats.org/drawingml/2006/main">
            <a:pathLst>
              <a:path w="438150" h="257175">
                <a:moveTo>
                  <a:pt x="219075" y="0"/>
                </a:moveTo>
                <a:lnTo>
                  <a:pt x="438150" y="123825"/>
                </a:lnTo>
                <a:lnTo>
                  <a:pt x="219075" y="257175"/>
                </a:lnTo>
                <a:lnTo>
                  <a:pt x="0" y="123825"/>
                </a:ln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0" name="Shared">
            <a:extLst xmlns:a="http://schemas.openxmlformats.org/drawingml/2006/main">
              <a:ext uri="{FF2B5EF4-FFF2-40B4-BE49-F238E27FC236}">
                <a16:creationId xmlns:a16="http://schemas.microsoft.com/office/drawing/2014/main" id="{080EB736-DCF0-4839-9FB6-6069CD74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165348"/>
            <a:ext cx="981075" cy="254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Shared</a:t>
            </a:r>
          </a:p>
        </p:txBody>
      </p:sp>
      <p:sp>
        <p:nvSpPr>
          <p:cNvPr id="61" name="library B">
            <a:extLst xmlns:a="http://schemas.openxmlformats.org/drawingml/2006/main">
              <a:ext uri="{FF2B5EF4-FFF2-40B4-BE49-F238E27FC236}">
                <a16:creationId xmlns:a16="http://schemas.microsoft.com/office/drawing/2014/main" id="{2303A055-5592-4B24-B144-D12F99DD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419475"/>
            <a:ext cx="981075" cy="254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library B</a:t>
            </a:r>
          </a:p>
        </p:txBody>
      </p:sp>
      <p:sp>
        <p:nvSpPr>
          <p:cNvPr id="62" name="Contract and local proof">
            <a:extLst xmlns:a="http://schemas.openxmlformats.org/drawingml/2006/main">
              <a:ext uri="{FF2B5EF4-FFF2-40B4-BE49-F238E27FC236}">
                <a16:creationId xmlns:a16="http://schemas.microsoft.com/office/drawing/2014/main" id="{E2F41B89-8C91-4DB1-9EAA-855C7AAA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048000"/>
            <a:ext cx="17240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63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2760F6F9-4D82-4970-A794-DC9B223E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209925"/>
            <a:ext cx="333375" cy="419100"/>
          </a:xfrm>
          <a:custGeom xmlns:a="http://schemas.openxmlformats.org/drawingml/2006/main">
            <a:pathLst>
              <a:path w="333375" h="419100">
                <a:moveTo>
                  <a:pt x="0" y="0"/>
                </a:moveTo>
                <a:lnTo>
                  <a:pt x="250031" y="0"/>
                </a:lnTo>
                <a:lnTo>
                  <a:pt x="333375" y="83344"/>
                </a:lnTo>
                <a:lnTo>
                  <a:pt x="333375" y="419100"/>
                </a:lnTo>
                <a:lnTo>
                  <a:pt x="0" y="4191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64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2CB0E92B-C35E-4586-A379-7D35CDEF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956" y="3209925"/>
            <a:ext cx="83344" cy="83344"/>
          </a:xfrm>
          <a:custGeom xmlns:a="http://schemas.openxmlformats.org/drawingml/2006/main">
            <a:pathLst>
              <a:path w="83344" h="83344">
                <a:moveTo>
                  <a:pt x="0" y="0"/>
                </a:moveTo>
                <a:lnTo>
                  <a:pt x="0" y="83344"/>
                </a:lnTo>
                <a:lnTo>
                  <a:pt x="83344" y="8334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5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D3E2F7F8-3A0E-4B17-A0B6-FB930594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56610"/>
            <a:ext cx="183356" cy="9525"/>
          </a:xfrm>
          <a:custGeom xmlns:a="http://schemas.openxmlformats.org/drawingml/2006/main">
            <a:pathLst>
              <a:path w="183356" h="9525">
                <a:moveTo>
                  <a:pt x="0" y="0"/>
                </a:moveTo>
                <a:lnTo>
                  <a:pt x="1833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6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831DFC4C-2D25-4B96-837E-630A316E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27857"/>
            <a:ext cx="183356" cy="9525"/>
          </a:xfrm>
          <a:custGeom xmlns:a="http://schemas.openxmlformats.org/drawingml/2006/main">
            <a:pathLst>
              <a:path w="183356" h="9525">
                <a:moveTo>
                  <a:pt x="0" y="0"/>
                </a:moveTo>
                <a:lnTo>
                  <a:pt x="1833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7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DC8DC982-D802-44C0-8F8E-45D11F9D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99104"/>
            <a:ext cx="183356" cy="9525"/>
          </a:xfrm>
          <a:custGeom xmlns:a="http://schemas.openxmlformats.org/drawingml/2006/main">
            <a:pathLst>
              <a:path w="183356" h="9525">
                <a:moveTo>
                  <a:pt x="0" y="0"/>
                </a:moveTo>
                <a:lnTo>
                  <a:pt x="1833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8" name="Contract +">
            <a:extLst xmlns:a="http://schemas.openxmlformats.org/drawingml/2006/main">
              <a:ext uri="{FF2B5EF4-FFF2-40B4-BE49-F238E27FC236}">
                <a16:creationId xmlns:a16="http://schemas.microsoft.com/office/drawing/2014/main" id="{7F36FB15-BB89-47E0-85E4-3BCB8FFE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54299"/>
            <a:ext cx="990600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Contract +</a:t>
            </a:r>
          </a:p>
        </p:txBody>
      </p:sp>
      <p:sp>
        <p:nvSpPr>
          <p:cNvPr id="69" name="local proof">
            <a:extLst xmlns:a="http://schemas.openxmlformats.org/drawingml/2006/main">
              <a:ext uri="{FF2B5EF4-FFF2-40B4-BE49-F238E27FC236}">
                <a16:creationId xmlns:a16="http://schemas.microsoft.com/office/drawing/2014/main" id="{C66E3A39-88D5-4161-B5A4-8CFD1770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19475"/>
            <a:ext cx="990600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local proof</a:t>
            </a:r>
          </a:p>
        </p:txBody>
      </p:sp>
      <p:sp>
        <p:nvSpPr>
          <p:cNvPr id="70" name="Independent check">
            <a:extLst xmlns:a="http://schemas.openxmlformats.org/drawingml/2006/main">
              <a:ext uri="{FF2B5EF4-FFF2-40B4-BE49-F238E27FC236}">
                <a16:creationId xmlns:a16="http://schemas.microsoft.com/office/drawing/2014/main" id="{15907BDE-6C6E-4719-84E7-6EF3B594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48000"/>
            <a:ext cx="18383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71" name="Check result">
            <a:extLst xmlns:a="http://schemas.openxmlformats.org/drawingml/2006/main">
              <a:ext uri="{FF2B5EF4-FFF2-40B4-BE49-F238E27FC236}">
                <a16:creationId xmlns:a16="http://schemas.microsoft.com/office/drawing/2014/main" id="{BA9CD305-6AEE-419E-9997-18D7CB90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09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72" name="Editable check mark">
            <a:extLst xmlns:a="http://schemas.openxmlformats.org/drawingml/2006/main">
              <a:ext uri="{FF2B5EF4-FFF2-40B4-BE49-F238E27FC236}">
                <a16:creationId xmlns:a16="http://schemas.microsoft.com/office/drawing/2014/main" id="{C6587C0F-E173-4844-B589-E8975899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305175"/>
            <a:ext cx="228600" cy="205740"/>
          </a:xfrm>
          <a:custGeom xmlns:a="http://schemas.openxmlformats.org/drawingml/2006/main">
            <a:pathLst>
              <a:path w="228600" h="205740">
                <a:moveTo>
                  <a:pt x="0" y="125730"/>
                </a:moveTo>
                <a:lnTo>
                  <a:pt x="80010" y="205740"/>
                </a:ln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73" name="Independent">
            <a:extLst xmlns:a="http://schemas.openxmlformats.org/drawingml/2006/main">
              <a:ext uri="{FF2B5EF4-FFF2-40B4-BE49-F238E27FC236}">
                <a16:creationId xmlns:a16="http://schemas.microsoft.com/office/drawing/2014/main" id="{22F7EC48-8108-44D1-A43C-2EF1E016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143250"/>
            <a:ext cx="1104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Independent</a:t>
            </a:r>
          </a:p>
        </p:txBody>
      </p:sp>
      <p:sp>
        <p:nvSpPr>
          <p:cNvPr id="74" name="check">
            <a:extLst xmlns:a="http://schemas.openxmlformats.org/drawingml/2006/main">
              <a:ext uri="{FF2B5EF4-FFF2-40B4-BE49-F238E27FC236}">
                <a16:creationId xmlns:a16="http://schemas.microsoft.com/office/drawing/2014/main" id="{D59A6BD2-45BA-4BA3-BD44-B96248F2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419475"/>
            <a:ext cx="1104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check</a:t>
            </a:r>
          </a:p>
        </p:txBody>
      </p:sp>
      <p:sp>
        <p:nvSpPr>
          <p:cNvPr id="75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BA169C49-B309-42F0-AD9C-DDF6D45D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19475"/>
            <a:ext cx="323850" cy="9525"/>
          </a:xfrm>
          <a:custGeom xmlns:a="http://schemas.openxmlformats.org/drawingml/2006/main">
            <a:pathLst>
              <a:path w="323850" h="952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76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068118B4-A304-43E7-BD77-8CD526AD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718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77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F124AFD2-C39A-448B-AD25-4F23B7CB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19475"/>
            <a:ext cx="304800" cy="9525"/>
          </a:xfrm>
          <a:custGeom xmlns:a="http://schemas.openxmlformats.org/drawingml/2006/main"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78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33C642CF-E3D3-4BA6-9030-D7AFC159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718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79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5D99E5C8-00EF-479D-9B47-4B2E9B95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43275"/>
            <a:ext cx="952500" cy="76200"/>
          </a:xfrm>
          <a:custGeom xmlns:a="http://schemas.openxmlformats.org/drawingml/2006/main">
            <a:pathLst>
              <a:path w="952500" h="76200">
                <a:moveTo>
                  <a:pt x="0" y="0"/>
                </a:moveTo>
                <a:lnTo>
                  <a:pt x="314325" y="0"/>
                </a:lnTo>
                <a:lnTo>
                  <a:pt x="314325" y="76200"/>
                </a:lnTo>
                <a:lnTo>
                  <a:pt x="9525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0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07BE3CB4-B54A-42E4-B761-0D177C63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718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81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756B5C22-2618-40F7-85F7-C42E4F40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3371850"/>
            <a:ext cx="638175" cy="47625"/>
          </a:xfrm>
          <a:custGeom xmlns:a="http://schemas.openxmlformats.org/drawingml/2006/main">
            <a:pathLst>
              <a:path w="638175" h="47625">
                <a:moveTo>
                  <a:pt x="0" y="47625"/>
                </a:moveTo>
                <a:lnTo>
                  <a:pt x="323850" y="47625"/>
                </a:lnTo>
                <a:lnTo>
                  <a:pt x="323850" y="0"/>
                </a:ln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2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5BC66CF5-2046-44F2-9684-ECE1244D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3242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83" name="Software component">
            <a:extLst xmlns:a="http://schemas.openxmlformats.org/drawingml/2006/main">
              <a:ext uri="{FF2B5EF4-FFF2-40B4-BE49-F238E27FC236}">
                <a16:creationId xmlns:a16="http://schemas.microsoft.com/office/drawing/2014/main" id="{38013B2E-31B7-4429-9958-AA965AD5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86225"/>
            <a:ext cx="1914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84" name="&lt;/&gt;">
            <a:extLst xmlns:a="http://schemas.openxmlformats.org/drawingml/2006/main">
              <a:ext uri="{FF2B5EF4-FFF2-40B4-BE49-F238E27FC236}">
                <a16:creationId xmlns:a16="http://schemas.microsoft.com/office/drawing/2014/main" id="{0A7FAA68-3892-4838-A198-CD560026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54056"/>
            <a:ext cx="638175" cy="397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&lt;/&gt;</a:t>
            </a:r>
          </a:p>
        </p:txBody>
      </p:sp>
      <p:sp>
        <p:nvSpPr>
          <p:cNvPr id="85" name="Caller">
            <a:extLst xmlns:a="http://schemas.openxmlformats.org/drawingml/2006/main">
              <a:ext uri="{FF2B5EF4-FFF2-40B4-BE49-F238E27FC236}">
                <a16:creationId xmlns:a16="http://schemas.microsoft.com/office/drawing/2014/main" id="{C0C844C6-A0A3-45AC-B567-98315230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203573"/>
            <a:ext cx="981075" cy="254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Caller</a:t>
            </a:r>
          </a:p>
        </p:txBody>
      </p:sp>
      <p:sp>
        <p:nvSpPr>
          <p:cNvPr id="86" name="component">
            <a:extLst xmlns:a="http://schemas.openxmlformats.org/drawingml/2006/main">
              <a:ext uri="{FF2B5EF4-FFF2-40B4-BE49-F238E27FC236}">
                <a16:creationId xmlns:a16="http://schemas.microsoft.com/office/drawing/2014/main" id="{C688AEFC-C836-40AD-8211-88DDAB4A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457700"/>
            <a:ext cx="981075" cy="254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component</a:t>
            </a:r>
          </a:p>
        </p:txBody>
      </p:sp>
      <p:sp>
        <p:nvSpPr>
          <p:cNvPr id="87" name="Contract and local proof">
            <a:extLst xmlns:a="http://schemas.openxmlformats.org/drawingml/2006/main">
              <a:ext uri="{FF2B5EF4-FFF2-40B4-BE49-F238E27FC236}">
                <a16:creationId xmlns:a16="http://schemas.microsoft.com/office/drawing/2014/main" id="{29C33357-63F8-47AC-86F1-6B77BBF7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086225"/>
            <a:ext cx="17240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88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4F043689-362A-415A-B719-D2114701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248150"/>
            <a:ext cx="333375" cy="419100"/>
          </a:xfrm>
          <a:custGeom xmlns:a="http://schemas.openxmlformats.org/drawingml/2006/main">
            <a:pathLst>
              <a:path w="333375" h="419100">
                <a:moveTo>
                  <a:pt x="0" y="0"/>
                </a:moveTo>
                <a:lnTo>
                  <a:pt x="250031" y="0"/>
                </a:lnTo>
                <a:lnTo>
                  <a:pt x="333375" y="83344"/>
                </a:lnTo>
                <a:lnTo>
                  <a:pt x="333375" y="419100"/>
                </a:lnTo>
                <a:lnTo>
                  <a:pt x="0" y="4191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89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023AEEB9-E221-4706-A9B1-0FFCB801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956" y="4248150"/>
            <a:ext cx="83344" cy="83344"/>
          </a:xfrm>
          <a:custGeom xmlns:a="http://schemas.openxmlformats.org/drawingml/2006/main">
            <a:pathLst>
              <a:path w="83344" h="83344">
                <a:moveTo>
                  <a:pt x="0" y="0"/>
                </a:moveTo>
                <a:lnTo>
                  <a:pt x="0" y="83344"/>
                </a:lnTo>
                <a:lnTo>
                  <a:pt x="83344" y="8334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90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7AB9BBBB-D315-4FAA-9D55-EB2B2C64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94835"/>
            <a:ext cx="183356" cy="9525"/>
          </a:xfrm>
          <a:custGeom xmlns:a="http://schemas.openxmlformats.org/drawingml/2006/main">
            <a:pathLst>
              <a:path w="183356" h="9525">
                <a:moveTo>
                  <a:pt x="0" y="0"/>
                </a:moveTo>
                <a:lnTo>
                  <a:pt x="1833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91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706447BF-9D3D-4D46-B166-C1B8B733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66082"/>
            <a:ext cx="183356" cy="9525"/>
          </a:xfrm>
          <a:custGeom xmlns:a="http://schemas.openxmlformats.org/drawingml/2006/main">
            <a:pathLst>
              <a:path w="183356" h="9525">
                <a:moveTo>
                  <a:pt x="0" y="0"/>
                </a:moveTo>
                <a:lnTo>
                  <a:pt x="1833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92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DED4232E-2506-4AAB-B9EC-9673E6C2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37329"/>
            <a:ext cx="183356" cy="9525"/>
          </a:xfrm>
          <a:custGeom xmlns:a="http://schemas.openxmlformats.org/drawingml/2006/main">
            <a:pathLst>
              <a:path w="183356" h="9525">
                <a:moveTo>
                  <a:pt x="0" y="0"/>
                </a:moveTo>
                <a:lnTo>
                  <a:pt x="1833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93" name="Contract +">
            <a:extLst xmlns:a="http://schemas.openxmlformats.org/drawingml/2006/main">
              <a:ext uri="{FF2B5EF4-FFF2-40B4-BE49-F238E27FC236}">
                <a16:creationId xmlns:a16="http://schemas.microsoft.com/office/drawing/2014/main" id="{19AC064E-5F32-4EED-9CCC-D883F5F7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92524"/>
            <a:ext cx="990600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Contract +</a:t>
            </a:r>
          </a:p>
        </p:txBody>
      </p:sp>
      <p:sp>
        <p:nvSpPr>
          <p:cNvPr id="94" name="local proof">
            <a:extLst xmlns:a="http://schemas.openxmlformats.org/drawingml/2006/main">
              <a:ext uri="{FF2B5EF4-FFF2-40B4-BE49-F238E27FC236}">
                <a16:creationId xmlns:a16="http://schemas.microsoft.com/office/drawing/2014/main" id="{A2261F3E-F33F-4E62-A9F0-AAE6F313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57700"/>
            <a:ext cx="990600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local proof</a:t>
            </a:r>
          </a:p>
        </p:txBody>
      </p:sp>
      <p:sp>
        <p:nvSpPr>
          <p:cNvPr id="95" name="Independent check">
            <a:extLst xmlns:a="http://schemas.openxmlformats.org/drawingml/2006/main">
              <a:ext uri="{FF2B5EF4-FFF2-40B4-BE49-F238E27FC236}">
                <a16:creationId xmlns:a16="http://schemas.microsoft.com/office/drawing/2014/main" id="{948EA425-B3D7-400E-BB79-80F48A84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86225"/>
            <a:ext cx="18383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96" name="Check result">
            <a:extLst xmlns:a="http://schemas.openxmlformats.org/drawingml/2006/main">
              <a:ext uri="{FF2B5EF4-FFF2-40B4-BE49-F238E27FC236}">
                <a16:creationId xmlns:a16="http://schemas.microsoft.com/office/drawing/2014/main" id="{39445D98-F484-4F93-BE63-24E92B38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248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97" name="Editable check mark">
            <a:extLst xmlns:a="http://schemas.openxmlformats.org/drawingml/2006/main">
              <a:ext uri="{FF2B5EF4-FFF2-40B4-BE49-F238E27FC236}">
                <a16:creationId xmlns:a16="http://schemas.microsoft.com/office/drawing/2014/main" id="{1482B120-1FF3-4611-891C-472B5FE6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343400"/>
            <a:ext cx="228600" cy="205740"/>
          </a:xfrm>
          <a:custGeom xmlns:a="http://schemas.openxmlformats.org/drawingml/2006/main">
            <a:pathLst>
              <a:path w="228600" h="205740">
                <a:moveTo>
                  <a:pt x="0" y="125730"/>
                </a:moveTo>
                <a:lnTo>
                  <a:pt x="80010" y="205740"/>
                </a:ln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98" name="Independent">
            <a:extLst xmlns:a="http://schemas.openxmlformats.org/drawingml/2006/main">
              <a:ext uri="{FF2B5EF4-FFF2-40B4-BE49-F238E27FC236}">
                <a16:creationId xmlns:a16="http://schemas.microsoft.com/office/drawing/2014/main" id="{A853B156-BD79-42BB-B7A7-361AA867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181475"/>
            <a:ext cx="1104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Independent</a:t>
            </a:r>
          </a:p>
        </p:txBody>
      </p:sp>
      <p:sp>
        <p:nvSpPr>
          <p:cNvPr id="99" name="check">
            <a:extLst xmlns:a="http://schemas.openxmlformats.org/drawingml/2006/main">
              <a:ext uri="{FF2B5EF4-FFF2-40B4-BE49-F238E27FC236}">
                <a16:creationId xmlns:a16="http://schemas.microsoft.com/office/drawing/2014/main" id="{81928E6C-FDAB-4CAD-8DAD-352020F2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457700"/>
            <a:ext cx="1104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check</a:t>
            </a:r>
          </a:p>
        </p:txBody>
      </p:sp>
      <p:sp>
        <p:nvSpPr>
          <p:cNvPr id="100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38049238-0820-4932-BF05-75753143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457700"/>
            <a:ext cx="323850" cy="9525"/>
          </a:xfrm>
          <a:custGeom xmlns:a="http://schemas.openxmlformats.org/drawingml/2006/main">
            <a:pathLst>
              <a:path w="323850" h="952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01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A91DF4CD-7A54-4A78-9162-8D8C2B5D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100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02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219DDB43-E3C7-4EE1-9275-F18BE213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57700"/>
            <a:ext cx="304800" cy="9525"/>
          </a:xfrm>
          <a:custGeom xmlns:a="http://schemas.openxmlformats.org/drawingml/2006/main"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03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8006F0B2-7512-47C0-9E9B-FA4CE877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100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04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7219F9AC-ADF3-457E-A4DC-FB115BFE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43275"/>
            <a:ext cx="952500" cy="1114425"/>
          </a:xfrm>
          <a:custGeom xmlns:a="http://schemas.openxmlformats.org/drawingml/2006/main">
            <a:pathLst>
              <a:path w="952500" h="1114425">
                <a:moveTo>
                  <a:pt x="0" y="0"/>
                </a:moveTo>
                <a:lnTo>
                  <a:pt x="314325" y="0"/>
                </a:lnTo>
                <a:lnTo>
                  <a:pt x="314325" y="1114425"/>
                </a:lnTo>
                <a:lnTo>
                  <a:pt x="952500" y="11144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05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3450E965-4413-42C0-A1D7-AC52DBED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100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06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164BAE5E-F35B-40A6-A8AC-E2D6FE83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3371850"/>
            <a:ext cx="638175" cy="1085850"/>
          </a:xfrm>
          <a:custGeom xmlns:a="http://schemas.openxmlformats.org/drawingml/2006/main">
            <a:pathLst>
              <a:path w="638175" h="1085850">
                <a:moveTo>
                  <a:pt x="0" y="1085850"/>
                </a:moveTo>
                <a:lnTo>
                  <a:pt x="323850" y="1085850"/>
                </a:lnTo>
                <a:lnTo>
                  <a:pt x="323850" y="0"/>
                </a:ln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07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BBD75DB6-AB31-455B-B237-E3567BB7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3242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08" name="Interface and assumption gate">
            <a:extLst xmlns:a="http://schemas.openxmlformats.org/drawingml/2006/main">
              <a:ext uri="{FF2B5EF4-FFF2-40B4-BE49-F238E27FC236}">
                <a16:creationId xmlns:a16="http://schemas.microsoft.com/office/drawing/2014/main" id="{3B0A4E76-4CF8-46A4-ACB9-C38FB8EF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257425"/>
            <a:ext cx="185737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09" name="Stage 6">
            <a:extLst xmlns:a="http://schemas.openxmlformats.org/drawingml/2006/main">
              <a:ext uri="{FF2B5EF4-FFF2-40B4-BE49-F238E27FC236}">
                <a16:creationId xmlns:a16="http://schemas.microsoft.com/office/drawing/2014/main" id="{BBEFAC6B-7216-4E2C-A18D-7E59D694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2076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10" name="6">
            <a:extLst xmlns:a="http://schemas.openxmlformats.org/drawingml/2006/main">
              <a:ext uri="{FF2B5EF4-FFF2-40B4-BE49-F238E27FC236}">
                <a16:creationId xmlns:a16="http://schemas.microsoft.com/office/drawing/2014/main" id="{CA788C3F-79BF-44A0-A1AC-C9330CF3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2120970"/>
            <a:ext cx="361950" cy="27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6</a:t>
            </a:r>
          </a:p>
        </p:txBody>
      </p:sp>
      <p:sp>
        <p:nvSpPr>
          <p:cNvPr id="111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517146F3-C180-4D93-8DE2-9D7C523C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2771775"/>
            <a:ext cx="242888" cy="333375"/>
          </a:xfrm>
          <a:custGeom xmlns:a="http://schemas.openxmlformats.org/drawingml/2006/main">
            <a:pathLst>
              <a:path w="242888" h="333375">
                <a:moveTo>
                  <a:pt x="242888" y="0"/>
                </a:moveTo>
                <a:lnTo>
                  <a:pt x="242888" y="100203"/>
                </a:lnTo>
                <a:lnTo>
                  <a:pt x="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12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6A98778F-BD81-4681-8F70-9228E46C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4438" y="2871978"/>
            <a:ext cx="242888" cy="233172"/>
          </a:xfrm>
          <a:custGeom xmlns:a="http://schemas.openxmlformats.org/drawingml/2006/main">
            <a:pathLst>
              <a:path w="242888" h="233172">
                <a:moveTo>
                  <a:pt x="0" y="0"/>
                </a:moveTo>
                <a:lnTo>
                  <a:pt x="242888" y="23317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13" name="Proof tree node">
            <a:extLst xmlns:a="http://schemas.openxmlformats.org/drawingml/2006/main">
              <a:ext uri="{FF2B5EF4-FFF2-40B4-BE49-F238E27FC236}">
                <a16:creationId xmlns:a16="http://schemas.microsoft.com/office/drawing/2014/main" id="{8E59F882-9C09-4C39-849B-B8F3C8F7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7763" y="2638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14" name="Proof tree node">
            <a:extLst xmlns:a="http://schemas.openxmlformats.org/drawingml/2006/main">
              <a:ext uri="{FF2B5EF4-FFF2-40B4-BE49-F238E27FC236}">
                <a16:creationId xmlns:a16="http://schemas.microsoft.com/office/drawing/2014/main" id="{B3457ADE-386D-4B7B-AB4D-34C4665E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3038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15" name="Proof tree node">
            <a:extLst xmlns:a="http://schemas.openxmlformats.org/drawingml/2006/main">
              <a:ext uri="{FF2B5EF4-FFF2-40B4-BE49-F238E27FC236}">
                <a16:creationId xmlns:a16="http://schemas.microsoft.com/office/drawing/2014/main" id="{72616640-335C-48F3-9040-67F93EEB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3038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16" name="Check interfaces">
            <a:extLst xmlns:a="http://schemas.openxmlformats.org/drawingml/2006/main">
              <a:ext uri="{FF2B5EF4-FFF2-40B4-BE49-F238E27FC236}">
                <a16:creationId xmlns:a16="http://schemas.microsoft.com/office/drawing/2014/main" id="{FB9E84C1-CD47-4A96-AA87-03D11C34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421190"/>
            <a:ext cx="1704975" cy="29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Check interfaces</a:t>
            </a:r>
          </a:p>
        </p:txBody>
      </p:sp>
      <p:sp>
        <p:nvSpPr>
          <p:cNvPr id="117" name="+ assumptions">
            <a:extLst xmlns:a="http://schemas.openxmlformats.org/drawingml/2006/main">
              <a:ext uri="{FF2B5EF4-FFF2-40B4-BE49-F238E27FC236}">
                <a16:creationId xmlns:a16="http://schemas.microsoft.com/office/drawing/2014/main" id="{6798EB21-0448-41CC-957C-471B1CE1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719513"/>
            <a:ext cx="1704975" cy="29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+ assumptions</a:t>
            </a:r>
          </a:p>
        </p:txBody>
      </p:sp>
      <p:sp>
        <p:nvSpPr>
          <p:cNvPr id="118" name="Interface checks">
            <a:extLst xmlns:a="http://schemas.openxmlformats.org/drawingml/2006/main">
              <a:ext uri="{FF2B5EF4-FFF2-40B4-BE49-F238E27FC236}">
                <a16:creationId xmlns:a16="http://schemas.microsoft.com/office/drawing/2014/main" id="{3FFC15AA-9671-4A63-9242-1107E393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4086225"/>
            <a:ext cx="1685925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dash"/>
          </a:ln>
        </p:spPr>
      </p:sp>
      <p:sp>
        <p:nvSpPr>
          <p:cNvPr id="119" name="Caller obligations">
            <a:extLst xmlns:a="http://schemas.openxmlformats.org/drawingml/2006/main">
              <a:ext uri="{FF2B5EF4-FFF2-40B4-BE49-F238E27FC236}">
                <a16:creationId xmlns:a16="http://schemas.microsoft.com/office/drawing/2014/main" id="{AEC0F823-FA88-4201-A2F5-2DBA3739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090797"/>
            <a:ext cx="1447800" cy="254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Caller obligations</a:t>
            </a:r>
          </a:p>
        </p:txBody>
      </p:sp>
      <p:sp>
        <p:nvSpPr>
          <p:cNvPr id="120" name="Shared state">
            <a:extLst xmlns:a="http://schemas.openxmlformats.org/drawingml/2006/main">
              <a:ext uri="{FF2B5EF4-FFF2-40B4-BE49-F238E27FC236}">
                <a16:creationId xmlns:a16="http://schemas.microsoft.com/office/drawing/2014/main" id="{89204F09-08B3-4643-8F99-25B41909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344924"/>
            <a:ext cx="1447800" cy="254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Shared state</a:t>
            </a:r>
          </a:p>
        </p:txBody>
      </p:sp>
      <p:sp>
        <p:nvSpPr>
          <p:cNvPr id="121" name="Execution model">
            <a:extLst xmlns:a="http://schemas.openxmlformats.org/drawingml/2006/main">
              <a:ext uri="{FF2B5EF4-FFF2-40B4-BE49-F238E27FC236}">
                <a16:creationId xmlns:a16="http://schemas.microsoft.com/office/drawing/2014/main" id="{1F544A0D-4ADE-406A-ABAB-C14E3774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599051"/>
            <a:ext cx="1447800" cy="254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Execution model</a:t>
            </a:r>
          </a:p>
        </p:txBody>
      </p:sp>
      <p:sp>
        <p:nvSpPr>
          <p:cNvPr id="122" name="Evidence for larger property">
            <a:extLst xmlns:a="http://schemas.openxmlformats.org/drawingml/2006/main">
              <a:ext uri="{FF2B5EF4-FFF2-40B4-BE49-F238E27FC236}">
                <a16:creationId xmlns:a16="http://schemas.microsoft.com/office/drawing/2014/main" id="{116AF101-5735-4F36-B115-32A3A9AC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2219325"/>
            <a:ext cx="1514475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23" name="Stage 7">
            <a:extLst xmlns:a="http://schemas.openxmlformats.org/drawingml/2006/main">
              <a:ext uri="{FF2B5EF4-FFF2-40B4-BE49-F238E27FC236}">
                <a16:creationId xmlns:a16="http://schemas.microsoft.com/office/drawing/2014/main" id="{967FFA66-16A6-4D42-90D9-A893AADE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025" y="2038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24" name="7">
            <a:extLst xmlns:a="http://schemas.openxmlformats.org/drawingml/2006/main">
              <a:ext uri="{FF2B5EF4-FFF2-40B4-BE49-F238E27FC236}">
                <a16:creationId xmlns:a16="http://schemas.microsoft.com/office/drawing/2014/main" id="{B5DB9B2E-310A-4C40-B24E-D341A14F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025" y="2082870"/>
            <a:ext cx="361950" cy="27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7</a:t>
            </a:r>
          </a:p>
        </p:txBody>
      </p:sp>
      <p:sp>
        <p:nvSpPr>
          <p:cNvPr id="125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ED1411D7-63E1-48CE-A685-05187C0B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2676525"/>
            <a:ext cx="619125" cy="866775"/>
          </a:xfrm>
          <a:custGeom xmlns:a="http://schemas.openxmlformats.org/drawingml/2006/main">
            <a:pathLst>
              <a:path w="619125" h="866775">
                <a:moveTo>
                  <a:pt x="0" y="0"/>
                </a:moveTo>
                <a:lnTo>
                  <a:pt x="464344" y="0"/>
                </a:lnTo>
                <a:lnTo>
                  <a:pt x="619125" y="154781"/>
                </a:lnTo>
                <a:lnTo>
                  <a:pt x="619125" y="866775"/>
                </a:lnTo>
                <a:lnTo>
                  <a:pt x="0" y="86677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26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D5D77438-8242-464B-8E5F-F7CDB81C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8544" y="2676525"/>
            <a:ext cx="154781" cy="154781"/>
          </a:xfrm>
          <a:custGeom xmlns:a="http://schemas.openxmlformats.org/drawingml/2006/main">
            <a:pathLst>
              <a:path w="154781" h="154781">
                <a:moveTo>
                  <a:pt x="0" y="0"/>
                </a:moveTo>
                <a:lnTo>
                  <a:pt x="0" y="154781"/>
                </a:lnTo>
                <a:lnTo>
                  <a:pt x="154781" y="154781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27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1527857F-2EE6-4DCC-BE7E-30D5DE01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025" y="2979896"/>
            <a:ext cx="340519" cy="9525"/>
          </a:xfrm>
          <a:custGeom xmlns:a="http://schemas.openxmlformats.org/drawingml/2006/main">
            <a:pathLst>
              <a:path w="340519" h="9525">
                <a:moveTo>
                  <a:pt x="0" y="0"/>
                </a:moveTo>
                <a:lnTo>
                  <a:pt x="3405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28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BD647D5A-36ED-45EB-BC4A-B48C566E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025" y="3127248"/>
            <a:ext cx="340519" cy="9525"/>
          </a:xfrm>
          <a:custGeom xmlns:a="http://schemas.openxmlformats.org/drawingml/2006/main">
            <a:pathLst>
              <a:path w="340519" h="9525">
                <a:moveTo>
                  <a:pt x="0" y="0"/>
                </a:moveTo>
                <a:lnTo>
                  <a:pt x="3405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29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015DFD0E-B6A6-474E-B341-CC109368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025" y="3274600"/>
            <a:ext cx="340519" cy="9525"/>
          </a:xfrm>
          <a:custGeom xmlns:a="http://schemas.openxmlformats.org/drawingml/2006/main">
            <a:pathLst>
              <a:path w="340519" h="9525">
                <a:moveTo>
                  <a:pt x="0" y="0"/>
                </a:moveTo>
                <a:lnTo>
                  <a:pt x="3405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30" name="Evidence for">
            <a:extLst xmlns:a="http://schemas.openxmlformats.org/drawingml/2006/main">
              <a:ext uri="{FF2B5EF4-FFF2-40B4-BE49-F238E27FC236}">
                <a16:creationId xmlns:a16="http://schemas.microsoft.com/office/drawing/2014/main" id="{2F6156D9-3C14-408A-8BEF-136771EF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655504"/>
            <a:ext cx="1343025" cy="309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Evidence for</a:t>
            </a:r>
          </a:p>
        </p:txBody>
      </p:sp>
      <p:sp>
        <p:nvSpPr>
          <p:cNvPr id="131" name="the larger">
            <a:extLst xmlns:a="http://schemas.openxmlformats.org/drawingml/2006/main">
              <a:ext uri="{FF2B5EF4-FFF2-40B4-BE49-F238E27FC236}">
                <a16:creationId xmlns:a16="http://schemas.microsoft.com/office/drawing/2014/main" id="{36B3E139-164B-46D3-ACC4-0913975F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964877"/>
            <a:ext cx="1343025" cy="309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the larger</a:t>
            </a:r>
          </a:p>
        </p:txBody>
      </p:sp>
      <p:sp>
        <p:nvSpPr>
          <p:cNvPr id="132" name="property">
            <a:extLst xmlns:a="http://schemas.openxmlformats.org/drawingml/2006/main">
              <a:ext uri="{FF2B5EF4-FFF2-40B4-BE49-F238E27FC236}">
                <a16:creationId xmlns:a16="http://schemas.microsoft.com/office/drawing/2014/main" id="{F7A5EC06-5CD5-4492-996A-F6BCF5C3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4274249"/>
            <a:ext cx="1343025" cy="309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property</a:t>
            </a:r>
          </a:p>
        </p:txBody>
      </p:sp>
      <p:sp>
        <p:nvSpPr>
          <p:cNvPr id="133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23F72CD6-F6A2-41C1-AFEA-4714B2BB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3371850"/>
            <a:ext cx="533400" cy="9525"/>
          </a:xfrm>
          <a:custGeom xmlns:a="http://schemas.openxmlformats.org/drawingml/2006/main">
            <a:pathLst>
              <a:path w="533400" h="952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34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EDA83F78-FF6D-42BF-8E9D-99F59155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2225" y="33242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35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0DBE612F-C886-4816-9B5E-A5B2841C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657725"/>
            <a:ext cx="9515475" cy="714375"/>
          </a:xfrm>
          <a:custGeom xmlns:a="http://schemas.openxmlformats.org/drawingml/2006/main">
            <a:pathLst>
              <a:path w="9515475" h="714375">
                <a:moveTo>
                  <a:pt x="9515475" y="304800"/>
                </a:moveTo>
                <a:lnTo>
                  <a:pt x="9515475" y="714375"/>
                </a:lnTo>
                <a:lnTo>
                  <a:pt x="0" y="71437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dash"/>
          </a:ln>
        </p:spPr>
      </p:sp>
      <p:sp>
        <p:nvSpPr>
          <p:cNvPr id="136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79EBAFF6-10F3-48E4-A2FF-8D54146E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5772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0"/>
                </a:moveTo>
                <a:lnTo>
                  <a:pt x="95250" y="11430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37" name="Revise incompatible obligations">
            <a:extLst xmlns:a="http://schemas.openxmlformats.org/drawingml/2006/main">
              <a:ext uri="{FF2B5EF4-FFF2-40B4-BE49-F238E27FC236}">
                <a16:creationId xmlns:a16="http://schemas.microsoft.com/office/drawing/2014/main" id="{A9D0690C-27A6-4E8B-A67B-B83AB35E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421439"/>
            <a:ext cx="4324350" cy="320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Revise incompatible obligations</a:t>
            </a:r>
          </a:p>
        </p:txBody>
      </p:sp>
      <p:sp>
        <p:nvSpPr>
          <p:cNvPr id="138" name="Dependency reuse">
            <a:extLst xmlns:a="http://schemas.openxmlformats.org/drawingml/2006/main">
              <a:ext uri="{FF2B5EF4-FFF2-40B4-BE49-F238E27FC236}">
                <a16:creationId xmlns:a16="http://schemas.microsoft.com/office/drawing/2014/main" id="{5D39610D-7BA3-4419-9AFF-6CF95F8D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857875"/>
            <a:ext cx="80676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39" name="Reuse one dependency proof across callers">
            <a:extLst xmlns:a="http://schemas.openxmlformats.org/drawingml/2006/main">
              <a:ext uri="{FF2B5EF4-FFF2-40B4-BE49-F238E27FC236}">
                <a16:creationId xmlns:a16="http://schemas.microsoft.com/office/drawing/2014/main" id="{118E3826-B3C1-4741-8DC1-F8494D91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978652"/>
            <a:ext cx="7639050" cy="320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Reuse one dependency proof across callers</a:t>
            </a:r>
          </a:p>
        </p:txBody>
      </p:sp>
      <p:sp>
        <p:nvSpPr>
          <p:cNvPr id="140" name="Checked shared library">
            <a:extLst xmlns:a="http://schemas.openxmlformats.org/drawingml/2006/main">
              <a:ext uri="{FF2B5EF4-FFF2-40B4-BE49-F238E27FC236}">
                <a16:creationId xmlns:a16="http://schemas.microsoft.com/office/drawing/2014/main" id="{F2061E79-5174-4453-A9F3-ADD38F98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86525"/>
            <a:ext cx="24955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41" name="Editable library layer">
            <a:extLst xmlns:a="http://schemas.openxmlformats.org/drawingml/2006/main">
              <a:ext uri="{FF2B5EF4-FFF2-40B4-BE49-F238E27FC236}">
                <a16:creationId xmlns:a16="http://schemas.microsoft.com/office/drawing/2014/main" id="{D3AC1B34-322E-4315-BCF9-EC7A3C32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934200"/>
            <a:ext cx="466725" cy="257175"/>
          </a:xfrm>
          <a:custGeom xmlns:a="http://schemas.openxmlformats.org/drawingml/2006/main">
            <a:pathLst>
              <a:path w="466725" h="257175">
                <a:moveTo>
                  <a:pt x="233363" y="0"/>
                </a:moveTo>
                <a:lnTo>
                  <a:pt x="466725" y="123825"/>
                </a:lnTo>
                <a:lnTo>
                  <a:pt x="233363" y="257175"/>
                </a:lnTo>
                <a:lnTo>
                  <a:pt x="0" y="123825"/>
                </a:lnTo>
                <a:lnTo>
                  <a:pt x="2333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42" name="Editable library layer">
            <a:extLst xmlns:a="http://schemas.openxmlformats.org/drawingml/2006/main">
              <a:ext uri="{FF2B5EF4-FFF2-40B4-BE49-F238E27FC236}">
                <a16:creationId xmlns:a16="http://schemas.microsoft.com/office/drawing/2014/main" id="{82904F8F-5949-49F9-AC0C-47DF7B5D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819900"/>
            <a:ext cx="466725" cy="257175"/>
          </a:xfrm>
          <a:custGeom xmlns:a="http://schemas.openxmlformats.org/drawingml/2006/main">
            <a:pathLst>
              <a:path w="466725" h="257175">
                <a:moveTo>
                  <a:pt x="233363" y="0"/>
                </a:moveTo>
                <a:lnTo>
                  <a:pt x="466725" y="123825"/>
                </a:lnTo>
                <a:lnTo>
                  <a:pt x="233363" y="257175"/>
                </a:lnTo>
                <a:lnTo>
                  <a:pt x="0" y="123825"/>
                </a:lnTo>
                <a:lnTo>
                  <a:pt x="2333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43" name="Editable library layer">
            <a:extLst xmlns:a="http://schemas.openxmlformats.org/drawingml/2006/main">
              <a:ext uri="{FF2B5EF4-FFF2-40B4-BE49-F238E27FC236}">
                <a16:creationId xmlns:a16="http://schemas.microsoft.com/office/drawing/2014/main" id="{74B81660-DF05-404E-9457-5C3DDDE6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705600"/>
            <a:ext cx="466725" cy="257175"/>
          </a:xfrm>
          <a:custGeom xmlns:a="http://schemas.openxmlformats.org/drawingml/2006/main">
            <a:pathLst>
              <a:path w="466725" h="257175">
                <a:moveTo>
                  <a:pt x="233363" y="0"/>
                </a:moveTo>
                <a:lnTo>
                  <a:pt x="466725" y="123825"/>
                </a:lnTo>
                <a:lnTo>
                  <a:pt x="233363" y="257175"/>
                </a:lnTo>
                <a:lnTo>
                  <a:pt x="0" y="123825"/>
                </a:lnTo>
                <a:lnTo>
                  <a:pt x="2333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44" name="Shared library A">
            <a:extLst xmlns:a="http://schemas.openxmlformats.org/drawingml/2006/main">
              <a:ext uri="{FF2B5EF4-FFF2-40B4-BE49-F238E27FC236}">
                <a16:creationId xmlns:a16="http://schemas.microsoft.com/office/drawing/2014/main" id="{5308DFCF-0716-4426-9C14-FAA9285A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73012"/>
            <a:ext cx="1533525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Shared library A</a:t>
            </a:r>
          </a:p>
        </p:txBody>
      </p:sp>
      <p:sp>
        <p:nvSpPr>
          <p:cNvPr id="145" name="Checked proof">
            <a:extLst xmlns:a="http://schemas.openxmlformats.org/drawingml/2006/main">
              <a:ext uri="{FF2B5EF4-FFF2-40B4-BE49-F238E27FC236}">
                <a16:creationId xmlns:a16="http://schemas.microsoft.com/office/drawing/2014/main" id="{3D7C1FD8-EFFD-4D44-B4CB-F40C284E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926199"/>
            <a:ext cx="1533525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Checked proof</a:t>
            </a:r>
          </a:p>
        </p:txBody>
      </p:sp>
      <p:sp>
        <p:nvSpPr>
          <p:cNvPr id="146" name="+ interface">
            <a:extLst xmlns:a="http://schemas.openxmlformats.org/drawingml/2006/main">
              <a:ext uri="{FF2B5EF4-FFF2-40B4-BE49-F238E27FC236}">
                <a16:creationId xmlns:a16="http://schemas.microsoft.com/office/drawing/2014/main" id="{872F7038-2643-429D-A2F4-46513EEB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191375"/>
            <a:ext cx="1533525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+ interface</a:t>
            </a:r>
          </a:p>
        </p:txBody>
      </p:sp>
      <p:sp>
        <p:nvSpPr>
          <p:cNvPr id="147" name="Verified interface">
            <a:extLst xmlns:a="http://schemas.openxmlformats.org/drawingml/2006/main">
              <a:ext uri="{FF2B5EF4-FFF2-40B4-BE49-F238E27FC236}">
                <a16:creationId xmlns:a16="http://schemas.microsoft.com/office/drawing/2014/main" id="{49D55AC1-5ED9-45F8-81C8-A22672E3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686550"/>
            <a:ext cx="914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48" name="Verified">
            <a:extLst xmlns:a="http://schemas.openxmlformats.org/drawingml/2006/main">
              <a:ext uri="{FF2B5EF4-FFF2-40B4-BE49-F238E27FC236}">
                <a16:creationId xmlns:a16="http://schemas.microsoft.com/office/drawing/2014/main" id="{15F42D38-A005-4DEA-885A-83B02B4B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6727698"/>
            <a:ext cx="781050" cy="254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Verified</a:t>
            </a:r>
          </a:p>
        </p:txBody>
      </p:sp>
      <p:sp>
        <p:nvSpPr>
          <p:cNvPr id="149" name="interface">
            <a:extLst xmlns:a="http://schemas.openxmlformats.org/drawingml/2006/main">
              <a:ext uri="{FF2B5EF4-FFF2-40B4-BE49-F238E27FC236}">
                <a16:creationId xmlns:a16="http://schemas.microsoft.com/office/drawing/2014/main" id="{4D41852E-0E6E-4AEC-A383-C1D355A6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6981825"/>
            <a:ext cx="781050" cy="254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interface</a:t>
            </a:r>
          </a:p>
        </p:txBody>
      </p:sp>
      <p:sp>
        <p:nvSpPr>
          <p:cNvPr id="150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0AB309A9-7B93-41E3-92CE-193A022D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7000875"/>
            <a:ext cx="247650" cy="9525"/>
          </a:xfrm>
          <a:custGeom xmlns:a="http://schemas.openxmlformats.org/drawingml/2006/main"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51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E6AB2AE6-0367-4923-A98C-308713A6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9532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52" name="Caller component">
            <a:extLst xmlns:a="http://schemas.openxmlformats.org/drawingml/2006/main">
              <a:ext uri="{FF2B5EF4-FFF2-40B4-BE49-F238E27FC236}">
                <a16:creationId xmlns:a16="http://schemas.microsoft.com/office/drawing/2014/main" id="{C0B20974-7071-4CF4-A93C-9801C24C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6353175"/>
            <a:ext cx="2981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53" name="&lt;/&gt;">
            <a:extLst xmlns:a="http://schemas.openxmlformats.org/drawingml/2006/main">
              <a:ext uri="{FF2B5EF4-FFF2-40B4-BE49-F238E27FC236}">
                <a16:creationId xmlns:a16="http://schemas.microsoft.com/office/drawing/2014/main" id="{833CAE72-71E3-46A6-8D55-1B398C9F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479477"/>
            <a:ext cx="495300" cy="309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&lt;/&gt;</a:t>
            </a:r>
          </a:p>
        </p:txBody>
      </p:sp>
      <p:sp>
        <p:nvSpPr>
          <p:cNvPr id="154" name="Caller component 1">
            <a:extLst xmlns:a="http://schemas.openxmlformats.org/drawingml/2006/main">
              <a:ext uri="{FF2B5EF4-FFF2-40B4-BE49-F238E27FC236}">
                <a16:creationId xmlns:a16="http://schemas.microsoft.com/office/drawing/2014/main" id="{63B11605-CD2C-4841-8057-876CC4DA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1001"/>
            <a:ext cx="2028825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Caller component 1</a:t>
            </a:r>
          </a:p>
        </p:txBody>
      </p:sp>
      <p:sp>
        <p:nvSpPr>
          <p:cNvPr id="155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F014966C-0F2B-4EFB-8597-457C1AA7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629400"/>
            <a:ext cx="638175" cy="352425"/>
          </a:xfrm>
          <a:custGeom xmlns:a="http://schemas.openxmlformats.org/drawingml/2006/main">
            <a:pathLst>
              <a:path w="638175" h="352425">
                <a:moveTo>
                  <a:pt x="0" y="352425"/>
                </a:moveTo>
                <a:lnTo>
                  <a:pt x="247650" y="352425"/>
                </a:lnTo>
                <a:lnTo>
                  <a:pt x="247650" y="0"/>
                </a:ln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56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8BFD7B34-F6E7-4B74-8C6E-DB78051C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5817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57" name="Caller component">
            <a:extLst xmlns:a="http://schemas.openxmlformats.org/drawingml/2006/main">
              <a:ext uri="{FF2B5EF4-FFF2-40B4-BE49-F238E27FC236}">
                <a16:creationId xmlns:a16="http://schemas.microsoft.com/office/drawing/2014/main" id="{0154F671-C2AA-4067-87B0-6ECE1ECB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7086600"/>
            <a:ext cx="2981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58" name="&lt;/&gt;">
            <a:extLst xmlns:a="http://schemas.openxmlformats.org/drawingml/2006/main">
              <a:ext uri="{FF2B5EF4-FFF2-40B4-BE49-F238E27FC236}">
                <a16:creationId xmlns:a16="http://schemas.microsoft.com/office/drawing/2014/main" id="{157E6FE0-82CD-49EA-9143-7B1614A5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7212902"/>
            <a:ext cx="495300" cy="309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&lt;/&gt;</a:t>
            </a:r>
          </a:p>
        </p:txBody>
      </p:sp>
      <p:sp>
        <p:nvSpPr>
          <p:cNvPr id="159" name="Caller component 2">
            <a:extLst xmlns:a="http://schemas.openxmlformats.org/drawingml/2006/main">
              <a:ext uri="{FF2B5EF4-FFF2-40B4-BE49-F238E27FC236}">
                <a16:creationId xmlns:a16="http://schemas.microsoft.com/office/drawing/2014/main" id="{0B7CBFE8-0561-4441-A833-3D26989F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214426"/>
            <a:ext cx="2028825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Caller component 2</a:t>
            </a:r>
          </a:p>
        </p:txBody>
      </p:sp>
      <p:sp>
        <p:nvSpPr>
          <p:cNvPr id="160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22BF59E9-294A-4918-AB19-EA529BBA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981825"/>
            <a:ext cx="638175" cy="381000"/>
          </a:xfrm>
          <a:custGeom xmlns:a="http://schemas.openxmlformats.org/drawingml/2006/main">
            <a:pathLst>
              <a:path w="638175" h="381000">
                <a:moveTo>
                  <a:pt x="0" y="0"/>
                </a:moveTo>
                <a:lnTo>
                  <a:pt x="247650" y="0"/>
                </a:lnTo>
                <a:lnTo>
                  <a:pt x="247650" y="381000"/>
                </a:lnTo>
                <a:lnTo>
                  <a:pt x="638175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61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85DE1C61-FBC5-4C83-A6C2-052488BD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73152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62" name="Changes and revalidation">
            <a:extLst xmlns:a="http://schemas.openxmlformats.org/drawingml/2006/main">
              <a:ext uri="{FF2B5EF4-FFF2-40B4-BE49-F238E27FC236}">
                <a16:creationId xmlns:a16="http://schemas.microsoft.com/office/drawing/2014/main" id="{94BA5558-A00B-4CC5-8929-B6ABAFBA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857875"/>
            <a:ext cx="6953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63" name="When something changes">
            <a:extLst xmlns:a="http://schemas.openxmlformats.org/drawingml/2006/main">
              <a:ext uri="{FF2B5EF4-FFF2-40B4-BE49-F238E27FC236}">
                <a16:creationId xmlns:a16="http://schemas.microsoft.com/office/drawing/2014/main" id="{E0ED9C54-06A9-4297-AFBA-99EACF9A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982653"/>
            <a:ext cx="62865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When something changes</a:t>
            </a:r>
          </a:p>
        </p:txBody>
      </p:sp>
      <p:sp>
        <p:nvSpPr>
          <p:cNvPr id="164" name="Changed caller component or property">
            <a:extLst xmlns:a="http://schemas.openxmlformats.org/drawingml/2006/main">
              <a:ext uri="{FF2B5EF4-FFF2-40B4-BE49-F238E27FC236}">
                <a16:creationId xmlns:a16="http://schemas.microsoft.com/office/drawing/2014/main" id="{CDE81A6F-9155-4ACF-A4F8-2460D737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505575"/>
            <a:ext cx="30575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65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B6254E7B-84AA-43BC-82D9-8507E759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696075"/>
            <a:ext cx="381000" cy="542925"/>
          </a:xfrm>
          <a:custGeom xmlns:a="http://schemas.openxmlformats.org/drawingml/2006/main">
            <a:pathLst>
              <a:path w="381000" h="542925">
                <a:moveTo>
                  <a:pt x="0" y="0"/>
                </a:moveTo>
                <a:lnTo>
                  <a:pt x="285750" y="0"/>
                </a:lnTo>
                <a:lnTo>
                  <a:pt x="381000" y="95250"/>
                </a:lnTo>
                <a:lnTo>
                  <a:pt x="381000" y="542925"/>
                </a:lnTo>
                <a:lnTo>
                  <a:pt x="0" y="5429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66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A37C01D0-CCDE-4F17-ADD7-49432FEE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69607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67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1953BC3E-B866-4075-B208-7B86220E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886099"/>
            <a:ext cx="209550" cy="9525"/>
          </a:xfrm>
          <a:custGeom xmlns:a="http://schemas.openxmlformats.org/drawingml/2006/main">
            <a:pathLst>
              <a:path w="209550" h="952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68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EE38DF17-AC8A-41D9-B359-5BD1B385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978396"/>
            <a:ext cx="209550" cy="9525"/>
          </a:xfrm>
          <a:custGeom xmlns:a="http://schemas.openxmlformats.org/drawingml/2006/main">
            <a:pathLst>
              <a:path w="209550" h="952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69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7F481176-FEF2-4ED1-9EBB-ED2EC2CD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070693"/>
            <a:ext cx="209550" cy="9525"/>
          </a:xfrm>
          <a:custGeom xmlns:a="http://schemas.openxmlformats.org/drawingml/2006/main">
            <a:pathLst>
              <a:path w="209550" h="952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70" name="Changed caller /">
            <a:extLst xmlns:a="http://schemas.openxmlformats.org/drawingml/2006/main">
              <a:ext uri="{FF2B5EF4-FFF2-40B4-BE49-F238E27FC236}">
                <a16:creationId xmlns:a16="http://schemas.microsoft.com/office/drawing/2014/main" id="{2137D4E1-5DF5-4AF9-9784-13800242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685026"/>
            <a:ext cx="2152650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Changed caller /</a:t>
            </a:r>
          </a:p>
        </p:txBody>
      </p:sp>
      <p:sp>
        <p:nvSpPr>
          <p:cNvPr id="171" name="component / property">
            <a:extLst xmlns:a="http://schemas.openxmlformats.org/drawingml/2006/main">
              <a:ext uri="{FF2B5EF4-FFF2-40B4-BE49-F238E27FC236}">
                <a16:creationId xmlns:a16="http://schemas.microsoft.com/office/drawing/2014/main" id="{C3619BDC-5E93-43FE-A14E-974A27F5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972300"/>
            <a:ext cx="2152650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component / property</a:t>
            </a:r>
          </a:p>
        </p:txBody>
      </p:sp>
      <p:sp>
        <p:nvSpPr>
          <p:cNvPr id="172" name="Revalidate affected evidence">
            <a:extLst xmlns:a="http://schemas.openxmlformats.org/drawingml/2006/main">
              <a:ext uri="{FF2B5EF4-FFF2-40B4-BE49-F238E27FC236}">
                <a16:creationId xmlns:a16="http://schemas.microsoft.com/office/drawing/2014/main" id="{925C4FA1-3EC5-4BCA-97B8-5CC30CDE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6505575"/>
            <a:ext cx="28956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73" name="Revalidate">
            <a:extLst xmlns:a="http://schemas.openxmlformats.org/drawingml/2006/main">
              <a:ext uri="{FF2B5EF4-FFF2-40B4-BE49-F238E27FC236}">
                <a16:creationId xmlns:a16="http://schemas.microsoft.com/office/drawing/2014/main" id="{BC44D672-1D10-4CF0-A70D-6939748D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6662928"/>
            <a:ext cx="2324100" cy="309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1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1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1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1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1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1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1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1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1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Revalidate</a:t>
            </a:r>
          </a:p>
        </p:txBody>
      </p:sp>
      <p:sp>
        <p:nvSpPr>
          <p:cNvPr id="174" name="affected evidence">
            <a:extLst xmlns:a="http://schemas.openxmlformats.org/drawingml/2006/main">
              <a:ext uri="{FF2B5EF4-FFF2-40B4-BE49-F238E27FC236}">
                <a16:creationId xmlns:a16="http://schemas.microsoft.com/office/drawing/2014/main" id="{38726D76-DBE9-4056-B187-B825953B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6972300"/>
            <a:ext cx="2324100" cy="309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1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1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1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1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1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1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1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1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1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affected evidence</a:t>
            </a:r>
          </a:p>
        </p:txBody>
      </p:sp>
      <p:sp>
        <p:nvSpPr>
          <p:cNvPr id="175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22DC4644-21BE-4777-9F07-2489828E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981825"/>
            <a:ext cx="409575" cy="9525"/>
          </a:xfrm>
          <a:custGeom xmlns:a="http://schemas.openxmlformats.org/drawingml/2006/main">
            <a:pathLst>
              <a:path w="409575" h="952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76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457381DE-2768-43B2-9030-13432436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69342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77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AF77D3AA-DFFD-44BE-973D-7FB81E5E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6925" y="4962525"/>
            <a:ext cx="9525" cy="1543050"/>
          </a:xfrm>
          <a:custGeom xmlns:a="http://schemas.openxmlformats.org/drawingml/2006/main">
            <a:pathLst>
              <a:path w="9525" h="1543050">
                <a:moveTo>
                  <a:pt x="0" y="1543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dash"/>
          </a:ln>
        </p:spPr>
      </p:sp>
      <p:sp>
        <p:nvSpPr>
          <p:cNvPr id="178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9135B43D-4EBC-498D-BBCE-4A4CE913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496252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0"/>
                </a:moveTo>
                <a:lnTo>
                  <a:pt x="95250" y="11430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79" name="Conditional proof reuse">
            <a:extLst xmlns:a="http://schemas.openxmlformats.org/drawingml/2006/main">
              <a:ext uri="{FF2B5EF4-FFF2-40B4-BE49-F238E27FC236}">
                <a16:creationId xmlns:a16="http://schemas.microsoft.com/office/drawing/2014/main" id="{6C6CB746-B4FC-4CE6-AC8B-D0FE7298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8067675"/>
            <a:ext cx="15335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80" name="Reuse is conditional on matching interfaces, artifacts, and assumptions.">
            <a:extLst xmlns:a="http://schemas.openxmlformats.org/drawingml/2006/main">
              <a:ext uri="{FF2B5EF4-FFF2-40B4-BE49-F238E27FC236}">
                <a16:creationId xmlns:a16="http://schemas.microsoft.com/office/drawing/2014/main" id="{1DA86D30-5B16-45E6-9BED-FFECB699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7964"/>
            <a:ext cx="14782800" cy="320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Reuse is conditional on matching interfaces, artifacts, and assumptions.</a:t>
            </a:r>
          </a:p>
        </p:txBody>
      </p:sp>
      <p:sp>
        <p:nvSpPr>
          <p:cNvPr id="181" name="Larger guarantees require checked interfaces and explicit assumptions.">
            <a:extLst xmlns:a="http://schemas.openxmlformats.org/drawingml/2006/main">
              <a:ext uri="{FF2B5EF4-FFF2-40B4-BE49-F238E27FC236}">
                <a16:creationId xmlns:a16="http://schemas.microsoft.com/office/drawing/2014/main" id="{39232A28-60B2-47FB-A96C-F71B4353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476298"/>
            <a:ext cx="142113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Larger guarantees require checked interfaces and explicit assumptions.</a:t>
            </a:r>
          </a:p>
        </p:txBody>
      </p:sp>
    </p:spTree>
    <p:extLst>
      <p:ext uri="{BB962C8B-B14F-4D97-AF65-F5344CB8AC3E}">
        <p14:creationId xmlns:p14="http://schemas.microsoft.com/office/powerpoint/2010/main" val="12602537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0" name="Trustworthy Verification Feedback">
            <a:extLst xmlns:a="http://schemas.openxmlformats.org/drawingml/2006/main">
              <a:ext uri="{FF2B5EF4-FFF2-40B4-BE49-F238E27FC236}">
                <a16:creationId xmlns:a16="http://schemas.microsoft.com/office/drawing/2014/main" id="{F39E2806-119F-44EC-8395-0CD6A0A5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2200"/>
            <a:ext cx="13735050" cy="541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6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Trustworthy Verification Feedback</a:t>
            </a:r>
          </a:p>
        </p:txBody>
      </p:sp>
      <p:sp>
        <p:nvSpPr>
          <p:cNvPr id="2" name="A checked theorem must support the intended requirement">
            <a:extLst xmlns:a="http://schemas.openxmlformats.org/drawingml/2006/main">
              <a:ext uri="{FF2B5EF4-FFF2-40B4-BE49-F238E27FC236}">
                <a16:creationId xmlns:a16="http://schemas.microsoft.com/office/drawing/2014/main" id="{8813BD64-6157-42AE-86B2-D1865227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93230"/>
            <a:ext cx="130683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A checked theorem must support the intended requirement</a:t>
            </a:r>
          </a:p>
        </p:txBody>
      </p:sp>
      <p:sp>
        <p:nvSpPr>
          <p:cNvPr id="3" name="Proposed research">
            <a:extLst xmlns:a="http://schemas.openxmlformats.org/drawingml/2006/main">
              <a:ext uri="{FF2B5EF4-FFF2-40B4-BE49-F238E27FC236}">
                <a16:creationId xmlns:a16="http://schemas.microsoft.com/office/drawing/2014/main" id="{618BF246-43FE-4BFC-A58A-2C2B6F5E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194310"/>
            <a:ext cx="20478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Proposed research</a:t>
            </a:r>
          </a:p>
        </p:txBody>
      </p:sp>
      <p:sp>
        <p:nvSpPr>
          <p:cNvPr id="4" name="Verification input">
            <a:extLst xmlns:a="http://schemas.openxmlformats.org/drawingml/2006/main">
              <a:ext uri="{FF2B5EF4-FFF2-40B4-BE49-F238E27FC236}">
                <a16:creationId xmlns:a16="http://schemas.microsoft.com/office/drawing/2014/main" id="{61061D9A-D472-4826-A732-6C8301EA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66825"/>
            <a:ext cx="280987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5" name="Stage 1">
            <a:extLst xmlns:a="http://schemas.openxmlformats.org/drawingml/2006/main">
              <a:ext uri="{FF2B5EF4-FFF2-40B4-BE49-F238E27FC236}">
                <a16:creationId xmlns:a16="http://schemas.microsoft.com/office/drawing/2014/main" id="{C7FBF091-1FE0-45CF-ADB6-9DFB330F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6" name="1">
            <a:extLst xmlns:a="http://schemas.openxmlformats.org/drawingml/2006/main">
              <a:ext uri="{FF2B5EF4-FFF2-40B4-BE49-F238E27FC236}">
                <a16:creationId xmlns:a16="http://schemas.microsoft.com/office/drawing/2014/main" id="{26A558CE-9B1A-472D-9067-17C84D45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68470"/>
            <a:ext cx="361950" cy="27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1</a:t>
            </a:r>
          </a:p>
        </p:txBody>
      </p:sp>
      <p:sp>
        <p:nvSpPr>
          <p:cNvPr id="7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802315B2-7675-4524-B3D8-08AC3090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457200" cy="571500"/>
          </a:xfrm>
          <a:custGeom xmlns:a="http://schemas.openxmlformats.org/drawingml/2006/main">
            <a:pathLst>
              <a:path w="457200" h="571500">
                <a:moveTo>
                  <a:pt x="0" y="0"/>
                </a:moveTo>
                <a:lnTo>
                  <a:pt x="342900" y="0"/>
                </a:lnTo>
                <a:lnTo>
                  <a:pt x="457200" y="114300"/>
                </a:lnTo>
                <a:lnTo>
                  <a:pt x="457200" y="571500"/>
                </a:lnTo>
                <a:lnTo>
                  <a:pt x="0" y="5715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8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0ADB20B1-62FF-4B3D-AF8B-A18A5118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002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0" y="0"/>
                </a:moveTo>
                <a:lnTo>
                  <a:pt x="0" y="114300"/>
                </a:lnTo>
                <a:lnTo>
                  <a:pt x="11430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9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E55F0DDF-C10C-44D0-BD8B-9245B030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" y="1800225"/>
            <a:ext cx="251460" cy="9525"/>
          </a:xfrm>
          <a:custGeom xmlns:a="http://schemas.openxmlformats.org/drawingml/2006/main">
            <a:pathLst>
              <a:path w="251460" h="9525">
                <a:moveTo>
                  <a:pt x="0" y="0"/>
                </a:moveTo>
                <a:lnTo>
                  <a:pt x="2514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0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9C518DD2-5D86-40E7-BCAB-CCC4060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" y="1897380"/>
            <a:ext cx="251460" cy="9525"/>
          </a:xfrm>
          <a:custGeom xmlns:a="http://schemas.openxmlformats.org/drawingml/2006/main">
            <a:pathLst>
              <a:path w="251460" h="9525">
                <a:moveTo>
                  <a:pt x="0" y="0"/>
                </a:moveTo>
                <a:lnTo>
                  <a:pt x="2514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1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DC4397C2-DFBF-45D8-952D-076A5913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" y="1994535"/>
            <a:ext cx="251460" cy="9525"/>
          </a:xfrm>
          <a:custGeom xmlns:a="http://schemas.openxmlformats.org/drawingml/2006/main">
            <a:pathLst>
              <a:path w="251460" h="9525">
                <a:moveTo>
                  <a:pt x="0" y="0"/>
                </a:moveTo>
                <a:lnTo>
                  <a:pt x="2514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2" name="Approved property">
            <a:extLst xmlns:a="http://schemas.openxmlformats.org/drawingml/2006/main">
              <a:ext uri="{FF2B5EF4-FFF2-40B4-BE49-F238E27FC236}">
                <a16:creationId xmlns:a16="http://schemas.microsoft.com/office/drawing/2014/main" id="{D2B7C58E-FC2C-4695-957A-2AFC1FD4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515237"/>
            <a:ext cx="1771650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Approved property</a:t>
            </a:r>
          </a:p>
        </p:txBody>
      </p:sp>
      <p:sp>
        <p:nvSpPr>
          <p:cNvPr id="13" name="Test-derived or explicit">
            <a:extLst xmlns:a="http://schemas.openxmlformats.org/drawingml/2006/main">
              <a:ext uri="{FF2B5EF4-FFF2-40B4-BE49-F238E27FC236}">
                <a16:creationId xmlns:a16="http://schemas.microsoft.com/office/drawing/2014/main" id="{978009E2-14EC-4655-8B1A-770E3A1B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993011"/>
            <a:ext cx="1771650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Test-derived or explicit</a:t>
            </a:r>
          </a:p>
        </p:txBody>
      </p:sp>
      <p:sp>
        <p:nvSpPr>
          <p:cNvPr id="14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E443062C-81E4-4B37-8108-02231CC0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852613"/>
            <a:ext cx="1333500" cy="1471613"/>
          </a:xfrm>
          <a:custGeom xmlns:a="http://schemas.openxmlformats.org/drawingml/2006/main">
            <a:pathLst>
              <a:path w="1333500" h="1471613">
                <a:moveTo>
                  <a:pt x="0" y="0"/>
                </a:moveTo>
                <a:lnTo>
                  <a:pt x="257175" y="0"/>
                </a:lnTo>
                <a:lnTo>
                  <a:pt x="257175" y="1471613"/>
                </a:lnTo>
                <a:lnTo>
                  <a:pt x="1333500" y="147161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5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D381ECF8-BF9C-46A0-B162-2E8D2CCA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2766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6" name="Verification input">
            <a:extLst xmlns:a="http://schemas.openxmlformats.org/drawingml/2006/main">
              <a:ext uri="{FF2B5EF4-FFF2-40B4-BE49-F238E27FC236}">
                <a16:creationId xmlns:a16="http://schemas.microsoft.com/office/drawing/2014/main" id="{5D33DDD6-2061-462E-BA2E-77C51FCD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52725"/>
            <a:ext cx="280987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7" name="Stage 2">
            <a:extLst xmlns:a="http://schemas.openxmlformats.org/drawingml/2006/main">
              <a:ext uri="{FF2B5EF4-FFF2-40B4-BE49-F238E27FC236}">
                <a16:creationId xmlns:a16="http://schemas.microsoft.com/office/drawing/2014/main" id="{B0A92562-08C6-479D-8B7D-ACB8B7E9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609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8" name="2">
            <a:extLst xmlns:a="http://schemas.openxmlformats.org/drawingml/2006/main">
              <a:ext uri="{FF2B5EF4-FFF2-40B4-BE49-F238E27FC236}">
                <a16:creationId xmlns:a16="http://schemas.microsoft.com/office/drawing/2014/main" id="{2E436A6C-ED03-49BB-B1F4-27AE0D71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654370"/>
            <a:ext cx="361950" cy="27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2</a:t>
            </a:r>
          </a:p>
        </p:txBody>
      </p:sp>
      <p:sp>
        <p:nvSpPr>
          <p:cNvPr id="19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47DC3D4B-BABD-45EF-AE29-F22107F2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457200" cy="571500"/>
          </a:xfrm>
          <a:custGeom xmlns:a="http://schemas.openxmlformats.org/drawingml/2006/main">
            <a:pathLst>
              <a:path w="457200" h="571500">
                <a:moveTo>
                  <a:pt x="0" y="0"/>
                </a:moveTo>
                <a:lnTo>
                  <a:pt x="342900" y="0"/>
                </a:lnTo>
                <a:lnTo>
                  <a:pt x="457200" y="114300"/>
                </a:lnTo>
                <a:lnTo>
                  <a:pt x="457200" y="571500"/>
                </a:lnTo>
                <a:lnTo>
                  <a:pt x="0" y="5715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0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A0CBD7DE-8A60-40D5-AECF-7BC7B44C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861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0" y="0"/>
                </a:moveTo>
                <a:lnTo>
                  <a:pt x="0" y="114300"/>
                </a:lnTo>
                <a:lnTo>
                  <a:pt x="11430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1" name="&lt;/&gt;">
            <a:extLst xmlns:a="http://schemas.openxmlformats.org/drawingml/2006/main">
              <a:ext uri="{FF2B5EF4-FFF2-40B4-BE49-F238E27FC236}">
                <a16:creationId xmlns:a16="http://schemas.microsoft.com/office/drawing/2014/main" id="{676681A1-D725-4042-AD4E-1E1EBBB4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57824"/>
            <a:ext cx="400050" cy="228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48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548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548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548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548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548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548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548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548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548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548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48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&lt;/&gt;</a:t>
            </a:r>
          </a:p>
        </p:txBody>
      </p:sp>
      <p:sp>
        <p:nvSpPr>
          <p:cNvPr id="22" name="Exact code + model">
            <a:extLst xmlns:a="http://schemas.openxmlformats.org/drawingml/2006/main">
              <a:ext uri="{FF2B5EF4-FFF2-40B4-BE49-F238E27FC236}">
                <a16:creationId xmlns:a16="http://schemas.microsoft.com/office/drawing/2014/main" id="{2635E60C-1AD2-4B09-9916-E1294384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001137"/>
            <a:ext cx="1771650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Exact code + model</a:t>
            </a:r>
          </a:p>
        </p:txBody>
      </p:sp>
      <p:sp>
        <p:nvSpPr>
          <p:cNvPr id="23" name="Domain + execution">
            <a:extLst xmlns:a="http://schemas.openxmlformats.org/drawingml/2006/main">
              <a:ext uri="{FF2B5EF4-FFF2-40B4-BE49-F238E27FC236}">
                <a16:creationId xmlns:a16="http://schemas.microsoft.com/office/drawing/2014/main" id="{CBDE84CC-7C34-4A89-874E-5E06DD70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357372"/>
            <a:ext cx="1771650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Domain + execution</a:t>
            </a:r>
          </a:p>
        </p:txBody>
      </p:sp>
      <p:sp>
        <p:nvSpPr>
          <p:cNvPr id="24" name="semantics">
            <a:extLst xmlns:a="http://schemas.openxmlformats.org/drawingml/2006/main">
              <a:ext uri="{FF2B5EF4-FFF2-40B4-BE49-F238E27FC236}">
                <a16:creationId xmlns:a16="http://schemas.microsoft.com/office/drawing/2014/main" id="{5AC529A2-A542-4C80-9962-97093035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600450"/>
            <a:ext cx="1771650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semantics</a:t>
            </a:r>
          </a:p>
        </p:txBody>
      </p:sp>
      <p:sp>
        <p:nvSpPr>
          <p:cNvPr id="25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3C212327-3AA1-45D5-B314-FFF4F2EE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24225"/>
            <a:ext cx="1333500" cy="14288"/>
          </a:xfrm>
          <a:custGeom xmlns:a="http://schemas.openxmlformats.org/drawingml/2006/main">
            <a:pathLst>
              <a:path w="1333500" h="14288">
                <a:moveTo>
                  <a:pt x="0" y="14288"/>
                </a:moveTo>
                <a:lnTo>
                  <a:pt x="257175" y="14288"/>
                </a:lnTo>
                <a:lnTo>
                  <a:pt x="257175" y="0"/>
                </a:ln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6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DCE1ECF9-5F96-451E-81B9-D035762D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2766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7" name="Verification input">
            <a:extLst xmlns:a="http://schemas.openxmlformats.org/drawingml/2006/main">
              <a:ext uri="{FF2B5EF4-FFF2-40B4-BE49-F238E27FC236}">
                <a16:creationId xmlns:a16="http://schemas.microsoft.com/office/drawing/2014/main" id="{F742D2A3-4762-4FAD-BC02-251DD69B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57675"/>
            <a:ext cx="280987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28" name="Stage 3">
            <a:extLst xmlns:a="http://schemas.openxmlformats.org/drawingml/2006/main">
              <a:ext uri="{FF2B5EF4-FFF2-40B4-BE49-F238E27FC236}">
                <a16:creationId xmlns:a16="http://schemas.microsoft.com/office/drawing/2014/main" id="{51646BCA-6630-491D-AF5F-0ED87BCB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114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29" name="3">
            <a:extLst xmlns:a="http://schemas.openxmlformats.org/drawingml/2006/main">
              <a:ext uri="{FF2B5EF4-FFF2-40B4-BE49-F238E27FC236}">
                <a16:creationId xmlns:a16="http://schemas.microsoft.com/office/drawing/2014/main" id="{0498EE09-8E1B-45C0-88B0-3AEA61ED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159320"/>
            <a:ext cx="361950" cy="27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3</a:t>
            </a:r>
          </a:p>
        </p:txBody>
      </p:sp>
      <p:sp>
        <p:nvSpPr>
          <p:cNvPr id="30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089AE054-4274-495F-B62C-2D00ED60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705350"/>
            <a:ext cx="176213" cy="276225"/>
          </a:xfrm>
          <a:custGeom xmlns:a="http://schemas.openxmlformats.org/drawingml/2006/main">
            <a:pathLst>
              <a:path w="176213" h="276225">
                <a:moveTo>
                  <a:pt x="176213" y="0"/>
                </a:moveTo>
                <a:lnTo>
                  <a:pt x="176213" y="75057"/>
                </a:lnTo>
                <a:lnTo>
                  <a:pt x="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1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A5613300-3E60-4477-BF00-46AF0EFB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8" y="4780407"/>
            <a:ext cx="176213" cy="201168"/>
          </a:xfrm>
          <a:custGeom xmlns:a="http://schemas.openxmlformats.org/drawingml/2006/main">
            <a:pathLst>
              <a:path w="176213" h="201168">
                <a:moveTo>
                  <a:pt x="0" y="0"/>
                </a:moveTo>
                <a:lnTo>
                  <a:pt x="176213" y="20116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2" name="Proof tree node">
            <a:extLst xmlns:a="http://schemas.openxmlformats.org/drawingml/2006/main">
              <a:ext uri="{FF2B5EF4-FFF2-40B4-BE49-F238E27FC236}">
                <a16:creationId xmlns:a16="http://schemas.microsoft.com/office/drawing/2014/main" id="{02E947FB-C728-42BB-8CDC-84C30AFB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3" y="4572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3" name="Proof tree node">
            <a:extLst xmlns:a="http://schemas.openxmlformats.org/drawingml/2006/main">
              <a:ext uri="{FF2B5EF4-FFF2-40B4-BE49-F238E27FC236}">
                <a16:creationId xmlns:a16="http://schemas.microsoft.com/office/drawing/2014/main" id="{1AC008F1-6C1E-40D6-AA8A-A80D1F3A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4" name="Proof tree node">
            <a:extLst xmlns:a="http://schemas.openxmlformats.org/drawingml/2006/main">
              <a:ext uri="{FF2B5EF4-FFF2-40B4-BE49-F238E27FC236}">
                <a16:creationId xmlns:a16="http://schemas.microsoft.com/office/drawing/2014/main" id="{979412D6-1435-4DD0-A797-81600BA9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14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5" name="Candidate proof">
            <a:extLst xmlns:a="http://schemas.openxmlformats.org/drawingml/2006/main">
              <a:ext uri="{FF2B5EF4-FFF2-40B4-BE49-F238E27FC236}">
                <a16:creationId xmlns:a16="http://schemas.microsoft.com/office/drawing/2014/main" id="{0BE34A3B-F61D-416C-8DA5-456FE578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506087"/>
            <a:ext cx="1771650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Candidate proof</a:t>
            </a:r>
          </a:p>
        </p:txBody>
      </p:sp>
      <p:sp>
        <p:nvSpPr>
          <p:cNvPr id="36" name="Invariants, contracts,">
            <a:extLst xmlns:a="http://schemas.openxmlformats.org/drawingml/2006/main">
              <a:ext uri="{FF2B5EF4-FFF2-40B4-BE49-F238E27FC236}">
                <a16:creationId xmlns:a16="http://schemas.microsoft.com/office/drawing/2014/main" id="{1670C52B-483A-4463-8329-4A070509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862322"/>
            <a:ext cx="1771650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Invariants, contracts,</a:t>
            </a:r>
          </a:p>
        </p:txBody>
      </p:sp>
      <p:sp>
        <p:nvSpPr>
          <p:cNvPr id="37" name="lemmas, etc.">
            <a:extLst xmlns:a="http://schemas.openxmlformats.org/drawingml/2006/main">
              <a:ext uri="{FF2B5EF4-FFF2-40B4-BE49-F238E27FC236}">
                <a16:creationId xmlns:a16="http://schemas.microsoft.com/office/drawing/2014/main" id="{1BA9B543-C0C7-4479-B9A7-759EA398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105400"/>
            <a:ext cx="1771650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lemmas, etc.</a:t>
            </a:r>
          </a:p>
        </p:txBody>
      </p:sp>
      <p:sp>
        <p:nvSpPr>
          <p:cNvPr id="38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302E5C16-3C84-4777-8BCD-7122A7E2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24225"/>
            <a:ext cx="1333500" cy="1519238"/>
          </a:xfrm>
          <a:custGeom xmlns:a="http://schemas.openxmlformats.org/drawingml/2006/main">
            <a:pathLst>
              <a:path w="1333500" h="1519238">
                <a:moveTo>
                  <a:pt x="0" y="1519238"/>
                </a:moveTo>
                <a:lnTo>
                  <a:pt x="257175" y="1519238"/>
                </a:lnTo>
                <a:lnTo>
                  <a:pt x="257175" y="0"/>
                </a:ln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9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9A0065FA-A13E-4617-9BBB-AB5A5D7B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2766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40" name="Check">
            <a:extLst xmlns:a="http://schemas.openxmlformats.org/drawingml/2006/main">
              <a:ext uri="{FF2B5EF4-FFF2-40B4-BE49-F238E27FC236}">
                <a16:creationId xmlns:a16="http://schemas.microsoft.com/office/drawing/2014/main" id="{ED132302-BF24-46AB-85CE-CC148D6A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83371"/>
            <a:ext cx="914400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Check</a:t>
            </a:r>
          </a:p>
        </p:txBody>
      </p:sp>
      <p:sp>
        <p:nvSpPr>
          <p:cNvPr id="41" name="for">
            <a:extLst xmlns:a="http://schemas.openxmlformats.org/drawingml/2006/main">
              <a:ext uri="{FF2B5EF4-FFF2-40B4-BE49-F238E27FC236}">
                <a16:creationId xmlns:a16="http://schemas.microsoft.com/office/drawing/2014/main" id="{1D3C94D6-4B25-4508-9505-A764AE33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26449"/>
            <a:ext cx="914400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for</a:t>
            </a:r>
          </a:p>
        </p:txBody>
      </p:sp>
      <p:sp>
        <p:nvSpPr>
          <p:cNvPr id="42" name="correctness">
            <a:extLst xmlns:a="http://schemas.openxmlformats.org/drawingml/2006/main">
              <a:ext uri="{FF2B5EF4-FFF2-40B4-BE49-F238E27FC236}">
                <a16:creationId xmlns:a16="http://schemas.microsoft.com/office/drawing/2014/main" id="{81DE8C3D-AD15-4DB3-8FBB-2D68832F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69527"/>
            <a:ext cx="914400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correctness</a:t>
            </a:r>
          </a:p>
        </p:txBody>
      </p:sp>
      <p:sp>
        <p:nvSpPr>
          <p:cNvPr id="43" name="Independent checker">
            <a:extLst xmlns:a="http://schemas.openxmlformats.org/drawingml/2006/main">
              <a:ext uri="{FF2B5EF4-FFF2-40B4-BE49-F238E27FC236}">
                <a16:creationId xmlns:a16="http://schemas.microsoft.com/office/drawing/2014/main" id="{3CB542D9-E659-4CED-8824-B595EF3F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66950"/>
            <a:ext cx="1428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44" name="Stage 4">
            <a:extLst xmlns:a="http://schemas.openxmlformats.org/drawingml/2006/main">
              <a:ext uri="{FF2B5EF4-FFF2-40B4-BE49-F238E27FC236}">
                <a16:creationId xmlns:a16="http://schemas.microsoft.com/office/drawing/2014/main" id="{8144F3D3-F45C-4F4B-B6BD-475832EE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24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45" name="4">
            <a:extLst xmlns:a="http://schemas.openxmlformats.org/drawingml/2006/main">
              <a:ext uri="{FF2B5EF4-FFF2-40B4-BE49-F238E27FC236}">
                <a16:creationId xmlns:a16="http://schemas.microsoft.com/office/drawing/2014/main" id="{C349FE7B-3E07-4E20-A510-AA24DED5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68595"/>
            <a:ext cx="361950" cy="27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4</a:t>
            </a:r>
          </a:p>
        </p:txBody>
      </p:sp>
      <p:sp>
        <p:nvSpPr>
          <p:cNvPr id="46" name="CHECK">
            <a:extLst xmlns:a="http://schemas.openxmlformats.org/drawingml/2006/main">
              <a:ext uri="{FF2B5EF4-FFF2-40B4-BE49-F238E27FC236}">
                <a16:creationId xmlns:a16="http://schemas.microsoft.com/office/drawing/2014/main" id="{1078DD9A-3137-4F7A-9814-16EC0AB9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941"/>
            <a:ext cx="1104900" cy="34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3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CHECK</a:t>
            </a:r>
          </a:p>
        </p:txBody>
      </p:sp>
      <p:sp>
        <p:nvSpPr>
          <p:cNvPr id="47" name="Independent">
            <a:extLst xmlns:a="http://schemas.openxmlformats.org/drawingml/2006/main">
              <a:ext uri="{FF2B5EF4-FFF2-40B4-BE49-F238E27FC236}">
                <a16:creationId xmlns:a16="http://schemas.microsoft.com/office/drawing/2014/main" id="{F9593F56-DAF1-448E-B249-83599C9F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16402"/>
            <a:ext cx="1276350" cy="29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Independent</a:t>
            </a:r>
          </a:p>
        </p:txBody>
      </p:sp>
      <p:sp>
        <p:nvSpPr>
          <p:cNvPr id="48" name="checker">
            <a:extLst xmlns:a="http://schemas.openxmlformats.org/drawingml/2006/main">
              <a:ext uri="{FF2B5EF4-FFF2-40B4-BE49-F238E27FC236}">
                <a16:creationId xmlns:a16="http://schemas.microsoft.com/office/drawing/2014/main" id="{CD65EE75-B8BB-4B18-881F-F4559AC6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14725"/>
            <a:ext cx="1276350" cy="29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checker</a:t>
            </a:r>
          </a:p>
        </p:txBody>
      </p:sp>
      <p:sp>
        <p:nvSpPr>
          <p:cNvPr id="49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F51C568D-28D3-4233-A6B9-188AE91A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81350"/>
            <a:ext cx="866775" cy="9525"/>
          </a:xfrm>
          <a:custGeom xmlns:a="http://schemas.openxmlformats.org/drawingml/2006/main">
            <a:pathLst>
              <a:path w="866775" h="9525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0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1C702A3D-7551-4E7C-9488-C0D731B5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337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51" name="Proof">
            <a:extLst xmlns:a="http://schemas.openxmlformats.org/drawingml/2006/main">
              <a:ext uri="{FF2B5EF4-FFF2-40B4-BE49-F238E27FC236}">
                <a16:creationId xmlns:a16="http://schemas.microsoft.com/office/drawing/2014/main" id="{36D4E8DE-BC09-4EA4-A376-16E113FA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508314"/>
            <a:ext cx="723900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Proof</a:t>
            </a:r>
          </a:p>
        </p:txBody>
      </p:sp>
      <p:sp>
        <p:nvSpPr>
          <p:cNvPr id="52" name="valid">
            <a:extLst xmlns:a="http://schemas.openxmlformats.org/drawingml/2006/main">
              <a:ext uri="{FF2B5EF4-FFF2-40B4-BE49-F238E27FC236}">
                <a16:creationId xmlns:a16="http://schemas.microsoft.com/office/drawing/2014/main" id="{EBC70CE6-B954-49C0-9B51-80E54379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795588"/>
            <a:ext cx="723900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valid</a:t>
            </a:r>
          </a:p>
        </p:txBody>
      </p:sp>
      <p:sp>
        <p:nvSpPr>
          <p:cNvPr id="53" name="Theorem checked">
            <a:extLst xmlns:a="http://schemas.openxmlformats.org/drawingml/2006/main">
              <a:ext uri="{FF2B5EF4-FFF2-40B4-BE49-F238E27FC236}">
                <a16:creationId xmlns:a16="http://schemas.microsoft.com/office/drawing/2014/main" id="{1EA8582E-7CDE-4E1E-9A9C-D0BF6E6D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66950"/>
            <a:ext cx="14573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54" name="Stage 5">
            <a:extLst xmlns:a="http://schemas.openxmlformats.org/drawingml/2006/main">
              <a:ext uri="{FF2B5EF4-FFF2-40B4-BE49-F238E27FC236}">
                <a16:creationId xmlns:a16="http://schemas.microsoft.com/office/drawing/2014/main" id="{0EEF3C08-E86F-4C35-AE16-F764178D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124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55" name="5">
            <a:extLst xmlns:a="http://schemas.openxmlformats.org/drawingml/2006/main">
              <a:ext uri="{FF2B5EF4-FFF2-40B4-BE49-F238E27FC236}">
                <a16:creationId xmlns:a16="http://schemas.microsoft.com/office/drawing/2014/main" id="{0F6D66FD-CAC7-4E7C-B56E-24E1336F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168595"/>
            <a:ext cx="361950" cy="27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5</a:t>
            </a:r>
          </a:p>
        </p:txBody>
      </p:sp>
      <p:sp>
        <p:nvSpPr>
          <p:cNvPr id="56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43011F2C-BF8F-4C62-94E7-670EFD01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62225"/>
            <a:ext cx="533400" cy="657225"/>
          </a:xfrm>
          <a:custGeom xmlns:a="http://schemas.openxmlformats.org/drawingml/2006/main">
            <a:pathLst>
              <a:path w="533400" h="657225">
                <a:moveTo>
                  <a:pt x="0" y="0"/>
                </a:moveTo>
                <a:lnTo>
                  <a:pt x="400050" y="0"/>
                </a:lnTo>
                <a:lnTo>
                  <a:pt x="533400" y="133350"/>
                </a:lnTo>
                <a:lnTo>
                  <a:pt x="533400" y="657225"/>
                </a:lnTo>
                <a:lnTo>
                  <a:pt x="0" y="6572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57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97BDFE4C-446A-4CD7-B983-51A39C10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62225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0"/>
                </a:moveTo>
                <a:lnTo>
                  <a:pt x="0" y="133350"/>
                </a:lnTo>
                <a:lnTo>
                  <a:pt x="13335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58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11418957-7C87-4F9B-976E-97F1BFCF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3780" y="2792254"/>
            <a:ext cx="293370" cy="9525"/>
          </a:xfrm>
          <a:custGeom xmlns:a="http://schemas.openxmlformats.org/drawingml/2006/main">
            <a:pathLst>
              <a:path w="293370" h="9525">
                <a:moveTo>
                  <a:pt x="0" y="0"/>
                </a:moveTo>
                <a:lnTo>
                  <a:pt x="2933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59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FEF6129E-AA75-4CAA-9F98-3D545308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3780" y="2903982"/>
            <a:ext cx="293370" cy="9525"/>
          </a:xfrm>
          <a:custGeom xmlns:a="http://schemas.openxmlformats.org/drawingml/2006/main">
            <a:pathLst>
              <a:path w="293370" h="9525">
                <a:moveTo>
                  <a:pt x="0" y="0"/>
                </a:moveTo>
                <a:lnTo>
                  <a:pt x="2933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0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D7B3ADA5-DC01-4888-A38C-F6FA6C5A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3780" y="3015710"/>
            <a:ext cx="293370" cy="9525"/>
          </a:xfrm>
          <a:custGeom xmlns:a="http://schemas.openxmlformats.org/drawingml/2006/main">
            <a:pathLst>
              <a:path w="293370" h="9525">
                <a:moveTo>
                  <a:pt x="0" y="0"/>
                </a:moveTo>
                <a:lnTo>
                  <a:pt x="2933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1" name="Theorem">
            <a:extLst xmlns:a="http://schemas.openxmlformats.org/drawingml/2006/main">
              <a:ext uri="{FF2B5EF4-FFF2-40B4-BE49-F238E27FC236}">
                <a16:creationId xmlns:a16="http://schemas.microsoft.com/office/drawing/2014/main" id="{F0CE3190-08C3-46D6-964C-45495045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21355"/>
            <a:ext cx="1266825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Theorem</a:t>
            </a:r>
          </a:p>
        </p:txBody>
      </p:sp>
      <p:sp>
        <p:nvSpPr>
          <p:cNvPr id="62" name="checked">
            <a:extLst xmlns:a="http://schemas.openxmlformats.org/drawingml/2006/main">
              <a:ext uri="{FF2B5EF4-FFF2-40B4-BE49-F238E27FC236}">
                <a16:creationId xmlns:a16="http://schemas.microsoft.com/office/drawing/2014/main" id="{62181D38-313E-4F6F-AE1D-ED2A3E86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52825"/>
            <a:ext cx="1266825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checked</a:t>
            </a:r>
          </a:p>
        </p:txBody>
      </p:sp>
      <p:sp>
        <p:nvSpPr>
          <p:cNvPr id="63" name="Proof is valid under">
            <a:extLst xmlns:a="http://schemas.openxmlformats.org/drawingml/2006/main">
              <a:ext uri="{FF2B5EF4-FFF2-40B4-BE49-F238E27FC236}">
                <a16:creationId xmlns:a16="http://schemas.microsoft.com/office/drawing/2014/main" id="{3C5F3A3E-20AE-4BC8-B555-7D54A2D1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42766"/>
            <a:ext cx="1285875" cy="209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Proof is valid under</a:t>
            </a:r>
          </a:p>
        </p:txBody>
      </p:sp>
      <p:sp>
        <p:nvSpPr>
          <p:cNvPr id="64" name="the given property,">
            <a:extLst xmlns:a="http://schemas.openxmlformats.org/drawingml/2006/main">
              <a:ext uri="{FF2B5EF4-FFF2-40B4-BE49-F238E27FC236}">
                <a16:creationId xmlns:a16="http://schemas.microsoft.com/office/drawing/2014/main" id="{72471226-929B-4F04-8AAA-E4F73CAC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52697"/>
            <a:ext cx="1285875" cy="209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the given property,</a:t>
            </a:r>
          </a:p>
        </p:txBody>
      </p:sp>
      <p:sp>
        <p:nvSpPr>
          <p:cNvPr id="65" name="code and model.">
            <a:extLst xmlns:a="http://schemas.openxmlformats.org/drawingml/2006/main">
              <a:ext uri="{FF2B5EF4-FFF2-40B4-BE49-F238E27FC236}">
                <a16:creationId xmlns:a16="http://schemas.microsoft.com/office/drawing/2014/main" id="{1639A4BC-7A4E-48D9-B019-32C42FB4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62628"/>
            <a:ext cx="1285875" cy="209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code and model.</a:t>
            </a:r>
          </a:p>
        </p:txBody>
      </p:sp>
      <p:sp>
        <p:nvSpPr>
          <p:cNvPr id="66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6633EEFB-EFF2-4528-AEA0-897D4DA1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181350"/>
            <a:ext cx="1238250" cy="9525"/>
          </a:xfrm>
          <a:custGeom xmlns:a="http://schemas.openxmlformats.org/drawingml/2006/main"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7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73902989-5A92-4372-B68A-DAE6E575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1337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68" name="A checked">
            <a:extLst xmlns:a="http://schemas.openxmlformats.org/drawingml/2006/main">
              <a:ext uri="{FF2B5EF4-FFF2-40B4-BE49-F238E27FC236}">
                <a16:creationId xmlns:a16="http://schemas.microsoft.com/office/drawing/2014/main" id="{946E7AC9-9EE0-4845-A70B-0FA6F531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55317"/>
            <a:ext cx="1057275" cy="232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A checked</a:t>
            </a:r>
          </a:p>
        </p:txBody>
      </p:sp>
      <p:sp>
        <p:nvSpPr>
          <p:cNvPr id="69" name="theorem still">
            <a:extLst xmlns:a="http://schemas.openxmlformats.org/drawingml/2006/main">
              <a:ext uri="{FF2B5EF4-FFF2-40B4-BE49-F238E27FC236}">
                <a16:creationId xmlns:a16="http://schemas.microsoft.com/office/drawing/2014/main" id="{0E8A575D-2793-4DEF-A5EE-6E2BEB41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7346"/>
            <a:ext cx="1057275" cy="232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theorem still</a:t>
            </a:r>
          </a:p>
        </p:txBody>
      </p:sp>
      <p:sp>
        <p:nvSpPr>
          <p:cNvPr id="70" name="needs">
            <a:extLst xmlns:a="http://schemas.openxmlformats.org/drawingml/2006/main">
              <a:ext uri="{FF2B5EF4-FFF2-40B4-BE49-F238E27FC236}">
                <a16:creationId xmlns:a16="http://schemas.microsoft.com/office/drawing/2014/main" id="{8C1CB241-7282-43F7-BFA0-3F1FE120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19375"/>
            <a:ext cx="1057275" cy="232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needs</a:t>
            </a:r>
          </a:p>
        </p:txBody>
      </p:sp>
      <p:sp>
        <p:nvSpPr>
          <p:cNvPr id="71" name="assessment">
            <a:extLst xmlns:a="http://schemas.openxmlformats.org/drawingml/2006/main">
              <a:ext uri="{FF2B5EF4-FFF2-40B4-BE49-F238E27FC236}">
                <a16:creationId xmlns:a16="http://schemas.microsoft.com/office/drawing/2014/main" id="{B36EBED7-A5DC-4D67-92F7-1B05CC03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1404"/>
            <a:ext cx="1057275" cy="232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assessment</a:t>
            </a:r>
          </a:p>
        </p:txBody>
      </p:sp>
      <p:sp>
        <p:nvSpPr>
          <p:cNvPr id="72" name="Intended requirement assessment">
            <a:extLst xmlns:a="http://schemas.openxmlformats.org/drawingml/2006/main">
              <a:ext uri="{FF2B5EF4-FFF2-40B4-BE49-F238E27FC236}">
                <a16:creationId xmlns:a16="http://schemas.microsoft.com/office/drawing/2014/main" id="{38863102-96A2-4778-B381-D60CB8AB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343025"/>
            <a:ext cx="33623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73" name="Stage 6">
            <a:extLst xmlns:a="http://schemas.openxmlformats.org/drawingml/2006/main">
              <a:ext uri="{FF2B5EF4-FFF2-40B4-BE49-F238E27FC236}">
                <a16:creationId xmlns:a16="http://schemas.microsoft.com/office/drawing/2014/main" id="{051C5BAB-AFD2-479F-A7A7-466309C7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20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74" name="6">
            <a:extLst xmlns:a="http://schemas.openxmlformats.org/drawingml/2006/main">
              <a:ext uri="{FF2B5EF4-FFF2-40B4-BE49-F238E27FC236}">
                <a16:creationId xmlns:a16="http://schemas.microsoft.com/office/drawing/2014/main" id="{AC697580-4799-4CC8-B9A0-A051384E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244670"/>
            <a:ext cx="361950" cy="27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6</a:t>
            </a:r>
          </a:p>
        </p:txBody>
      </p:sp>
      <p:sp>
        <p:nvSpPr>
          <p:cNvPr id="75" name="Assess intended requirements">
            <a:extLst xmlns:a="http://schemas.openxmlformats.org/drawingml/2006/main">
              <a:ext uri="{FF2B5EF4-FFF2-40B4-BE49-F238E27FC236}">
                <a16:creationId xmlns:a16="http://schemas.microsoft.com/office/drawing/2014/main" id="{E3780ACE-FEBD-4A2A-8080-FC559483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433513"/>
            <a:ext cx="2876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Assess intended requirements</a:t>
            </a:r>
          </a:p>
        </p:txBody>
      </p:sp>
      <p:sp>
        <p:nvSpPr>
          <p:cNvPr id="76" name="Evidence assessment criterion">
            <a:extLst xmlns:a="http://schemas.openxmlformats.org/drawingml/2006/main">
              <a:ext uri="{FF2B5EF4-FFF2-40B4-BE49-F238E27FC236}">
                <a16:creationId xmlns:a16="http://schemas.microsoft.com/office/drawing/2014/main" id="{CB49AC58-55CD-45B0-8EE1-6B4DBB19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819275"/>
            <a:ext cx="30765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77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A5B4F0B3-F7F3-47DE-85D6-D2256C11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009775"/>
            <a:ext cx="342900" cy="457200"/>
          </a:xfrm>
          <a:custGeom xmlns:a="http://schemas.openxmlformats.org/drawingml/2006/main">
            <a:pathLst>
              <a:path w="342900" h="457200">
                <a:moveTo>
                  <a:pt x="0" y="0"/>
                </a:moveTo>
                <a:lnTo>
                  <a:pt x="257175" y="0"/>
                </a:lnTo>
                <a:lnTo>
                  <a:pt x="342900" y="85725"/>
                </a:lnTo>
                <a:lnTo>
                  <a:pt x="342900" y="457200"/>
                </a:lnTo>
                <a:lnTo>
                  <a:pt x="0" y="457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78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7A8B45C2-FC98-494E-882E-9FCAFCCD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09775"/>
            <a:ext cx="85725" cy="85725"/>
          </a:xfrm>
          <a:custGeom xmlns:a="http://schemas.openxmlformats.org/drawingml/2006/main">
            <a:pathLst>
              <a:path w="85725" h="85725">
                <a:moveTo>
                  <a:pt x="0" y="0"/>
                </a:moveTo>
                <a:lnTo>
                  <a:pt x="0" y="85725"/>
                </a:lnTo>
                <a:lnTo>
                  <a:pt x="85725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79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753C7C7C-D346-4A64-9F23-DAF8CDDC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2169795"/>
            <a:ext cx="188595" cy="9525"/>
          </a:xfrm>
          <a:custGeom xmlns:a="http://schemas.openxmlformats.org/drawingml/2006/main">
            <a:pathLst>
              <a:path w="188595" h="952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80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C593F04D-89AF-4C60-A5AD-051E26E1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2247519"/>
            <a:ext cx="188595" cy="9525"/>
          </a:xfrm>
          <a:custGeom xmlns:a="http://schemas.openxmlformats.org/drawingml/2006/main">
            <a:pathLst>
              <a:path w="188595" h="952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81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7CCD4D4B-97ED-4937-B6B7-E0036842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2325243"/>
            <a:ext cx="188595" cy="9525"/>
          </a:xfrm>
          <a:custGeom xmlns:a="http://schemas.openxmlformats.org/drawingml/2006/main">
            <a:pathLst>
              <a:path w="188595" h="952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82" name="Requirement coverage">
            <a:extLst xmlns:a="http://schemas.openxmlformats.org/drawingml/2006/main">
              <a:ext uri="{FF2B5EF4-FFF2-40B4-BE49-F238E27FC236}">
                <a16:creationId xmlns:a16="http://schemas.microsoft.com/office/drawing/2014/main" id="{B30FBFD7-C600-4353-A893-32DB7231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884426"/>
            <a:ext cx="2295525" cy="29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Requirement coverage</a:t>
            </a:r>
          </a:p>
        </p:txBody>
      </p:sp>
      <p:sp>
        <p:nvSpPr>
          <p:cNvPr id="83" name="Does the theorem address">
            <a:extLst xmlns:a="http://schemas.openxmlformats.org/drawingml/2006/main">
              <a:ext uri="{FF2B5EF4-FFF2-40B4-BE49-F238E27FC236}">
                <a16:creationId xmlns:a16="http://schemas.microsoft.com/office/drawing/2014/main" id="{3BB3C445-E551-4852-BE6D-DDEBDA59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171510"/>
            <a:ext cx="2295525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Does the theorem address</a:t>
            </a:r>
          </a:p>
        </p:txBody>
      </p:sp>
      <p:sp>
        <p:nvSpPr>
          <p:cNvPr id="84" name="the intended requirements?">
            <a:extLst xmlns:a="http://schemas.openxmlformats.org/drawingml/2006/main">
              <a:ext uri="{FF2B5EF4-FFF2-40B4-BE49-F238E27FC236}">
                <a16:creationId xmlns:a16="http://schemas.microsoft.com/office/drawing/2014/main" id="{68599F7B-80E1-4979-A8F0-598B3432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414588"/>
            <a:ext cx="2295525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the intended requirements?</a:t>
            </a:r>
          </a:p>
        </p:txBody>
      </p:sp>
      <p:sp>
        <p:nvSpPr>
          <p:cNvPr id="85" name="Evidence assessment criterion">
            <a:extLst xmlns:a="http://schemas.openxmlformats.org/drawingml/2006/main">
              <a:ext uri="{FF2B5EF4-FFF2-40B4-BE49-F238E27FC236}">
                <a16:creationId xmlns:a16="http://schemas.microsoft.com/office/drawing/2014/main" id="{487360A3-2296-4480-94E3-154B9848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90825"/>
            <a:ext cx="30765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86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E583D4EF-5426-4FB2-889C-9B367C4E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981325"/>
            <a:ext cx="342900" cy="457200"/>
          </a:xfrm>
          <a:custGeom xmlns:a="http://schemas.openxmlformats.org/drawingml/2006/main">
            <a:pathLst>
              <a:path w="342900" h="457200">
                <a:moveTo>
                  <a:pt x="0" y="0"/>
                </a:moveTo>
                <a:lnTo>
                  <a:pt x="257175" y="0"/>
                </a:lnTo>
                <a:lnTo>
                  <a:pt x="342900" y="85725"/>
                </a:lnTo>
                <a:lnTo>
                  <a:pt x="342900" y="457200"/>
                </a:lnTo>
                <a:lnTo>
                  <a:pt x="0" y="457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87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877370DA-20E1-48BC-8333-66907352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81325"/>
            <a:ext cx="85725" cy="85725"/>
          </a:xfrm>
          <a:custGeom xmlns:a="http://schemas.openxmlformats.org/drawingml/2006/main">
            <a:pathLst>
              <a:path w="85725" h="85725">
                <a:moveTo>
                  <a:pt x="0" y="0"/>
                </a:moveTo>
                <a:lnTo>
                  <a:pt x="0" y="85725"/>
                </a:lnTo>
                <a:lnTo>
                  <a:pt x="85725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88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79909892-CEE3-400D-92F6-AE493881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3141345"/>
            <a:ext cx="188595" cy="9525"/>
          </a:xfrm>
          <a:custGeom xmlns:a="http://schemas.openxmlformats.org/drawingml/2006/main">
            <a:pathLst>
              <a:path w="188595" h="952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89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E20FB8F8-39F2-469C-93A6-B6C4FF56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3219069"/>
            <a:ext cx="188595" cy="9525"/>
          </a:xfrm>
          <a:custGeom xmlns:a="http://schemas.openxmlformats.org/drawingml/2006/main">
            <a:pathLst>
              <a:path w="188595" h="952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90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9405264B-C210-44FF-B38E-2D5535D5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3296793"/>
            <a:ext cx="188595" cy="9525"/>
          </a:xfrm>
          <a:custGeom xmlns:a="http://schemas.openxmlformats.org/drawingml/2006/main">
            <a:pathLst>
              <a:path w="188595" h="952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91" name="Artifact matching">
            <a:extLst xmlns:a="http://schemas.openxmlformats.org/drawingml/2006/main">
              <a:ext uri="{FF2B5EF4-FFF2-40B4-BE49-F238E27FC236}">
                <a16:creationId xmlns:a16="http://schemas.microsoft.com/office/drawing/2014/main" id="{AFE10E89-A0DC-4A75-98D1-F34472CC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855976"/>
            <a:ext cx="2295525" cy="29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Artifact matching</a:t>
            </a:r>
          </a:p>
        </p:txBody>
      </p:sp>
      <p:sp>
        <p:nvSpPr>
          <p:cNvPr id="92" name="Does the proof match the">
            <a:extLst xmlns:a="http://schemas.openxmlformats.org/drawingml/2006/main">
              <a:ext uri="{FF2B5EF4-FFF2-40B4-BE49-F238E27FC236}">
                <a16:creationId xmlns:a16="http://schemas.microsoft.com/office/drawing/2014/main" id="{6CCE01D1-D2BE-4E30-8820-2419E95F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143060"/>
            <a:ext cx="2295525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Does the proof match the</a:t>
            </a:r>
          </a:p>
        </p:txBody>
      </p:sp>
      <p:sp>
        <p:nvSpPr>
          <p:cNvPr id="93" name="approved code and property?">
            <a:extLst xmlns:a="http://schemas.openxmlformats.org/drawingml/2006/main">
              <a:ext uri="{FF2B5EF4-FFF2-40B4-BE49-F238E27FC236}">
                <a16:creationId xmlns:a16="http://schemas.microsoft.com/office/drawing/2014/main" id="{930EE014-DAD4-4599-AE5A-95C4DD22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386138"/>
            <a:ext cx="2295525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approved code and property?</a:t>
            </a:r>
          </a:p>
        </p:txBody>
      </p:sp>
      <p:sp>
        <p:nvSpPr>
          <p:cNvPr id="94" name="Evidence assessment criterion">
            <a:extLst xmlns:a="http://schemas.openxmlformats.org/drawingml/2006/main">
              <a:ext uri="{FF2B5EF4-FFF2-40B4-BE49-F238E27FC236}">
                <a16:creationId xmlns:a16="http://schemas.microsoft.com/office/drawing/2014/main" id="{9ACBED53-F483-4665-8573-5D263807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81425"/>
            <a:ext cx="30765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95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9B3A149B-15CB-443A-91EB-C13A6F5F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971925"/>
            <a:ext cx="342900" cy="457200"/>
          </a:xfrm>
          <a:custGeom xmlns:a="http://schemas.openxmlformats.org/drawingml/2006/main">
            <a:pathLst>
              <a:path w="342900" h="457200">
                <a:moveTo>
                  <a:pt x="0" y="0"/>
                </a:moveTo>
                <a:lnTo>
                  <a:pt x="257175" y="0"/>
                </a:lnTo>
                <a:lnTo>
                  <a:pt x="342900" y="85725"/>
                </a:lnTo>
                <a:lnTo>
                  <a:pt x="342900" y="457200"/>
                </a:lnTo>
                <a:lnTo>
                  <a:pt x="0" y="457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96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903E8412-7289-463C-B289-74ED5998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971925"/>
            <a:ext cx="85725" cy="85725"/>
          </a:xfrm>
          <a:custGeom xmlns:a="http://schemas.openxmlformats.org/drawingml/2006/main">
            <a:pathLst>
              <a:path w="85725" h="85725">
                <a:moveTo>
                  <a:pt x="0" y="0"/>
                </a:moveTo>
                <a:lnTo>
                  <a:pt x="0" y="85725"/>
                </a:lnTo>
                <a:lnTo>
                  <a:pt x="85725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97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721641A7-236B-46EB-8DFE-C20307B2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4131945"/>
            <a:ext cx="188595" cy="9525"/>
          </a:xfrm>
          <a:custGeom xmlns:a="http://schemas.openxmlformats.org/drawingml/2006/main">
            <a:pathLst>
              <a:path w="188595" h="952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98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5F7E2615-BEB7-4B33-904B-F55C46EB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4209669"/>
            <a:ext cx="188595" cy="9525"/>
          </a:xfrm>
          <a:custGeom xmlns:a="http://schemas.openxmlformats.org/drawingml/2006/main">
            <a:pathLst>
              <a:path w="188595" h="952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99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72E41DFC-501D-4D3C-96DA-CF72627A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4287393"/>
            <a:ext cx="188595" cy="9525"/>
          </a:xfrm>
          <a:custGeom xmlns:a="http://schemas.openxmlformats.org/drawingml/2006/main">
            <a:pathLst>
              <a:path w="188595" h="952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00" name="Explicit assumptions">
            <a:extLst xmlns:a="http://schemas.openxmlformats.org/drawingml/2006/main">
              <a:ext uri="{FF2B5EF4-FFF2-40B4-BE49-F238E27FC236}">
                <a16:creationId xmlns:a16="http://schemas.microsoft.com/office/drawing/2014/main" id="{920B1A0D-79E0-472F-B8E1-A3BDD305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846576"/>
            <a:ext cx="2295525" cy="29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Explicit assumptions</a:t>
            </a:r>
          </a:p>
        </p:txBody>
      </p:sp>
      <p:sp>
        <p:nvSpPr>
          <p:cNvPr id="101" name="Are all assumptions stated">
            <a:extLst xmlns:a="http://schemas.openxmlformats.org/drawingml/2006/main">
              <a:ext uri="{FF2B5EF4-FFF2-40B4-BE49-F238E27FC236}">
                <a16:creationId xmlns:a16="http://schemas.microsoft.com/office/drawing/2014/main" id="{BEE3E3AF-9977-4361-AD99-D68337D4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133660"/>
            <a:ext cx="2295525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Are all assumptions stated</a:t>
            </a:r>
          </a:p>
        </p:txBody>
      </p:sp>
      <p:sp>
        <p:nvSpPr>
          <p:cNvPr id="102" name="and acceptable?">
            <a:extLst xmlns:a="http://schemas.openxmlformats.org/drawingml/2006/main">
              <a:ext uri="{FF2B5EF4-FFF2-40B4-BE49-F238E27FC236}">
                <a16:creationId xmlns:a16="http://schemas.microsoft.com/office/drawing/2014/main" id="{0B02AB7A-4A5E-4632-B668-E1656693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376738"/>
            <a:ext cx="2295525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and acceptable?</a:t>
            </a:r>
          </a:p>
        </p:txBody>
      </p:sp>
      <p:sp>
        <p:nvSpPr>
          <p:cNvPr id="103" name="Evidence assessment criterion">
            <a:extLst xmlns:a="http://schemas.openxmlformats.org/drawingml/2006/main">
              <a:ext uri="{FF2B5EF4-FFF2-40B4-BE49-F238E27FC236}">
                <a16:creationId xmlns:a16="http://schemas.microsoft.com/office/drawing/2014/main" id="{65C9F943-D305-447C-A7EB-7E6205C7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781550"/>
            <a:ext cx="30765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04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F7D75053-3514-4F1B-885C-7654F18F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972050"/>
            <a:ext cx="342900" cy="457200"/>
          </a:xfrm>
          <a:custGeom xmlns:a="http://schemas.openxmlformats.org/drawingml/2006/main">
            <a:pathLst>
              <a:path w="342900" h="457200">
                <a:moveTo>
                  <a:pt x="0" y="0"/>
                </a:moveTo>
                <a:lnTo>
                  <a:pt x="257175" y="0"/>
                </a:lnTo>
                <a:lnTo>
                  <a:pt x="342900" y="85725"/>
                </a:lnTo>
                <a:lnTo>
                  <a:pt x="342900" y="457200"/>
                </a:lnTo>
                <a:lnTo>
                  <a:pt x="0" y="457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05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81809211-2018-4E21-82DA-10097C0F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972050"/>
            <a:ext cx="85725" cy="85725"/>
          </a:xfrm>
          <a:custGeom xmlns:a="http://schemas.openxmlformats.org/drawingml/2006/main">
            <a:pathLst>
              <a:path w="85725" h="85725">
                <a:moveTo>
                  <a:pt x="0" y="0"/>
                </a:moveTo>
                <a:lnTo>
                  <a:pt x="0" y="85725"/>
                </a:lnTo>
                <a:lnTo>
                  <a:pt x="85725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06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870F467C-5E89-4222-89CB-95BEF8F4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5132070"/>
            <a:ext cx="188595" cy="9525"/>
          </a:xfrm>
          <a:custGeom xmlns:a="http://schemas.openxmlformats.org/drawingml/2006/main">
            <a:pathLst>
              <a:path w="188595" h="952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07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3762AFCC-2C51-4C0B-B77D-C6F900DE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5209794"/>
            <a:ext cx="188595" cy="9525"/>
          </a:xfrm>
          <a:custGeom xmlns:a="http://schemas.openxmlformats.org/drawingml/2006/main">
            <a:pathLst>
              <a:path w="188595" h="952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08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018FE2FF-3B47-4839-82C8-3E608667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5287518"/>
            <a:ext cx="188595" cy="9525"/>
          </a:xfrm>
          <a:custGeom xmlns:a="http://schemas.openxmlformats.org/drawingml/2006/main">
            <a:pathLst>
              <a:path w="188595" h="952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09" name="Behavior preservation">
            <a:extLst xmlns:a="http://schemas.openxmlformats.org/drawingml/2006/main">
              <a:ext uri="{FF2B5EF4-FFF2-40B4-BE49-F238E27FC236}">
                <a16:creationId xmlns:a16="http://schemas.microsoft.com/office/drawing/2014/main" id="{764263EF-6EE3-4FA2-A57D-691FBDDC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846701"/>
            <a:ext cx="2295525" cy="29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Behavior preservation</a:t>
            </a:r>
          </a:p>
        </p:txBody>
      </p:sp>
      <p:sp>
        <p:nvSpPr>
          <p:cNvPr id="110" name="Does the change preserve">
            <a:extLst xmlns:a="http://schemas.openxmlformats.org/drawingml/2006/main">
              <a:ext uri="{FF2B5EF4-FFF2-40B4-BE49-F238E27FC236}">
                <a16:creationId xmlns:a16="http://schemas.microsoft.com/office/drawing/2014/main" id="{F2BF6CA5-25C2-43DD-9A0D-9B818C7C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5133785"/>
            <a:ext cx="2295525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Does the change preserve</a:t>
            </a:r>
          </a:p>
        </p:txBody>
      </p:sp>
      <p:sp>
        <p:nvSpPr>
          <p:cNvPr id="111" name="required behavior?">
            <a:extLst xmlns:a="http://schemas.openxmlformats.org/drawingml/2006/main">
              <a:ext uri="{FF2B5EF4-FFF2-40B4-BE49-F238E27FC236}">
                <a16:creationId xmlns:a16="http://schemas.microsoft.com/office/drawing/2014/main" id="{952B5A93-8809-4614-AB34-8FC83790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5376863"/>
            <a:ext cx="2295525" cy="243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required behavior?</a:t>
            </a:r>
          </a:p>
        </p:txBody>
      </p:sp>
      <p:sp>
        <p:nvSpPr>
          <p:cNvPr id="112" name="Validated learning credit">
            <a:extLst xmlns:a="http://schemas.openxmlformats.org/drawingml/2006/main">
              <a:ext uri="{FF2B5EF4-FFF2-40B4-BE49-F238E27FC236}">
                <a16:creationId xmlns:a16="http://schemas.microsoft.com/office/drawing/2014/main" id="{2205CAC3-A1D0-4C7E-9CC6-45C7F2AD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990725"/>
            <a:ext cx="164782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13" name="Stage 8">
            <a:extLst xmlns:a="http://schemas.openxmlformats.org/drawingml/2006/main">
              <a:ext uri="{FF2B5EF4-FFF2-40B4-BE49-F238E27FC236}">
                <a16:creationId xmlns:a16="http://schemas.microsoft.com/office/drawing/2014/main" id="{7BDA646A-092B-4D88-AFBC-E3AF27A4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1847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14" name="8">
            <a:extLst xmlns:a="http://schemas.openxmlformats.org/drawingml/2006/main">
              <a:ext uri="{FF2B5EF4-FFF2-40B4-BE49-F238E27FC236}">
                <a16:creationId xmlns:a16="http://schemas.microsoft.com/office/drawing/2014/main" id="{137F528F-EF25-40F0-9EAA-835DDE03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1892370"/>
            <a:ext cx="361950" cy="27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52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8</a:t>
            </a:r>
          </a:p>
        </p:txBody>
      </p:sp>
      <p:sp>
        <p:nvSpPr>
          <p:cNvPr id="115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35F4767F-0340-4CAF-AAC1-9007BF57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2333625"/>
            <a:ext cx="514350" cy="647700"/>
          </a:xfrm>
          <a:custGeom xmlns:a="http://schemas.openxmlformats.org/drawingml/2006/main">
            <a:pathLst>
              <a:path w="514350" h="647700">
                <a:moveTo>
                  <a:pt x="0" y="0"/>
                </a:moveTo>
                <a:lnTo>
                  <a:pt x="385763" y="0"/>
                </a:lnTo>
                <a:lnTo>
                  <a:pt x="514350" y="128588"/>
                </a:lnTo>
                <a:lnTo>
                  <a:pt x="514350" y="647700"/>
                </a:lnTo>
                <a:lnTo>
                  <a:pt x="0" y="6477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16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F7E48BCA-E3C6-42BC-8796-6EBECC86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9963" y="2333625"/>
            <a:ext cx="128588" cy="128588"/>
          </a:xfrm>
          <a:custGeom xmlns:a="http://schemas.openxmlformats.org/drawingml/2006/main">
            <a:pathLst>
              <a:path w="128588" h="128588">
                <a:moveTo>
                  <a:pt x="0" y="0"/>
                </a:moveTo>
                <a:lnTo>
                  <a:pt x="0" y="128588"/>
                </a:lnTo>
                <a:lnTo>
                  <a:pt x="128588" y="12858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17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CC55DFE0-2AA8-4BCB-B42B-99685356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7070" y="2560320"/>
            <a:ext cx="282893" cy="9525"/>
          </a:xfrm>
          <a:custGeom xmlns:a="http://schemas.openxmlformats.org/drawingml/2006/main">
            <a:pathLst>
              <a:path w="282893" h="9525">
                <a:moveTo>
                  <a:pt x="0" y="0"/>
                </a:moveTo>
                <a:lnTo>
                  <a:pt x="2828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18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91402C9C-2B41-4D46-A48C-7C4BF297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7070" y="2670429"/>
            <a:ext cx="282893" cy="9525"/>
          </a:xfrm>
          <a:custGeom xmlns:a="http://schemas.openxmlformats.org/drawingml/2006/main">
            <a:pathLst>
              <a:path w="282893" h="9525">
                <a:moveTo>
                  <a:pt x="0" y="0"/>
                </a:moveTo>
                <a:lnTo>
                  <a:pt x="2828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19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1A62B6D5-C09D-45C0-BC2C-9E2A1DEB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7070" y="2780538"/>
            <a:ext cx="282893" cy="9525"/>
          </a:xfrm>
          <a:custGeom xmlns:a="http://schemas.openxmlformats.org/drawingml/2006/main">
            <a:pathLst>
              <a:path w="282893" h="9525">
                <a:moveTo>
                  <a:pt x="0" y="0"/>
                </a:moveTo>
                <a:lnTo>
                  <a:pt x="2828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20" name="Validated">
            <a:extLst xmlns:a="http://schemas.openxmlformats.org/drawingml/2006/main">
              <a:ext uri="{FF2B5EF4-FFF2-40B4-BE49-F238E27FC236}">
                <a16:creationId xmlns:a16="http://schemas.microsoft.com/office/drawing/2014/main" id="{46B4EDBE-80D6-4900-95BC-4E8646F2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3081147"/>
            <a:ext cx="1476375" cy="254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Validated</a:t>
            </a:r>
          </a:p>
        </p:txBody>
      </p:sp>
      <p:sp>
        <p:nvSpPr>
          <p:cNvPr id="121" name="learning credit /">
            <a:extLst xmlns:a="http://schemas.openxmlformats.org/drawingml/2006/main">
              <a:ext uri="{FF2B5EF4-FFF2-40B4-BE49-F238E27FC236}">
                <a16:creationId xmlns:a16="http://schemas.microsoft.com/office/drawing/2014/main" id="{1ADF61A6-BC1A-4BCA-9D1A-EC1D8EE5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3335274"/>
            <a:ext cx="1476375" cy="254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learning credit /</a:t>
            </a:r>
          </a:p>
        </p:txBody>
      </p:sp>
      <p:sp>
        <p:nvSpPr>
          <p:cNvPr id="122" name="accepted change">
            <a:extLst xmlns:a="http://schemas.openxmlformats.org/drawingml/2006/main">
              <a:ext uri="{FF2B5EF4-FFF2-40B4-BE49-F238E27FC236}">
                <a16:creationId xmlns:a16="http://schemas.microsoft.com/office/drawing/2014/main" id="{FDC9FD42-C588-4607-9D71-DEB82C5A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3589401"/>
            <a:ext cx="1476375" cy="254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accepted change</a:t>
            </a:r>
          </a:p>
        </p:txBody>
      </p:sp>
      <p:sp>
        <p:nvSpPr>
          <p:cNvPr id="123" name="Use as trusted feedback">
            <a:extLst xmlns:a="http://schemas.openxmlformats.org/drawingml/2006/main">
              <a:ext uri="{FF2B5EF4-FFF2-40B4-BE49-F238E27FC236}">
                <a16:creationId xmlns:a16="http://schemas.microsoft.com/office/drawing/2014/main" id="{C2BB4A25-F06E-4B55-8BB1-0EE7E3CC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918204"/>
            <a:ext cx="1457325" cy="182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8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238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238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238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238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238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238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238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238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238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238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38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Use as trusted feedback</a:t>
            </a:r>
          </a:p>
        </p:txBody>
      </p:sp>
      <p:sp>
        <p:nvSpPr>
          <p:cNvPr id="124" name="for learning and updates.">
            <a:extLst xmlns:a="http://schemas.openxmlformats.org/drawingml/2006/main">
              <a:ext uri="{FF2B5EF4-FFF2-40B4-BE49-F238E27FC236}">
                <a16:creationId xmlns:a16="http://schemas.microsoft.com/office/drawing/2014/main" id="{56C54983-A739-45BC-A2A5-4F0C1475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4100513"/>
            <a:ext cx="1457325" cy="182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8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238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238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238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238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238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238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238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238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238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238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38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for learning and updates.</a:t>
            </a:r>
          </a:p>
        </p:txBody>
      </p:sp>
      <p:sp>
        <p:nvSpPr>
          <p:cNvPr id="125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EF64B200-542C-430F-B7EB-3DE87E64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3019425"/>
            <a:ext cx="1123950" cy="9525"/>
          </a:xfrm>
          <a:custGeom xmlns:a="http://schemas.openxmlformats.org/drawingml/2006/main">
            <a:pathLst>
              <a:path w="1123950" h="9525">
                <a:moveTo>
                  <a:pt x="0" y="0"/>
                </a:moveTo>
                <a:lnTo>
                  <a:pt x="1123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26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169B427D-7C55-4F5A-8127-C6D82C4A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29718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27" name="All checks">
            <a:extLst xmlns:a="http://schemas.openxmlformats.org/drawingml/2006/main">
              <a:ext uri="{FF2B5EF4-FFF2-40B4-BE49-F238E27FC236}">
                <a16:creationId xmlns:a16="http://schemas.microsoft.com/office/drawing/2014/main" id="{25CBE44E-51B9-4236-9E61-7B8B47C4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3525" y="2433638"/>
            <a:ext cx="962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All checks</a:t>
            </a:r>
          </a:p>
        </p:txBody>
      </p:sp>
      <p:sp>
        <p:nvSpPr>
          <p:cNvPr id="128" name="satisfied">
            <a:extLst xmlns:a="http://schemas.openxmlformats.org/drawingml/2006/main">
              <a:ext uri="{FF2B5EF4-FFF2-40B4-BE49-F238E27FC236}">
                <a16:creationId xmlns:a16="http://schemas.microsoft.com/office/drawing/2014/main" id="{C3519B39-1BDC-4923-BCDC-57C142A2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3525" y="2709863"/>
            <a:ext cx="962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satisfied</a:t>
            </a:r>
          </a:p>
        </p:txBody>
      </p:sp>
      <p:sp>
        <p:nvSpPr>
          <p:cNvPr id="129" name="Protected requirements and rules">
            <a:extLst xmlns:a="http://schemas.openxmlformats.org/drawingml/2006/main">
              <a:ext uri="{FF2B5EF4-FFF2-40B4-BE49-F238E27FC236}">
                <a16:creationId xmlns:a16="http://schemas.microsoft.com/office/drawing/2014/main" id="{7DE9B4E6-3B57-4F33-AD23-E5AE4C7B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933950"/>
            <a:ext cx="25527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30" name="Protected requirements">
            <a:extLst xmlns:a="http://schemas.openxmlformats.org/drawingml/2006/main">
              <a:ext uri="{FF2B5EF4-FFF2-40B4-BE49-F238E27FC236}">
                <a16:creationId xmlns:a16="http://schemas.microsoft.com/office/drawing/2014/main" id="{54290662-FBCA-4A23-9CEF-BD327A52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033201"/>
            <a:ext cx="2266950" cy="28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9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9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9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9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9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9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9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9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9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9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9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Protected requirements</a:t>
            </a:r>
          </a:p>
        </p:txBody>
      </p:sp>
      <p:sp>
        <p:nvSpPr>
          <p:cNvPr id="131" name="+ acceptance rules">
            <a:extLst xmlns:a="http://schemas.openxmlformats.org/drawingml/2006/main">
              <a:ext uri="{FF2B5EF4-FFF2-40B4-BE49-F238E27FC236}">
                <a16:creationId xmlns:a16="http://schemas.microsoft.com/office/drawing/2014/main" id="{3DA60F13-2AA4-4BAA-8D50-61CA8060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314950"/>
            <a:ext cx="2266950" cy="28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9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9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9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9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9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9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9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9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9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9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913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+ acceptance rules</a:t>
            </a:r>
          </a:p>
        </p:txBody>
      </p:sp>
      <p:sp>
        <p:nvSpPr>
          <p:cNvPr id="132" name="Cannot be weakened to">
            <a:extLst xmlns:a="http://schemas.openxmlformats.org/drawingml/2006/main">
              <a:ext uri="{FF2B5EF4-FFF2-40B4-BE49-F238E27FC236}">
                <a16:creationId xmlns:a16="http://schemas.microsoft.com/office/drawing/2014/main" id="{3422E62A-FE9E-48CA-916F-D2A0444E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535549"/>
            <a:ext cx="2266950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Cannot be weakened to</a:t>
            </a:r>
          </a:p>
        </p:txBody>
      </p:sp>
      <p:sp>
        <p:nvSpPr>
          <p:cNvPr id="133" name="obtain reward.">
            <a:extLst xmlns:a="http://schemas.openxmlformats.org/drawingml/2006/main">
              <a:ext uri="{FF2B5EF4-FFF2-40B4-BE49-F238E27FC236}">
                <a16:creationId xmlns:a16="http://schemas.microsoft.com/office/drawing/2014/main" id="{9920BE5F-6A92-4456-9F2C-14347C27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800725"/>
            <a:ext cx="2266950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obtain reward.</a:t>
            </a:r>
          </a:p>
        </p:txBody>
      </p:sp>
      <p:sp>
        <p:nvSpPr>
          <p:cNvPr id="134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BD153A2D-FCC9-43E9-A82E-44EF5331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3695700"/>
            <a:ext cx="533400" cy="1238250"/>
          </a:xfrm>
          <a:custGeom xmlns:a="http://schemas.openxmlformats.org/drawingml/2006/main">
            <a:pathLst>
              <a:path w="533400" h="1238250">
                <a:moveTo>
                  <a:pt x="533400" y="1238250"/>
                </a:moveTo>
                <a:lnTo>
                  <a:pt x="533400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dash"/>
          </a:ln>
        </p:spPr>
      </p:sp>
      <p:sp>
        <p:nvSpPr>
          <p:cNvPr id="135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A470DB32-FF94-435D-BAE7-F102425E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36480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0"/>
                </a:lnTo>
                <a:lnTo>
                  <a:pt x="114300" y="9525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36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9FF2AAF2-7F0E-4FAA-83CF-EE0DF4F9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29075"/>
            <a:ext cx="9525" cy="1266825"/>
          </a:xfrm>
          <a:custGeom xmlns:a="http://schemas.openxmlformats.org/drawingml/2006/main">
            <a:pathLst>
              <a:path w="9525" h="1266825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37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6A84C8E3-AF55-4F5F-94BD-3AB271B1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18160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38" name="Invalid or">
            <a:extLst xmlns:a="http://schemas.openxmlformats.org/drawingml/2006/main">
              <a:ext uri="{FF2B5EF4-FFF2-40B4-BE49-F238E27FC236}">
                <a16:creationId xmlns:a16="http://schemas.microsoft.com/office/drawing/2014/main" id="{F87E3E61-909A-4DC5-9D01-73C6E06A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97502"/>
            <a:ext cx="1514475" cy="29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Invalid or</a:t>
            </a:r>
          </a:p>
        </p:txBody>
      </p:sp>
      <p:sp>
        <p:nvSpPr>
          <p:cNvPr id="139" name="unresolved">
            <a:extLst xmlns:a="http://schemas.openxmlformats.org/drawingml/2006/main">
              <a:ext uri="{FF2B5EF4-FFF2-40B4-BE49-F238E27FC236}">
                <a16:creationId xmlns:a16="http://schemas.microsoft.com/office/drawing/2014/main" id="{AD122D49-48A3-40CC-90FF-D71DEF1B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95825"/>
            <a:ext cx="1514475" cy="29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unresolved</a:t>
            </a:r>
          </a:p>
        </p:txBody>
      </p:sp>
      <p:sp>
        <p:nvSpPr>
          <p:cNvPr id="140" name="Invalid or unresolved result">
            <a:extLst xmlns:a="http://schemas.openxmlformats.org/drawingml/2006/main">
              <a:ext uri="{FF2B5EF4-FFF2-40B4-BE49-F238E27FC236}">
                <a16:creationId xmlns:a16="http://schemas.microsoft.com/office/drawing/2014/main" id="{FF224140-0C18-48FE-9754-96CA2606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295900"/>
            <a:ext cx="28956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41" name="Editable proof document">
            <a:extLst xmlns:a="http://schemas.openxmlformats.org/drawingml/2006/main">
              <a:ext uri="{FF2B5EF4-FFF2-40B4-BE49-F238E27FC236}">
                <a16:creationId xmlns:a16="http://schemas.microsoft.com/office/drawing/2014/main" id="{5849C070-5892-4DB2-8865-1CF1D560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553075"/>
            <a:ext cx="428625" cy="609600"/>
          </a:xfrm>
          <a:custGeom xmlns:a="http://schemas.openxmlformats.org/drawingml/2006/main">
            <a:pathLst>
              <a:path w="428625" h="609600">
                <a:moveTo>
                  <a:pt x="0" y="0"/>
                </a:moveTo>
                <a:lnTo>
                  <a:pt x="321469" y="0"/>
                </a:lnTo>
                <a:lnTo>
                  <a:pt x="428625" y="107156"/>
                </a:lnTo>
                <a:lnTo>
                  <a:pt x="428625" y="609600"/>
                </a:lnTo>
                <a:lnTo>
                  <a:pt x="0" y="6096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42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B20FAD5D-EBC4-4136-8186-B9DD7B88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644" y="5553075"/>
            <a:ext cx="107156" cy="107156"/>
          </a:xfrm>
          <a:custGeom xmlns:a="http://schemas.openxmlformats.org/drawingml/2006/main">
            <a:pathLst>
              <a:path w="107156" h="107156">
                <a:moveTo>
                  <a:pt x="0" y="0"/>
                </a:moveTo>
                <a:lnTo>
                  <a:pt x="0" y="107156"/>
                </a:lnTo>
                <a:lnTo>
                  <a:pt x="107156" y="107156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43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83E8C1BA-6C99-477F-8452-09DAE335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766435"/>
            <a:ext cx="235744" cy="9525"/>
          </a:xfrm>
          <a:custGeom xmlns:a="http://schemas.openxmlformats.org/drawingml/2006/main">
            <a:pathLst>
              <a:path w="235744" h="9525">
                <a:moveTo>
                  <a:pt x="0" y="0"/>
                </a:moveTo>
                <a:lnTo>
                  <a:pt x="2357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44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74B94598-9841-46F6-BFED-E2DAA5EB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870067"/>
            <a:ext cx="235744" cy="9525"/>
          </a:xfrm>
          <a:custGeom xmlns:a="http://schemas.openxmlformats.org/drawingml/2006/main">
            <a:pathLst>
              <a:path w="235744" h="9525">
                <a:moveTo>
                  <a:pt x="0" y="0"/>
                </a:moveTo>
                <a:lnTo>
                  <a:pt x="2357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45" name="Editable rule">
            <a:extLst xmlns:a="http://schemas.openxmlformats.org/drawingml/2006/main">
              <a:ext uri="{FF2B5EF4-FFF2-40B4-BE49-F238E27FC236}">
                <a16:creationId xmlns:a16="http://schemas.microsoft.com/office/drawing/2014/main" id="{D3643D74-9298-4755-9248-1FCE8807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973699"/>
            <a:ext cx="235744" cy="9525"/>
          </a:xfrm>
          <a:custGeom xmlns:a="http://schemas.openxmlformats.org/drawingml/2006/main">
            <a:pathLst>
              <a:path w="235744" h="9525">
                <a:moveTo>
                  <a:pt x="0" y="0"/>
                </a:moveTo>
                <a:lnTo>
                  <a:pt x="2357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46" name="Invalid / unresolved">
            <a:extLst xmlns:a="http://schemas.openxmlformats.org/drawingml/2006/main">
              <a:ext uri="{FF2B5EF4-FFF2-40B4-BE49-F238E27FC236}">
                <a16:creationId xmlns:a16="http://schemas.microsoft.com/office/drawing/2014/main" id="{BC6D3A16-03D5-4AC3-A175-E31C349C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400675"/>
            <a:ext cx="18383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Invalid / unresolved</a:t>
            </a:r>
          </a:p>
        </p:txBody>
      </p:sp>
      <p:sp>
        <p:nvSpPr>
          <p:cNvPr id="147" name="Counterexample,">
            <a:extLst xmlns:a="http://schemas.openxmlformats.org/drawingml/2006/main">
              <a:ext uri="{FF2B5EF4-FFF2-40B4-BE49-F238E27FC236}">
                <a16:creationId xmlns:a16="http://schemas.microsoft.com/office/drawing/2014/main" id="{1D62B3FB-35FD-4538-8CCB-9607A99A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648325"/>
            <a:ext cx="18383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Counterexample,</a:t>
            </a:r>
          </a:p>
        </p:txBody>
      </p:sp>
      <p:sp>
        <p:nvSpPr>
          <p:cNvPr id="148" name="verification failure,">
            <a:extLst xmlns:a="http://schemas.openxmlformats.org/drawingml/2006/main">
              <a:ext uri="{FF2B5EF4-FFF2-40B4-BE49-F238E27FC236}">
                <a16:creationId xmlns:a16="http://schemas.microsoft.com/office/drawing/2014/main" id="{F8EFE3F0-8F7C-4B65-A15E-DF8A4AE0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924550"/>
            <a:ext cx="18383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verification failure,</a:t>
            </a:r>
          </a:p>
        </p:txBody>
      </p:sp>
      <p:sp>
        <p:nvSpPr>
          <p:cNvPr id="149" name="or resource limit.">
            <a:extLst xmlns:a="http://schemas.openxmlformats.org/drawingml/2006/main">
              <a:ext uri="{FF2B5EF4-FFF2-40B4-BE49-F238E27FC236}">
                <a16:creationId xmlns:a16="http://schemas.microsoft.com/office/drawing/2014/main" id="{B9166727-4C0C-4AD2-ACE2-27667989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200775"/>
            <a:ext cx="18383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or resource limit.</a:t>
            </a:r>
          </a:p>
        </p:txBody>
      </p:sp>
      <p:sp>
        <p:nvSpPr>
          <p:cNvPr id="150" name="Investigate revise review">
            <a:extLst xmlns:a="http://schemas.openxmlformats.org/drawingml/2006/main">
              <a:ext uri="{FF2B5EF4-FFF2-40B4-BE49-F238E27FC236}">
                <a16:creationId xmlns:a16="http://schemas.microsoft.com/office/drawing/2014/main" id="{10E74047-80B5-4829-9564-0C1A4481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753225"/>
            <a:ext cx="42195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51" name="Editable magnifier lens">
            <a:extLst xmlns:a="http://schemas.openxmlformats.org/drawingml/2006/main">
              <a:ext uri="{FF2B5EF4-FFF2-40B4-BE49-F238E27FC236}">
                <a16:creationId xmlns:a16="http://schemas.microsoft.com/office/drawing/2014/main" id="{6AFBD11F-265D-4E82-87C9-291BC617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7000875"/>
            <a:ext cx="371475" cy="371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152" name="Editable magnifier handle">
            <a:extLst xmlns:a="http://schemas.openxmlformats.org/drawingml/2006/main">
              <a:ext uri="{FF2B5EF4-FFF2-40B4-BE49-F238E27FC236}">
                <a16:creationId xmlns:a16="http://schemas.microsoft.com/office/drawing/2014/main" id="{B76A3CF0-2500-4F37-88CD-7E108605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1024" y="7309199"/>
            <a:ext cx="193167" cy="193167"/>
          </a:xfrm>
          <a:custGeom xmlns:a="http://schemas.openxmlformats.org/drawingml/2006/main">
            <a:pathLst>
              <a:path w="193167" h="193167">
                <a:moveTo>
                  <a:pt x="0" y="0"/>
                </a:moveTo>
                <a:lnTo>
                  <a:pt x="193167" y="19316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11111"/>
            </a:solidFill>
            <a:prstDash val="solid"/>
          </a:ln>
        </p:spPr>
      </p:sp>
      <p:sp>
        <p:nvSpPr>
          <p:cNvPr id="153" name="Investigate / revise / review">
            <a:extLst xmlns:a="http://schemas.openxmlformats.org/drawingml/2006/main">
              <a:ext uri="{FF2B5EF4-FFF2-40B4-BE49-F238E27FC236}">
                <a16:creationId xmlns:a16="http://schemas.microsoft.com/office/drawing/2014/main" id="{D05C7F14-2A7E-4C0D-AC2C-F3F689D6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921627"/>
            <a:ext cx="3276600" cy="320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Investigate / revise / review</a:t>
            </a:r>
          </a:p>
        </p:txBody>
      </p:sp>
      <p:sp>
        <p:nvSpPr>
          <p:cNvPr id="154" name="Revise the proof or proposed change.">
            <a:extLst xmlns:a="http://schemas.openxmlformats.org/drawingml/2006/main">
              <a:ext uri="{FF2B5EF4-FFF2-40B4-BE49-F238E27FC236}">
                <a16:creationId xmlns:a16="http://schemas.microsoft.com/office/drawing/2014/main" id="{6A630B9F-2D28-4210-BB8F-1E1D2F4D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283387"/>
            <a:ext cx="3276600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Revise the proof or proposed change.</a:t>
            </a:r>
          </a:p>
        </p:txBody>
      </p:sp>
      <p:sp>
        <p:nvSpPr>
          <p:cNvPr id="155" name="May require human review.">
            <a:extLst xmlns:a="http://schemas.openxmlformats.org/drawingml/2006/main">
              <a:ext uri="{FF2B5EF4-FFF2-40B4-BE49-F238E27FC236}">
                <a16:creationId xmlns:a16="http://schemas.microsoft.com/office/drawing/2014/main" id="{5903F02B-F646-46E6-8C08-582F0480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548563"/>
            <a:ext cx="3276600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May require human review.</a:t>
            </a:r>
          </a:p>
        </p:txBody>
      </p:sp>
      <p:sp>
        <p:nvSpPr>
          <p:cNvPr id="156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286F3B8E-FD51-4695-9E55-C4971573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934075"/>
            <a:ext cx="2809875" cy="1295400"/>
          </a:xfrm>
          <a:custGeom xmlns:a="http://schemas.openxmlformats.org/drawingml/2006/main">
            <a:pathLst>
              <a:path w="2809875" h="1295400">
                <a:moveTo>
                  <a:pt x="0" y="0"/>
                </a:moveTo>
                <a:lnTo>
                  <a:pt x="523875" y="0"/>
                </a:lnTo>
                <a:lnTo>
                  <a:pt x="523875" y="1295400"/>
                </a:lnTo>
                <a:lnTo>
                  <a:pt x="2809875" y="1295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57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B3A49306-70C0-46B4-8CFD-F32BF6D5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1818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58" name="Never a success">
            <a:extLst xmlns:a="http://schemas.openxmlformats.org/drawingml/2006/main">
              <a:ext uri="{FF2B5EF4-FFF2-40B4-BE49-F238E27FC236}">
                <a16:creationId xmlns:a16="http://schemas.microsoft.com/office/drawing/2014/main" id="{B04621B2-6FE3-42DE-9F5C-B6D27BD5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872288"/>
            <a:ext cx="18383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Never a success</a:t>
            </a:r>
          </a:p>
        </p:txBody>
      </p:sp>
      <p:sp>
        <p:nvSpPr>
          <p:cNvPr id="159" name="Editable flow path">
            <a:extLst xmlns:a="http://schemas.openxmlformats.org/drawingml/2006/main">
              <a:ext uri="{FF2B5EF4-FFF2-40B4-BE49-F238E27FC236}">
                <a16:creationId xmlns:a16="http://schemas.microsoft.com/office/drawing/2014/main" id="{CC4A2854-DEF7-4FAB-A63E-C76124B3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819775"/>
            <a:ext cx="9525" cy="933450"/>
          </a:xfrm>
          <a:custGeom xmlns:a="http://schemas.openxmlformats.org/drawingml/2006/main">
            <a:pathLst>
              <a:path w="9525" h="933450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60" name="Editable arrowhead">
            <a:extLst xmlns:a="http://schemas.openxmlformats.org/drawingml/2006/main">
              <a:ext uri="{FF2B5EF4-FFF2-40B4-BE49-F238E27FC236}">
                <a16:creationId xmlns:a16="http://schemas.microsoft.com/office/drawing/2014/main" id="{22C490D2-C17C-4CED-BE21-E311FBC8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63892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61" name="Failed or inconclusive">
            <a:extLst xmlns:a="http://schemas.openxmlformats.org/drawingml/2006/main">
              <a:ext uri="{FF2B5EF4-FFF2-40B4-BE49-F238E27FC236}">
                <a16:creationId xmlns:a16="http://schemas.microsoft.com/office/drawing/2014/main" id="{93F55459-CED9-4366-AAED-DEF875A0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027801"/>
            <a:ext cx="2505075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Failed or inconclusive</a:t>
            </a:r>
          </a:p>
        </p:txBody>
      </p:sp>
      <p:sp>
        <p:nvSpPr>
          <p:cNvPr id="162" name="assessment">
            <a:extLst xmlns:a="http://schemas.openxmlformats.org/drawingml/2006/main">
              <a:ext uri="{FF2B5EF4-FFF2-40B4-BE49-F238E27FC236}">
                <a16:creationId xmlns:a16="http://schemas.microsoft.com/office/drawing/2014/main" id="{A320FFD2-FC4B-4B46-BDA5-D6341345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2505075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assessment</a:t>
            </a:r>
          </a:p>
        </p:txBody>
      </p:sp>
      <p:sp>
        <p:nvSpPr>
          <p:cNvPr id="163" name="Common failure examples">
            <a:extLst xmlns:a="http://schemas.openxmlformats.org/drawingml/2006/main">
              <a:ext uri="{FF2B5EF4-FFF2-40B4-BE49-F238E27FC236}">
                <a16:creationId xmlns:a16="http://schemas.microsoft.com/office/drawing/2014/main" id="{BE876400-44C5-48C5-ADEA-9A342779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10350"/>
            <a:ext cx="6858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dash"/>
          </a:ln>
        </p:spPr>
      </p:sp>
      <p:sp>
        <p:nvSpPr>
          <p:cNvPr id="164" name="Common failure examples">
            <a:extLst xmlns:a="http://schemas.openxmlformats.org/drawingml/2006/main">
              <a:ext uri="{FF2B5EF4-FFF2-40B4-BE49-F238E27FC236}">
                <a16:creationId xmlns:a16="http://schemas.microsoft.com/office/drawing/2014/main" id="{891875A7-600D-4B9E-8A64-2D6676EC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675501"/>
            <a:ext cx="6477000" cy="29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Common failure examples</a:t>
            </a:r>
          </a:p>
        </p:txBody>
      </p:sp>
      <p:sp>
        <p:nvSpPr>
          <p:cNvPr id="165" name="Failure example">
            <a:extLst xmlns:a="http://schemas.openxmlformats.org/drawingml/2006/main">
              <a:ext uri="{FF2B5EF4-FFF2-40B4-BE49-F238E27FC236}">
                <a16:creationId xmlns:a16="http://schemas.microsoft.com/office/drawing/2014/main" id="{1F04E33A-F4F6-4A06-895C-6F13CCE1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010400"/>
            <a:ext cx="20478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66" name="Weak property">
            <a:extLst xmlns:a="http://schemas.openxmlformats.org/drawingml/2006/main">
              <a:ext uri="{FF2B5EF4-FFF2-40B4-BE49-F238E27FC236}">
                <a16:creationId xmlns:a16="http://schemas.microsoft.com/office/drawing/2014/main" id="{87FF4BF5-2FBD-4852-BDE7-2C43D4BB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171563"/>
            <a:ext cx="1800225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Weak property</a:t>
            </a:r>
          </a:p>
        </p:txBody>
      </p:sp>
      <p:sp>
        <p:nvSpPr>
          <p:cNvPr id="167" name="Requirements are">
            <a:extLst xmlns:a="http://schemas.openxmlformats.org/drawingml/2006/main">
              <a:ext uri="{FF2B5EF4-FFF2-40B4-BE49-F238E27FC236}">
                <a16:creationId xmlns:a16="http://schemas.microsoft.com/office/drawing/2014/main" id="{DEDCD43D-F40B-4A28-8833-A3F4B59C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622858"/>
            <a:ext cx="18002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Requirements are</a:t>
            </a:r>
          </a:p>
        </p:txBody>
      </p:sp>
      <p:sp>
        <p:nvSpPr>
          <p:cNvPr id="168" name="underspecified.">
            <a:extLst xmlns:a="http://schemas.openxmlformats.org/drawingml/2006/main">
              <a:ext uri="{FF2B5EF4-FFF2-40B4-BE49-F238E27FC236}">
                <a16:creationId xmlns:a16="http://schemas.microsoft.com/office/drawing/2014/main" id="{B1B797FB-1867-4607-B68C-8A86DC30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843838"/>
            <a:ext cx="18002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underspecified.</a:t>
            </a:r>
          </a:p>
        </p:txBody>
      </p:sp>
      <p:sp>
        <p:nvSpPr>
          <p:cNvPr id="169" name="Failure example">
            <a:extLst xmlns:a="http://schemas.openxmlformats.org/drawingml/2006/main">
              <a:ext uri="{FF2B5EF4-FFF2-40B4-BE49-F238E27FC236}">
                <a16:creationId xmlns:a16="http://schemas.microsoft.com/office/drawing/2014/main" id="{51C5676F-E680-45B9-887C-009876BD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7010400"/>
            <a:ext cx="20478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70" name="Inconsistent">
            <a:extLst xmlns:a="http://schemas.openxmlformats.org/drawingml/2006/main">
              <a:ext uri="{FF2B5EF4-FFF2-40B4-BE49-F238E27FC236}">
                <a16:creationId xmlns:a16="http://schemas.microsoft.com/office/drawing/2014/main" id="{3F3EF25E-0086-4926-8BC3-BB804EEB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7027926"/>
            <a:ext cx="1800225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Inconsistent</a:t>
            </a:r>
          </a:p>
        </p:txBody>
      </p:sp>
      <p:sp>
        <p:nvSpPr>
          <p:cNvPr id="171" name="premise">
            <a:extLst xmlns:a="http://schemas.openxmlformats.org/drawingml/2006/main">
              <a:ext uri="{FF2B5EF4-FFF2-40B4-BE49-F238E27FC236}">
                <a16:creationId xmlns:a16="http://schemas.microsoft.com/office/drawing/2014/main" id="{6ED9D1C2-B8B3-482C-8E04-F284A601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7315200"/>
            <a:ext cx="1800225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premise</a:t>
            </a:r>
          </a:p>
        </p:txBody>
      </p:sp>
      <p:sp>
        <p:nvSpPr>
          <p:cNvPr id="172" name="Proof assumes conditions">
            <a:extLst xmlns:a="http://schemas.openxmlformats.org/drawingml/2006/main">
              <a:ext uri="{FF2B5EF4-FFF2-40B4-BE49-F238E27FC236}">
                <a16:creationId xmlns:a16="http://schemas.microsoft.com/office/drawing/2014/main" id="{59E0FC80-C6BF-40B4-9CE2-BF10D46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7622858"/>
            <a:ext cx="18002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Proof assumes conditions</a:t>
            </a:r>
          </a:p>
        </p:txBody>
      </p:sp>
      <p:sp>
        <p:nvSpPr>
          <p:cNvPr id="173" name="that do not hold.">
            <a:extLst xmlns:a="http://schemas.openxmlformats.org/drawingml/2006/main">
              <a:ext uri="{FF2B5EF4-FFF2-40B4-BE49-F238E27FC236}">
                <a16:creationId xmlns:a16="http://schemas.microsoft.com/office/drawing/2014/main" id="{7DD9F314-9A5B-487A-A2EB-8AD468E6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7843838"/>
            <a:ext cx="18002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that do not hold.</a:t>
            </a:r>
          </a:p>
        </p:txBody>
      </p:sp>
      <p:sp>
        <p:nvSpPr>
          <p:cNvPr id="174" name="Failure example">
            <a:extLst xmlns:a="http://schemas.openxmlformats.org/drawingml/2006/main">
              <a:ext uri="{FF2B5EF4-FFF2-40B4-BE49-F238E27FC236}">
                <a16:creationId xmlns:a16="http://schemas.microsoft.com/office/drawing/2014/main" id="{21803DAE-96A0-4901-8B9B-3BDCE8E6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7010400"/>
            <a:ext cx="20478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75" name="Patch disables">
            <a:extLst xmlns:a="http://schemas.openxmlformats.org/drawingml/2006/main">
              <a:ext uri="{FF2B5EF4-FFF2-40B4-BE49-F238E27FC236}">
                <a16:creationId xmlns:a16="http://schemas.microsoft.com/office/drawing/2014/main" id="{7D521BCE-2A1A-45E9-8972-9028A88E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7027926"/>
            <a:ext cx="1800225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Patch disables</a:t>
            </a:r>
          </a:p>
        </p:txBody>
      </p:sp>
      <p:sp>
        <p:nvSpPr>
          <p:cNvPr id="176" name="required behavior">
            <a:extLst xmlns:a="http://schemas.openxmlformats.org/drawingml/2006/main">
              <a:ext uri="{FF2B5EF4-FFF2-40B4-BE49-F238E27FC236}">
                <a16:creationId xmlns:a16="http://schemas.microsoft.com/office/drawing/2014/main" id="{C60E5012-A021-4084-89A3-C9323AB4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7315200"/>
            <a:ext cx="1800225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required behavior</a:t>
            </a:r>
          </a:p>
        </p:txBody>
      </p:sp>
      <p:sp>
        <p:nvSpPr>
          <p:cNvPr id="177" name="Proof does not match">
            <a:extLst xmlns:a="http://schemas.openxmlformats.org/drawingml/2006/main">
              <a:ext uri="{FF2B5EF4-FFF2-40B4-BE49-F238E27FC236}">
                <a16:creationId xmlns:a16="http://schemas.microsoft.com/office/drawing/2014/main" id="{152F3D13-3514-4C5D-BF2A-55E3C505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7622858"/>
            <a:ext cx="18002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Proof does not match</a:t>
            </a:r>
          </a:p>
        </p:txBody>
      </p:sp>
      <p:sp>
        <p:nvSpPr>
          <p:cNvPr id="178" name="the intended functionality.">
            <a:extLst xmlns:a="http://schemas.openxmlformats.org/drawingml/2006/main">
              <a:ext uri="{FF2B5EF4-FFF2-40B4-BE49-F238E27FC236}">
                <a16:creationId xmlns:a16="http://schemas.microsoft.com/office/drawing/2014/main" id="{DF52678A-A929-4DBC-B5BD-DD80DD2F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7843838"/>
            <a:ext cx="18002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the intended functionality.</a:t>
            </a:r>
          </a:p>
        </p:txBody>
      </p:sp>
      <p:sp>
        <p:nvSpPr>
          <p:cNvPr id="179" name="A valid proof establishes its theorem; intended requirements need separate asses">
            <a:extLst xmlns:a="http://schemas.openxmlformats.org/drawingml/2006/main">
              <a:ext uri="{FF2B5EF4-FFF2-40B4-BE49-F238E27FC236}">
                <a16:creationId xmlns:a16="http://schemas.microsoft.com/office/drawing/2014/main" id="{C6783954-2BFF-429C-B4D3-C3738B38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476298"/>
            <a:ext cx="142113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A valid proof establishes its theorem; intended requirements need separate assessment.</a:t>
            </a:r>
          </a:p>
        </p:txBody>
      </p:sp>
    </p:spTree>
    <p:extLst>
      <p:ext uri="{BB962C8B-B14F-4D97-AF65-F5344CB8AC3E}">
        <p14:creationId xmlns:p14="http://schemas.microsoft.com/office/powerpoint/2010/main" val="12693050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2026-10-25T19:27:20.5120000Z</dcterms:created>
  <dcterms:modified xsi:type="dcterms:W3CDTF">2026-10-25T19:27:20.5120000Z</dcterms:modified>
</coreProperties>
</file>