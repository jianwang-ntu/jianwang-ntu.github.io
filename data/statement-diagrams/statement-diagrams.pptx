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ef8bc439b4672" /><Relationship Type="http://schemas.openxmlformats.org/officeDocument/2006/relationships/extended-properties" Target="/docProps/app.xml" Id="Re631a306276a4783" /><Relationship Type="http://schemas.openxmlformats.org/officeDocument/2006/relationships/officeDocument" Target="/ppt/presentation.xml" Id="Rbfd9fae7e385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3071d395b4c4d"/>
  </p:sldMasterIdLst>
  <p:notesMasterIdLst>
    <p:notesMasterId xmlns:r="http://schemas.openxmlformats.org/officeDocument/2006/relationships" r:id="R73a5df89d3794562"/>
  </p:notesMasterIdLst>
  <p:sldIdLst>
    <p:sldId xmlns:r="http://schemas.openxmlformats.org/officeDocument/2006/relationships" id="256" r:id="R2f8304cd73054eff"/>
    <p:sldId xmlns:r="http://schemas.openxmlformats.org/officeDocument/2006/relationships" id="257" r:id="Rc23c832bf7fd47fe"/>
    <p:sldId xmlns:r="http://schemas.openxmlformats.org/officeDocument/2006/relationships" id="258" r:id="R889ee02f71a34c14"/>
    <p:sldId xmlns:r="http://schemas.openxmlformats.org/officeDocument/2006/relationships" id="259" r:id="Ra2ee8e9ea0e34e78"/>
  </p:sldIdLst>
  <p:sldSz cx="17916525" cy="10344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4c9391556c416a" /><Relationship Type="http://schemas.openxmlformats.org/officeDocument/2006/relationships/slideMaster" Target="/ppt/slideMasters/slideMaster1.xml" Id="Rbca3071d395b4c4d" /><Relationship Type="http://schemas.openxmlformats.org/officeDocument/2006/relationships/notesMaster" Target="/ppt/notesMasters/notesMaster1.xml" Id="R73a5df89d3794562" /><Relationship Type="http://schemas.openxmlformats.org/officeDocument/2006/relationships/presProps" Target="/ppt/presProps.xml" Id="R33e2fe7db6a04c67" /><Relationship Type="http://schemas.openxmlformats.org/officeDocument/2006/relationships/tableStyles" Target="/ppt/tableStyles.xml" Id="R94344e81c8444d80" /><Relationship Type="http://schemas.openxmlformats.org/officeDocument/2006/relationships/slide" Target="/ppt/slides/slide1.xml" Id="R2f8304cd73054eff" /><Relationship Type="http://schemas.openxmlformats.org/officeDocument/2006/relationships/slide" Target="/ppt/slides/slide2.xml" Id="Rc23c832bf7fd47fe" /><Relationship Type="http://schemas.openxmlformats.org/officeDocument/2006/relationships/slide" Target="/ppt/slides/slide3.xml" Id="R889ee02f71a34c14" /><Relationship Type="http://schemas.openxmlformats.org/officeDocument/2006/relationships/slide" Target="/ppt/slides/slide4.xml" Id="Ra2ee8e9ea0e3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f861ded79a4c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9b2a58f8c24195" /><Relationship Type="http://schemas.openxmlformats.org/officeDocument/2006/relationships/notesMaster" Target="/ppt/notesMasters/notesMaster1.xml" Id="Ree4136dd1462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f2f4b49af4de4" /><Relationship Type="http://schemas.openxmlformats.org/officeDocument/2006/relationships/notesMaster" Target="/ppt/notesMasters/notesMaster1.xml" Id="R4239d98b822a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11bcdda7844f9" /><Relationship Type="http://schemas.openxmlformats.org/officeDocument/2006/relationships/notesMaster" Target="/ppt/notesMasters/notesMaster1.xml" Id="R9441ae509cdf4f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c8a045ee84c74" /><Relationship Type="http://schemas.openxmlformats.org/officeDocument/2006/relationships/notesMaster" Target="/ppt/notesMasters/notesMaster1.xml" Id="R84fb3b2768e2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90fbc7ab7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59de9812a4e20" /><Relationship Type="http://schemas.openxmlformats.org/officeDocument/2006/relationships/slideLayout" Target="/ppt/slideLayouts/slideLayout1.xml" Id="R92d4c3da0bf3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4c3da0bf3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fde59e1084bf8" /><Relationship Type="http://schemas.openxmlformats.org/officeDocument/2006/relationships/image" Target="/ppt/media/image.png" Id="Rd37ac12176e94266" /><Relationship Type="http://schemas.openxmlformats.org/officeDocument/2006/relationships/image" Target="/ppt/media/image2.png" Id="R20f5c4631ac24f88" /><Relationship Type="http://schemas.openxmlformats.org/officeDocument/2006/relationships/image" Target="/ppt/media/image3.png" Id="R753c113c9fbe4335" /><Relationship Type="http://schemas.openxmlformats.org/officeDocument/2006/relationships/image" Target="/ppt/media/image4.png" Id="R6cdd35ac4b41436b" /><Relationship Type="http://schemas.openxmlformats.org/officeDocument/2006/relationships/notesSlide" Target="/ppt/notesSlides/notesSlide1.xml" Id="Rab106cfae26145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5479d34a74f7e" /><Relationship Type="http://schemas.openxmlformats.org/officeDocument/2006/relationships/notesSlide" Target="/ppt/notesSlides/notesSlide2.xml" Id="R2b1e42c8e3ba4e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4f210788b43b9" /><Relationship Type="http://schemas.openxmlformats.org/officeDocument/2006/relationships/notesSlide" Target="/ppt/notesSlides/notesSlide3.xml" Id="R7a8e72c4ddce4d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f49df106a4ff7" /><Relationship Type="http://schemas.openxmlformats.org/officeDocument/2006/relationships/notesSlide" Target="/ppt/notesSlides/notesSlide4.xml" Id="R4a705da01052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Reliable AI Agents Under Human Control">
            <a:extLst xmlns:a="http://schemas.openxmlformats.org/drawingml/2006/main">
              <a:ext uri="{FF2B5EF4-FFF2-40B4-BE49-F238E27FC236}">
                <a16:creationId xmlns:a16="http://schemas.microsoft.com/office/drawing/2014/main" id="{F541E00E-93CE-4914-8F13-3D031774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41434"/>
            <a:ext cx="10363200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Reliable AI Agents Under Human Control</a:t>
            </a:r>
          </a:p>
        </p:txBody>
      </p:sp>
      <p:sp>
        <p:nvSpPr>
          <p:cNvPr id="2" name="A proposed research agenda for actions, system updates, and dele">
            <a:extLst xmlns:a="http://schemas.openxmlformats.org/drawingml/2006/main">
              <a:ext uri="{FF2B5EF4-FFF2-40B4-BE49-F238E27FC236}">
                <a16:creationId xmlns:a16="http://schemas.microsoft.com/office/drawing/2014/main" id="{A1BAC1C2-DEE4-4202-81E1-34424DF4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591693"/>
            <a:ext cx="1169670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 proposed research agenda for actions, system updates, and delegation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D6344F7-59C1-4A70-8A54-77B0866B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1038225"/>
            <a:ext cx="66389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129F0E2-132A-45F4-B4A1-7D56C5B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1038225"/>
            <a:ext cx="66294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5" name="Human–Agent Interaction">
            <a:extLst xmlns:a="http://schemas.openxmlformats.org/drawingml/2006/main">
              <a:ext uri="{FF2B5EF4-FFF2-40B4-BE49-F238E27FC236}">
                <a16:creationId xmlns:a16="http://schemas.microsoft.com/office/drawing/2014/main" id="{9930446E-F202-4203-93AA-7C6583C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8" y="1130522"/>
            <a:ext cx="63531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Human–Agent Interaction</a:t>
            </a:r>
          </a:p>
        </p:txBody>
      </p:sp>
      <p:sp>
        <p:nvSpPr>
          <p:cNvPr id="6" name="Agent–Agent Collaboration">
            <a:extLst xmlns:a="http://schemas.openxmlformats.org/drawingml/2006/main">
              <a:ext uri="{FF2B5EF4-FFF2-40B4-BE49-F238E27FC236}">
                <a16:creationId xmlns:a16="http://schemas.microsoft.com/office/drawing/2014/main" id="{C1826997-3102-459E-B4FC-AFDDAA9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130522"/>
            <a:ext cx="634365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Agent–Agent Collaboration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c12176e94266"/>
          <a:stretch xmlns:a="http://schemas.openxmlformats.org/drawingml/2006/main"/>
        </p:blipFill>
        <p:spPr>
          <a:xfrm xmlns:a="http://schemas.openxmlformats.org/drawingml/2006/main">
            <a:off x="2500313" y="1552575"/>
            <a:ext cx="2190750" cy="14859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5c4631ac24f88"/>
          <a:stretch xmlns:a="http://schemas.openxmlformats.org/drawingml/2006/main"/>
        </p:blipFill>
        <p:spPr>
          <a:xfrm xmlns:a="http://schemas.openxmlformats.org/drawingml/2006/main">
            <a:off x="7167563" y="1533525"/>
            <a:ext cx="1200150" cy="146685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c113c9fbe4335"/>
          <a:stretch xmlns:a="http://schemas.openxmlformats.org/drawingml/2006/main"/>
        </p:blipFill>
        <p:spPr>
          <a:xfrm xmlns:a="http://schemas.openxmlformats.org/drawingml/2006/main">
            <a:off x="9586913" y="1533525"/>
            <a:ext cx="1200150" cy="146685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d35ac4b41436b"/>
          <a:stretch xmlns:a="http://schemas.openxmlformats.org/drawingml/2006/main"/>
        </p:blipFill>
        <p:spPr>
          <a:xfrm xmlns:a="http://schemas.openxmlformats.org/drawingml/2006/main">
            <a:off x="13930313" y="1533525"/>
            <a:ext cx="1200150" cy="1466850"/>
          </a:xfrm>
          <a:prstGeom xmlns:a="http://schemas.openxmlformats.org/drawingml/2006/main" prst="rect">
            <a:avLst/>
          </a:prstGeom>
        </p:spPr>
      </p:pic>
      <p:sp>
        <p:nvSpPr>
          <p:cNvPr id="11" name="Human">
            <a:extLst xmlns:a="http://schemas.openxmlformats.org/drawingml/2006/main">
              <a:ext uri="{FF2B5EF4-FFF2-40B4-BE49-F238E27FC236}">
                <a16:creationId xmlns:a16="http://schemas.microsoft.com/office/drawing/2014/main" id="{02415D4D-44F3-41D4-84F2-D03A5C8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3060573"/>
            <a:ext cx="20097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12" name="AI agent">
            <a:extLst xmlns:a="http://schemas.openxmlformats.org/drawingml/2006/main">
              <a:ext uri="{FF2B5EF4-FFF2-40B4-BE49-F238E27FC236}">
                <a16:creationId xmlns:a16="http://schemas.microsoft.com/office/drawing/2014/main" id="{898ED6D7-B892-4713-85FF-C08CEF2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060573"/>
            <a:ext cx="14001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AI agent</a:t>
            </a:r>
          </a:p>
        </p:txBody>
      </p:sp>
      <p:sp>
        <p:nvSpPr>
          <p:cNvPr id="13" name="Agent A">
            <a:extLst xmlns:a="http://schemas.openxmlformats.org/drawingml/2006/main">
              <a:ext uri="{FF2B5EF4-FFF2-40B4-BE49-F238E27FC236}">
                <a16:creationId xmlns:a16="http://schemas.microsoft.com/office/drawing/2014/main" id="{65725406-44A8-496F-9BC6-7183CE12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060573"/>
            <a:ext cx="139065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 A</a:t>
            </a:r>
          </a:p>
        </p:txBody>
      </p:sp>
      <p:sp>
        <p:nvSpPr>
          <p:cNvPr id="14" name="Agent B">
            <a:extLst xmlns:a="http://schemas.openxmlformats.org/drawingml/2006/main">
              <a:ext uri="{FF2B5EF4-FFF2-40B4-BE49-F238E27FC236}">
                <a16:creationId xmlns:a16="http://schemas.microsoft.com/office/drawing/2014/main" id="{685B5718-358B-4E00-A343-0DB1860F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588" y="3060573"/>
            <a:ext cx="138112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 B</a:t>
            </a:r>
          </a:p>
        </p:txBody>
      </p:sp>
      <p:sp>
        <p:nvSpPr>
          <p:cNvPr id="15" name="Task + authorized scope">
            <a:extLst xmlns:a="http://schemas.openxmlformats.org/drawingml/2006/main">
              <a:ext uri="{FF2B5EF4-FFF2-40B4-BE49-F238E27FC236}">
                <a16:creationId xmlns:a16="http://schemas.microsoft.com/office/drawing/2014/main" id="{EA448735-003B-48D0-B036-C4F2BFE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927765"/>
            <a:ext cx="2228850" cy="24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Task + authorized scope</a:t>
            </a:r>
          </a:p>
        </p:txBody>
      </p:sp>
      <p:sp>
        <p:nvSpPr>
          <p:cNvPr id="1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544126D-417E-4D37-81EF-37CBBE62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228850"/>
            <a:ext cx="2228850" cy="9525"/>
          </a:xfrm>
          <a:custGeom xmlns:a="http://schemas.openxmlformats.org/drawingml/2006/main">
            <a:pathLst>
              <a:path w="2228850" h="9525">
                <a:moveTo>
                  <a:pt x="0" y="0"/>
                </a:moveTo>
                <a:lnTo>
                  <a:pt x="2228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1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38B4851-2B91-47BB-99C1-B7D9655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21621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1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0EF0F97-AAE4-408A-B17D-642EC36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571750"/>
            <a:ext cx="2228850" cy="9525"/>
          </a:xfrm>
          <a:custGeom xmlns:a="http://schemas.openxmlformats.org/drawingml/2006/main">
            <a:pathLst>
              <a:path w="2228850" h="9525">
                <a:moveTo>
                  <a:pt x="2228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1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3C6DD90-B069-4C05-8D0B-99AD736F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5050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0" name="Action proposal + evidence">
            <a:extLst xmlns:a="http://schemas.openxmlformats.org/drawingml/2006/main">
              <a:ext uri="{FF2B5EF4-FFF2-40B4-BE49-F238E27FC236}">
                <a16:creationId xmlns:a16="http://schemas.microsoft.com/office/drawing/2014/main" id="{226AA0A1-729D-4415-943E-A9C6FA5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71382"/>
            <a:ext cx="2247900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Action proposal + evidence</a:t>
            </a:r>
          </a:p>
        </p:txBody>
      </p:sp>
      <p:sp>
        <p:nvSpPr>
          <p:cNvPr id="21" name="Subtask + data + constraints">
            <a:extLst xmlns:a="http://schemas.openxmlformats.org/drawingml/2006/main">
              <a:ext uri="{FF2B5EF4-FFF2-40B4-BE49-F238E27FC236}">
                <a16:creationId xmlns:a16="http://schemas.microsoft.com/office/drawing/2014/main" id="{0137091F-7FE4-4732-A20E-8EB90D7D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1933194"/>
            <a:ext cx="2667000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Subtask + data + constraints</a:t>
            </a:r>
          </a:p>
        </p:txBody>
      </p:sp>
      <p:sp>
        <p:nvSpPr>
          <p:cNvPr id="2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7AFC192-DE1A-4000-BF05-B0C0918B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228850"/>
            <a:ext cx="2667000" cy="9525"/>
          </a:xfrm>
          <a:custGeom xmlns:a="http://schemas.openxmlformats.org/drawingml/2006/main"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C495C38-7C7B-4B6B-BE05-BF2A0E0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938" y="21621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2C54361-7765-4CA0-BBEB-6B3E0A4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571750"/>
            <a:ext cx="2667000" cy="9525"/>
          </a:xfrm>
          <a:custGeom xmlns:a="http://schemas.openxmlformats.org/drawingml/2006/main">
            <a:pathLst>
              <a:path w="2667000" h="9525">
                <a:moveTo>
                  <a:pt x="2667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75577C5-59E0-49F0-9CDF-E9D2B5A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5050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6" name="Proposal + evidence + status">
            <a:extLst xmlns:a="http://schemas.openxmlformats.org/drawingml/2006/main">
              <a:ext uri="{FF2B5EF4-FFF2-40B4-BE49-F238E27FC236}">
                <a16:creationId xmlns:a16="http://schemas.microsoft.com/office/drawing/2014/main" id="{6E38C956-F935-4274-9B89-99F07C4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2671382"/>
            <a:ext cx="2676525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Proposal + evidence + status</a:t>
            </a:r>
          </a:p>
        </p:txBody>
      </p:sp>
      <p:sp>
        <p:nvSpPr>
          <p:cNvPr id="2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CE65DF32-913D-48D6-A246-D62EBA60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4290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2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DB26436-F0DD-4141-B6BC-F16FA3FE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4766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3BFBB24B-43C0-47DB-A0E6-6885A0B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5280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0" name="Check proposed actions against approved requirements">
            <a:extLst xmlns:a="http://schemas.openxmlformats.org/drawingml/2006/main">
              <a:ext uri="{FF2B5EF4-FFF2-40B4-BE49-F238E27FC236}">
                <a16:creationId xmlns:a16="http://schemas.microsoft.com/office/drawing/2014/main" id="{A7E05D7E-6144-4E9E-B30D-85FC9D7A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5558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 proposed actions against approved requirements</a:t>
            </a:r>
          </a:p>
        </p:txBody>
      </p:sp>
      <p:sp>
        <p:nvSpPr>
          <p:cNvPr id="3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73FD651-E6D9-47B1-859D-104D2AD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0386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3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1043525-115F-4031-A7BA-CDFBCA87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0862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33" name="II">
            <a:extLst xmlns:a="http://schemas.openxmlformats.org/drawingml/2006/main">
              <a:ext uri="{FF2B5EF4-FFF2-40B4-BE49-F238E27FC236}">
                <a16:creationId xmlns:a16="http://schemas.microsoft.com/office/drawing/2014/main" id="{BF7A318D-DD8E-4637-96CC-106F956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1376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34" name="Evaluate security and reliability after system updates">
            <a:extLst xmlns:a="http://schemas.openxmlformats.org/drawingml/2006/main">
              <a:ext uri="{FF2B5EF4-FFF2-40B4-BE49-F238E27FC236}">
                <a16:creationId xmlns:a16="http://schemas.microsoft.com/office/drawing/2014/main" id="{BC6FAEA7-5E05-418A-8171-84F651EE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1654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Evaluate security and reliability after system updates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B2BED98-B3B5-4832-98B6-DCEDFB6B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6482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3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F1376D3-7BCC-47CA-AA24-3D67A42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6958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37" name="III">
            <a:extLst xmlns:a="http://schemas.openxmlformats.org/drawingml/2006/main">
              <a:ext uri="{FF2B5EF4-FFF2-40B4-BE49-F238E27FC236}">
                <a16:creationId xmlns:a16="http://schemas.microsoft.com/office/drawing/2014/main" id="{90F798E1-1114-44EB-A8E6-58AE0D6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7472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38" name="Enforce current scope and permissions across task steps">
            <a:extLst xmlns:a="http://schemas.openxmlformats.org/drawingml/2006/main">
              <a:ext uri="{FF2B5EF4-FFF2-40B4-BE49-F238E27FC236}">
                <a16:creationId xmlns:a16="http://schemas.microsoft.com/office/drawing/2014/main" id="{7A4E23A0-BBD9-4428-9502-0DE2358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7750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Enforce current scope and permissions across task steps</a:t>
            </a:r>
          </a:p>
        </p:txBody>
      </p:sp>
      <p:sp>
        <p:nvSpPr>
          <p:cNvPr id="3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AA77107-E219-475D-B539-714B38E4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4290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4B8438E-20CE-4EDD-B1B6-EF8FEE2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4766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1" name="I">
            <a:extLst xmlns:a="http://schemas.openxmlformats.org/drawingml/2006/main">
              <a:ext uri="{FF2B5EF4-FFF2-40B4-BE49-F238E27FC236}">
                <a16:creationId xmlns:a16="http://schemas.microsoft.com/office/drawing/2014/main" id="{00925EB3-3FF0-4B62-BCC1-84F7E19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5280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2" name="Check proposed actions using independent evidence">
            <a:extLst xmlns:a="http://schemas.openxmlformats.org/drawingml/2006/main">
              <a:ext uri="{FF2B5EF4-FFF2-40B4-BE49-F238E27FC236}">
                <a16:creationId xmlns:a16="http://schemas.microsoft.com/office/drawing/2014/main" id="{351A301C-6C69-4369-B89A-7CF981B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35558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 proposed actions using independent evidence</a:t>
            </a:r>
          </a:p>
        </p:txBody>
      </p:sp>
      <p:sp>
        <p:nvSpPr>
          <p:cNvPr id="4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EF7A6B3-0287-4ABB-882D-8F78008E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0386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E8E6863-0C67-4DEB-A07A-D122DD7F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0862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5" name="II">
            <a:extLst xmlns:a="http://schemas.openxmlformats.org/drawingml/2006/main">
              <a:ext uri="{FF2B5EF4-FFF2-40B4-BE49-F238E27FC236}">
                <a16:creationId xmlns:a16="http://schemas.microsoft.com/office/drawing/2014/main" id="{99FA2E15-9232-4ECE-9F4D-8BF9F49B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1376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46" name="Assess retention after either agent or harness updates">
            <a:extLst xmlns:a="http://schemas.openxmlformats.org/drawingml/2006/main">
              <a:ext uri="{FF2B5EF4-FFF2-40B4-BE49-F238E27FC236}">
                <a16:creationId xmlns:a16="http://schemas.microsoft.com/office/drawing/2014/main" id="{20B31E2C-2D7C-4239-B2A3-DADF564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41654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Assess retention after either agent or harness updates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269FAEC-4F1D-43C6-9FEE-D9BBFBF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482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5592A3C-C049-4A54-99A0-F7754EC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6958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9" name="III">
            <a:extLst xmlns:a="http://schemas.openxmlformats.org/drawingml/2006/main">
              <a:ext uri="{FF2B5EF4-FFF2-40B4-BE49-F238E27FC236}">
                <a16:creationId xmlns:a16="http://schemas.microsoft.com/office/drawing/2014/main" id="{B66247DD-F37F-4819-94D4-AC549992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7472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50" name="Enforce inherited data limits and valid delegation scope">
            <a:extLst xmlns:a="http://schemas.openxmlformats.org/drawingml/2006/main">
              <a:ext uri="{FF2B5EF4-FFF2-40B4-BE49-F238E27FC236}">
                <a16:creationId xmlns:a16="http://schemas.microsoft.com/office/drawing/2014/main" id="{A448EF07-F73E-4546-AF0F-1BC9F01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47750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Enforce inherited data limits and valid delegation scope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9E07091-CDAC-4B6F-A416-6DEA6C1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5410200"/>
            <a:ext cx="13411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52" name="Shared human-approved requirements Φ">
            <a:extLst xmlns:a="http://schemas.openxmlformats.org/drawingml/2006/main">
              <a:ext uri="{FF2B5EF4-FFF2-40B4-BE49-F238E27FC236}">
                <a16:creationId xmlns:a16="http://schemas.microsoft.com/office/drawing/2014/main" id="{0B40E186-5DD8-443A-84B8-3C64365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5475351"/>
            <a:ext cx="1283970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Shared human-approved requirements Φ</a:t>
            </a:r>
          </a:p>
        </p:txBody>
      </p:sp>
      <p:sp>
        <p:nvSpPr>
          <p:cNvPr id="53" name="Task criteria · security properties · authorization scope">
            <a:extLst xmlns:a="http://schemas.openxmlformats.org/drawingml/2006/main">
              <a:ext uri="{FF2B5EF4-FFF2-40B4-BE49-F238E27FC236}">
                <a16:creationId xmlns:a16="http://schemas.microsoft.com/office/drawing/2014/main" id="{10D8347E-4D6B-4AAA-91B5-215831D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5890260"/>
            <a:ext cx="128397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Task criteria · security properties · authorization scope</a:t>
            </a:r>
          </a:p>
        </p:txBody>
      </p:sp>
      <p:sp>
        <p:nvSpPr>
          <p:cNvPr id="5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95450B6-EFA6-4B78-99A4-4D8790AE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6562725"/>
            <a:ext cx="9867900" cy="333375"/>
          </a:xfrm>
          <a:custGeom xmlns:a="http://schemas.openxmlformats.org/drawingml/2006/main">
            <a:pathLst>
              <a:path w="9867900" h="333375">
                <a:moveTo>
                  <a:pt x="0" y="333375"/>
                </a:moveTo>
                <a:lnTo>
                  <a:pt x="0" y="0"/>
                </a:lnTo>
                <a:lnTo>
                  <a:pt x="9867900" y="0"/>
                </a:lnTo>
                <a:lnTo>
                  <a:pt x="986790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5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0114CB9C-8486-4E7D-93A0-62FD646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013" y="67437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5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CA13368-0187-44A7-96EC-35207C72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6381750"/>
            <a:ext cx="1819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scoped approvals">
            <a:extLst xmlns:a="http://schemas.openxmlformats.org/drawingml/2006/main">
              <a:ext uri="{FF2B5EF4-FFF2-40B4-BE49-F238E27FC236}">
                <a16:creationId xmlns:a16="http://schemas.microsoft.com/office/drawing/2014/main" id="{B7999E41-F97E-4C31-A910-5A427A03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6396419"/>
            <a:ext cx="18192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scoped approvals</a:t>
            </a:r>
          </a:p>
        </p:txBody>
      </p:sp>
      <p:sp>
        <p:nvSpPr>
          <p:cNvPr id="5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AC9F637-62CC-4B4C-8E9B-2374062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6896100"/>
            <a:ext cx="35147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5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8C9C24C-0BA1-41D0-A940-F9F77DA0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0" name="I">
            <a:extLst xmlns:a="http://schemas.openxmlformats.org/drawingml/2006/main">
              <a:ext uri="{FF2B5EF4-FFF2-40B4-BE49-F238E27FC236}">
                <a16:creationId xmlns:a16="http://schemas.microsoft.com/office/drawing/2014/main" id="{6C2303DE-9663-4945-8785-2A3AC15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61" name="Action assurance">
            <a:extLst xmlns:a="http://schemas.openxmlformats.org/drawingml/2006/main">
              <a:ext uri="{FF2B5EF4-FFF2-40B4-BE49-F238E27FC236}">
                <a16:creationId xmlns:a16="http://schemas.microsoft.com/office/drawing/2014/main" id="{985EAFD0-6158-46AF-BF69-766944FA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7319010"/>
            <a:ext cx="2257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Action assurance</a:t>
            </a:r>
          </a:p>
        </p:txBody>
      </p:sp>
      <p:sp>
        <p:nvSpPr>
          <p:cNvPr id="6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B54786D-2026-4F7B-B3FD-778F749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6896100"/>
            <a:ext cx="3629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6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0E2FCDB-7E4A-43DD-AF0A-D6AC4BB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4" name="II">
            <a:extLst xmlns:a="http://schemas.openxmlformats.org/drawingml/2006/main">
              <a:ext uri="{FF2B5EF4-FFF2-40B4-BE49-F238E27FC236}">
                <a16:creationId xmlns:a16="http://schemas.microsoft.com/office/drawing/2014/main" id="{213DFF7C-9312-4C26-8275-12BC2F1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65" name="Safety retention">
            <a:extLst xmlns:a="http://schemas.openxmlformats.org/drawingml/2006/main">
              <a:ext uri="{FF2B5EF4-FFF2-40B4-BE49-F238E27FC236}">
                <a16:creationId xmlns:a16="http://schemas.microsoft.com/office/drawing/2014/main" id="{929343A2-655D-4898-B5C5-64E08231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7319010"/>
            <a:ext cx="2371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Safety retention</a:t>
            </a:r>
          </a:p>
        </p:txBody>
      </p:sp>
      <p:sp>
        <p:nvSpPr>
          <p:cNvPr id="6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2CF9F4E-94F7-4620-98AC-58FDBE06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13" y="689610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6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4F5E6C9-A8E4-4052-8909-9784BC3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538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8" name="III">
            <a:extLst xmlns:a="http://schemas.openxmlformats.org/drawingml/2006/main">
              <a:ext uri="{FF2B5EF4-FFF2-40B4-BE49-F238E27FC236}">
                <a16:creationId xmlns:a16="http://schemas.microsoft.com/office/drawing/2014/main" id="{750EA5F0-7D47-474C-90D5-1EBB7EC8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538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69" name="Workflow control">
            <a:extLst xmlns:a="http://schemas.openxmlformats.org/drawingml/2006/main">
              <a:ext uri="{FF2B5EF4-FFF2-40B4-BE49-F238E27FC236}">
                <a16:creationId xmlns:a16="http://schemas.microsoft.com/office/drawing/2014/main" id="{B58B743E-50BE-457C-B6F2-5957E00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7319010"/>
            <a:ext cx="22669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Workflow control</a:t>
            </a:r>
          </a:p>
        </p:txBody>
      </p:sp>
      <p:sp>
        <p:nvSpPr>
          <p:cNvPr id="7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44313BF-BF54-4DB6-BB6C-F053522E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388" y="7639050"/>
            <a:ext cx="1371600" cy="9525"/>
          </a:xfrm>
          <a:custGeom xmlns:a="http://schemas.openxmlformats.org/drawingml/2006/main"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7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23EDEB5-383C-448E-BC3E-CCC5AB5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75723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72" name="checked">
            <a:extLst xmlns:a="http://schemas.openxmlformats.org/drawingml/2006/main">
              <a:ext uri="{FF2B5EF4-FFF2-40B4-BE49-F238E27FC236}">
                <a16:creationId xmlns:a16="http://schemas.microsoft.com/office/drawing/2014/main" id="{A8E428FD-1F77-46BB-BC20-ADCC431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7036308"/>
            <a:ext cx="11906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checked</a:t>
            </a:r>
          </a:p>
        </p:txBody>
      </p:sp>
      <p:sp>
        <p:nvSpPr>
          <p:cNvPr id="73" name="feedback">
            <a:extLst xmlns:a="http://schemas.openxmlformats.org/drawingml/2006/main">
              <a:ext uri="{FF2B5EF4-FFF2-40B4-BE49-F238E27FC236}">
                <a16:creationId xmlns:a16="http://schemas.microsoft.com/office/drawing/2014/main" id="{3D0557DB-22EB-49BF-BFB1-82A83DD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7329488"/>
            <a:ext cx="11906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7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58631C4-68A7-4371-A1E9-1A7A66F3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013" y="7639050"/>
            <a:ext cx="1371600" cy="9525"/>
          </a:xfrm>
          <a:custGeom xmlns:a="http://schemas.openxmlformats.org/drawingml/2006/main"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7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76972F6-92CB-4AB0-A653-44EC592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213" y="75723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76" name="version +">
            <a:extLst xmlns:a="http://schemas.openxmlformats.org/drawingml/2006/main">
              <a:ext uri="{FF2B5EF4-FFF2-40B4-BE49-F238E27FC236}">
                <a16:creationId xmlns:a16="http://schemas.microsoft.com/office/drawing/2014/main" id="{261955A3-F28B-4A53-B16A-ACAF201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7036308"/>
            <a:ext cx="11334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version +</a:t>
            </a:r>
          </a:p>
        </p:txBody>
      </p:sp>
      <p:sp>
        <p:nvSpPr>
          <p:cNvPr id="77" name="evidence">
            <a:extLst xmlns:a="http://schemas.openxmlformats.org/drawingml/2006/main">
              <a:ext uri="{FF2B5EF4-FFF2-40B4-BE49-F238E27FC236}">
                <a16:creationId xmlns:a16="http://schemas.microsoft.com/office/drawing/2014/main" id="{22580E84-4ED7-42F6-A93B-B9408CD8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7329488"/>
            <a:ext cx="11334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7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298BFE4-F687-489E-B04A-88EF1BC5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8096250"/>
            <a:ext cx="9867900" cy="476250"/>
          </a:xfrm>
          <a:custGeom xmlns:a="http://schemas.openxmlformats.org/drawingml/2006/main">
            <a:pathLst>
              <a:path w="9867900" h="476250">
                <a:moveTo>
                  <a:pt x="9867900" y="0"/>
                </a:moveTo>
                <a:lnTo>
                  <a:pt x="986790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dash"/>
          </a:ln>
        </p:spPr>
      </p:sp>
      <p:sp>
        <p:nvSpPr>
          <p:cNvPr id="7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A83D03E-EB15-4D62-958E-D58FA0A3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13" y="80962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8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0086617-1176-45FC-BFDA-6B99A8B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809625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dash"/>
          </a:ln>
        </p:spPr>
      </p:sp>
      <p:sp>
        <p:nvSpPr>
          <p:cNvPr id="8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68C108C-1258-4480-9A17-C18B610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80962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82" name="workflow feedback">
            <a:extLst xmlns:a="http://schemas.openxmlformats.org/drawingml/2006/main">
              <a:ext uri="{FF2B5EF4-FFF2-40B4-BE49-F238E27FC236}">
                <a16:creationId xmlns:a16="http://schemas.microsoft.com/office/drawing/2014/main" id="{1026FA58-CB08-400D-BEAF-DACD6678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8634127"/>
            <a:ext cx="3314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workflow feedback</a:t>
            </a:r>
          </a:p>
        </p:txBody>
      </p:sp>
      <p:sp>
        <p:nvSpPr>
          <p:cNvPr id="83" name="Formal claims require faithful models, sound checking, and trust">
            <a:extLst xmlns:a="http://schemas.openxmlformats.org/drawingml/2006/main">
              <a:ext uri="{FF2B5EF4-FFF2-40B4-BE49-F238E27FC236}">
                <a16:creationId xmlns:a16="http://schemas.microsoft.com/office/drawing/2014/main" id="{190A2B6B-4622-486B-BD07-05550937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9267254"/>
            <a:ext cx="10172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Formal claims require faithful models, sound checking, and trusted enforcement;</a:t>
            </a:r>
          </a:p>
        </p:txBody>
      </p:sp>
      <p:sp>
        <p:nvSpPr>
          <p:cNvPr id="84" name="tests provide evidence for evaluated conditions.">
            <a:extLst xmlns:a="http://schemas.openxmlformats.org/drawingml/2006/main">
              <a:ext uri="{FF2B5EF4-FFF2-40B4-BE49-F238E27FC236}">
                <a16:creationId xmlns:a16="http://schemas.microsoft.com/office/drawing/2014/main" id="{B55591AC-2957-4BDB-8B35-626B736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9582150"/>
            <a:ext cx="10172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tests provide evidence for evaluated conditions.</a:t>
            </a:r>
          </a:p>
        </p:txBody>
      </p:sp>
    </p:spTree>
    <p:extLst>
      <p:ext uri="{BB962C8B-B14F-4D97-AF65-F5344CB8AC3E}">
        <p14:creationId xmlns:p14="http://schemas.microsoft.com/office/powerpoint/2010/main" val="659688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Formal Oversight Before Action">
            <a:extLst xmlns:a="http://schemas.openxmlformats.org/drawingml/2006/main">
              <a:ext uri="{FF2B5EF4-FFF2-40B4-BE49-F238E27FC236}">
                <a16:creationId xmlns:a16="http://schemas.microsoft.com/office/drawing/2014/main" id="{3BD02DE2-6FCD-4C95-99AB-8A4E2F8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207008"/>
            <a:ext cx="12573000" cy="586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50509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50509"/>
                </a:solidFill>
                <a:latin typeface="Arial"/>
                <a:ea typeface="Arial"/>
                <a:cs typeface="Arial"/>
              </a:rPr>
              <a:t>Formal Oversight Before Action</a:t>
            </a:r>
          </a:p>
        </p:txBody>
      </p:sp>
      <p:sp>
        <p:nvSpPr>
          <p:cNvPr id="2" name="Proposed framework: specify properties, prove obligations, enfor">
            <a:extLst xmlns:a="http://schemas.openxmlformats.org/drawingml/2006/main">
              <a:ext uri="{FF2B5EF4-FFF2-40B4-BE49-F238E27FC236}">
                <a16:creationId xmlns:a16="http://schemas.microsoft.com/office/drawing/2014/main" id="{A62F9A8D-CB86-4B87-9BD5-4F68E3FF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1908239"/>
            <a:ext cx="1304925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Proposed framework: specify properties, prove obligations, enforce execution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91712D7-BDE2-48E3-B0E4-74A5D08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3" y="2652713"/>
            <a:ext cx="5286375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B8622E3-D32E-4D39-B8E9-6541C4A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263" y="2652713"/>
            <a:ext cx="5534025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47BAA02-3628-46E9-819E-D3523A70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763" y="2652713"/>
            <a:ext cx="5048250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" name="1   Formal specification">
            <a:extLst xmlns:a="http://schemas.openxmlformats.org/drawingml/2006/main">
              <a:ext uri="{FF2B5EF4-FFF2-40B4-BE49-F238E27FC236}">
                <a16:creationId xmlns:a16="http://schemas.microsoft.com/office/drawing/2014/main" id="{C6E7EBD1-3A17-47A7-8800-0278058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830259"/>
            <a:ext cx="478155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1   Formal specification</a:t>
            </a:r>
          </a:p>
        </p:txBody>
      </p:sp>
      <p:sp>
        <p:nvSpPr>
          <p:cNvPr id="7" name="2   Formal proof checking">
            <a:extLst xmlns:a="http://schemas.openxmlformats.org/drawingml/2006/main">
              <a:ext uri="{FF2B5EF4-FFF2-40B4-BE49-F238E27FC236}">
                <a16:creationId xmlns:a16="http://schemas.microsoft.com/office/drawing/2014/main" id="{6CA76653-E561-4903-9D88-BC2175F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2830259"/>
            <a:ext cx="514350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2   Formal proof checking</a:t>
            </a:r>
          </a:p>
        </p:txBody>
      </p:sp>
      <p:sp>
        <p:nvSpPr>
          <p:cNvPr id="8" name="3   Execution gate">
            <a:extLst xmlns:a="http://schemas.openxmlformats.org/drawingml/2006/main">
              <a:ext uri="{FF2B5EF4-FFF2-40B4-BE49-F238E27FC236}">
                <a16:creationId xmlns:a16="http://schemas.microsoft.com/office/drawing/2014/main" id="{7D8634C4-73D6-43D0-91F3-CD91123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788" y="2830259"/>
            <a:ext cx="464820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3   Execution gate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592C041-8408-49F1-8065-53C8E25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3576638"/>
            <a:ext cx="486727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10" name="Approved specification Φ">
            <a:extLst xmlns:a="http://schemas.openxmlformats.org/drawingml/2006/main">
              <a:ext uri="{FF2B5EF4-FFF2-40B4-BE49-F238E27FC236}">
                <a16:creationId xmlns:a16="http://schemas.microsoft.com/office/drawing/2014/main" id="{F3C51BC2-3EC2-40D1-9F97-D382A14F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3916680"/>
            <a:ext cx="43910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Approved specification Φ</a:t>
            </a:r>
          </a:p>
        </p:txBody>
      </p:sp>
      <p:sp>
        <p:nvSpPr>
          <p:cNvPr id="11" name="Task correctness + security">
            <a:extLst xmlns:a="http://schemas.openxmlformats.org/drawingml/2006/main">
              <a:ext uri="{FF2B5EF4-FFF2-40B4-BE49-F238E27FC236}">
                <a16:creationId xmlns:a16="http://schemas.microsoft.com/office/drawing/2014/main" id="{4629E563-003B-4D67-8CF1-0187099B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4488085"/>
            <a:ext cx="43910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Task correctness + security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B306311-DCF9-4BBF-BFED-1DB3DAF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5662613"/>
            <a:ext cx="4867275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383">
            <a:solidFill>
              <a:srgbClr val="D0D0D0"/>
            </a:solidFill>
            <a:prstDash val="solid"/>
          </a:ln>
        </p:spPr>
      </p:sp>
      <p:sp>
        <p:nvSpPr>
          <p:cNvPr id="13" name="Example security property">
            <a:extLst xmlns:a="http://schemas.openxmlformats.org/drawingml/2006/main">
              <a:ext uri="{FF2B5EF4-FFF2-40B4-BE49-F238E27FC236}">
                <a16:creationId xmlns:a16="http://schemas.microsoft.com/office/drawing/2014/main" id="{35FA153A-565B-4DD0-A4B1-4245C2E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5846064"/>
            <a:ext cx="43338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Example security property</a:t>
            </a:r>
          </a:p>
        </p:txBody>
      </p:sp>
      <p:sp>
        <p:nvSpPr>
          <p:cNvPr id="14" name="always:  Send(d, r) ⇒ Authorized(d, r)">
            <a:extLst xmlns:a="http://schemas.openxmlformats.org/drawingml/2006/main">
              <a:ext uri="{FF2B5EF4-FFF2-40B4-BE49-F238E27FC236}">
                <a16:creationId xmlns:a16="http://schemas.microsoft.com/office/drawing/2014/main" id="{E250A09C-EDBC-45AE-AD29-070570E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6381464"/>
            <a:ext cx="45148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always:  Send(d, r) ⇒ Authorized(d, r)</a:t>
            </a:r>
          </a:p>
        </p:txBody>
      </p:sp>
      <p:sp>
        <p:nvSpPr>
          <p:cNvPr id="15" name="Every send must be authorized.">
            <a:extLst xmlns:a="http://schemas.openxmlformats.org/drawingml/2006/main">
              <a:ext uri="{FF2B5EF4-FFF2-40B4-BE49-F238E27FC236}">
                <a16:creationId xmlns:a16="http://schemas.microsoft.com/office/drawing/2014/main" id="{990A98BF-6A6F-4818-9FA8-6F9EC8F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6933248"/>
            <a:ext cx="43338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Every send must be authorized.</a:t>
            </a:r>
          </a:p>
        </p:txBody>
      </p:sp>
      <p:sp>
        <p:nvSpPr>
          <p:cNvPr id="16" name="Review intent. Protect the specification.">
            <a:extLst xmlns:a="http://schemas.openxmlformats.org/drawingml/2006/main">
              <a:ext uri="{FF2B5EF4-FFF2-40B4-BE49-F238E27FC236}">
                <a16:creationId xmlns:a16="http://schemas.microsoft.com/office/drawing/2014/main" id="{699B25A2-B1DD-4FBC-8D1E-1CAE584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7985760"/>
            <a:ext cx="48101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Review intent. Protect the specification.</a:t>
            </a:r>
          </a:p>
        </p:txBody>
      </p:sp>
      <p:sp>
        <p:nvSpPr>
          <p:cNvPr id="17" name="Φ">
            <a:extLst xmlns:a="http://schemas.openxmlformats.org/drawingml/2006/main">
              <a:ext uri="{FF2B5EF4-FFF2-40B4-BE49-F238E27FC236}">
                <a16:creationId xmlns:a16="http://schemas.microsoft.com/office/drawing/2014/main" id="{52049CC9-81FD-4423-A522-391568D6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5054918"/>
            <a:ext cx="4667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1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B828B16-8A3E-4F37-BBCF-D7EB00A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5576888"/>
            <a:ext cx="676275" cy="9525"/>
          </a:xfrm>
          <a:custGeom xmlns:a="http://schemas.openxmlformats.org/drawingml/2006/main">
            <a:pathLst>
              <a:path w="676275" h="952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1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7EF79D3-5AC0-40B3-9341-2675EF3A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551021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2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6AE0BCD-96AB-412E-B5A5-F53949D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3576638"/>
            <a:ext cx="4533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21" name="Generate logical obligations">
            <a:extLst xmlns:a="http://schemas.openxmlformats.org/drawingml/2006/main">
              <a:ext uri="{FF2B5EF4-FFF2-40B4-BE49-F238E27FC236}">
                <a16:creationId xmlns:a16="http://schemas.microsoft.com/office/drawing/2014/main" id="{28A5CEB3-163A-41FC-B6FA-D548D9B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728085"/>
            <a:ext cx="41529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Generate logical obligations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49441E3-74C6-411B-B1CD-1F98435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224338"/>
            <a:ext cx="41624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23" name="O := Obligations(M(x), Φ)">
            <a:extLst xmlns:a="http://schemas.openxmlformats.org/drawingml/2006/main">
              <a:ext uri="{FF2B5EF4-FFF2-40B4-BE49-F238E27FC236}">
                <a16:creationId xmlns:a16="http://schemas.microsoft.com/office/drawing/2014/main" id="{B9B9DFE5-0722-4B2D-AC42-B34F4758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4321397"/>
            <a:ext cx="39909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O := Obligations(M(x), Φ)</a:t>
            </a:r>
          </a:p>
        </p:txBody>
      </p:sp>
      <p:sp>
        <p:nvSpPr>
          <p:cNvPr id="24" name="Model the candidate and tool effects.">
            <a:extLst xmlns:a="http://schemas.openxmlformats.org/drawingml/2006/main">
              <a:ext uri="{FF2B5EF4-FFF2-40B4-BE49-F238E27FC236}">
                <a16:creationId xmlns:a16="http://schemas.microsoft.com/office/drawing/2014/main" id="{1918F6A7-C98D-4F47-BBA1-22580E50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881944"/>
            <a:ext cx="41624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Model the candidate and tool effects.</a:t>
            </a:r>
          </a:p>
        </p:txBody>
      </p:sp>
      <p:sp>
        <p:nvSpPr>
          <p:cNvPr id="2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3BC7B60-91CF-4E34-9771-08034B6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5367338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2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A01105A-E72C-48C3-816E-DB832BA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663" y="5643563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2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DAEAE90-E45F-4BFE-946A-1E072F14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5795963"/>
            <a:ext cx="4533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28" name="Prove and check every obligation">
            <a:extLst xmlns:a="http://schemas.openxmlformats.org/drawingml/2006/main">
              <a:ext uri="{FF2B5EF4-FFF2-40B4-BE49-F238E27FC236}">
                <a16:creationId xmlns:a16="http://schemas.microsoft.com/office/drawing/2014/main" id="{5B25B5BA-215C-436B-8158-4B89040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5931789"/>
            <a:ext cx="41433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Prove and check every obligation</a:t>
            </a:r>
          </a:p>
        </p:txBody>
      </p:sp>
      <p:sp>
        <p:nvSpPr>
          <p:cNvPr id="2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FF628BB-A7B1-40F4-9ED4-28B63D41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6443663"/>
            <a:ext cx="41624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30" name="SMT solver / proof assistant">
            <a:extLst xmlns:a="http://schemas.openxmlformats.org/drawingml/2006/main">
              <a:ext uri="{FF2B5EF4-FFF2-40B4-BE49-F238E27FC236}">
                <a16:creationId xmlns:a16="http://schemas.microsoft.com/office/drawing/2014/main" id="{45AC98BF-A79E-48DB-94BD-C5BF9F4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6533864"/>
            <a:ext cx="38957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SMT solver / proof assistant</a:t>
            </a:r>
          </a:p>
        </p:txBody>
      </p:sp>
      <p:sp>
        <p:nvSpPr>
          <p:cNvPr id="3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D0ACE5C-BCC5-4C49-AAA7-CDBFD433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6929438"/>
            <a:ext cx="4162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32" name="Check(proof, O) = valid">
            <a:extLst xmlns:a="http://schemas.openxmlformats.org/drawingml/2006/main">
              <a:ext uri="{FF2B5EF4-FFF2-40B4-BE49-F238E27FC236}">
                <a16:creationId xmlns:a16="http://schemas.microsoft.com/office/drawing/2014/main" id="{E9AF4F98-75F7-40C8-B8E1-71F4688B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7019639"/>
            <a:ext cx="38957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11151D"/>
                </a:solidFill>
                <a:latin typeface="Courier New"/>
                <a:ea typeface="Courier New"/>
                <a:cs typeface="Courier New"/>
              </a:rPr>
              <a:t>Check(proof, O) = valid</a:t>
            </a:r>
          </a:p>
        </p:txBody>
      </p:sp>
      <p:sp>
        <p:nvSpPr>
          <p:cNvPr id="3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F4D91B7-9E30-4116-9D29-51EBEDC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38613"/>
            <a:ext cx="523875" cy="2686050"/>
          </a:xfrm>
          <a:custGeom xmlns:a="http://schemas.openxmlformats.org/drawingml/2006/main">
            <a:pathLst>
              <a:path w="523875" h="2686050">
                <a:moveTo>
                  <a:pt x="0" y="2686050"/>
                </a:moveTo>
                <a:lnTo>
                  <a:pt x="523875" y="2686050"/>
                </a:lnTo>
                <a:lnTo>
                  <a:pt x="5238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dash"/>
          </a:ln>
        </p:spPr>
      </p:sp>
      <p:sp>
        <p:nvSpPr>
          <p:cNvPr id="3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6F1E8D9-A313-452B-922F-C7864469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071938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F6E746D-AB4D-42B2-9B4D-6E17BB5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963" y="4976813"/>
            <a:ext cx="7143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Repair">
            <a:extLst xmlns:a="http://schemas.openxmlformats.org/drawingml/2006/main">
              <a:ext uri="{FF2B5EF4-FFF2-40B4-BE49-F238E27FC236}">
                <a16:creationId xmlns:a16="http://schemas.microsoft.com/office/drawing/2014/main" id="{CE0C7426-C356-4198-B3BC-E40D4CD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007769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Repair</a:t>
            </a:r>
          </a:p>
        </p:txBody>
      </p:sp>
      <p:sp>
        <p:nvSpPr>
          <p:cNvPr id="37" name="candidate">
            <a:extLst xmlns:a="http://schemas.openxmlformats.org/drawingml/2006/main">
              <a:ext uri="{FF2B5EF4-FFF2-40B4-BE49-F238E27FC236}">
                <a16:creationId xmlns:a16="http://schemas.microsoft.com/office/drawing/2014/main" id="{576C4DF2-B241-48C4-B138-C60FD2EC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279231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candidate</a:t>
            </a:r>
          </a:p>
        </p:txBody>
      </p:sp>
      <p:sp>
        <p:nvSpPr>
          <p:cNvPr id="38" name="or proof">
            <a:extLst xmlns:a="http://schemas.openxmlformats.org/drawingml/2006/main">
              <a:ext uri="{FF2B5EF4-FFF2-40B4-BE49-F238E27FC236}">
                <a16:creationId xmlns:a16="http://schemas.microsoft.com/office/drawing/2014/main" id="{45A1AEFD-9933-4824-9C6A-A9A30C2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550694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or proof</a:t>
            </a:r>
          </a:p>
        </p:txBody>
      </p:sp>
      <p:sp>
        <p:nvSpPr>
          <p:cNvPr id="39" name="Verification target:">
            <a:extLst xmlns:a="http://schemas.openxmlformats.org/drawingml/2006/main">
              <a:ext uri="{FF2B5EF4-FFF2-40B4-BE49-F238E27FC236}">
                <a16:creationId xmlns:a16="http://schemas.microsoft.com/office/drawing/2014/main" id="{7C9C9EA8-59EE-48AA-95FC-A79A7B3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7940897"/>
            <a:ext cx="24384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Verification target:</a:t>
            </a:r>
          </a:p>
        </p:txBody>
      </p:sp>
      <p:sp>
        <p:nvSpPr>
          <p:cNvPr id="40" name="M(x) ⊨ Φ">
            <a:extLst xmlns:a="http://schemas.openxmlformats.org/drawingml/2006/main">
              <a:ext uri="{FF2B5EF4-FFF2-40B4-BE49-F238E27FC236}">
                <a16:creationId xmlns:a16="http://schemas.microsoft.com/office/drawing/2014/main" id="{29424F60-4903-4A16-A960-564C6A8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7924610"/>
            <a:ext cx="2447925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M(x) ⊨ Φ</a:t>
            </a:r>
          </a:p>
        </p:txBody>
      </p:sp>
      <p:sp>
        <p:nvSpPr>
          <p:cNvPr id="4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B84E62F-F88D-4866-9B69-7689D3A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138" y="5576888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4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AA6C07B-BC45-4051-B00E-D80D2D90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363" y="551021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4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BDB6562-4020-4F12-AF09-807CF85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363" y="3576638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44" name="Allow only when ALL hold">
            <a:extLst xmlns:a="http://schemas.openxmlformats.org/drawingml/2006/main">
              <a:ext uri="{FF2B5EF4-FFF2-40B4-BE49-F238E27FC236}">
                <a16:creationId xmlns:a16="http://schemas.microsoft.com/office/drawing/2014/main" id="{B421940F-FB8B-41AC-9D05-3C25540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3730181"/>
            <a:ext cx="42100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Allow only when ALL hold</a:t>
            </a:r>
          </a:p>
        </p:txBody>
      </p:sp>
      <p:sp>
        <p:nvSpPr>
          <p:cNvPr id="4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A4D46A1-1103-4446-9470-9423FDA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4224338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46" name="Proof accepted">
            <a:extLst xmlns:a="http://schemas.openxmlformats.org/drawingml/2006/main">
              <a:ext uri="{FF2B5EF4-FFF2-40B4-BE49-F238E27FC236}">
                <a16:creationId xmlns:a16="http://schemas.microsoft.com/office/drawing/2014/main" id="{46C828C2-709A-40EA-A1B6-40238FC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4300252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Proof accepted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5443715-1B42-40FA-86E1-C0B031F0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4748213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48" name="Artifact, model, spec match proof">
            <a:extLst xmlns:a="http://schemas.openxmlformats.org/drawingml/2006/main">
              <a:ext uri="{FF2B5EF4-FFF2-40B4-BE49-F238E27FC236}">
                <a16:creationId xmlns:a16="http://schemas.microsoft.com/office/drawing/2014/main" id="{B172B2EF-44AD-492F-AE18-9E2F6E0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4824127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Artifact, model, spec match proof</a:t>
            </a:r>
          </a:p>
        </p:txBody>
      </p:sp>
      <p:sp>
        <p:nvSpPr>
          <p:cNvPr id="4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67B96D6-B97F-41B7-B247-A323E6E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5272088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50" name="Permission valid at execution">
            <a:extLst xmlns:a="http://schemas.openxmlformats.org/drawingml/2006/main">
              <a:ext uri="{FF2B5EF4-FFF2-40B4-BE49-F238E27FC236}">
                <a16:creationId xmlns:a16="http://schemas.microsoft.com/office/drawing/2014/main" id="{FB03712E-25D2-4F94-A526-8AB69B90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5348002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Permission valid at execution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D13E184-A75C-4B71-9E22-2AFF0B7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5795963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52" name="Model assumptions still hold">
            <a:extLst xmlns:a="http://schemas.openxmlformats.org/drawingml/2006/main">
              <a:ext uri="{FF2B5EF4-FFF2-40B4-BE49-F238E27FC236}">
                <a16:creationId xmlns:a16="http://schemas.microsoft.com/office/drawing/2014/main" id="{8BA86189-4ED4-4EC7-B282-E8CC033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5871877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Model assumptions still hold</a:t>
            </a:r>
          </a:p>
        </p:txBody>
      </p:sp>
      <p:sp>
        <p:nvSpPr>
          <p:cNvPr id="5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63DBFA5-865F-472F-BE8E-6E1F830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888" y="6434138"/>
            <a:ext cx="9525" cy="390525"/>
          </a:xfrm>
          <a:custGeom xmlns:a="http://schemas.openxmlformats.org/drawingml/2006/main"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453FA4B-552A-4176-97F0-5A3C5A5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0338" y="6824663"/>
            <a:ext cx="971550" cy="466725"/>
          </a:xfrm>
          <a:custGeom xmlns:a="http://schemas.openxmlformats.org/drawingml/2006/main">
            <a:pathLst>
              <a:path w="971550" h="466725">
                <a:moveTo>
                  <a:pt x="971550" y="0"/>
                </a:moveTo>
                <a:lnTo>
                  <a:pt x="0" y="0"/>
                </a:ln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811E227-69C7-4C2F-9C3B-893CC258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3" y="71389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5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C7D919A-8825-42E2-9D09-73BB5EC1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888" y="6824663"/>
            <a:ext cx="809625" cy="466725"/>
          </a:xfrm>
          <a:custGeom xmlns:a="http://schemas.openxmlformats.org/drawingml/2006/main">
            <a:pathLst>
              <a:path w="809625" h="466725">
                <a:moveTo>
                  <a:pt x="0" y="0"/>
                </a:moveTo>
                <a:lnTo>
                  <a:pt x="809625" y="0"/>
                </a:lnTo>
                <a:lnTo>
                  <a:pt x="809625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1FE9789-949D-43E1-B5F6-DA1D772F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838" y="71389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58" name="all true">
            <a:extLst xmlns:a="http://schemas.openxmlformats.org/drawingml/2006/main">
              <a:ext uri="{FF2B5EF4-FFF2-40B4-BE49-F238E27FC236}">
                <a16:creationId xmlns:a16="http://schemas.microsoft.com/office/drawing/2014/main" id="{9BDD81C0-38A7-4501-BDB5-DCA8404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3" y="6760369"/>
            <a:ext cx="9239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all true</a:t>
            </a:r>
          </a:p>
        </p:txBody>
      </p:sp>
      <p:sp>
        <p:nvSpPr>
          <p:cNvPr id="59" name="false or unknown">
            <a:extLst xmlns:a="http://schemas.openxmlformats.org/drawingml/2006/main">
              <a:ext uri="{FF2B5EF4-FFF2-40B4-BE49-F238E27FC236}">
                <a16:creationId xmlns:a16="http://schemas.microsoft.com/office/drawing/2014/main" id="{09AEDB00-973A-4B5D-A762-5C90F21C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238" y="6765798"/>
            <a:ext cx="14382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false or unknown</a:t>
            </a:r>
          </a:p>
        </p:txBody>
      </p:sp>
      <p:sp>
        <p:nvSpPr>
          <p:cNvPr id="6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350543A-39DC-4656-AAF5-C354CD4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363" y="7291388"/>
            <a:ext cx="2209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5A7DD81-FA4D-41E4-99D6-BCCB0442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38" y="7291388"/>
            <a:ext cx="21812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2" name="Execute">
            <a:extLst xmlns:a="http://schemas.openxmlformats.org/drawingml/2006/main">
              <a:ext uri="{FF2B5EF4-FFF2-40B4-BE49-F238E27FC236}">
                <a16:creationId xmlns:a16="http://schemas.microsoft.com/office/drawing/2014/main" id="{9F14E297-BDCD-4B89-82A3-F9336AB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138" y="7412260"/>
            <a:ext cx="200025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Execute</a:t>
            </a:r>
          </a:p>
        </p:txBody>
      </p:sp>
      <p:sp>
        <p:nvSpPr>
          <p:cNvPr id="63" name="Defer / review">
            <a:extLst xmlns:a="http://schemas.openxmlformats.org/drawingml/2006/main">
              <a:ext uri="{FF2B5EF4-FFF2-40B4-BE49-F238E27FC236}">
                <a16:creationId xmlns:a16="http://schemas.microsoft.com/office/drawing/2014/main" id="{88078208-AFAE-4363-84DD-4ACC917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2388" y="7412260"/>
            <a:ext cx="20574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Defer / review</a:t>
            </a:r>
          </a:p>
        </p:txBody>
      </p:sp>
      <p:sp>
        <p:nvSpPr>
          <p:cNvPr id="64" name="Enforce through trusted controls.">
            <a:extLst xmlns:a="http://schemas.openxmlformats.org/drawingml/2006/main">
              <a:ext uri="{FF2B5EF4-FFF2-40B4-BE49-F238E27FC236}">
                <a16:creationId xmlns:a16="http://schemas.microsoft.com/office/drawing/2014/main" id="{0F741154-7828-4B02-80D6-A0945AA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8042910"/>
            <a:ext cx="45243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Enforce through trusted controls.</a:t>
            </a:r>
          </a:p>
        </p:txBody>
      </p:sp>
      <p:sp>
        <p:nvSpPr>
          <p:cNvPr id="65" name="Assurance requires faithful models, sound proof checking, and tr">
            <a:extLst xmlns:a="http://schemas.openxmlformats.org/drawingml/2006/main">
              <a:ext uri="{FF2B5EF4-FFF2-40B4-BE49-F238E27FC236}">
                <a16:creationId xmlns:a16="http://schemas.microsoft.com/office/drawing/2014/main" id="{D762998B-191C-4B1D-AAE4-2E034656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8733473"/>
            <a:ext cx="113347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Assurance requires faithful models, sound proof checking, and trusted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251440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reserving Safety Through Continual Updates">
            <a:extLst xmlns:a="http://schemas.openxmlformats.org/drawingml/2006/main">
              <a:ext uri="{FF2B5EF4-FFF2-40B4-BE49-F238E27FC236}">
                <a16:creationId xmlns:a16="http://schemas.microsoft.com/office/drawing/2014/main" id="{8D3994EC-5EC8-42C2-92A1-41B4AB1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1227963"/>
            <a:ext cx="13144500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8090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8090B"/>
                </a:solidFill>
                <a:latin typeface="Arial"/>
                <a:ea typeface="Arial"/>
                <a:cs typeface="Arial"/>
              </a:rPr>
              <a:t>Preserving Safety Through Continual Updates</a:t>
            </a:r>
          </a:p>
        </p:txBody>
      </p:sp>
      <p:sp>
        <p:nvSpPr>
          <p:cNvPr id="2" name="LLM or harness changes can invalidate existing guardrails">
            <a:extLst xmlns:a="http://schemas.openxmlformats.org/drawingml/2006/main">
              <a:ext uri="{FF2B5EF4-FFF2-40B4-BE49-F238E27FC236}">
                <a16:creationId xmlns:a16="http://schemas.microsoft.com/office/drawing/2014/main" id="{2B11B677-4738-4E02-BEF9-8A41A534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88" y="1773555"/>
            <a:ext cx="120967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or harness changes can invalidate existing guardrails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9193F22-30A2-4E4D-B317-8A6D3AB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2481263"/>
            <a:ext cx="505777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2841B00-AA3F-488C-89F9-87743E6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2481263"/>
            <a:ext cx="494347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2337090-85BE-460C-A76A-CECC325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288" y="2481263"/>
            <a:ext cx="503872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6B1F57C-8443-4588-83DE-68E224A6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7" name="1">
            <a:extLst xmlns:a="http://schemas.openxmlformats.org/drawingml/2006/main">
              <a:ext uri="{FF2B5EF4-FFF2-40B4-BE49-F238E27FC236}">
                <a16:creationId xmlns:a16="http://schemas.microsoft.com/office/drawing/2014/main" id="{F96D3AB9-8404-4AA1-94F3-88046CE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8" name="Propose Δ">
            <a:extLst xmlns:a="http://schemas.openxmlformats.org/drawingml/2006/main">
              <a:ext uri="{FF2B5EF4-FFF2-40B4-BE49-F238E27FC236}">
                <a16:creationId xmlns:a16="http://schemas.microsoft.com/office/drawing/2014/main" id="{D42BD1EC-57BC-4826-BFC9-B3C6CE3D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2629472"/>
            <a:ext cx="3152775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Propose Δ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9C2FA90-E5DE-4EC7-8312-8451789E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34AD8980-9A6A-4827-B195-6584672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1" name="Revalidate protection">
            <a:extLst xmlns:a="http://schemas.openxmlformats.org/drawingml/2006/main">
              <a:ext uri="{FF2B5EF4-FFF2-40B4-BE49-F238E27FC236}">
                <a16:creationId xmlns:a16="http://schemas.microsoft.com/office/drawing/2014/main" id="{58D7C1B5-0A05-4AEF-AEB0-7942A9F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629472"/>
            <a:ext cx="3209925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Revalidate protection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E49E6D9-06AB-45EF-9D69-BD7D918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38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EF738ADD-410E-42D7-AD2D-44C2D15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38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4" name="Apply validated Δ">
            <a:extLst xmlns:a="http://schemas.openxmlformats.org/drawingml/2006/main">
              <a:ext uri="{FF2B5EF4-FFF2-40B4-BE49-F238E27FC236}">
                <a16:creationId xmlns:a16="http://schemas.microsoft.com/office/drawing/2014/main" id="{74EB9348-D7F7-4FAF-AE18-01CE6DF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2629472"/>
            <a:ext cx="335280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Apply validated Δ</a:t>
            </a:r>
          </a:p>
        </p:txBody>
      </p:sp>
      <p:sp>
        <p:nvSpPr>
          <p:cNvPr id="1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2A456FF-DB90-47B6-8714-FDB127B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8" y="3262313"/>
            <a:ext cx="44196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16" name="Current system">
            <a:extLst xmlns:a="http://schemas.openxmlformats.org/drawingml/2006/main">
              <a:ext uri="{FF2B5EF4-FFF2-40B4-BE49-F238E27FC236}">
                <a16:creationId xmlns:a16="http://schemas.microsoft.com/office/drawing/2014/main" id="{44A60951-BDC7-498A-9233-8C47532E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3430143"/>
            <a:ext cx="400050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Current system</a:t>
            </a:r>
          </a:p>
        </p:txBody>
      </p:sp>
      <p:sp>
        <p:nvSpPr>
          <p:cNvPr id="17" name="Sₜ = (Lₜ, Hₜ)">
            <a:extLst xmlns:a="http://schemas.openxmlformats.org/drawingml/2006/main">
              <a:ext uri="{FF2B5EF4-FFF2-40B4-BE49-F238E27FC236}">
                <a16:creationId xmlns:a16="http://schemas.microsoft.com/office/drawing/2014/main" id="{84812984-E448-4047-AC42-4DE5956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3867722"/>
            <a:ext cx="350520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Sₜ = (Lₜ, Hₜ)</a:t>
            </a:r>
          </a:p>
        </p:txBody>
      </p:sp>
      <p:sp>
        <p:nvSpPr>
          <p:cNvPr id="18" name="LLM + harness, including guardrails">
            <a:extLst xmlns:a="http://schemas.openxmlformats.org/drawingml/2006/main">
              <a:ext uri="{FF2B5EF4-FFF2-40B4-BE49-F238E27FC236}">
                <a16:creationId xmlns:a16="http://schemas.microsoft.com/office/drawing/2014/main" id="{44444844-1155-4D06-9A2B-D3F8AE0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4410456"/>
            <a:ext cx="405765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+ harness, including guardrails</a:t>
            </a:r>
          </a:p>
        </p:txBody>
      </p:sp>
      <p:sp>
        <p:nvSpPr>
          <p:cNvPr id="1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4DE0AA2-F3CA-48B8-8657-78A098B1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5053013"/>
            <a:ext cx="4257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20" name="LLM learning">
            <a:extLst xmlns:a="http://schemas.openxmlformats.org/drawingml/2006/main">
              <a:ext uri="{FF2B5EF4-FFF2-40B4-BE49-F238E27FC236}">
                <a16:creationId xmlns:a16="http://schemas.microsoft.com/office/drawing/2014/main" id="{7FADEC1C-BF38-48A8-8700-8672E24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5165027"/>
            <a:ext cx="385762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learning</a:t>
            </a:r>
          </a:p>
        </p:txBody>
      </p:sp>
      <p:sp>
        <p:nvSpPr>
          <p:cNvPr id="21" name="Paired authorized tasks">
            <a:extLst xmlns:a="http://schemas.openxmlformats.org/drawingml/2006/main">
              <a:ext uri="{FF2B5EF4-FFF2-40B4-BE49-F238E27FC236}">
                <a16:creationId xmlns:a16="http://schemas.microsoft.com/office/drawing/2014/main" id="{3EDB53E7-EF49-4C03-9A38-6BAB04B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5582031"/>
            <a:ext cx="38576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Paired authorized tasks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BE4961B-04F1-4F70-ABEF-488FA540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6157913"/>
            <a:ext cx="42576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23" name="Harness upgrades">
            <a:extLst xmlns:a="http://schemas.openxmlformats.org/drawingml/2006/main">
              <a:ext uri="{FF2B5EF4-FFF2-40B4-BE49-F238E27FC236}">
                <a16:creationId xmlns:a16="http://schemas.microsoft.com/office/drawing/2014/main" id="{9131DD75-1482-45DA-A1CD-B457191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6269927"/>
            <a:ext cx="385762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Harness upgrades</a:t>
            </a:r>
          </a:p>
        </p:txBody>
      </p:sp>
      <p:sp>
        <p:nvSpPr>
          <p:cNvPr id="24" name="Tools · monitors · training feedback">
            <a:extLst xmlns:a="http://schemas.openxmlformats.org/drawingml/2006/main">
              <a:ext uri="{FF2B5EF4-FFF2-40B4-BE49-F238E27FC236}">
                <a16:creationId xmlns:a16="http://schemas.microsoft.com/office/drawing/2014/main" id="{CC472C59-CF16-449E-A9EB-6CA6C18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6686931"/>
            <a:ext cx="38957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Tools · monitors · training feedback</a:t>
            </a:r>
          </a:p>
        </p:txBody>
      </p:sp>
      <p:sp>
        <p:nvSpPr>
          <p:cNvPr id="25" name="Test a candidate before release.">
            <a:extLst xmlns:a="http://schemas.openxmlformats.org/drawingml/2006/main">
              <a:ext uri="{FF2B5EF4-FFF2-40B4-BE49-F238E27FC236}">
                <a16:creationId xmlns:a16="http://schemas.microsoft.com/office/drawing/2014/main" id="{C43CE20B-5F8C-49D4-A495-EBA26440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7524464"/>
            <a:ext cx="40576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Test a candidate before release.</a:t>
            </a:r>
          </a:p>
        </p:txBody>
      </p:sp>
      <p:sp>
        <p:nvSpPr>
          <p:cNvPr id="26" name="updated">
            <a:extLst xmlns:a="http://schemas.openxmlformats.org/drawingml/2006/main">
              <a:ext uri="{FF2B5EF4-FFF2-40B4-BE49-F238E27FC236}">
                <a16:creationId xmlns:a16="http://schemas.microsoft.com/office/drawing/2014/main" id="{E66A81C1-4EF1-4EBD-86E5-98B1F299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4575429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updated</a:t>
            </a:r>
          </a:p>
        </p:txBody>
      </p:sp>
      <p:sp>
        <p:nvSpPr>
          <p:cNvPr id="27" name="candidate">
            <a:extLst xmlns:a="http://schemas.openxmlformats.org/drawingml/2006/main">
              <a:ext uri="{FF2B5EF4-FFF2-40B4-BE49-F238E27FC236}">
                <a16:creationId xmlns:a16="http://schemas.microsoft.com/office/drawing/2014/main" id="{0CBCE4D2-FD6B-44DB-9C89-0275119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4857750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candidate</a:t>
            </a:r>
          </a:p>
        </p:txBody>
      </p:sp>
      <p:sp>
        <p:nvSpPr>
          <p:cNvPr id="2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D48FAA1-9530-4B5D-8B5C-6C734517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5214938"/>
            <a:ext cx="1133475" cy="9525"/>
          </a:xfrm>
          <a:custGeom xmlns:a="http://schemas.openxmlformats.org/drawingml/2006/main"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2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C70AB0E-D943-40C7-B8A9-4C7AAE1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514826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3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CC9ACFA-64A3-4B3F-8D99-858BEAA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252788"/>
            <a:ext cx="44862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31" name="Protected requirements">
            <a:extLst xmlns:a="http://schemas.openxmlformats.org/drawingml/2006/main">
              <a:ext uri="{FF2B5EF4-FFF2-40B4-BE49-F238E27FC236}">
                <a16:creationId xmlns:a16="http://schemas.microsoft.com/office/drawing/2014/main" id="{C5ACBE4D-7EAF-4E94-B39C-FDC7F27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364135"/>
            <a:ext cx="40862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Protected requirements</a:t>
            </a:r>
          </a:p>
        </p:txBody>
      </p:sp>
      <p:sp>
        <p:nvSpPr>
          <p:cNvPr id="32" name="Security · reliability · task completion">
            <a:extLst xmlns:a="http://schemas.openxmlformats.org/drawingml/2006/main">
              <a:ext uri="{FF2B5EF4-FFF2-40B4-BE49-F238E27FC236}">
                <a16:creationId xmlns:a16="http://schemas.microsoft.com/office/drawing/2014/main" id="{DEC657AD-C0D5-4860-B1A4-ED0496C7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3758660"/>
            <a:ext cx="42100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Security · reliability · task completion</a:t>
            </a:r>
          </a:p>
        </p:txBody>
      </p:sp>
      <p:sp>
        <p:nvSpPr>
          <p:cNvPr id="3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ECB4171-468E-4E7C-9D46-EDD1C5F4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319588"/>
            <a:ext cx="44862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34" name="Recheck existing guardrails">
            <a:extLst xmlns:a="http://schemas.openxmlformats.org/drawingml/2006/main">
              <a:ext uri="{FF2B5EF4-FFF2-40B4-BE49-F238E27FC236}">
                <a16:creationId xmlns:a16="http://schemas.microsoft.com/office/drawing/2014/main" id="{1423D3C1-BFEE-4ADE-88A9-3300A442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4388072"/>
            <a:ext cx="40862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Recheck existing guardrails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4235DBF-D200-4576-B34B-E71F469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824413"/>
            <a:ext cx="40100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478">
            <a:solidFill>
              <a:srgbClr val="9DA6AF"/>
            </a:solidFill>
            <a:prstDash val="solid"/>
          </a:ln>
        </p:spPr>
      </p:sp>
      <p:sp>
        <p:nvSpPr>
          <p:cNvPr id="36" name="PolicyOK">
            <a:extLst xmlns:a="http://schemas.openxmlformats.org/drawingml/2006/main">
              <a:ext uri="{FF2B5EF4-FFF2-40B4-BE49-F238E27FC236}">
                <a16:creationId xmlns:a16="http://schemas.microsoft.com/office/drawing/2014/main" id="{C4397355-94DC-4FE4-BB99-7C11163D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4876514"/>
            <a:ext cx="37433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PolicyOK</a:t>
            </a:r>
          </a:p>
        </p:txBody>
      </p:sp>
      <p:sp>
        <p:nvSpPr>
          <p:cNvPr id="37" name="Permissions · data boundaries">
            <a:extLst xmlns:a="http://schemas.openxmlformats.org/drawingml/2006/main">
              <a:ext uri="{FF2B5EF4-FFF2-40B4-BE49-F238E27FC236}">
                <a16:creationId xmlns:a16="http://schemas.microsoft.com/office/drawing/2014/main" id="{2EB960C3-E4C8-412A-8528-AE1C24F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5207794"/>
            <a:ext cx="37433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Permissions · data boundaries</a:t>
            </a:r>
          </a:p>
        </p:txBody>
      </p:sp>
      <p:sp>
        <p:nvSpPr>
          <p:cNvPr id="3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895A30A-456F-4A68-B10B-9F95538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643563"/>
            <a:ext cx="40100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478">
            <a:solidFill>
              <a:srgbClr val="9DA6AF"/>
            </a:solidFill>
            <a:prstDash val="solid"/>
          </a:ln>
        </p:spPr>
      </p:sp>
      <p:sp>
        <p:nvSpPr>
          <p:cNvPr id="39" name="RetentionOK">
            <a:extLst xmlns:a="http://schemas.openxmlformats.org/drawingml/2006/main">
              <a:ext uri="{FF2B5EF4-FFF2-40B4-BE49-F238E27FC236}">
                <a16:creationId xmlns:a16="http://schemas.microsoft.com/office/drawing/2014/main" id="{BB5FC411-B2D9-4826-99A8-3673A813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5695664"/>
            <a:ext cx="37433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RetentionOK</a:t>
            </a:r>
          </a:p>
        </p:txBody>
      </p:sp>
      <p:sp>
        <p:nvSpPr>
          <p:cNvPr id="40" name="Independent regression and adversarial tests">
            <a:extLst xmlns:a="http://schemas.openxmlformats.org/drawingml/2006/main">
              <a:ext uri="{FF2B5EF4-FFF2-40B4-BE49-F238E27FC236}">
                <a16:creationId xmlns:a16="http://schemas.microsoft.com/office/drawing/2014/main" id="{CDF05929-8471-4BE7-B01F-7AA1288E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6022181"/>
            <a:ext cx="380047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Independent regression and adversarial tests</a:t>
            </a:r>
          </a:p>
        </p:txBody>
      </p:sp>
      <p:sp>
        <p:nvSpPr>
          <p:cNvPr id="4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9E8CB5A-9C46-415F-BC22-E3CEDECA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6453188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4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6AD17306-DD71-4CAD-9DA4-CFB1034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6881813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43" name="fail / unknown">
            <a:extLst xmlns:a="http://schemas.openxmlformats.org/drawingml/2006/main">
              <a:ext uri="{FF2B5EF4-FFF2-40B4-BE49-F238E27FC236}">
                <a16:creationId xmlns:a16="http://schemas.microsoft.com/office/drawing/2014/main" id="{C0D82FE0-28BB-4691-8A06-3306DA4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6593014"/>
            <a:ext cx="1524000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fail / unknown</a:t>
            </a:r>
          </a:p>
        </p:txBody>
      </p:sp>
      <p:sp>
        <p:nvSpPr>
          <p:cNvPr id="4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25CF941-5351-4E4E-80D3-A0137B1E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6453188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581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dash"/>
          </a:ln>
        </p:spPr>
      </p:sp>
      <p:sp>
        <p:nvSpPr>
          <p:cNvPr id="4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14997BC-7C66-4EB0-95C1-1273958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64531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46" name="retest">
            <a:extLst xmlns:a="http://schemas.openxmlformats.org/drawingml/2006/main">
              <a:ext uri="{FF2B5EF4-FFF2-40B4-BE49-F238E27FC236}">
                <a16:creationId xmlns:a16="http://schemas.microsoft.com/office/drawing/2014/main" id="{FFBDF5E9-913D-4FEF-955D-90C5051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6593014"/>
            <a:ext cx="8858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retest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B41DAEB-1AB0-4C56-A2AE-9330857E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7034213"/>
            <a:ext cx="4495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48" name="Repair update or guardrails">
            <a:extLst xmlns:a="http://schemas.openxmlformats.org/drawingml/2006/main">
              <a:ext uri="{FF2B5EF4-FFF2-40B4-BE49-F238E27FC236}">
                <a16:creationId xmlns:a16="http://schemas.microsoft.com/office/drawing/2014/main" id="{1C851D41-F68E-41C2-B661-E4757575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7116985"/>
            <a:ext cx="41148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Repair update or guardrails</a:t>
            </a:r>
          </a:p>
        </p:txBody>
      </p:sp>
      <p:sp>
        <p:nvSpPr>
          <p:cNvPr id="49" name="Keep requirements unchanged">
            <a:extLst xmlns:a="http://schemas.openxmlformats.org/drawingml/2006/main">
              <a:ext uri="{FF2B5EF4-FFF2-40B4-BE49-F238E27FC236}">
                <a16:creationId xmlns:a16="http://schemas.microsoft.com/office/drawing/2014/main" id="{03B411A3-A4C4-4492-AD19-0BD6D8A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7506748"/>
            <a:ext cx="41148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Keep requirements unchanged</a:t>
            </a:r>
          </a:p>
        </p:txBody>
      </p:sp>
      <p:sp>
        <p:nvSpPr>
          <p:cNvPr id="50" name="checked">
            <a:extLst xmlns:a="http://schemas.openxmlformats.org/drawingml/2006/main">
              <a:ext uri="{FF2B5EF4-FFF2-40B4-BE49-F238E27FC236}">
                <a16:creationId xmlns:a16="http://schemas.microsoft.com/office/drawing/2014/main" id="{3B14544F-5376-415F-8EDF-6FD599F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388" y="4575429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51" name="evidence">
            <a:extLst xmlns:a="http://schemas.openxmlformats.org/drawingml/2006/main">
              <a:ext uri="{FF2B5EF4-FFF2-40B4-BE49-F238E27FC236}">
                <a16:creationId xmlns:a16="http://schemas.microsoft.com/office/drawing/2014/main" id="{147E1FA6-831D-4FEB-BCF4-288E20F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388" y="4857750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evidence</a:t>
            </a:r>
          </a:p>
        </p:txBody>
      </p:sp>
      <p:sp>
        <p:nvSpPr>
          <p:cNvPr id="5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4694343-84F8-4B46-938A-8AEF92A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763" y="5214938"/>
            <a:ext cx="1152525" cy="9525"/>
          </a:xfrm>
          <a:custGeom xmlns:a="http://schemas.openxmlformats.org/drawingml/2006/main">
            <a:pathLst>
              <a:path w="1152525" h="952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5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DE87577-D86E-4025-BEB2-DC46EDC7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4888" y="514826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5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87744EE-CDCE-4A46-965C-5F21129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3252788"/>
            <a:ext cx="45243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55" name="Update gate">
            <a:extLst xmlns:a="http://schemas.openxmlformats.org/drawingml/2006/main">
              <a:ext uri="{FF2B5EF4-FFF2-40B4-BE49-F238E27FC236}">
                <a16:creationId xmlns:a16="http://schemas.microsoft.com/office/drawing/2014/main" id="{2B501CD4-047F-457A-B11A-3032454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013" y="3368231"/>
            <a:ext cx="4105275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Update gate</a:t>
            </a:r>
          </a:p>
        </p:txBody>
      </p:sp>
      <p:sp>
        <p:nvSpPr>
          <p:cNvPr id="56" name="Accept(Δ*) :=">
            <a:extLst xmlns:a="http://schemas.openxmlformats.org/drawingml/2006/main">
              <a:ext uri="{FF2B5EF4-FFF2-40B4-BE49-F238E27FC236}">
                <a16:creationId xmlns:a16="http://schemas.microsoft.com/office/drawing/2014/main" id="{8A3F9E71-1308-4473-AC37-85224CE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3824097"/>
            <a:ext cx="342900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Accept(Δ*) :=</a:t>
            </a:r>
          </a:p>
        </p:txBody>
      </p:sp>
      <p:sp>
        <p:nvSpPr>
          <p:cNvPr id="57" name="PolicyOK ∧ RetentionOK">
            <a:extLst xmlns:a="http://schemas.openxmlformats.org/drawingml/2006/main">
              <a:ext uri="{FF2B5EF4-FFF2-40B4-BE49-F238E27FC236}">
                <a16:creationId xmlns:a16="http://schemas.microsoft.com/office/drawing/2014/main" id="{9FB3DB50-E5C3-4479-BB8A-A263FF6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4267010"/>
            <a:ext cx="419100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PolicyOK ∧ RetentionOK</a:t>
            </a:r>
          </a:p>
        </p:txBody>
      </p:sp>
      <p:sp>
        <p:nvSpPr>
          <p:cNvPr id="58" name="Release the checked version only">
            <a:extLst xmlns:a="http://schemas.openxmlformats.org/drawingml/2006/main">
              <a:ext uri="{FF2B5EF4-FFF2-40B4-BE49-F238E27FC236}">
                <a16:creationId xmlns:a16="http://schemas.microsoft.com/office/drawing/2014/main" id="{E39CA9E9-D74C-4F29-8B46-42DEBA5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4771739"/>
            <a:ext cx="4191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Release the checked version only</a:t>
            </a:r>
          </a:p>
        </p:txBody>
      </p:sp>
      <p:sp>
        <p:nvSpPr>
          <p:cNvPr id="5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EB1AFD8-5337-4C81-9117-B65D4D8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413" y="5214938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0C77FD8-3FA3-4A59-94C0-48FA36B9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063" y="5529263"/>
            <a:ext cx="895350" cy="409575"/>
          </a:xfrm>
          <a:custGeom xmlns:a="http://schemas.openxmlformats.org/drawingml/2006/main">
            <a:pathLst>
              <a:path w="895350" h="409575">
                <a:moveTo>
                  <a:pt x="895350" y="0"/>
                </a:moveTo>
                <a:lnTo>
                  <a:pt x="0" y="0"/>
                </a:ln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4FD7D26-1AB8-4D50-9939-5540F04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9388" y="578643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6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AD237A0-326F-45F8-99FB-D3C1A81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413" y="5529263"/>
            <a:ext cx="847725" cy="409575"/>
          </a:xfrm>
          <a:custGeom xmlns:a="http://schemas.openxmlformats.org/drawingml/2006/main">
            <a:pathLst>
              <a:path w="847725" h="409575">
                <a:moveTo>
                  <a:pt x="0" y="0"/>
                </a:moveTo>
                <a:lnTo>
                  <a:pt x="847725" y="0"/>
                </a:lnTo>
                <a:lnTo>
                  <a:pt x="847725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6E20CA9E-ACC8-44ED-BC8B-1017FB05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2463" y="578643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64" name="pass">
            <a:extLst xmlns:a="http://schemas.openxmlformats.org/drawingml/2006/main">
              <a:ext uri="{FF2B5EF4-FFF2-40B4-BE49-F238E27FC236}">
                <a16:creationId xmlns:a16="http://schemas.microsoft.com/office/drawing/2014/main" id="{CE3BE94F-8A5C-4101-81B1-8DA6EA0D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5392865"/>
            <a:ext cx="60007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pass</a:t>
            </a:r>
          </a:p>
        </p:txBody>
      </p:sp>
      <p:sp>
        <p:nvSpPr>
          <p:cNvPr id="65" name="fail / unknown">
            <a:extLst xmlns:a="http://schemas.openxmlformats.org/drawingml/2006/main">
              <a:ext uri="{FF2B5EF4-FFF2-40B4-BE49-F238E27FC236}">
                <a16:creationId xmlns:a16="http://schemas.microsoft.com/office/drawing/2014/main" id="{B4AE5254-C67A-4C16-BA65-33245750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4388" y="5392865"/>
            <a:ext cx="1428750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fail / unknown</a:t>
            </a:r>
          </a:p>
        </p:txBody>
      </p:sp>
      <p:sp>
        <p:nvSpPr>
          <p:cNvPr id="6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A2F7F10-FC30-4695-857E-492EF2D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263" y="5938838"/>
            <a:ext cx="2295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CABDB87-D198-4D41-B980-0FD30E6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38" y="5938838"/>
            <a:ext cx="223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8" name="Apply Δ*">
            <a:extLst xmlns:a="http://schemas.openxmlformats.org/drawingml/2006/main">
              <a:ext uri="{FF2B5EF4-FFF2-40B4-BE49-F238E27FC236}">
                <a16:creationId xmlns:a16="http://schemas.microsoft.com/office/drawing/2014/main" id="{B0EBAABE-FB9D-4C61-9E2C-CBDA58E9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988" y="6050185"/>
            <a:ext cx="21240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Apply Δ*</a:t>
            </a:r>
          </a:p>
        </p:txBody>
      </p:sp>
      <p:sp>
        <p:nvSpPr>
          <p:cNvPr id="69" name="Retain Sₜ">
            <a:extLst xmlns:a="http://schemas.openxmlformats.org/drawingml/2006/main">
              <a:ext uri="{FF2B5EF4-FFF2-40B4-BE49-F238E27FC236}">
                <a16:creationId xmlns:a16="http://schemas.microsoft.com/office/drawing/2014/main" id="{C0347FE4-77A1-4DEF-9737-9D516CC2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013" y="6050185"/>
            <a:ext cx="20288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Retain Sₜ</a:t>
            </a:r>
          </a:p>
        </p:txBody>
      </p:sp>
      <p:sp>
        <p:nvSpPr>
          <p:cNvPr id="7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32CF414-B7A6-4088-BC2A-8579DD2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6710363"/>
            <a:ext cx="4743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71" name="On acceptance:">
            <a:extLst xmlns:a="http://schemas.openxmlformats.org/drawingml/2006/main">
              <a:ext uri="{FF2B5EF4-FFF2-40B4-BE49-F238E27FC236}">
                <a16:creationId xmlns:a16="http://schemas.microsoft.com/office/drawing/2014/main" id="{E631219E-4F85-451E-BF88-0C03F32F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138" y="6782943"/>
            <a:ext cx="44005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On acceptance:</a:t>
            </a:r>
          </a:p>
        </p:txBody>
      </p:sp>
      <p:sp>
        <p:nvSpPr>
          <p:cNvPr id="72" name="Sₜ₊₁ = Update(Sₜ, Δ*)">
            <a:extLst xmlns:a="http://schemas.openxmlformats.org/drawingml/2006/main">
              <a:ext uri="{FF2B5EF4-FFF2-40B4-BE49-F238E27FC236}">
                <a16:creationId xmlns:a16="http://schemas.microsoft.com/office/drawing/2014/main" id="{DD08EE9C-AB43-4DBB-8C8C-171081C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288" y="7191851"/>
            <a:ext cx="42862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Sₜ₊₁ = Update(Sₜ, Δ*)</a:t>
            </a:r>
          </a:p>
        </p:txBody>
      </p:sp>
      <p:sp>
        <p:nvSpPr>
          <p:cNvPr id="73" name="Δ*: checked change, including needed guardrail repairs">
            <a:extLst xmlns:a="http://schemas.openxmlformats.org/drawingml/2006/main">
              <a:ext uri="{FF2B5EF4-FFF2-40B4-BE49-F238E27FC236}">
                <a16:creationId xmlns:a16="http://schemas.microsoft.com/office/drawing/2014/main" id="{90AB649C-3D27-428D-B776-5C70692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7613523"/>
            <a:ext cx="45339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Δ*: checked change, including needed guardrail repairs</a:t>
            </a:r>
          </a:p>
        </p:txBody>
      </p:sp>
      <p:sp>
        <p:nvSpPr>
          <p:cNvPr id="7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26C121F-C4B3-4EDE-BCC7-344AFB4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3" y="4043363"/>
            <a:ext cx="14649450" cy="4448175"/>
          </a:xfrm>
          <a:custGeom xmlns:a="http://schemas.openxmlformats.org/drawingml/2006/main">
            <a:pathLst>
              <a:path w="14649450" h="4448175">
                <a:moveTo>
                  <a:pt x="14649450" y="4038600"/>
                </a:moveTo>
                <a:lnTo>
                  <a:pt x="14649450" y="4448175"/>
                </a:lnTo>
                <a:lnTo>
                  <a:pt x="0" y="4448175"/>
                </a:lnTo>
                <a:lnTo>
                  <a:pt x="0" y="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7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308698E-5301-4C16-B06D-839229A1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976688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7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5E62C60-6449-4EFD-9DDF-E789584D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8129588"/>
            <a:ext cx="3219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Revalidate at every update">
            <a:extLst xmlns:a="http://schemas.openxmlformats.org/drawingml/2006/main">
              <a:ext uri="{FF2B5EF4-FFF2-40B4-BE49-F238E27FC236}">
                <a16:creationId xmlns:a16="http://schemas.microsoft.com/office/drawing/2014/main" id="{A89E1E4A-933E-4931-B996-6E02B0C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8138827"/>
            <a:ext cx="32194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Revalidate at every update</a:t>
            </a:r>
          </a:p>
        </p:txBody>
      </p:sp>
      <p:sp>
        <p:nvSpPr>
          <p:cNvPr id="78" name="Protection requirements stay fixed; guardrail implementations ma">
            <a:extLst xmlns:a="http://schemas.openxmlformats.org/drawingml/2006/main">
              <a:ext uri="{FF2B5EF4-FFF2-40B4-BE49-F238E27FC236}">
                <a16:creationId xmlns:a16="http://schemas.microsoft.com/office/drawing/2014/main" id="{3BB9C4EA-EA61-4108-AFD4-1308DD5A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8734806"/>
            <a:ext cx="1114425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Protection requirements stay fixed; guardrail implementations may evolve.</a:t>
            </a:r>
          </a:p>
        </p:txBody>
      </p:sp>
    </p:spTree>
    <p:extLst>
      <p:ext uri="{BB962C8B-B14F-4D97-AF65-F5344CB8AC3E}">
        <p14:creationId xmlns:p14="http://schemas.microsoft.com/office/powerpoint/2010/main" val="303363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III. Authorization Across Delegated Workflows">
            <a:extLst xmlns:a="http://schemas.openxmlformats.org/drawingml/2006/main">
              <a:ext uri="{FF2B5EF4-FFF2-40B4-BE49-F238E27FC236}">
                <a16:creationId xmlns:a16="http://schemas.microsoft.com/office/drawing/2014/main" id="{6F262E94-1ECF-4906-841A-37EE352E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19200"/>
            <a:ext cx="14011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III. Authorization Across Delegated Workflows</a:t>
            </a:r>
          </a:p>
        </p:txBody>
      </p:sp>
      <p:sp>
        <p:nvSpPr>
          <p:cNvPr id="2" name="A private report can leak through a delegated email draft.">
            <a:extLst xmlns:a="http://schemas.openxmlformats.org/drawingml/2006/main">
              <a:ext uri="{FF2B5EF4-FFF2-40B4-BE49-F238E27FC236}">
                <a16:creationId xmlns:a16="http://schemas.microsoft.com/office/drawing/2014/main" id="{315DE7C8-DB53-4710-AB88-FB0797D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89843"/>
            <a:ext cx="12963525" cy="40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 private report can leak through a delegated email draft.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DF80871-5E4D-4E42-91CB-9044121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276475"/>
            <a:ext cx="5048250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8BB0D91-5D79-445A-98C9-9D261E2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4991100" cy="593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4D7D46A-63C6-4C9F-923F-394B4A67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590800"/>
            <a:ext cx="5076825" cy="593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19B8ED8-9642-4E1E-9AA3-66C4550D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62200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7" name="1">
            <a:extLst xmlns:a="http://schemas.openxmlformats.org/drawingml/2006/main">
              <a:ext uri="{FF2B5EF4-FFF2-40B4-BE49-F238E27FC236}">
                <a16:creationId xmlns:a16="http://schemas.microsoft.com/office/drawing/2014/main" id="{A3A24E3A-1AB6-4F6C-A580-BCAE0CD2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35543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A concrete handoff">
            <a:extLst xmlns:a="http://schemas.openxmlformats.org/drawingml/2006/main">
              <a:ext uri="{FF2B5EF4-FFF2-40B4-BE49-F238E27FC236}">
                <a16:creationId xmlns:a16="http://schemas.microsoft.com/office/drawing/2014/main" id="{1367AF21-7414-4134-A519-CA5B9D41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0588"/>
            <a:ext cx="3771900" cy="445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 concrete handoff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C2FC083-A8FD-42E9-9698-42CD4780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76525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22CA6685-DA0C-4A94-B358-BDD9F649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9868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Track workflow context">
            <a:extLst xmlns:a="http://schemas.openxmlformats.org/drawingml/2006/main">
              <a:ext uri="{FF2B5EF4-FFF2-40B4-BE49-F238E27FC236}">
                <a16:creationId xmlns:a16="http://schemas.microsoft.com/office/drawing/2014/main" id="{2AC06DD3-933E-487A-8EBF-AFBB544B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1393"/>
            <a:ext cx="3800475" cy="40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Track workflow context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30A0500-36F4-4557-A43D-1C4CFE9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76525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F354A345-83E1-403E-859B-CFF3AD18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9868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" name="Enforce and recover">
            <a:extLst xmlns:a="http://schemas.openxmlformats.org/drawingml/2006/main">
              <a:ext uri="{FF2B5EF4-FFF2-40B4-BE49-F238E27FC236}">
                <a16:creationId xmlns:a16="http://schemas.microsoft.com/office/drawing/2014/main" id="{9431E51D-9A92-453D-BD13-D23ADD1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55964"/>
            <a:ext cx="3857625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Enforce and recover</a:t>
            </a:r>
          </a:p>
        </p:txBody>
      </p:sp>
      <p:sp>
        <p:nvSpPr>
          <p:cNvPr id="1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5264E2C-F86F-47A7-BB80-5F93F7CC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4581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6" name="Approved task">
            <a:extLst xmlns:a="http://schemas.openxmlformats.org/drawingml/2006/main">
              <a:ext uri="{FF2B5EF4-FFF2-40B4-BE49-F238E27FC236}">
                <a16:creationId xmlns:a16="http://schemas.microsoft.com/office/drawing/2014/main" id="{9042AD81-466D-4417-92C1-C803E38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3814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Approved task</a:t>
            </a:r>
          </a:p>
        </p:txBody>
      </p:sp>
      <p:sp>
        <p:nvSpPr>
          <p:cNvPr id="17" name="Send a sanitized vendor update">
            <a:extLst xmlns:a="http://schemas.openxmlformats.org/drawingml/2006/main">
              <a:ext uri="{FF2B5EF4-FFF2-40B4-BE49-F238E27FC236}">
                <a16:creationId xmlns:a16="http://schemas.microsoft.com/office/drawing/2014/main" id="{87EC80B6-1D08-4C29-8206-8396A20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59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Send a sanitized vendor update</a:t>
            </a:r>
          </a:p>
        </p:txBody>
      </p:sp>
      <p:sp>
        <p:nvSpPr>
          <p:cNvPr id="18" name="Keep customer IDs internal">
            <a:extLst xmlns:a="http://schemas.openxmlformats.org/drawingml/2006/main">
              <a:ext uri="{FF2B5EF4-FFF2-40B4-BE49-F238E27FC236}">
                <a16:creationId xmlns:a16="http://schemas.microsoft.com/office/drawing/2014/main" id="{FE8D0DFE-4FD2-4AE1-B9B1-EDDA2E0C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9988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Keep customer IDs internal</a:t>
            </a:r>
          </a:p>
        </p:txBody>
      </p:sp>
      <p:sp>
        <p:nvSpPr>
          <p:cNvPr id="1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A005351-8011-4436-92CF-2CA70E9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576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2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98AF6A0-6852-4118-9A9F-11509DA6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1" name="delegated scope">
            <a:extLst xmlns:a="http://schemas.openxmlformats.org/drawingml/2006/main">
              <a:ext uri="{FF2B5EF4-FFF2-40B4-BE49-F238E27FC236}">
                <a16:creationId xmlns:a16="http://schemas.microsoft.com/office/drawing/2014/main" id="{C2B3C9D6-3E3F-4EB0-A070-03DA96B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29469"/>
            <a:ext cx="19716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delegated scope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0ADCF38-B2A6-49E3-9732-CB545E66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4581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23" name="Agent A: incident analyst">
            <a:extLst xmlns:a="http://schemas.openxmlformats.org/drawingml/2006/main">
              <a:ext uri="{FF2B5EF4-FFF2-40B4-BE49-F238E27FC236}">
                <a16:creationId xmlns:a16="http://schemas.microsoft.com/office/drawing/2014/main" id="{589F311F-C5A8-4EE3-B023-2927ADB3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6852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Agent A: incident analyst</a:t>
            </a:r>
          </a:p>
        </p:txBody>
      </p:sp>
      <p:sp>
        <p:nvSpPr>
          <p:cNvPr id="24" name="Reads private incident report">
            <a:extLst xmlns:a="http://schemas.openxmlformats.org/drawingml/2006/main">
              <a:ext uri="{FF2B5EF4-FFF2-40B4-BE49-F238E27FC236}">
                <a16:creationId xmlns:a16="http://schemas.microsoft.com/office/drawing/2014/main" id="{FD605563-A886-431B-9612-D6B1BC8D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37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Reads private incident report</a:t>
            </a:r>
          </a:p>
        </p:txBody>
      </p:sp>
      <p:sp>
        <p:nvSpPr>
          <p:cNvPr id="25" name="Drafts the vendor update">
            <a:extLst xmlns:a="http://schemas.openxmlformats.org/drawingml/2006/main">
              <a:ext uri="{FF2B5EF4-FFF2-40B4-BE49-F238E27FC236}">
                <a16:creationId xmlns:a16="http://schemas.microsoft.com/office/drawing/2014/main" id="{6AD6F9C7-0257-4BA9-9744-001F266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7788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Drafts the vendor update</a:t>
            </a:r>
          </a:p>
        </p:txBody>
      </p:sp>
      <p:sp>
        <p:nvSpPr>
          <p:cNvPr id="2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AF9A3F4-2917-45D6-B575-E86063D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86400"/>
            <a:ext cx="9525" cy="352425"/>
          </a:xfrm>
          <a:custGeom xmlns:a="http://schemas.openxmlformats.org/drawingml/2006/main"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2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92A3DC3-6EE4-4B31-93B4-18C03C8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864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60C986B-0F0E-40E8-AFCF-4473FBD1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38825"/>
            <a:ext cx="45815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dash"/>
          </a:ln>
        </p:spPr>
      </p:sp>
      <p:sp>
        <p:nvSpPr>
          <p:cNvPr id="29" name="Handoff package">
            <a:extLst xmlns:a="http://schemas.openxmlformats.org/drawingml/2006/main">
              <a:ext uri="{FF2B5EF4-FFF2-40B4-BE49-F238E27FC236}">
                <a16:creationId xmlns:a16="http://schemas.microsoft.com/office/drawing/2014/main" id="{7182E373-8802-46B2-AAFF-2126FDDB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5114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Handoff package</a:t>
            </a:r>
          </a:p>
        </p:txBody>
      </p:sp>
      <p:sp>
        <p:nvSpPr>
          <p:cNvPr id="30" name="Task: send the vendor update">
            <a:extLst xmlns:a="http://schemas.openxmlformats.org/drawingml/2006/main">
              <a:ext uri="{FF2B5EF4-FFF2-40B4-BE49-F238E27FC236}">
                <a16:creationId xmlns:a16="http://schemas.microsoft.com/office/drawing/2014/main" id="{ABA315E5-693C-4B5C-9219-3E9D4945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17158"/>
            <a:ext cx="43148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Task: send the vendor update</a:t>
            </a:r>
          </a:p>
        </p:txBody>
      </p:sp>
      <p:sp>
        <p:nvSpPr>
          <p:cNvPr id="31" name="Payload: draft containing customer IDs">
            <a:extLst xmlns:a="http://schemas.openxmlformats.org/drawingml/2006/main">
              <a:ext uri="{FF2B5EF4-FFF2-40B4-BE49-F238E27FC236}">
                <a16:creationId xmlns:a16="http://schemas.microsoft.com/office/drawing/2014/main" id="{210BCD04-FB70-4606-811F-906F10B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510338"/>
            <a:ext cx="43148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Payload: draft containing customer IDs</a:t>
            </a:r>
          </a:p>
        </p:txBody>
      </p:sp>
      <p:sp>
        <p:nvSpPr>
          <p:cNvPr id="3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A48C9B0-7A6C-4423-BA99-9614BF7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8770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3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6A57C6BB-5477-4C09-AAC3-E4D319C7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1056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34" name="task + data">
            <a:extLst xmlns:a="http://schemas.openxmlformats.org/drawingml/2006/main">
              <a:ext uri="{FF2B5EF4-FFF2-40B4-BE49-F238E27FC236}">
                <a16:creationId xmlns:a16="http://schemas.microsoft.com/office/drawing/2014/main" id="{DFB16F98-5854-401E-88C8-1A761A0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910769"/>
            <a:ext cx="19716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task + data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958507B-0399-42B6-BB10-8F52A85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58050"/>
            <a:ext cx="45815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36" name="Agent B: vendor liaison">
            <a:extLst xmlns:a="http://schemas.openxmlformats.org/drawingml/2006/main">
              <a:ext uri="{FF2B5EF4-FFF2-40B4-BE49-F238E27FC236}">
                <a16:creationId xmlns:a16="http://schemas.microsoft.com/office/drawing/2014/main" id="{6D206B08-AD4E-458C-A067-C04BB8B1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79577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Agent B: vendor liaison</a:t>
            </a:r>
          </a:p>
        </p:txBody>
      </p:sp>
      <p:sp>
        <p:nvSpPr>
          <p:cNvPr id="37" name="Can email the external vendor">
            <a:extLst xmlns:a="http://schemas.openxmlformats.org/drawingml/2006/main">
              <a:ext uri="{FF2B5EF4-FFF2-40B4-BE49-F238E27FC236}">
                <a16:creationId xmlns:a16="http://schemas.microsoft.com/office/drawing/2014/main" id="{D738894F-0090-4560-8907-E95159F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01712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Can email the external vendor</a:t>
            </a:r>
          </a:p>
        </p:txBody>
      </p:sp>
      <p:sp>
        <p:nvSpPr>
          <p:cNvPr id="38" name="Uses A’s draft as message content">
            <a:extLst xmlns:a="http://schemas.openxmlformats.org/drawingml/2006/main">
              <a:ext uri="{FF2B5EF4-FFF2-40B4-BE49-F238E27FC236}">
                <a16:creationId xmlns:a16="http://schemas.microsoft.com/office/drawing/2014/main" id="{F2ABEAEE-2A3A-4147-8353-F5AC9E9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Uses A’s draft as message content</a:t>
            </a:r>
          </a:p>
        </p:txBody>
      </p:sp>
      <p:sp>
        <p:nvSpPr>
          <p:cNvPr id="39" name="Read access + email access">
            <a:extLst xmlns:a="http://schemas.openxmlformats.org/drawingml/2006/main">
              <a:ext uri="{FF2B5EF4-FFF2-40B4-BE49-F238E27FC236}">
                <a16:creationId xmlns:a16="http://schemas.microsoft.com/office/drawing/2014/main" id="{1BDBAA37-AFD8-4D82-BA0E-B5348191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54175"/>
            <a:ext cx="43338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Read access + email access</a:t>
            </a:r>
          </a:p>
        </p:txBody>
      </p:sp>
      <p:sp>
        <p:nvSpPr>
          <p:cNvPr id="40" name="do not authorize disclosure.">
            <a:extLst xmlns:a="http://schemas.openxmlformats.org/drawingml/2006/main">
              <a:ext uri="{FF2B5EF4-FFF2-40B4-BE49-F238E27FC236}">
                <a16:creationId xmlns:a16="http://schemas.microsoft.com/office/drawing/2014/main" id="{1D8A143B-7F83-4E3E-9286-0E3347C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58213"/>
            <a:ext cx="43338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do not authorize disclosure.</a:t>
            </a:r>
          </a:p>
        </p:txBody>
      </p:sp>
      <p:sp>
        <p:nvSpPr>
          <p:cNvPr id="41" name="authority +">
            <a:extLst xmlns:a="http://schemas.openxmlformats.org/drawingml/2006/main">
              <a:ext uri="{FF2B5EF4-FFF2-40B4-BE49-F238E27FC236}">
                <a16:creationId xmlns:a16="http://schemas.microsoft.com/office/drawing/2014/main" id="{42FCADCB-E210-4B33-9AC5-748D3F1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78871"/>
            <a:ext cx="11430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authority +</a:t>
            </a:r>
          </a:p>
        </p:txBody>
      </p:sp>
      <p:sp>
        <p:nvSpPr>
          <p:cNvPr id="42" name="data lineage">
            <a:extLst xmlns:a="http://schemas.openxmlformats.org/drawingml/2006/main">
              <a:ext uri="{FF2B5EF4-FFF2-40B4-BE49-F238E27FC236}">
                <a16:creationId xmlns:a16="http://schemas.microsoft.com/office/drawing/2014/main" id="{9C354763-A716-4005-A5E3-9801CDB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972050"/>
            <a:ext cx="11430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data lineage</a:t>
            </a:r>
          </a:p>
        </p:txBody>
      </p:sp>
      <p:sp>
        <p:nvSpPr>
          <p:cNvPr id="4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6857139-6EE6-4A58-8660-51BE285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72100"/>
            <a:ext cx="1143000" cy="9525"/>
          </a:xfrm>
          <a:custGeom xmlns:a="http://schemas.openxmlformats.org/drawingml/2006/main"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4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CE7314E-3DC8-48D1-8E46-1EA8834B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0542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4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3A787DC-DFAE-4D48-9E7E-CCB33690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552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6" name="ScopeOK">
            <a:extLst xmlns:a="http://schemas.openxmlformats.org/drawingml/2006/main">
              <a:ext uri="{FF2B5EF4-FFF2-40B4-BE49-F238E27FC236}">
                <a16:creationId xmlns:a16="http://schemas.microsoft.com/office/drawing/2014/main" id="{3E4828E9-8F6A-4C3E-845A-B276F8A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5497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ScopeOK</a:t>
            </a:r>
          </a:p>
        </p:txBody>
      </p:sp>
      <p:sp>
        <p:nvSpPr>
          <p:cNvPr id="47" name="Within delegated authority">
            <a:extLst xmlns:a="http://schemas.openxmlformats.org/drawingml/2006/main">
              <a:ext uri="{FF2B5EF4-FFF2-40B4-BE49-F238E27FC236}">
                <a16:creationId xmlns:a16="http://schemas.microsoft.com/office/drawing/2014/main" id="{5FEE6231-D459-4C9B-8D01-1EA8021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0510"/>
            <a:ext cx="42100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Within delegated authority</a:t>
            </a:r>
          </a:p>
        </p:txBody>
      </p:sp>
      <p:sp>
        <p:nvSpPr>
          <p:cNvPr id="4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7089C0B-B961-4F32-94AD-DB60B3A6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455295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9" name="FlowOK">
            <a:extLst xmlns:a="http://schemas.openxmlformats.org/drawingml/2006/main">
              <a:ext uri="{FF2B5EF4-FFF2-40B4-BE49-F238E27FC236}">
                <a16:creationId xmlns:a16="http://schemas.microsoft.com/office/drawing/2014/main" id="{76CCF0FC-153B-459C-9415-1E2D1F85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3772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FlowOK</a:t>
            </a:r>
          </a:p>
        </p:txBody>
      </p:sp>
      <p:sp>
        <p:nvSpPr>
          <p:cNvPr id="50" name="Preserves inherited data restrictions">
            <a:extLst xmlns:a="http://schemas.openxmlformats.org/drawingml/2006/main">
              <a:ext uri="{FF2B5EF4-FFF2-40B4-BE49-F238E27FC236}">
                <a16:creationId xmlns:a16="http://schemas.microsoft.com/office/drawing/2014/main" id="{A83B359A-EB13-4086-92ED-03FFD25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47360"/>
            <a:ext cx="43243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Preserves inherited data restrictions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2AF6FEB-882D-444B-9FF6-9D11C82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05550"/>
            <a:ext cx="4552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52" name="FreshOK">
            <a:extLst xmlns:a="http://schemas.openxmlformats.org/drawingml/2006/main">
              <a:ext uri="{FF2B5EF4-FFF2-40B4-BE49-F238E27FC236}">
                <a16:creationId xmlns:a16="http://schemas.microsoft.com/office/drawing/2014/main" id="{50D5F24F-569D-4701-9060-5330320C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62522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FreshOK</a:t>
            </a:r>
          </a:p>
        </p:txBody>
      </p:sp>
      <p:sp>
        <p:nvSpPr>
          <p:cNvPr id="53" name="Approval dependencies remain valid">
            <a:extLst xmlns:a="http://schemas.openxmlformats.org/drawingml/2006/main">
              <a:ext uri="{FF2B5EF4-FFF2-40B4-BE49-F238E27FC236}">
                <a16:creationId xmlns:a16="http://schemas.microsoft.com/office/drawing/2014/main" id="{FA670D17-3C5E-456C-A9D8-288CC41C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980873"/>
            <a:ext cx="43243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Approval dependencies remain valid</a:t>
            </a:r>
          </a:p>
        </p:txBody>
      </p:sp>
      <p:sp>
        <p:nvSpPr>
          <p:cNvPr id="54" name="Revocation or changed context">
            <a:extLst xmlns:a="http://schemas.openxmlformats.org/drawingml/2006/main">
              <a:ext uri="{FF2B5EF4-FFF2-40B4-BE49-F238E27FC236}">
                <a16:creationId xmlns:a16="http://schemas.microsoft.com/office/drawing/2014/main" id="{1C179D43-8560-4564-9F93-DDF588CE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7699058"/>
            <a:ext cx="4543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Revocation or changed context</a:t>
            </a:r>
          </a:p>
        </p:txBody>
      </p:sp>
      <p:sp>
        <p:nvSpPr>
          <p:cNvPr id="55" name="triggers revalidation.">
            <a:extLst xmlns:a="http://schemas.openxmlformats.org/drawingml/2006/main">
              <a:ext uri="{FF2B5EF4-FFF2-40B4-BE49-F238E27FC236}">
                <a16:creationId xmlns:a16="http://schemas.microsoft.com/office/drawing/2014/main" id="{8637980F-F20E-4053-9F60-55B8E64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8024813"/>
            <a:ext cx="4543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triggers revalidation.</a:t>
            </a:r>
          </a:p>
        </p:txBody>
      </p:sp>
      <p:sp>
        <p:nvSpPr>
          <p:cNvPr id="56" name="current">
            <a:extLst xmlns:a="http://schemas.openxmlformats.org/drawingml/2006/main">
              <a:ext uri="{FF2B5EF4-FFF2-40B4-BE49-F238E27FC236}">
                <a16:creationId xmlns:a16="http://schemas.microsoft.com/office/drawing/2014/main" id="{B8766E72-5A54-4E95-AB95-25DCDC2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688396"/>
            <a:ext cx="10191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current</a:t>
            </a:r>
          </a:p>
        </p:txBody>
      </p:sp>
      <p:sp>
        <p:nvSpPr>
          <p:cNvPr id="57" name="context c">
            <a:extLst xmlns:a="http://schemas.openxmlformats.org/drawingml/2006/main">
              <a:ext uri="{FF2B5EF4-FFF2-40B4-BE49-F238E27FC236}">
                <a16:creationId xmlns:a16="http://schemas.microsoft.com/office/drawing/2014/main" id="{51E3077C-0EAA-44B7-A01F-1CA17AA8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981575"/>
            <a:ext cx="10191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context c</a:t>
            </a:r>
          </a:p>
        </p:txBody>
      </p:sp>
      <p:sp>
        <p:nvSpPr>
          <p:cNvPr id="5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FA0C2F5-77E4-4846-BEA6-5C7A0B3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372100"/>
            <a:ext cx="1133475" cy="9525"/>
          </a:xfrm>
          <a:custGeom xmlns:a="http://schemas.openxmlformats.org/drawingml/2006/main"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5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DC1332A-7A89-42D6-8697-8A045010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30542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6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2CBD10D-F08D-41FA-876C-44CB64B3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429000"/>
            <a:ext cx="47053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61" name="Workflow authorization rule">
            <a:extLst xmlns:a="http://schemas.openxmlformats.org/drawingml/2006/main">
              <a:ext uri="{FF2B5EF4-FFF2-40B4-BE49-F238E27FC236}">
                <a16:creationId xmlns:a16="http://schemas.microsoft.com/office/drawing/2014/main" id="{D5096615-51C7-4DB4-A0A5-C8D998F7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567589"/>
            <a:ext cx="4457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Workflow authorization rule</a:t>
            </a:r>
          </a:p>
        </p:txBody>
      </p:sp>
      <p:sp>
        <p:nvSpPr>
          <p:cNvPr id="62" name="Allow(a, c) :=">
            <a:extLst xmlns:a="http://schemas.openxmlformats.org/drawingml/2006/main">
              <a:ext uri="{FF2B5EF4-FFF2-40B4-BE49-F238E27FC236}">
                <a16:creationId xmlns:a16="http://schemas.microsoft.com/office/drawing/2014/main" id="{6DC4EE89-FB08-485C-BC3D-51C3F1C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98989"/>
            <a:ext cx="360045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Allow(a, c) :=</a:t>
            </a:r>
          </a:p>
        </p:txBody>
      </p:sp>
      <p:sp>
        <p:nvSpPr>
          <p:cNvPr id="63" name="ScopeOK ∧ FlowOK ∧ FreshOK">
            <a:extLst xmlns:a="http://schemas.openxmlformats.org/drawingml/2006/main">
              <a:ext uri="{FF2B5EF4-FFF2-40B4-BE49-F238E27FC236}">
                <a16:creationId xmlns:a16="http://schemas.microsoft.com/office/drawing/2014/main" id="{36DFD45B-E3F0-4C85-832E-F131194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72476"/>
            <a:ext cx="45148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ScopeOK ∧ FlowOK ∧ FreshOK</a:t>
            </a:r>
          </a:p>
        </p:txBody>
      </p:sp>
      <p:sp>
        <p:nvSpPr>
          <p:cNvPr id="64" name="a: next delegated action">
            <a:extLst xmlns:a="http://schemas.openxmlformats.org/drawingml/2006/main">
              <a:ext uri="{FF2B5EF4-FFF2-40B4-BE49-F238E27FC236}">
                <a16:creationId xmlns:a16="http://schemas.microsoft.com/office/drawing/2014/main" id="{E87F8AB7-3535-4FC8-8BE9-CC237635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052441"/>
            <a:ext cx="42291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a: next delegated action</a:t>
            </a:r>
          </a:p>
        </p:txBody>
      </p:sp>
      <p:sp>
        <p:nvSpPr>
          <p:cNvPr id="65" name="c: current workflow context">
            <a:extLst xmlns:a="http://schemas.openxmlformats.org/drawingml/2006/main">
              <a:ext uri="{FF2B5EF4-FFF2-40B4-BE49-F238E27FC236}">
                <a16:creationId xmlns:a16="http://schemas.microsoft.com/office/drawing/2014/main" id="{BE542BE7-7101-4CBE-B5FF-4B25740B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367338"/>
            <a:ext cx="42291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c: current workflow context</a:t>
            </a:r>
          </a:p>
        </p:txBody>
      </p:sp>
      <p:sp>
        <p:nvSpPr>
          <p:cNvPr id="6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932D516-2136-44BC-BC86-CB5D6E10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5934075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6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5C5AE37-B0BC-4CF7-A31B-D5A67EC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353175"/>
            <a:ext cx="971550" cy="561975"/>
          </a:xfrm>
          <a:custGeom xmlns:a="http://schemas.openxmlformats.org/drawingml/2006/main">
            <a:pathLst>
              <a:path w="971550" h="561975">
                <a:moveTo>
                  <a:pt x="971550" y="0"/>
                </a:moveTo>
                <a:lnTo>
                  <a:pt x="0" y="0"/>
                </a:ln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6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CE72E18-1680-47C4-90F0-D64B634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7627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6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3A210D6-2DCF-405E-A1A0-F2C784C6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6353175"/>
            <a:ext cx="762000" cy="561975"/>
          </a:xfrm>
          <a:custGeom xmlns:a="http://schemas.openxmlformats.org/drawingml/2006/main">
            <a:pathLst>
              <a:path w="762000" h="561975">
                <a:moveTo>
                  <a:pt x="0" y="0"/>
                </a:moveTo>
                <a:lnTo>
                  <a:pt x="762000" y="0"/>
                </a:lnTo>
                <a:lnTo>
                  <a:pt x="76200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7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E46DC41-5B39-4410-9BEF-6AFEF943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67627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71" name="all pass">
            <a:extLst xmlns:a="http://schemas.openxmlformats.org/drawingml/2006/main">
              <a:ext uri="{FF2B5EF4-FFF2-40B4-BE49-F238E27FC236}">
                <a16:creationId xmlns:a16="http://schemas.microsoft.com/office/drawing/2014/main" id="{A49C5350-7778-45BA-98F7-464D4854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225635"/>
            <a:ext cx="9715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all pass</a:t>
            </a:r>
          </a:p>
        </p:txBody>
      </p:sp>
      <p:sp>
        <p:nvSpPr>
          <p:cNvPr id="72" name="false / unknown">
            <a:extLst xmlns:a="http://schemas.openxmlformats.org/drawingml/2006/main">
              <a:ext uri="{FF2B5EF4-FFF2-40B4-BE49-F238E27FC236}">
                <a16:creationId xmlns:a16="http://schemas.microsoft.com/office/drawing/2014/main" id="{7DA7971E-1376-439C-935D-7D213AE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225635"/>
            <a:ext cx="15430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false / unknown</a:t>
            </a:r>
          </a:p>
        </p:txBody>
      </p:sp>
      <p:sp>
        <p:nvSpPr>
          <p:cNvPr id="7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7EDDBA0-1B09-4672-A856-86CCD08B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915150"/>
            <a:ext cx="2305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7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45F3CF3-A942-4AC1-B398-43D1C69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915150"/>
            <a:ext cx="22574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75" name="Execute">
            <a:extLst xmlns:a="http://schemas.openxmlformats.org/drawingml/2006/main">
              <a:ext uri="{FF2B5EF4-FFF2-40B4-BE49-F238E27FC236}">
                <a16:creationId xmlns:a16="http://schemas.microsoft.com/office/drawing/2014/main" id="{0233C998-D4B5-47AD-A15C-4FB1CE7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7092506"/>
            <a:ext cx="20764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76" name="Suspend / replan">
            <a:extLst xmlns:a="http://schemas.openxmlformats.org/drawingml/2006/main">
              <a:ext uri="{FF2B5EF4-FFF2-40B4-BE49-F238E27FC236}">
                <a16:creationId xmlns:a16="http://schemas.microsoft.com/office/drawing/2014/main" id="{3528DC1C-F1B6-4284-A3B3-AD1057C0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7119652"/>
            <a:ext cx="20669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Suspend / replan</a:t>
            </a:r>
          </a:p>
        </p:txBody>
      </p:sp>
      <p:sp>
        <p:nvSpPr>
          <p:cNvPr id="77" name="Revalidate affected work; preserve valid progress.">
            <a:extLst xmlns:a="http://schemas.openxmlformats.org/drawingml/2006/main">
              <a:ext uri="{FF2B5EF4-FFF2-40B4-BE49-F238E27FC236}">
                <a16:creationId xmlns:a16="http://schemas.microsoft.com/office/drawing/2014/main" id="{E4D5742C-0022-4FBC-B127-9E925CC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065294"/>
            <a:ext cx="48863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Revalidate affected work; preserve valid progress.</a:t>
            </a:r>
          </a:p>
        </p:txBody>
      </p:sp>
      <p:sp>
        <p:nvSpPr>
          <p:cNvPr id="78" name="Guarantees depend on captured effects and trusted enforcement.">
            <a:extLst xmlns:a="http://schemas.openxmlformats.org/drawingml/2006/main">
              <a:ext uri="{FF2B5EF4-FFF2-40B4-BE49-F238E27FC236}">
                <a16:creationId xmlns:a16="http://schemas.microsoft.com/office/drawing/2014/main" id="{360FF40E-29A1-4386-9843-9F8E00CD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769477"/>
            <a:ext cx="829627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Guarantees depend on captured effects and trusted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1267069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2026-10-07T14:50:39.0250000Z</dcterms:created>
  <dcterms:modified xsi:type="dcterms:W3CDTF">2026-10-07T14:50:39.0250000Z</dcterms:modified>
</coreProperties>
</file>